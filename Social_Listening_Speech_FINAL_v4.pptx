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0" y="0"/>
            <a:ext cx="16642080" cy="8229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0" y="1851660"/>
            <a:ext cx="13898880" cy="3086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800">
                <a:solidFill>
                  <a:srgbClr val="F3EDE1"/>
                </a:solidFill>
                <a:latin typeface="Georgia"/>
              </a:rPr>
              <a:t>SOCIAL LISTENING
IN ITALIA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77440" y="5349240"/>
            <a:ext cx="9144000" cy="0"/>
          </a:xfrm>
          <a:prstGeom prst="line">
            <a:avLst/>
          </a:prstGeom>
          <a:ln w="508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377440" y="5760720"/>
            <a:ext cx="131673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2200">
                <a:solidFill>
                  <a:srgbClr val="B8523A"/>
                </a:solidFill>
                <a:latin typeface="Georgia"/>
              </a:rPr>
              <a:t>Realta, sfide e opportunita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7200900"/>
            <a:ext cx="118872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Courier New"/>
              </a:rPr>
              <a:t>EY Studio+   ×   Brandwatch   ×   Trajaan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8023860"/>
            <a:ext cx="64008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700">
                <a:solidFill>
                  <a:srgbClr val="8A8175"/>
                </a:solidFill>
                <a:latin typeface="Courier New"/>
              </a:rPr>
              <a:t>Maggio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377440" y="2057400"/>
            <a:ext cx="1499616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6400">
                <a:solidFill>
                  <a:srgbClr val="F3EDE1"/>
                </a:solidFill>
                <a:latin typeface="Georgia"/>
              </a:rPr>
              <a:t>“Il tuo lavoro sparira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3909060"/>
            <a:ext cx="1499616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6400">
                <a:solidFill>
                  <a:srgbClr val="B8523A"/>
                </a:solidFill>
                <a:latin typeface="Georgia"/>
              </a:rPr>
              <a:t>in meno di due anni.”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77440" y="6377940"/>
            <a:ext cx="6949440" cy="0"/>
          </a:xfrm>
          <a:prstGeom prst="line">
            <a:avLst/>
          </a:prstGeom>
          <a:ln w="25400">
            <a:solidFill>
              <a:srgbClr val="8A81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377440" y="6892290"/>
            <a:ext cx="13533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2200">
                <a:solidFill>
                  <a:srgbClr val="8A8175"/>
                </a:solidFill>
                <a:latin typeface="Arial"/>
              </a:rPr>
              <a:t>Qualcuno lo ha detto a una collega a una conferenza.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7715250"/>
            <a:ext cx="13533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2200">
                <a:solidFill>
                  <a:srgbClr val="8A8175"/>
                </a:solidFill>
                <a:latin typeface="Arial"/>
              </a:rPr>
              <a:t>Questa presentazione e la risposta.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102870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CHI STA RISPONDENDO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337310"/>
            <a:ext cx="8961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600">
                <a:solidFill>
                  <a:srgbClr val="3D3833"/>
                </a:solidFill>
                <a:latin typeface="Georgia"/>
              </a:rPr>
              <a:t>Vincenzo Alberto Marrari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595360" y="2777490"/>
            <a:ext cx="804672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595360" y="3086100"/>
            <a:ext cx="8961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B8523A"/>
                </a:solidFill>
                <a:latin typeface="Courier New"/>
              </a:rPr>
              <a:t>Analyst &amp; Insight Strategist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114800"/>
            <a:ext cx="8961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EY Studio+ &amp; Trajaan — sistemi di intelligence per le organizzazioni.</a:t>
            </a:r>
          </a:p>
          <a:p>
            <a:pPr algn="l"/>
            <a:r>
              <a:t/>
            </a:r>
          </a:p>
          <a:p>
            <a:pPr algn="l"/>
            <a:r>
              <a:rPr b="0" i="0" sz="1300">
                <a:solidFill>
                  <a:srgbClr val="3D3833"/>
                </a:solidFill>
                <a:latin typeface="Arial"/>
              </a:rPr>
              <a:t>12+ anni di social listening, cultural intelligence e ricerca strategica.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Ha visto questo mestiere cambiare forma tre volte, strumenti diventare</a:t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obsoleti, e l'AI ridefinire dove sta il valore — senza eliminare il mestiere.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8A8175"/>
                </a:solidFill>
                <a:latin typeface="Arial"/>
              </a:rPr>
              <a:t>Con Francesca Olivieri di Brandwatch — il mercato italiano dall'interno.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0" y="8743950"/>
            <a:ext cx="8961120" cy="123444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90525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“Il valore dell'AI non sta nel sostituire l'uomo, ma nel amplificarne le competenze.”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5920" y="1337310"/>
            <a:ext cx="5303520" cy="6172200"/>
          </a:xfrm>
          <a:prstGeom prst="rect">
            <a:avLst/>
          </a:prstGeom>
          <a:solidFill>
            <a:srgbClr val="E0D8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411480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000">
                <a:solidFill>
                  <a:srgbClr val="8A8175"/>
                </a:solidFill>
                <a:latin typeface="Arial"/>
              </a:rPr>
              <a:t>[FOTO]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1 — IL PARADOSSO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400">
                <a:solidFill>
                  <a:srgbClr val="3D3833"/>
                </a:solidFill>
                <a:latin typeface="Georgia"/>
              </a:rPr>
              <a:t>Eppure lo chiedono tutti.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80160" y="3188970"/>
            <a:ext cx="7863840" cy="6172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3D3833"/>
                </a:solidFill>
                <a:latin typeface="Arial"/>
              </a:rPr>
              <a:t>Il social listening viene citato ovunque: brief, piani media, board strategici.</a:t>
            </a:r>
          </a:p>
          <a:p>
            <a:pPr algn="l"/>
            <a:r>
              <a:t/>
            </a:r>
          </a:p>
          <a:p>
            <a:pPr algn="l"/>
            <a:r>
              <a:rPr b="1" i="0" sz="1800">
                <a:solidFill>
                  <a:srgbClr val="B8523A"/>
                </a:solidFill>
                <a:latin typeface="Arial"/>
              </a:rPr>
              <a:t>42 milioni di utenti social attivi in Italia.</a:t>
            </a:r>
          </a:p>
          <a:p>
            <a:pPr algn="l"/>
            <a:r>
              <a:t/>
            </a:r>
          </a:p>
          <a:p>
            <a:pPr algn="l"/>
            <a:r>
              <a:rPr b="0" i="0" sz="1400">
                <a:solidFill>
                  <a:srgbClr val="3D3833"/>
                </a:solidFill>
                <a:latin typeface="Arial"/>
              </a:rPr>
              <a:t>Eppure il risultato e sempre lo stesso: un report mensile che arriva</a:t>
            </a:r>
          </a:p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in ritardo rispetto alle decisioni che avrebbe dovuto supportare.</a:t>
            </a:r>
          </a:p>
          <a:p>
            <a:pPr algn="l"/>
            <a:r>
              <a:t/>
            </a:r>
          </a:p>
          <a:p>
            <a:pPr algn="l"/>
            <a:r>
              <a:rPr b="1" i="0" sz="1400">
                <a:solidFill>
                  <a:srgbClr val="B8523A"/>
                </a:solidFill>
                <a:latin typeface="Arial"/>
              </a:rPr>
              <a:t>Il problema non e lo strumento. E il posizionamento.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0" y="3188970"/>
            <a:ext cx="6949440" cy="18516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875520" y="3188970"/>
            <a:ext cx="50292" cy="18516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40112" y="3271266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800">
                <a:solidFill>
                  <a:srgbClr val="E0D8C4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40112" y="4176522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TUTTI LO CHIEDONO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40112" y="462915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Ogni brief, ogni RFP, ogni piano media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875520" y="5349240"/>
            <a:ext cx="6949440" cy="18516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75520" y="5349240"/>
            <a:ext cx="50292" cy="18516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0112" y="5431536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800">
                <a:solidFill>
                  <a:srgbClr val="E0D8C4"/>
                </a:solidFill>
                <a:latin typeface="Georgia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40112" y="6336792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POCHI LO RICONOSCONO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40112" y="678942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Validazione a posteriori, non orientamento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75520" y="7509510"/>
            <a:ext cx="6949440" cy="185166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75520" y="7509510"/>
            <a:ext cx="50292" cy="185166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40112" y="7591806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800">
                <a:solidFill>
                  <a:srgbClr val="E0D8C4"/>
                </a:solidFill>
                <a:latin typeface="Georgia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0112" y="8497062"/>
            <a:ext cx="621792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RARO LO STRUTTURANO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0112" y="894969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Senza metodo rimane monitoring, non intelligence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2 — IL PERIMETRO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600">
                <a:solidFill>
                  <a:srgbClr val="3D3833"/>
                </a:solidFill>
                <a:latin typeface="Georgia"/>
              </a:rPr>
              <a:t>Prima pero, sgombriamo il terreno.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Il social listening e uno di quei mestieri che quasi tutti credono di capire — e quasi nessuno sa definire.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360045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909060"/>
            <a:ext cx="749808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90906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F3EDE1"/>
                </a:solidFill>
                <a:latin typeface="Courier New"/>
              </a:rPr>
              <a:t>   NON E'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4495419"/>
            <a:ext cx="7498080" cy="20574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4495419"/>
            <a:ext cx="50292" cy="205740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4752" y="4577715"/>
            <a:ext cx="6766560" cy="1903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x  Contare menzioni. Il sentiment automatico come verita assoluta.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x  Share of voice come fine. Dashboard mensile come deliverable.</a:t>
            </a:r>
          </a:p>
          <a:p>
            <a:pPr algn="l"/>
            <a:r>
              <a:rPr b="1" i="0" sz="1200">
                <a:solidFill>
                  <a:srgbClr val="B8523A"/>
                </a:solidFill>
                <a:latin typeface="Arial"/>
              </a:rPr>
              <a:t>x  IL TOOL — abilita l'ascolto, non produce la comprensione.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3909060"/>
            <a:ext cx="7498080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0" y="390906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F3EDE1"/>
                </a:solidFill>
                <a:latin typeface="Courier New"/>
              </a:rPr>
              <a:t>   E'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09760" y="4495419"/>
            <a:ext cx="7498080" cy="20574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4495419"/>
            <a:ext cx="50292" cy="20574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4352" y="4577715"/>
            <a:ext cx="6766560" cy="19030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Un sistema di intelligence strategica.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La voce spontanea del mercato — bisogni latenti, segnali deboli.</a:t>
            </a:r>
          </a:p>
          <a:p>
            <a:pPr algn="l"/>
            <a:r>
              <a:rPr b="1" i="0" sz="1200">
                <a:solidFill>
                  <a:srgbClr val="B8523A"/>
                </a:solidFill>
                <a:latin typeface="Arial"/>
              </a:rPr>
              <a:t>+  IL METODO che precede il tool e ne determina il valore.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80160" y="6635115"/>
            <a:ext cx="15727680" cy="0"/>
          </a:xfrm>
          <a:prstGeom prst="line">
            <a:avLst/>
          </a:prstGeom>
          <a:ln w="25400">
            <a:solidFill>
              <a:srgbClr val="E0D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80160" y="6737985"/>
            <a:ext cx="1572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8A8175"/>
                </a:solidFill>
                <a:latin typeface="Courier New"/>
              </a:rPr>
              <a:t>LE TRE CONFUSIONI PIU COMUNI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7200900"/>
            <a:ext cx="5120640" cy="26746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0" y="7200900"/>
            <a:ext cx="50292" cy="26746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4752" y="730377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3D3833"/>
                </a:solidFill>
                <a:latin typeface="Arial"/>
              </a:rPr>
              <a:t>Social Listening= Community Management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4752" y="8126730"/>
            <a:ext cx="475488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Orientamento diverso: 'cosa rispondiamo?' vs 'cosa sta succedendo nel mercato?'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0" y="7200900"/>
            <a:ext cx="5120640" cy="26746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7200900"/>
            <a:ext cx="50292" cy="26746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14032" y="730377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3D3833"/>
                </a:solidFill>
                <a:latin typeface="Arial"/>
              </a:rPr>
              <a:t>Social Listening= Social Media Mgmt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8126730"/>
            <a:ext cx="475488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Performance dei contenuti vs segnale del mercato. Paralleli, non sovrapponibili.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618720" y="7200900"/>
            <a:ext cx="5120640" cy="267462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618720" y="7200900"/>
            <a:ext cx="50292" cy="267462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783312" y="730377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3D3833"/>
                </a:solidFill>
                <a:latin typeface="Arial"/>
              </a:rPr>
              <a:t>Social Listening= Tool Operator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83312" y="8126730"/>
            <a:ext cx="4754880" cy="1543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Acquistare una licenza non e acquistare competenza. La competenza e nel framework.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3 — IDENTITA DELLA DISCIPLINA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F3EDE1"/>
                </a:solidFill>
                <a:latin typeface="Georgia"/>
              </a:rPr>
              <a:t>Non e un tuo fallimento.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7462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B8523A"/>
                </a:solidFill>
                <a:latin typeface="Georgia"/>
              </a:rPr>
              <a:t>E un fallimento della disciplina.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90906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Arial"/>
              </a:rPr>
              <a:t>La stessa competenza si chiama in undici modi diversi. Senza un nome chiaro, mancano seniority, budget, carriera.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0" y="4629150"/>
            <a:ext cx="15727680" cy="0"/>
          </a:xfrm>
          <a:prstGeom prst="line">
            <a:avLst/>
          </a:prstGeom>
          <a:ln w="254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280160" y="4937760"/>
            <a:ext cx="5120640" cy="390906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0" y="4217670"/>
            <a:ext cx="50292" cy="48348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4320540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332D28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55498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F3EDE1"/>
                </a:solidFill>
                <a:latin typeface="Arial"/>
              </a:rPr>
              <a:t>ISOLAMENTO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6377940"/>
            <a:ext cx="4572000" cy="226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Lo spiega da capo in ogni stanza nuova. Quello che ha costruito — metodologia, punto di vista — esiste dentro quella struttura. Se cambia contesto, ricomincia da zero.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937760"/>
            <a:ext cx="5120640" cy="390906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0" y="4217670"/>
            <a:ext cx="50292" cy="48348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4032" y="4320540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332D28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4032" y="555498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F3EDE1"/>
                </a:solidFill>
                <a:latin typeface="Arial"/>
              </a:rPr>
              <a:t>NESSUNO 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6377940"/>
            <a:ext cx="4572000" cy="226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Nessuna definizione di cosa significa 'fare bene' questo lavoro. Ogni team reinventa il metodo. Il cliente non puo valutare la qualita.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618720" y="4937760"/>
            <a:ext cx="5120640" cy="390906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618720" y="4217670"/>
            <a:ext cx="50292" cy="48348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783312" y="4320540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332D28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83312" y="555498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F3EDE1"/>
                </a:solidFill>
                <a:latin typeface="Arial"/>
              </a:rPr>
              <a:t>EXPERTISE INVISIBILE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83312" y="6377940"/>
            <a:ext cx="4572000" cy="2263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Il manager capisce il lavoro ma non abbastanza da difenderlo in un board. Nessuna credenziale che viaggi fuori dall'azienda.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9103995"/>
            <a:ext cx="18288000" cy="118300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9309735"/>
            <a:ext cx="1572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900">
                <a:solidFill>
                  <a:srgbClr val="F3EDE1"/>
                </a:solidFill>
                <a:latin typeface="Arial"/>
              </a:rPr>
              <a:t>“Questo non e un vostro fallimento. E un fallimento strutturale della disciplina.”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4 — IL MERCATO ITALIANO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In Italia il problema e piu profondo.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Non e tecnologico. Gli strumenti ci sono. Quello che manca e il posizionamento strategico del ruolo.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749808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18897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3EDE1"/>
                </a:solidFill>
                <a:latin typeface="Courier New"/>
              </a:rPr>
              <a:t>   ITALIA — PRATICA IMPLICITA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785616"/>
            <a:ext cx="7498080" cy="534924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3785616"/>
            <a:ext cx="50292" cy="534924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888486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~ Strumenti presenti, metodo assente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762881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~ Ruolo raramente nominato come autonomo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37276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~ Formazione quasi sempre autodidatta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6511671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~ Ownership contesa tra social, PR,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7386066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~ Competenza reale ma non portabile fuori dall'org.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3188970"/>
            <a:ext cx="7498080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0" y="318897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600">
                <a:solidFill>
                  <a:srgbClr val="F3EDE1"/>
                </a:solidFill>
                <a:latin typeface="Courier New"/>
              </a:rPr>
              <a:t>   ESTERO — INFRASTRUTTURA STRUTTURATA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3785616"/>
            <a:ext cx="7498080" cy="534924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509760" y="3785616"/>
            <a:ext cx="50292" cy="534924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3888486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+ Comunita di pratica verticali e attive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762881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+ Percorsi di carriera espliciti e riconoscibili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5637276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+ Definizione condivisa del 'fare bene il lavoro'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6511671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+ Credenziali leggibili fuori dal contesto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7386066"/>
            <a:ext cx="694944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3D3833"/>
                </a:solidFill>
                <a:latin typeface="Arial"/>
              </a:rPr>
              <a:t>+ Standard metodologici difendibili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9206865"/>
            <a:ext cx="18288000" cy="108013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0160" y="9392031"/>
            <a:ext cx="15727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200">
                <a:solidFill>
                  <a:srgbClr val="F3EDE1"/>
                </a:solidFill>
                <a:latin typeface="Arial"/>
              </a:rPr>
              <a:t>Il divario non e di dati. E di infrastruttura professionale.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IL MERCATO — IL SALTO CHE MANCA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Il salto che cambia tutto.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Non e tecnologico. E un salto di posizionamento.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731520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188970"/>
            <a:ext cx="731520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F3EDE1"/>
                </a:solidFill>
                <a:latin typeface="Courier New"/>
              </a:rPr>
              <a:t>   STATO REATTIVO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785616"/>
            <a:ext cx="7315200" cy="524637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3785616"/>
            <a:ext cx="50292" cy="524637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3909060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3D3833"/>
                </a:solidFill>
                <a:latin typeface="Arial"/>
              </a:rPr>
              <a:t>Il listening entra dopo.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680585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Arial"/>
              </a:rPr>
              <a:t>Misura quello che e successo.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524119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Arial"/>
              </a:rPr>
              <a:t>Segue la crisi quando e gia esplosa.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6367653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Arial"/>
              </a:rPr>
              <a:t>Conferma il brief gia scritto.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7211187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Arial"/>
              </a:rPr>
              <a:t>Il dato commenta — non orienta.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92640" y="3188970"/>
            <a:ext cx="7315200" cy="565785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3188970"/>
            <a:ext cx="731520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F3EDE1"/>
                </a:solidFill>
                <a:latin typeface="Courier New"/>
              </a:rPr>
              <a:t>   STATO GENERATIVO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3785616"/>
            <a:ext cx="7315200" cy="524637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692640" y="3785616"/>
            <a:ext cx="50292" cy="524637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0" y="3909060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400">
                <a:solidFill>
                  <a:srgbClr val="F3EDE1"/>
                </a:solidFill>
                <a:latin typeface="Arial"/>
              </a:rPr>
              <a:t>Il listening entra prima.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75520" y="4680585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F3EDE1"/>
                </a:solidFill>
                <a:latin typeface="Arial"/>
              </a:rPr>
              <a:t>Prima del brief — per formulare ipotesi.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5524119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F3EDE1"/>
                </a:solidFill>
                <a:latin typeface="Arial"/>
              </a:rPr>
              <a:t>Prima del lancio — per intercettare barriere.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6367653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F3EDE1"/>
                </a:solidFill>
                <a:latin typeface="Arial"/>
              </a:rPr>
              <a:t>Prima della crisi — per leggere i segnali deboli.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7211187"/>
            <a:ext cx="658368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F3EDE1"/>
                </a:solidFill>
                <a:latin typeface="Arial"/>
              </a:rPr>
              <a:t>Il dato orienta — non commenta.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5863589"/>
            <a:ext cx="14630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5000">
                <a:solidFill>
                  <a:srgbClr val="B8523A"/>
                </a:solidFill>
                <a:latin typeface="Arial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9103995"/>
            <a:ext cx="18288000" cy="118300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9309735"/>
            <a:ext cx="1572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700">
                <a:solidFill>
                  <a:srgbClr val="F3EDE1"/>
                </a:solidFill>
                <a:latin typeface="Arial"/>
              </a:rPr>
              <a:t>“Il social listening viene spesso invitato alla riunione in cui si valida una strategia gia decisa — non a quella in cui la strategia viene costruita.”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5 — DAL DATO ALL'INSIGHT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400">
                <a:solidFill>
                  <a:srgbClr val="3D3833"/>
                </a:solidFill>
                <a:latin typeface="Georgia"/>
              </a:rPr>
              <a:t>La differenza non e nel dato. E nella domanda.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280160" y="246888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280160" y="2777490"/>
            <a:ext cx="749808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08610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F3EDE1"/>
                </a:solidFill>
                <a:latin typeface="Courier New"/>
              </a:rPr>
              <a:t>   REPORT — descrive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3374136"/>
            <a:ext cx="7498080" cy="216027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80160" y="3374136"/>
            <a:ext cx="50292" cy="216027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3477006"/>
            <a:ext cx="6766560" cy="2005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700">
                <a:solidFill>
                  <a:srgbClr val="3D3833"/>
                </a:solidFill>
                <a:latin typeface="Arial"/>
              </a:rPr>
              <a:t>“Le menzioni sono cresciute del +40% nell'ultimo mese.”</a:t>
            </a:r>
          </a:p>
          <a:p>
            <a:pPr algn="l"/>
            <a:r>
              <a:t/>
            </a:r>
          </a:p>
          <a:p>
            <a:pPr algn="l"/>
            <a:r>
              <a:rPr b="0" i="0" sz="1700">
                <a:solidFill>
                  <a:srgbClr val="3D3833"/>
                </a:solidFill>
                <a:latin typeface="Arial"/>
              </a:rPr>
              <a:t>Il report allarma. Genera reazione, non orientamento.</a:t>
            </a:r>
          </a:p>
          <a:p>
            <a:pPr algn="l"/>
            <a:r>
              <a:rPr b="0" i="0" sz="1700">
                <a:solidFill>
                  <a:srgbClr val="3D3833"/>
                </a:solidFill>
                <a:latin typeface="Arial"/>
              </a:rPr>
              <a:t>Arriva dopo che le decisioni sono gia state prese.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2777490"/>
            <a:ext cx="7498080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0" y="3086100"/>
            <a:ext cx="74980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F3EDE1"/>
                </a:solidFill>
                <a:latin typeface="Courier New"/>
              </a:rPr>
              <a:t>   INSIGHT — interpreta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3374136"/>
            <a:ext cx="7498080" cy="216027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3374136"/>
            <a:ext cx="50292" cy="216027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0" y="3477006"/>
            <a:ext cx="6766560" cy="2005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700">
                <a:solidFill>
                  <a:srgbClr val="3D3833"/>
                </a:solidFill>
                <a:latin typeface="Arial"/>
              </a:rPr>
              <a:t>“Il brand e associato a una tensione emergente sul servizio clienti</a:t>
            </a:r>
          </a:p>
          <a:p>
            <a:pPr algn="l"/>
            <a:r>
              <a:rPr b="0" i="0" sz="1700">
                <a:solidFill>
                  <a:srgbClr val="3D3833"/>
                </a:solidFill>
                <a:latin typeface="Arial"/>
              </a:rPr>
              <a:t>che sta scalando — se non si interviene entro due settimane, diventa crisi.”</a:t>
            </a:r>
          </a:p>
          <a:p>
            <a:pPr algn="l"/>
            <a:r>
              <a:t/>
            </a:r>
          </a:p>
          <a:p>
            <a:pPr algn="l"/>
            <a:r>
              <a:rPr b="0" i="0" sz="1700">
                <a:solidFill>
                  <a:srgbClr val="3D3833"/>
                </a:solidFill>
                <a:latin typeface="Arial"/>
              </a:rPr>
              <a:t>L'insight orienta. Abilita la decisione nel momento giusto.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80160" y="5637276"/>
            <a:ext cx="15727680" cy="0"/>
          </a:xfrm>
          <a:prstGeom prst="line">
            <a:avLst/>
          </a:prstGeom>
          <a:ln w="25400">
            <a:solidFill>
              <a:srgbClr val="E0D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0" y="5688711"/>
            <a:ext cx="82296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987034"/>
            <a:ext cx="157276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LO STANDARD CHE FINORA NON ESISTEVA — TASSONOMIA A TRE CERCHI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6521958"/>
            <a:ext cx="1572768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Arial"/>
              </a:rPr>
              <a:t>Uno strumento per costruire la domanda giusta e difendere le scelte metodologiche.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80160" y="6635115"/>
            <a:ext cx="5120640" cy="318897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80160" y="6635115"/>
            <a:ext cx="50292" cy="318897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44752" y="712889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Cerchio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712889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CONTESTO CULTURALE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7694676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Pop culture, economia, generazioni, tensioni sociali.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8517636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Perche il mercato si muove adesso?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49440" y="6635115"/>
            <a:ext cx="5120640" cy="318897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49440" y="6635115"/>
            <a:ext cx="50292" cy="318897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14032" y="712889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Cerchio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4032" y="712889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INDUSTRY &amp; CATEGORY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7694676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Competitor, occasioni d'uso, barriere, driver.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8517636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Come si comporta questa categoria?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618720" y="6635115"/>
            <a:ext cx="5120640" cy="318897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618720" y="6635115"/>
            <a:ext cx="50292" cy="318897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783312" y="712889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B8523A"/>
                </a:solidFill>
                <a:latin typeface="Courier New"/>
              </a:rPr>
              <a:t>Cerchio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83312" y="712889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BRAND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83312" y="7694676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Menzioni, campagna, customer experience, reputazione.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783312" y="8517636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Cosa dice il mercato di questo brand?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DAL DATO ALL'INSIGHT — I TRE ATTRITI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800">
                <a:solidFill>
                  <a:srgbClr val="3D3833"/>
                </a:solidFill>
                <a:latin typeface="Georgia"/>
              </a:rPr>
              <a:t>I segnali che nessuna dashboard mostra.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900">
                <a:solidFill>
                  <a:srgbClr val="8A8175"/>
                </a:solidFill>
                <a:latin typeface="Arial"/>
              </a:rPr>
              <a:t>Formalizzati dopo centinaia di dataset. Li cerco per primi in ogni progetto — sono la firma di un problema reale.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5120640" cy="658368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188970"/>
            <a:ext cx="50292" cy="658368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324040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E0D8C4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4474845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INTENTION
INTERFACE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34924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B8523A"/>
                </a:solidFill>
                <a:latin typeface="Arial"/>
              </a:rPr>
              <a:t>Q&amp;A, recensioni, customer care, forum di supporto.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596646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3D3833"/>
                </a:solidFill>
                <a:latin typeface="Arial"/>
              </a:rPr>
              <a:t>L'utente vuole fare qualcosa ma non riesce. Ostacolo nell'interfaccia, nel processo, nella value proposition.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750951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Frustrazione ricorrente su un punto del journey. Indica dove il prodotto perde l'utente.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3188970"/>
            <a:ext cx="5120640" cy="658368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3188970"/>
            <a:ext cx="50292" cy="658368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324040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E0D8C4"/>
                </a:solidFill>
                <a:latin typeface="Georgia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4474845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TRUST
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534924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B8523A"/>
                </a:solidFill>
                <a:latin typeface="Arial"/>
              </a:rPr>
              <a:t>Community di settore, comparatori, review spontanee.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596646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3D3833"/>
                </a:solidFill>
                <a:latin typeface="Arial"/>
              </a:rPr>
              <a:t>L'utente esita a fidarsi — del brand, della promessa, del prezzo. Arriva prima che la crisi diventi visibile.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750951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Esitazione sistematica pre-acquisto. Permette di intervenire sulla narrativa prima del danno.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618720" y="3188970"/>
            <a:ext cx="5120640" cy="658368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618720" y="3188970"/>
            <a:ext cx="50292" cy="658368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83312" y="324040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E0D8C4"/>
                </a:solidFill>
                <a:latin typeface="Georgia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83312" y="4474845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USAGE
GAP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83312" y="5349240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400">
                <a:solidFill>
                  <a:srgbClr val="B8523A"/>
                </a:solidFill>
                <a:latin typeface="Arial"/>
              </a:rPr>
              <a:t>Tutorial spontanei, micro-community, gruppi chiusi.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83312" y="596646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3D3833"/>
                </a:solidFill>
                <a:latin typeface="Arial"/>
              </a:rPr>
              <a:t>L'utente usa il prodotto in modi non previsti — workaround, rituali, micro-community creative.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83312" y="7509510"/>
            <a:ext cx="45720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Usi non previsti = opportunita di innovazione. Qui si nasconde il vantaggio competitivo.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6 — LE TRE ERE DEL SOCIAL LISTENING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Siamo al terzo atto.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Il social listening ha attraversato tre ere. Capire dove siamo richiede di vedere le due che vengono prima.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5120640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329184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2008–2014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3857625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3D3833"/>
                </a:solidFill>
                <a:latin typeface="Arial"/>
              </a:rPr>
              <a:t>ERA DEL
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478345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700">
                <a:solidFill>
                  <a:srgbClr val="B8523A"/>
                </a:solidFill>
                <a:latin typeface="Arial"/>
              </a:rPr>
              <a:t>Quante volte mi nominano?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5534406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Mention, reach, share of voice. Descrizione retrospettiva.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699516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Ho fatto questi report nel 2012. Utili per una prima visibilita. Limitati a cio che era gia successo.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3188970"/>
            <a:ext cx="5120640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4032" y="329184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2015–2023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3857625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3D3833"/>
                </a:solidFill>
                <a:latin typeface="Arial"/>
              </a:rPr>
              <a:t>ERA DEL
CONTESTO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478345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700">
                <a:solidFill>
                  <a:srgbClr val="B8523A"/>
                </a:solidFill>
                <a:latin typeface="Arial"/>
              </a:rPr>
              <a:t>Cosa sta succedendo e perche?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5534406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Topic modeling, sentiment driver, community, crisi, reputazione.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699516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Ho vissuto questo passaggio. Cambia il tipo di conversazioni con i clienti.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618720" y="3188970"/>
            <a:ext cx="5120640" cy="5863589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618720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83312" y="3291840"/>
            <a:ext cx="45720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B8523A"/>
                </a:solidFill>
                <a:latin typeface="Courier New"/>
              </a:rPr>
              <a:t>2024 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83312" y="3857625"/>
            <a:ext cx="457200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F3EDE1"/>
                </a:solidFill>
                <a:latin typeface="Arial"/>
              </a:rPr>
              <a:t>ERA DEL
SEGNALE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83312" y="4783455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700">
                <a:solidFill>
                  <a:srgbClr val="B8523A"/>
                </a:solidFill>
                <a:latin typeface="Arial"/>
              </a:rPr>
              <a:t>Quale segnale anticipa la prossima decisione?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83312" y="5534406"/>
            <a:ext cx="457200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Frizioni, pattern emergenti, micro-cluster, rischi latenti, opportunita pre-mainstream.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83312" y="699516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F3EDE1"/>
                </a:solidFill>
                <a:latin typeface="Arial"/>
              </a:rPr>
              <a:t>L'AI riduce il costo della sintesi. L'interpretazione diventa il vero valore.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9103995"/>
            <a:ext cx="18288000" cy="118300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0" y="9309735"/>
            <a:ext cx="15727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900">
                <a:solidFill>
                  <a:srgbClr val="F3EDE1"/>
                </a:solidFill>
                <a:latin typeface="Arial"/>
              </a:rPr>
              <a:t>“Il volume racconta dove guardano tutti. La forma del rumore racconta dove si nasconde il vantaggio.”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046720" cy="10287000"/>
          </a:xfrm>
          <a:prstGeom prst="rect">
            <a:avLst/>
          </a:prstGeom>
          <a:solidFill>
            <a:srgbClr val="1E19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0" y="0"/>
            <a:ext cx="82296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0" y="1337310"/>
            <a:ext cx="5120640" cy="658368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4217670"/>
            <a:ext cx="512064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2000">
                <a:solidFill>
                  <a:srgbClr val="8A8175"/>
                </a:solidFill>
                <a:latin typeface="Arial"/>
              </a:rPr>
              <a:t>[FOTO]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195453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600">
                <a:solidFill>
                  <a:srgbClr val="F3EDE1"/>
                </a:solidFill>
                <a:latin typeface="Georgia"/>
              </a:rPr>
              <a:t>“Il calcio e semplice.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298323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600">
                <a:solidFill>
                  <a:srgbClr val="F3EDE1"/>
                </a:solidFill>
                <a:latin typeface="Georgia"/>
              </a:rPr>
              <a:t>Ma giocare a calcio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90906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600">
                <a:solidFill>
                  <a:srgbClr val="F3EDE1"/>
                </a:solidFill>
                <a:latin typeface="Georgia"/>
              </a:rPr>
              <a:t>in modo semplice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483489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600">
                <a:solidFill>
                  <a:srgbClr val="B8523A"/>
                </a:solidFill>
                <a:latin typeface="Georgia"/>
              </a:rPr>
              <a:t>e la cosa piu difficile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5760720"/>
            <a:ext cx="804672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3600">
                <a:solidFill>
                  <a:srgbClr val="B8523A"/>
                </a:solidFill>
                <a:latin typeface="Georgia"/>
              </a:rPr>
              <a:t>che esista.”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7200900"/>
            <a:ext cx="80467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Courier New"/>
              </a:rPr>
              <a:t>— Johan Cruyff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44000" y="8229600"/>
            <a:ext cx="768096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144000" y="8641080"/>
            <a:ext cx="80467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Il nostro mestiere. L'AI non lo cambia — lo amplifica.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7 — AI E L'ANALISTA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L'AI non fa il tuo lavoro.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57175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B8523A"/>
                </a:solidFill>
                <a:latin typeface="Georgia"/>
              </a:rPr>
              <a:t>Fa il lavoro che ti impediva di farlo.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806190"/>
            <a:ext cx="1572768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Arial"/>
              </a:rPr>
              <a:t>Domanda sbagliata: “L'AI mi sostituira?”   —   Domanda giusta: “Cosa posso fare adesso che prima non potevo?”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280160" y="462915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280160" y="4217670"/>
            <a:ext cx="7315200" cy="565785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TASK LAYER — COSA ACCELERA L'AI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80160" y="4814316"/>
            <a:ext cx="7315200" cy="421767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80160" y="4814316"/>
            <a:ext cx="50292" cy="4217670"/>
          </a:xfrm>
          <a:prstGeom prst="rect">
            <a:avLst/>
          </a:prstGeom>
          <a:solidFill>
            <a:srgbClr val="241F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4917186"/>
            <a:ext cx="6583680" cy="4011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D3833"/>
                </a:solidFill>
                <a:latin typeface="Arial"/>
              </a:rPr>
              <a:t>Un collaboratore che non dorme. Legge un milione di conversazioni in un'ora.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Sintesi di volumi enormi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Clustering, tagging, classificazione a scala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Riconoscimento pattern e correlazioni</a:t>
            </a:r>
          </a:p>
          <a:p>
            <a:pPr algn="l"/>
            <a:r>
              <a:rPr b="0" i="0" sz="1200">
                <a:solidFill>
                  <a:srgbClr val="3D3833"/>
                </a:solidFill>
                <a:latin typeface="Arial"/>
              </a:rPr>
              <a:t>+  Generazione bozze, esplorazione ipotesi rapida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4217670"/>
            <a:ext cx="7315200" cy="565785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4937760"/>
            <a:ext cx="731520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JUDGEMENT LAYER — COSA RESTA UMANO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4814316"/>
            <a:ext cx="7315200" cy="421767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09760" y="4814316"/>
            <a:ext cx="50292" cy="421767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0" y="4917186"/>
            <a:ext cx="6583680" cy="4011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3EDE1"/>
                </a:solidFill>
                <a:latin typeface="Arial"/>
              </a:rPr>
              <a:t>Queste non sono attivita di contorno. Sono il mestiere.</a:t>
            </a:r>
          </a:p>
          <a:p>
            <a:pPr algn="l"/>
            <a:r>
              <a:t/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+  Formulare la domanda di business giusta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+  Validare l'affidabilita del dato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+  Riconoscere bias e contesto culturale</a:t>
            </a:r>
          </a:p>
          <a:p>
            <a:pPr algn="l"/>
            <a:r>
              <a:rPr b="0" i="0" sz="1200">
                <a:solidFill>
                  <a:srgbClr val="F3EDE1"/>
                </a:solidFill>
                <a:latin typeface="Arial"/>
              </a:rPr>
              <a:t>+  Portare una verita scomoda nella stanza giusta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AI E L'ANALISTA — IL NUOVO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Ecco come cambia il metodo.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Dal 'apri il tool, digita il brand' al 'parti dalla decisione che devi supportare'.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2980944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324040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200">
                <a:solidFill>
                  <a:srgbClr val="E0D8C4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4320540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DOMANDA
DI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24637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Non 'cosa succede sul brand?' ma 'perche i nuovi clienti non convertono?' La domanda precede tutto.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B8523A"/>
                </a:solidFill>
                <a:latin typeface="Courier New"/>
              </a:rPr>
              <a:t>[Brief]  [Board]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4256" y="3188970"/>
            <a:ext cx="2980944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34256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8848" y="324040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200">
                <a:solidFill>
                  <a:srgbClr val="E0D8C4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4320540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FONTI
GIUSTE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8848" y="524637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Non una fonte — le fonti giuste per quella domanda. Ogni fonte vede una parte diversa del mercato.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B8523A"/>
                </a:solidFill>
                <a:latin typeface="Courier New"/>
              </a:rPr>
              <a:t>[SL]  [CRM]  [Search]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3188970"/>
            <a:ext cx="2980944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88352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52944" y="324040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200">
                <a:solidFill>
                  <a:srgbClr val="E0D8C4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4320540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SINTESI
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2944" y="524637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L'AI sintetizza, raggruppa, identifica pattern a scala. Task Layer in azione — veloce, instancabile.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2944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B8523A"/>
                </a:solidFill>
                <a:latin typeface="Courier New"/>
              </a:rPr>
              <a:t>[Claude]  [GPT]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42448" y="3188970"/>
            <a:ext cx="2980944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442448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07040" y="324040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200">
                <a:solidFill>
                  <a:srgbClr val="E0D8C4"/>
                </a:solidFill>
                <a:latin typeface="Georgia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4320540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VALIDAZIONE
UMANA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524637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L'analista valida, contestualizza, riconosce bias e codice culturale. Judgement Layer.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B8523A"/>
                </a:solidFill>
                <a:latin typeface="Courier New"/>
              </a:rPr>
              <a:t>[Context]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496544" y="3188970"/>
            <a:ext cx="2980944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3496544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661136" y="3240405"/>
            <a:ext cx="2980944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200">
                <a:solidFill>
                  <a:srgbClr val="E0D8C4"/>
                </a:solidFill>
                <a:latin typeface="Georgia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61136" y="4320540"/>
            <a:ext cx="2798064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INSIGHT
E AZIONE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661136" y="5246370"/>
            <a:ext cx="2798064" cy="2366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Portato alla persona giusta, nel momento giusto, nel linguaggio giusto.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61136" y="8538210"/>
            <a:ext cx="2798064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B8523A"/>
                </a:solidFill>
                <a:latin typeface="Courier New"/>
              </a:rPr>
              <a:t>[Decision]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AI E L'ANALISTA — L'ECOSISTEMA DELLE FONTI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200">
                <a:solidFill>
                  <a:srgbClr val="3D3833"/>
                </a:solidFill>
                <a:latin typeface="Georgia"/>
              </a:rPr>
              <a:t>L'orchestratore conosce tutte le finestre.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2160270"/>
            <a:ext cx="18288000" cy="9258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160270"/>
            <a:ext cx="82296" cy="9258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551176"/>
            <a:ext cx="1572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700">
                <a:solidFill>
                  <a:srgbClr val="3D3833"/>
                </a:solidFill>
                <a:latin typeface="Arial"/>
              </a:rPr>
              <a:t>Dialogare con tutte le fonti non e una novita — e quello che avremmo sempre dovuto fare.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92324"/>
            <a:ext cx="1572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700">
                <a:solidFill>
                  <a:srgbClr val="B8523A"/>
                </a:solidFill>
                <a:latin typeface="Arial"/>
              </a:rPr>
              <a:t>L'AI adesso lo rende possibile a una scala, velocita e profondita prima irraggiungibili.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318897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80160" y="318897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328155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Social Listening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59016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Voce spontanea — cosa dicono senza sapere di essere osservati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9032" y="399135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sintesi real-time]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48656" y="318897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48656" y="318897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67528" y="328155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Search Intent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67528" y="359016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Intenzione pre-decisione — il bisogno non ancora dichiarato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8" y="399135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clustering intent]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17152" y="318897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17152" y="318897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328155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Survey CAWI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359016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Voce sollecitata — strutturata, quantificabile, filtrata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399135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analisi testuale]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185648" y="318897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3185648" y="318897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04520" y="328155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CRM &amp; First-party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04520" y="359016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Customer base reale — comportamenti verificati, non percepiti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04520" y="399135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pattern predittivi]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432054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280160" y="432054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99032" y="441312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Review &amp; Rating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99032" y="472173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Esperienza vissuta post-acquisto — frustrazione e delizia reali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99032" y="512292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sentiment granulare]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48656" y="432054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48656" y="432054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8" y="441312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Forum &amp; Community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67528" y="472173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Codice di nicchia — conversazioni non filtrate di community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67528" y="512292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pattern di nicchia]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17152" y="432054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17152" y="432054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36024" y="441312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News &amp; Media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36024" y="472173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Narrativa pubblica e agenda setting — frame esterno al brand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36024" y="512292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agenda tracking]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3185648" y="432054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3185648" y="432054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3304520" y="441312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Trend &amp; Culture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304520" y="472173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Segnali pre-mainstream — dove il mercato sta andando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304520" y="512292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segnali deboli]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45211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280160" y="545211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99032" y="554469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Influencer &amp; Creator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99032" y="585330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Amplificatori culturali — bridge tra brand e audience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99032" y="625449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reach e tono]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48656" y="545211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48656" y="545211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67528" y="554469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Competitor Intel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67528" y="585330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Gap di posizionamento — il mercato in prospettiva comparata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67528" y="625449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gap mapping]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217152" y="545211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217152" y="545211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336024" y="554469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CX &amp; Support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36024" y="585330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Frizione nel journey — Intention-Interface Gap in prima persona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336024" y="625449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friction detection]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185648" y="545211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3185648" y="545211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304520" y="554469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Patent &amp; R&amp;D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304520" y="585330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Innovazione in preparazione — il futuro che si annuncia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304520" y="625449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innovation signals]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280160" y="658368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280160" y="658368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99032" y="667626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Retail &amp; Sales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399032" y="698487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Gap dichiarato/reale — comportamento d'acquisto effettivo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399032" y="738606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behavioral gap]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248656" y="658368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248656" y="658368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67528" y="667626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Earned Media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67528" y="698487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Reputazione editoriale — menzioni in contesto giornalistico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67528" y="738606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reputaz. contestuale]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17152" y="658368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17152" y="658368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336024" y="667626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Dark Social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336024" y="698487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Conversazione invisibile — messaggistica privata, gruppi chiusi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36024" y="738606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pattern inferiti]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185648" y="6583680"/>
            <a:ext cx="3803904" cy="1059561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3185648" y="6583680"/>
            <a:ext cx="45720" cy="1059561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3304520" y="6676263"/>
            <a:ext cx="3657600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D3833"/>
                </a:solidFill>
                <a:latin typeface="Arial"/>
              </a:rPr>
              <a:t>Geo &amp; Location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3304520" y="6984873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8A8175"/>
                </a:solidFill>
                <a:latin typeface="Arial"/>
              </a:rPr>
              <a:t>Movimenti reali, cluster geografici, presenza fisica vs digitale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304520" y="7386066"/>
            <a:ext cx="36576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B8523A"/>
                </a:solidFill>
                <a:latin typeface="Courier New"/>
              </a:rPr>
              <a:t>[AI: geo-clustering]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0" y="9258300"/>
            <a:ext cx="18288000" cy="102870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280160" y="9443466"/>
            <a:ext cx="15727680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700">
                <a:solidFill>
                  <a:srgbClr val="F3EDE1"/>
                </a:solidFill>
                <a:latin typeface="Arial"/>
              </a:rPr>
              <a:t>“Il professionista maturo non difende la sua fonte. Sa quale aprire per la domanda giusta — e l'AI le fa dialogare tutte insieme.”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AI E L'ANALISTA — L'EVOLUZIONE DEL RUOLO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Il tuo ruolo non sparisce. Sale.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Ogni generazione ha risposto a una domanda piu utile della precedente. L'AI accelera il passaggio, non lo interrompe.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5120640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324040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E0D8C4"/>
                </a:solidFill>
                <a:latin typeface="Georgia"/>
              </a:rPr>
              <a:t>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4474845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ANALYST
MONITOR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5318379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700">
                <a:solidFill>
                  <a:srgbClr val="B8523A"/>
                </a:solidFill>
                <a:latin typeface="Arial"/>
              </a:rPr>
              <a:t>Cosa e successo?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5997321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Dashboard, report, riepilogo menzioni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6665976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Nel 2012 facevo questi report. Utili per la prima visibilita — limitati per chi doveva decidere.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812673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B8523A"/>
                </a:solidFill>
                <a:latin typeface="Arial"/>
              </a:rPr>
              <a:t>L'AI automatizza l'80% di questo livello.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3188970"/>
            <a:ext cx="5120640" cy="5863589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49440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4032" y="324040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E0D8C4"/>
                </a:solidFill>
                <a:latin typeface="Georgia"/>
              </a:rPr>
              <a:t>2.0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14032" y="4474845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ANALYST
INTERPRETER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5318379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700">
                <a:solidFill>
                  <a:srgbClr val="B8523A"/>
                </a:solidFill>
                <a:latin typeface="Arial"/>
              </a:rPr>
              <a:t>Perche e successo?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5997321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Driver, ipotesi causali, insight contestuali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2" y="6665976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8A8175"/>
                </a:solidFill>
                <a:latin typeface="Arial"/>
              </a:rPr>
              <a:t>Il salto che cambia le conversazioni con i clienti. Il tuo lavoro entra nelle riunioni strategiche.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14032" y="812673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B8523A"/>
                </a:solidFill>
                <a:latin typeface="Arial"/>
              </a:rPr>
              <a:t>L'AI accelera: 10 ipotesi in un'ora invece che in una settimana.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618720" y="3188970"/>
            <a:ext cx="5120640" cy="5863589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618720" y="3188970"/>
            <a:ext cx="50292" cy="5863589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83312" y="3240405"/>
            <a:ext cx="1005840" cy="1131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600">
                <a:solidFill>
                  <a:srgbClr val="B8523A"/>
                </a:solidFill>
                <a:latin typeface="Georgia"/>
              </a:rPr>
              <a:t>3.0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83312" y="4474845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F3EDE1"/>
                </a:solidFill>
                <a:latin typeface="Arial"/>
              </a:rPr>
              <a:t>ANALYST
ORCHESTRATOR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783312" y="5318379"/>
            <a:ext cx="457200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700">
                <a:solidFill>
                  <a:srgbClr val="B8523A"/>
                </a:solidFill>
                <a:latin typeface="Arial"/>
              </a:rPr>
              <a:t>Cosa dovremmo fare?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83312" y="5997321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Intelligence strategica, ecosistema di fonti, decisioni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83312" y="6665976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F3EDE1"/>
                </a:solidFill>
                <a:latin typeface="Arial"/>
              </a:rPr>
              <a:t>Combina fonti, usa l'AI per sintetizzare a scala, valida con giudizio umano, porta l'insight dove serve.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783312" y="8126730"/>
            <a:ext cx="45720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B8523A"/>
                </a:solidFill>
                <a:latin typeface="Arial"/>
              </a:rPr>
              <a:t>L'AI e il motore che rende il 3.0 concretamente raggiungibile.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AI E L'ANALISTA — I SEI AMPLIFICATORI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Sei amplificatori. Tutti gia tuoi.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Non sono feature dell'AI. Sono amplificatori delle competenze che gia avete.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521208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188970"/>
            <a:ext cx="50292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331241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B8523A"/>
                </a:solidFill>
                <a:latin typeface="Courier New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3806190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Gia leggete le conversazioni del mercato.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4279392"/>
            <a:ext cx="4983480" cy="781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L'AI vi permette di farlo su milioni in parallelo, su mercati diversi, in tempo reale.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47104" y="3188970"/>
            <a:ext cx="521208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47104" y="3188970"/>
            <a:ext cx="50292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31241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B8523A"/>
                </a:solidFill>
                <a:latin typeface="Courier New"/>
              </a:rPr>
              <a:t>SPEED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1696" y="3806190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Gia formulate ipotesi analitiche.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4279392"/>
            <a:ext cx="4983480" cy="781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L'AI permette di generarne e testarne dieci in un'ora invece che in una settimana.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14048" y="3188970"/>
            <a:ext cx="521208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14048" y="3188970"/>
            <a:ext cx="50292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3312414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B8523A"/>
                </a:solidFill>
                <a:latin typeface="Courier New"/>
              </a:rPr>
              <a:t>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78640" y="3806190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Gia monitorate fonti diverse.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978640" y="4279392"/>
            <a:ext cx="4983480" cy="781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L'AI vi permette di farlo su piu lingue, mercati, canali — simultaneamente.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280160" y="5297805"/>
            <a:ext cx="521208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280160" y="5297805"/>
            <a:ext cx="50292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4752" y="5421249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B8523A"/>
                </a:solidFill>
                <a:latin typeface="Courier New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591502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Gia costruite trend analysis nel tempo.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6388227"/>
            <a:ext cx="4983480" cy="781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L'AI permette di interrogare anni di dati storici come se fossero una conversazione.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47104" y="5297805"/>
            <a:ext cx="521208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47104" y="5297805"/>
            <a:ext cx="50292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1696" y="5421249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B8523A"/>
                </a:solidFill>
                <a:latin typeface="Courier New"/>
              </a:rPr>
              <a:t>DISCOVERY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1696" y="591502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Gia cercate pattern nascosti.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11696" y="6388227"/>
            <a:ext cx="4983480" cy="781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L'AI identifica correlazioni che l'occhio umano non vedrebbe mai — e ve le porta.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14048" y="5297805"/>
            <a:ext cx="5212080" cy="195453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814048" y="5297805"/>
            <a:ext cx="50292" cy="195453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978640" y="5421249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B8523A"/>
                </a:solidFill>
                <a:latin typeface="Courier New"/>
              </a:rPr>
              <a:t>SIMULATION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978640" y="5915025"/>
            <a:ext cx="4983480" cy="39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Gia ragionate per scenari.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978640" y="6388227"/>
            <a:ext cx="4983480" cy="781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L'AI vi permette di simularli. Testare 'e se?' prima che diventi reale.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9052560"/>
            <a:ext cx="18288000" cy="1234440"/>
          </a:xfrm>
          <a:prstGeom prst="rect">
            <a:avLst/>
          </a:prstGeom>
          <a:solidFill>
            <a:srgbClr val="3D38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80160" y="9299448"/>
            <a:ext cx="15727680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2200">
                <a:solidFill>
                  <a:srgbClr val="F3EDE1"/>
                </a:solidFill>
                <a:latin typeface="Georgia"/>
              </a:rPr>
              <a:t>“L'AI non pensa al posto dell'analista. Amplifica cio che l'analista e in grado di vedere.”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8 — APPLICAZIONI CONCRETE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Dove si vede il valore concreto.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Quattro applicazioni in cui il listening entra prima delle decisioni. Non dopo.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7863840" cy="30861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188970"/>
            <a:ext cx="50292" cy="30861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3322701"/>
            <a:ext cx="76352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REPUTATION
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4114800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B8523A"/>
                </a:solidFill>
                <a:latin typeface="Arial"/>
              </a:rPr>
              <a:t>Non il monitoring — l'intelligence reputazionale.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4577715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Percezione, driver di fiducia, associazioni spontanee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91718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Rischi latenti prima che diventino crisi visibili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5256657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Alert preventivi, non post-mortem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5596128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Non solo cosa dicono — perche e dove sta andando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75520" y="3188970"/>
            <a:ext cx="7863840" cy="30861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875520" y="3188970"/>
            <a:ext cx="50292" cy="30861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40112" y="3322701"/>
            <a:ext cx="76352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CAMPAIGN
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4114800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B8523A"/>
                </a:solidFill>
                <a:latin typeface="Arial"/>
              </a:rPr>
              <a:t>Come viene ricevuta organicamente, al netto del paid?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0112" y="4577715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Quali messaggi compresi e quali fraintesi?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40112" y="491718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Quali asset funzionano nei contesti reali?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0112" y="5256657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Correzioni in itinere — non valutazioni a campagna chiusa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0112" y="5596128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Agisci quando e ancora possibile cambiare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" y="6480810"/>
            <a:ext cx="7863840" cy="30861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280160" y="6480810"/>
            <a:ext cx="50292" cy="30861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4752" y="6614541"/>
            <a:ext cx="76352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PRODUCT
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7406640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B8523A"/>
                </a:solidFill>
                <a:latin typeface="Arial"/>
              </a:rPr>
              <a:t>I bisogni che nessuna survey riesce a catturare.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4752" y="7869555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Barriere non emerse nei focus group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4752" y="820902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Usi imprevisti: workaround, rituali, micro-community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8548497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Segnali per roadmap verso cio che il mercato vuole davvero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8887968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Non quello che dice di volere — quello che 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0" y="6480810"/>
            <a:ext cx="7863840" cy="308610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6480810"/>
            <a:ext cx="50292" cy="30861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40112" y="6614541"/>
            <a:ext cx="763524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3D3833"/>
                </a:solidFill>
                <a:latin typeface="Arial"/>
              </a:rPr>
              <a:t>REAL-TIME
INTELLIGENCE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7406640"/>
            <a:ext cx="7635240" cy="462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B8523A"/>
                </a:solidFill>
                <a:latin typeface="Arial"/>
              </a:rPr>
              <a:t>Lanci, sponsorship, crisi in tempo reale.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40112" y="7869555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La distinzione fondamentale: polemica vs rischio reale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8209026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Quando un topic diventa rumore vs quando diventa crisi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8548497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Se rispondere, come, quando, con quale tono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2" y="8887968"/>
            <a:ext cx="76352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8A8175"/>
                </a:solidFill>
                <a:latin typeface="Arial"/>
              </a:rPr>
              <a:t>—  Velocita calibrata — non la risposta generica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D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80238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64592"/>
            <a:ext cx="178308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3EDE1"/>
                </a:solidFill>
                <a:latin typeface="Courier New"/>
              </a:rPr>
              <a:t>   CAPITOLO 9 — CHIUSURA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028700"/>
            <a:ext cx="15727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3D3833"/>
                </a:solidFill>
                <a:latin typeface="Georgia"/>
              </a:rPr>
              <a:t>Cosa cambia da lunedi mattina.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160270"/>
            <a:ext cx="15727680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000">
                <a:solidFill>
                  <a:srgbClr val="8A8175"/>
                </a:solidFill>
                <a:latin typeface="Arial"/>
              </a:rPr>
              <a:t>Quattro principi operativi. Non teoria — azioni immediate.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80160" y="2880360"/>
            <a:ext cx="15727680" cy="0"/>
          </a:xfrm>
          <a:prstGeom prst="line">
            <a:avLst/>
          </a:prstGeom>
          <a:ln w="381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280160" y="3188970"/>
            <a:ext cx="768096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80160" y="3188970"/>
            <a:ext cx="50292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4752" y="3312414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800">
                <a:solidFill>
                  <a:srgbClr val="E0D8C4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0552" y="3312414"/>
            <a:ext cx="6675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DAI UN NOME AL MESTIERE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4320540"/>
            <a:ext cx="7452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Se viene confuso con social media management o reporting, non entrera nelle decisioni che contano.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937760"/>
            <a:ext cx="74523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Non e un problema semantico — e un problema di potere organizzativo.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75520" y="3188970"/>
            <a:ext cx="768096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188970"/>
            <a:ext cx="50292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0112" y="3312414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800">
                <a:solidFill>
                  <a:srgbClr val="E0D8C4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5912" y="3312414"/>
            <a:ext cx="6675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PRIMA DELLA QUERY, LA DECISIONE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40112" y="4320540"/>
            <a:ext cx="7452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Non si apre il tool e si digita il nome del brand. Si parte da: quale decisione devo supportare?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40112" y="4937760"/>
            <a:ext cx="74523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Se la decisione non e chiara, produci monitoraggio — non intelligence.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6172200"/>
            <a:ext cx="768096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280160" y="6172200"/>
            <a:ext cx="50292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4752" y="6295644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800">
                <a:solidFill>
                  <a:srgbClr val="E0D8C4"/>
                </a:solidFill>
                <a:latin typeface="Georgia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0552" y="6295644"/>
            <a:ext cx="6675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NON CERCARE VOLUME. CERCA FRIZIONE.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" y="7303770"/>
            <a:ext cx="7452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Il segnale piu utile spesso non e il picco piu grande, ma il pattern piu scomodo.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44752" y="7920990"/>
            <a:ext cx="74523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Il vantaggio competitivo non si nasconde dove guardano tutti.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6172200"/>
            <a:ext cx="7680960" cy="2777490"/>
          </a:xfrm>
          <a:prstGeom prst="rect">
            <a:avLst/>
          </a:prstGeom>
          <a:solidFill>
            <a:srgbClr val="EBE4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75520" y="6172200"/>
            <a:ext cx="50292" cy="277749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0112" y="6295644"/>
            <a:ext cx="82296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800">
                <a:solidFill>
                  <a:srgbClr val="E0D8C4"/>
                </a:solidFill>
                <a:latin typeface="Georgia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295644"/>
            <a:ext cx="66751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900">
                <a:solidFill>
                  <a:srgbClr val="3D3833"/>
                </a:solidFill>
                <a:latin typeface="Arial"/>
              </a:rPr>
              <a:t>USA L'AI PER ACCELERARE, NON PER DELEGARE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40112" y="7303770"/>
            <a:ext cx="7452360" cy="617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3833"/>
                </a:solidFill>
                <a:latin typeface="Arial"/>
              </a:rPr>
              <a:t>L'AI fa il Task Layer meglio e piu velocemente. Il Judgement Layer resta umano.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40112" y="7920990"/>
            <a:ext cx="745236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600">
                <a:solidFill>
                  <a:srgbClr val="8A8175"/>
                </a:solidFill>
                <a:latin typeface="Arial"/>
              </a:rPr>
              <a:t>Usala per andare piu lontano — non per smettere di pensare.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0" cy="10287000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0" y="0"/>
            <a:ext cx="16642080" cy="82296"/>
          </a:xfrm>
          <a:prstGeom prst="rect">
            <a:avLst/>
          </a:prstGeom>
          <a:solidFill>
            <a:srgbClr val="B85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377440" y="154305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“Il futuro del social listening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46888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non sara deciso da chi possiede il tool migliore.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339471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Sara deciso da chi sapra fare le domande migliori,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432054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B8523A"/>
                </a:solidFill>
                <a:latin typeface="Georgia"/>
              </a:rPr>
              <a:t>difendere il metodo,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5246370"/>
            <a:ext cx="146304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1" sz="2800">
                <a:solidFill>
                  <a:srgbClr val="F3EDE1"/>
                </a:solidFill>
                <a:latin typeface="Georgia"/>
              </a:rPr>
              <a:t>e portare il segnale dove le decisioni vengono prese.”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77440" y="6789420"/>
            <a:ext cx="9509760" cy="0"/>
          </a:xfrm>
          <a:prstGeom prst="line">
            <a:avLst/>
          </a:prstGeom>
          <a:ln w="50800">
            <a:solidFill>
              <a:srgbClr val="B852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377440" y="7200900"/>
            <a:ext cx="7315200" cy="1440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5000">
                <a:solidFill>
                  <a:srgbClr val="B8523A"/>
                </a:solidFill>
                <a:latin typeface="Georgia"/>
              </a:rPr>
              <a:t>GRAZIE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8846820"/>
            <a:ext cx="109728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900">
                <a:solidFill>
                  <a:srgbClr val="8A8175"/>
                </a:solidFill>
                <a:latin typeface="Courier New"/>
              </a:rPr>
              <a:t>EY Studio+   ×   Brandwatch   ×   Trajaan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