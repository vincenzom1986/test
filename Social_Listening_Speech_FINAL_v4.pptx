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0" cy="102870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0" y="0"/>
            <a:ext cx="16642080" cy="8229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851660"/>
            <a:ext cx="13898880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800">
                <a:solidFill>
                  <a:srgbClr val="F3EDE1"/>
                </a:solidFill>
                <a:latin typeface="Georgia"/>
              </a:rPr>
              <a:t>SOCIAL LISTENING
IN ITALIA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77440" y="5349240"/>
            <a:ext cx="9144000" cy="0"/>
          </a:xfrm>
          <a:prstGeom prst="line">
            <a:avLst/>
          </a:prstGeom>
          <a:ln w="508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77440" y="5760720"/>
            <a:ext cx="1316736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2200">
                <a:solidFill>
                  <a:srgbClr val="B8523A"/>
                </a:solidFill>
                <a:latin typeface="Georgia"/>
              </a:rPr>
              <a:t>Realta, sfide e opportunita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7200900"/>
            <a:ext cx="118872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Courier New"/>
              </a:rPr>
              <a:t>EY Studio+   ×   Brandwatch   ×   Trajaan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8023860"/>
            <a:ext cx="64008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8A8175"/>
                </a:solidFill>
                <a:latin typeface="Courier New"/>
              </a:rPr>
              <a:t>Maggio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0" cy="102870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77440" y="2057400"/>
            <a:ext cx="1499616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6400">
                <a:solidFill>
                  <a:srgbClr val="F3EDE1"/>
                </a:solidFill>
                <a:latin typeface="Georgia"/>
              </a:rPr>
              <a:t>“Il tuo lavoro sparira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909060"/>
            <a:ext cx="14996160" cy="1851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6400">
                <a:solidFill>
                  <a:srgbClr val="B8523A"/>
                </a:solidFill>
                <a:latin typeface="Georgia"/>
              </a:rPr>
              <a:t>in meno di due anni.”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77440" y="6377940"/>
            <a:ext cx="6949440" cy="0"/>
          </a:xfrm>
          <a:prstGeom prst="line">
            <a:avLst/>
          </a:prstGeom>
          <a:ln w="25400">
            <a:solidFill>
              <a:srgbClr val="8A81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377440" y="6892290"/>
            <a:ext cx="13533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2200">
                <a:solidFill>
                  <a:srgbClr val="8A8175"/>
                </a:solidFill>
                <a:latin typeface="Arial"/>
              </a:rPr>
              <a:t>Qualcuno lo ha detto a una collega a una conferenza.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7715250"/>
            <a:ext cx="13533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2200">
                <a:solidFill>
                  <a:srgbClr val="8A8175"/>
                </a:solidFill>
                <a:latin typeface="Arial"/>
              </a:rPr>
              <a:t>Questa presentazione e la risposta.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46720" cy="1028700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0" cy="102870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3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CHI STA RISPONDENDO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337310"/>
            <a:ext cx="8961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600">
                <a:solidFill>
                  <a:srgbClr val="3D3833"/>
                </a:solidFill>
                <a:latin typeface="Georgia"/>
              </a:rPr>
              <a:t>Vincenzo Alberto Marrari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595360" y="2777490"/>
            <a:ext cx="804672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95360" y="3086100"/>
            <a:ext cx="8961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Analyst &amp; Insight Strategist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114800"/>
            <a:ext cx="8961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D3833"/>
                </a:solidFill>
                <a:latin typeface="Arial"/>
              </a:rPr>
              <a:t>EY Studio+ &amp; Trajaan — sistemi di intelligence per le organizzazioni.</a:t>
            </a:r>
          </a:p>
          <a:p>
            <a:pPr algn="l"/>
            <a:r>
              <a:t/>
            </a:r>
          </a:p>
          <a:p>
            <a:pPr algn="l"/>
            <a:r>
              <a:rPr b="0" i="0" sz="1300">
                <a:solidFill>
                  <a:srgbClr val="3D3833"/>
                </a:solidFill>
                <a:latin typeface="Arial"/>
              </a:rPr>
              <a:t>12+ anni di social listening, cultural intelligence e ricerca strategica.</a:t>
            </a:r>
          </a:p>
          <a:p>
            <a:pPr algn="l"/>
            <a:r>
              <a:t/>
            </a:r>
          </a:p>
          <a:p>
            <a:pPr algn="l"/>
            <a:r>
              <a:rPr b="0" i="0" sz="1200">
                <a:solidFill>
                  <a:srgbClr val="8A8175"/>
                </a:solidFill>
                <a:latin typeface="Arial"/>
              </a:rPr>
              <a:t>Ha visto questo mestiere cambiare forma tre volte, strumenti diventare</a:t>
            </a:r>
          </a:p>
          <a:p>
            <a:pPr algn="l"/>
            <a:r>
              <a:rPr b="0" i="0" sz="1200">
                <a:solidFill>
                  <a:srgbClr val="8A8175"/>
                </a:solidFill>
                <a:latin typeface="Arial"/>
              </a:rPr>
              <a:t>obsoleti, e l'AI ridefinire dove sta il valore — senza eliminare il mestiere.</a:t>
            </a:r>
          </a:p>
          <a:p>
            <a:pPr algn="l"/>
            <a:r>
              <a:t/>
            </a:r>
          </a:p>
          <a:p>
            <a:pPr algn="l"/>
            <a:r>
              <a:rPr b="0" i="0" sz="1200">
                <a:solidFill>
                  <a:srgbClr val="8A8175"/>
                </a:solidFill>
                <a:latin typeface="Arial"/>
              </a:rPr>
              <a:t>Con Francesca Olivieri di Brandwatch — il mercato italiano dall'interno.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8743950"/>
            <a:ext cx="8961120" cy="1234440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90525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“Il valore dell'AI non sta nel sostituire l'uomo, ma nel amplificarne le competenze.”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1337310"/>
            <a:ext cx="5303520" cy="6172200"/>
          </a:xfrm>
          <a:prstGeom prst="rect">
            <a:avLst/>
          </a:prstGeom>
          <a:solidFill>
            <a:srgbClr val="E0D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114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000">
                <a:solidFill>
                  <a:srgbClr val="8A8175"/>
                </a:solidFill>
                <a:latin typeface="Arial"/>
              </a:rPr>
              <a:t>[FOTO]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CAPITOLO 1 — IL PARADOSSO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400">
                <a:solidFill>
                  <a:srgbClr val="3D3833"/>
                </a:solidFill>
                <a:latin typeface="Georgia"/>
              </a:rPr>
              <a:t>Eppure lo chiedono tutti.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80160" y="288036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3188970"/>
            <a:ext cx="7863840" cy="617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3D3833"/>
                </a:solidFill>
                <a:latin typeface="Arial"/>
              </a:rPr>
              <a:t>Il social listening viene citato ovunque: brief, piani media, board strategici.</a:t>
            </a:r>
          </a:p>
          <a:p>
            <a:pPr algn="l"/>
            <a:r>
              <a:t/>
            </a:r>
          </a:p>
          <a:p>
            <a:pPr algn="l"/>
            <a:r>
              <a:rPr b="1" i="0" sz="1800">
                <a:solidFill>
                  <a:srgbClr val="B8523A"/>
                </a:solidFill>
                <a:latin typeface="Arial"/>
              </a:rPr>
              <a:t>42 milioni di utenti social attivi in Italia.</a:t>
            </a:r>
          </a:p>
          <a:p>
            <a:pPr algn="l"/>
            <a:r>
              <a:t/>
            </a:r>
          </a:p>
          <a:p>
            <a:pPr algn="l"/>
            <a:r>
              <a:rPr b="0" i="0" sz="1400">
                <a:solidFill>
                  <a:srgbClr val="3D3833"/>
                </a:solidFill>
                <a:latin typeface="Arial"/>
              </a:rPr>
              <a:t>Eppure il risultato e sempre lo stesso: un report mensile che arriva</a:t>
            </a:r>
          </a:p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in ritardo rispetto alle decisioni che avrebbe dovuto supportare.</a:t>
            </a:r>
          </a:p>
          <a:p>
            <a:pPr algn="l"/>
            <a:r>
              <a:t/>
            </a:r>
          </a:p>
          <a:p>
            <a:pPr algn="l"/>
            <a:r>
              <a:rPr b="1" i="0" sz="1400">
                <a:solidFill>
                  <a:srgbClr val="B8523A"/>
                </a:solidFill>
                <a:latin typeface="Arial"/>
              </a:rPr>
              <a:t>Il problema non e lo strumento. E il posizionamento.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3188970"/>
            <a:ext cx="6949440" cy="185166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0" y="3188970"/>
            <a:ext cx="50292" cy="18516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40112" y="3271266"/>
            <a:ext cx="82296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800">
                <a:solidFill>
                  <a:srgbClr val="E0D8C4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40112" y="4176522"/>
            <a:ext cx="621792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TUTTI LO CHIEDONO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0112" y="462915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Ogni brief, ogni RFP, ogni piano media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5349240"/>
            <a:ext cx="6949440" cy="185166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75520" y="5349240"/>
            <a:ext cx="50292" cy="18516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0112" y="5431536"/>
            <a:ext cx="82296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800">
                <a:solidFill>
                  <a:srgbClr val="E0D8C4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0112" y="6336792"/>
            <a:ext cx="621792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POCHI LO RICONOSCONO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0112" y="67894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Validazione a posteriori, non orientamento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7509510"/>
            <a:ext cx="6949440" cy="185166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75520" y="7509510"/>
            <a:ext cx="50292" cy="18516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40112" y="7591806"/>
            <a:ext cx="82296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800">
                <a:solidFill>
                  <a:srgbClr val="E0D8C4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8497062"/>
            <a:ext cx="621792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RARO LO STRUTTURANO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0112" y="894969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Senza metodo rimane monitoring, non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CAPITOLO 2 — IL PERIMETRO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600">
                <a:solidFill>
                  <a:srgbClr val="3D3833"/>
                </a:solidFill>
                <a:latin typeface="Georgia"/>
              </a:rPr>
              <a:t>Prima pero, sgombriamo il terreno.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Il social listening e uno di quei mestieri che quasi tutti credono di capire — e quasi nessuno sa definire.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60045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3909060"/>
            <a:ext cx="7498080" cy="565785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909060"/>
            <a:ext cx="7498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3EDE1"/>
                </a:solidFill>
                <a:latin typeface="Courier New"/>
              </a:rPr>
              <a:t>   NON E'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4495419"/>
            <a:ext cx="7498080" cy="205740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4495419"/>
            <a:ext cx="50292" cy="2057400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4577715"/>
            <a:ext cx="6766560" cy="1903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D3833"/>
                </a:solidFill>
                <a:latin typeface="Arial"/>
              </a:rPr>
              <a:t>x  Contare menzioni. Il sentiment automatico come verita assoluta.</a:t>
            </a:r>
          </a:p>
          <a:p>
            <a:pPr algn="l"/>
            <a:r>
              <a:rPr b="0" i="0" sz="1200">
                <a:solidFill>
                  <a:srgbClr val="3D3833"/>
                </a:solidFill>
                <a:latin typeface="Arial"/>
              </a:rPr>
              <a:t>x  Share of voice come fine. Dashboard mensile come deliverable.</a:t>
            </a:r>
          </a:p>
          <a:p>
            <a:pPr algn="l"/>
            <a:r>
              <a:rPr b="1" i="0" sz="1200">
                <a:solidFill>
                  <a:srgbClr val="B8523A"/>
                </a:solidFill>
                <a:latin typeface="Arial"/>
              </a:rPr>
              <a:t>x  IL TOOL — abilita l'ascolto, non produce la comprensione.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3909060"/>
            <a:ext cx="7498080" cy="565785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3909060"/>
            <a:ext cx="7498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3EDE1"/>
                </a:solidFill>
                <a:latin typeface="Courier New"/>
              </a:rPr>
              <a:t>   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4495419"/>
            <a:ext cx="7498080" cy="205740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4495419"/>
            <a:ext cx="50292" cy="20574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4577715"/>
            <a:ext cx="6766560" cy="1903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D3833"/>
                </a:solidFill>
                <a:latin typeface="Arial"/>
              </a:rPr>
              <a:t>+  Un sistema di intelligence strategica.</a:t>
            </a:r>
          </a:p>
          <a:p>
            <a:pPr algn="l"/>
            <a:r>
              <a:rPr b="0" i="0" sz="1200">
                <a:solidFill>
                  <a:srgbClr val="3D3833"/>
                </a:solidFill>
                <a:latin typeface="Arial"/>
              </a:rPr>
              <a:t>+  La voce spontanea del mercato — bisogni latenti, segnali deboli.</a:t>
            </a:r>
          </a:p>
          <a:p>
            <a:pPr algn="l"/>
            <a:r>
              <a:rPr b="1" i="0" sz="1200">
                <a:solidFill>
                  <a:srgbClr val="B8523A"/>
                </a:solidFill>
                <a:latin typeface="Arial"/>
              </a:rPr>
              <a:t>+  IL METODO che precede il tool e ne determina il valore.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0160" y="6635115"/>
            <a:ext cx="15727680" cy="0"/>
          </a:xfrm>
          <a:prstGeom prst="line">
            <a:avLst/>
          </a:prstGeom>
          <a:ln w="254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80160" y="6737985"/>
            <a:ext cx="1572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8A8175"/>
                </a:solidFill>
                <a:latin typeface="Courier New"/>
              </a:rPr>
              <a:t>LE TRE CONFUSIONI PIU COMUNI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7200900"/>
            <a:ext cx="5120640" cy="267462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7200900"/>
            <a:ext cx="50292" cy="267462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730377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Social Listening= Community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8126730"/>
            <a:ext cx="475488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Orientamento diverso: 'cosa rispondiamo?' vs 'cosa sta succedendo nel mercato?'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7200900"/>
            <a:ext cx="5120640" cy="267462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7200900"/>
            <a:ext cx="50292" cy="267462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2" y="730377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Social Listening= Social Media Mgmt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8126730"/>
            <a:ext cx="475488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Performance dei contenuti vs segnale del mercato. Paralleli, non sovrapponibili.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18720" y="7200900"/>
            <a:ext cx="5120640" cy="267462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618720" y="7200900"/>
            <a:ext cx="50292" cy="267462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783312" y="730377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3D3833"/>
                </a:solidFill>
                <a:latin typeface="Arial"/>
              </a:rPr>
              <a:t>Social Listening= Tool Operator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83312" y="8126730"/>
            <a:ext cx="475488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Acquistare una licenza non e acquistare competenza. La competenza e nel framework.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CAPITOLO 3 — IDENTITA DELLA DISCIPLINA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F3EDE1"/>
                </a:solidFill>
                <a:latin typeface="Georgia"/>
              </a:rPr>
              <a:t>Non e un tuo fallimento.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74620"/>
            <a:ext cx="1572768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B8523A"/>
                </a:solidFill>
                <a:latin typeface="Georgia"/>
              </a:rPr>
              <a:t>E un fallimento della disciplina.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9090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Arial"/>
              </a:rPr>
              <a:t>La stessa competenza si chiama in undici modi diversi. Senza un nome chiaro, mancano seniority, budget, carriera.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0" y="4629150"/>
            <a:ext cx="15727680" cy="0"/>
          </a:xfrm>
          <a:prstGeom prst="line">
            <a:avLst/>
          </a:prstGeom>
          <a:ln w="254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280160" y="4937760"/>
            <a:ext cx="5120640" cy="3909060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4937760"/>
            <a:ext cx="50292" cy="39090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5040630"/>
            <a:ext cx="10058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600">
                <a:solidFill>
                  <a:srgbClr val="332D28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6275070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3EDE1"/>
                </a:solidFill>
                <a:latin typeface="Arial"/>
              </a:rPr>
              <a:t>ISOLAMENTO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7098029"/>
            <a:ext cx="45720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Lo spiega da capo in ogni stanza nuova. Quello che ha costruito — metodologia, punto di vista — esiste dentro quella struttura. Se cambia contesto, ricomincia da zero.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4937760"/>
            <a:ext cx="5120640" cy="3909060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4937760"/>
            <a:ext cx="50292" cy="39090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5040630"/>
            <a:ext cx="10058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600">
                <a:solidFill>
                  <a:srgbClr val="332D28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6275070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3EDE1"/>
                </a:solidFill>
                <a:latin typeface="Arial"/>
              </a:rPr>
              <a:t>NESSUNO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7098029"/>
            <a:ext cx="45720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Nessuna definizione di cosa significa 'fare bene' questo lavoro. Ogni team reinventa il metodo. Il cliente non puo valutare la qualita.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0" y="4937760"/>
            <a:ext cx="5120640" cy="3909060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618720" y="4937760"/>
            <a:ext cx="50292" cy="39090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783312" y="5040630"/>
            <a:ext cx="10058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600">
                <a:solidFill>
                  <a:srgbClr val="332D28"/>
                </a:solidFill>
                <a:latin typeface="Georgi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83312" y="6275070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3EDE1"/>
                </a:solidFill>
                <a:latin typeface="Arial"/>
              </a:rPr>
              <a:t>EXPERTISE INVISIBILE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83312" y="7098029"/>
            <a:ext cx="4572000" cy="15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Il manager capisce il lavoro ma non abbastanza da difenderlo in un board. Nessuna credenziale che viaggi fuori dall'azienda.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9103995"/>
            <a:ext cx="18288000" cy="1183005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9309735"/>
            <a:ext cx="1572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900">
                <a:solidFill>
                  <a:srgbClr val="F3EDE1"/>
                </a:solidFill>
                <a:latin typeface="Arial"/>
              </a:rPr>
              <a:t>“Questo non e un vostro fallimento. E un fallimento strutturale della disciplina.”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CAPITOLO 4 — IL MERCATO ITALIANO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In Italia il problema e piu profondo.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Non e tecnologico. Gli strumenti ci sono. Quello che manca e il posizionamento strategico del ruolo.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70332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4011930"/>
            <a:ext cx="7498080" cy="565785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011930"/>
            <a:ext cx="7498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3EDE1"/>
                </a:solidFill>
                <a:latin typeface="Courier New"/>
              </a:rPr>
              <a:t>   ITALIA — PRATICA IMPLICITA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4608576"/>
            <a:ext cx="7498080" cy="452628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4608576"/>
            <a:ext cx="50292" cy="4526280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711446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~ Strumenti presenti, metodo assente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513832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~ Ruolo raramente nominato come autonomo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6316218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~ Formazione quasi sempre autodidatta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7118604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~ Ownership contesa tra social, PR,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7920990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~ Competenza reale ma non portabile fuori dall'org.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4011930"/>
            <a:ext cx="7498080" cy="565785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4011930"/>
            <a:ext cx="7498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3EDE1"/>
                </a:solidFill>
                <a:latin typeface="Courier New"/>
              </a:rPr>
              <a:t>   ESTERO — INFRASTRUTTURA STRUTTURATA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4608576"/>
            <a:ext cx="7498080" cy="452628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4608576"/>
            <a:ext cx="50292" cy="452628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4711446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+ Comunita di pratica verticali e attive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5513832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+ Percorsi di carriera espliciti e riconoscibili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6316218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+ Definizione condivisa del 'fare bene il lavoro'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7118604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+ Credenziali leggibili fuori dal contesto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7920990"/>
            <a:ext cx="694944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3D3833"/>
                </a:solidFill>
                <a:latin typeface="Arial"/>
              </a:rPr>
              <a:t>+ Standard metodologici difendibili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9206865"/>
            <a:ext cx="18288000" cy="1080135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9392031"/>
            <a:ext cx="15727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3EDE1"/>
                </a:solidFill>
                <a:latin typeface="Arial"/>
              </a:rPr>
              <a:t>Il divario non e di dati. E di infrastruttura professionale.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IL MERCATO — IL SALTO CHE MANCA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Il salto che cambia tutto.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Non e tecnologico. E un salto di posizionamento.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70332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4011930"/>
            <a:ext cx="7315200" cy="565785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011930"/>
            <a:ext cx="731520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3EDE1"/>
                </a:solidFill>
                <a:latin typeface="Courier New"/>
              </a:rPr>
              <a:t>   STATO REATTIVO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4608576"/>
            <a:ext cx="7315200" cy="442341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4608576"/>
            <a:ext cx="50292" cy="442341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732020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3D3833"/>
                </a:solidFill>
                <a:latin typeface="Arial"/>
              </a:rPr>
              <a:t>Il listening entra dopo.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534406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Arial"/>
              </a:rPr>
              <a:t>Misura quello che e successo.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6305931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Arial"/>
              </a:rPr>
              <a:t>Segue la crisi quando e gia esplosa.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7077456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Arial"/>
              </a:rPr>
              <a:t>Conferma il brief gia scritto.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7848981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Arial"/>
              </a:rPr>
              <a:t>Il dato commenta — non orienta.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4011930"/>
            <a:ext cx="7315200" cy="565785"/>
          </a:xfrm>
          <a:prstGeom prst="rect">
            <a:avLst/>
          </a:prstGeom>
          <a:solidFill>
            <a:srgbClr val="3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011930"/>
            <a:ext cx="731520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3EDE1"/>
                </a:solidFill>
                <a:latin typeface="Courier New"/>
              </a:rPr>
              <a:t>   STATO GENERATIVO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4608576"/>
            <a:ext cx="7315200" cy="4423410"/>
          </a:xfrm>
          <a:prstGeom prst="rect">
            <a:avLst/>
          </a:prstGeom>
          <a:solidFill>
            <a:srgbClr val="3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92640" y="4608576"/>
            <a:ext cx="50292" cy="442341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4732020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3EDE1"/>
                </a:solidFill>
                <a:latin typeface="Arial"/>
              </a:rPr>
              <a:t>Il listening entra prima.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5534406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F3EDE1"/>
                </a:solidFill>
                <a:latin typeface="Arial"/>
              </a:rPr>
              <a:t>Prima del brief — per formulare ipotesi.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305931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F3EDE1"/>
                </a:solidFill>
                <a:latin typeface="Arial"/>
              </a:rPr>
              <a:t>Prima del lancio — per intercettare barriere.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7077456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F3EDE1"/>
                </a:solidFill>
                <a:latin typeface="Arial"/>
              </a:rPr>
              <a:t>Prima della crisi — per leggere i segnali deboli.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7848981"/>
            <a:ext cx="658368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F3EDE1"/>
                </a:solidFill>
                <a:latin typeface="Arial"/>
              </a:rPr>
              <a:t>Il dato orienta — non commenta.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63589"/>
            <a:ext cx="14630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5000">
                <a:solidFill>
                  <a:srgbClr val="B8523A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9103995"/>
            <a:ext cx="18288000" cy="1183005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9309735"/>
            <a:ext cx="1572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700">
                <a:solidFill>
                  <a:srgbClr val="F3EDE1"/>
                </a:solidFill>
                <a:latin typeface="Arial"/>
              </a:rPr>
              <a:t>“Il social listening viene spesso invitato alla riunione in cui si valida una strategia gia decisa — non a quella in cui la strategia viene costruita.”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CAPITOLO 5 — DAL DATO ALL'INSIGHT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400">
                <a:solidFill>
                  <a:srgbClr val="3D3833"/>
                </a:solidFill>
                <a:latin typeface="Georgia"/>
              </a:rPr>
              <a:t>La differenza non e nel dato. E nella domanda.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80160" y="277749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280160" y="3086100"/>
            <a:ext cx="7498080" cy="565785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086100"/>
            <a:ext cx="7498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3EDE1"/>
                </a:solidFill>
                <a:latin typeface="Courier New"/>
              </a:rPr>
              <a:t>   REPORT — descrive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682746"/>
            <a:ext cx="7498080" cy="205740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3682746"/>
            <a:ext cx="50292" cy="2057400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785616"/>
            <a:ext cx="6766560" cy="1903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D3833"/>
                </a:solidFill>
                <a:latin typeface="Arial"/>
              </a:rPr>
              <a:t>“Le menzioni sono cresciute del +40% nell'ultimo mese.”</a:t>
            </a:r>
          </a:p>
          <a:p>
            <a:pPr algn="l"/>
            <a:r>
              <a:t/>
            </a:r>
          </a:p>
          <a:p>
            <a:pPr algn="l"/>
            <a:r>
              <a:rPr b="0" i="0" sz="1700">
                <a:solidFill>
                  <a:srgbClr val="3D3833"/>
                </a:solidFill>
                <a:latin typeface="Arial"/>
              </a:rPr>
              <a:t>Il report allarma. Genera reazione, non orientamento.</a:t>
            </a:r>
          </a:p>
          <a:p>
            <a:pPr algn="l"/>
            <a:r>
              <a:rPr b="0" i="0" sz="1700">
                <a:solidFill>
                  <a:srgbClr val="3D3833"/>
                </a:solidFill>
                <a:latin typeface="Arial"/>
              </a:rPr>
              <a:t>Arriva dopo che le decisioni sono gia state prese.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3086100"/>
            <a:ext cx="7498080" cy="565785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3086100"/>
            <a:ext cx="749808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3EDE1"/>
                </a:solidFill>
                <a:latin typeface="Courier New"/>
              </a:rPr>
              <a:t>   INSIGHT — interpreta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3682746"/>
            <a:ext cx="7498080" cy="205740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3682746"/>
            <a:ext cx="50292" cy="20574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3785616"/>
            <a:ext cx="6766560" cy="1903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D3833"/>
                </a:solidFill>
                <a:latin typeface="Arial"/>
              </a:rPr>
              <a:t>“Il brand e associato a una tensione emergente sul servizio clienti</a:t>
            </a:r>
          </a:p>
          <a:p>
            <a:pPr algn="l"/>
            <a:r>
              <a:rPr b="0" i="0" sz="1700">
                <a:solidFill>
                  <a:srgbClr val="3D3833"/>
                </a:solidFill>
                <a:latin typeface="Arial"/>
              </a:rPr>
              <a:t>che sta scalando — se non si interviene entro due settimane, diventa crisi.”</a:t>
            </a:r>
          </a:p>
          <a:p>
            <a:pPr algn="l"/>
            <a:r>
              <a:t/>
            </a:r>
          </a:p>
          <a:p>
            <a:pPr algn="l"/>
            <a:r>
              <a:rPr b="0" i="0" sz="1700">
                <a:solidFill>
                  <a:srgbClr val="3D3833"/>
                </a:solidFill>
                <a:latin typeface="Arial"/>
              </a:rPr>
              <a:t>L'insight orienta. Abilita la decisione nel momento giusto.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5915025"/>
            <a:ext cx="15727680" cy="0"/>
          </a:xfrm>
          <a:prstGeom prst="line">
            <a:avLst/>
          </a:prstGeom>
          <a:ln w="25400">
            <a:solidFill>
              <a:srgbClr val="E0D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0" y="5966460"/>
            <a:ext cx="82296" cy="565785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987034"/>
            <a:ext cx="1572768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B8523A"/>
                </a:solidFill>
                <a:latin typeface="Courier New"/>
              </a:rPr>
              <a:t>LO STANDARD CHE FINORA NON ESISTEVA — TASSONOMIA A TRE CERCHI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6521958"/>
            <a:ext cx="1572768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Arial"/>
              </a:rPr>
              <a:t>Uno strumento per costruire la domanda giusta e difendere le scelte metodologiche.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7046595"/>
            <a:ext cx="5120640" cy="288036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0160" y="7046595"/>
            <a:ext cx="50292" cy="28803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44752" y="712889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B8523A"/>
                </a:solidFill>
                <a:latin typeface="Courier New"/>
              </a:rPr>
              <a:t>Cerchio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7540371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CONTESTO CULTURALE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8157591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Pop culture, economia, generazioni, tensioni sociali.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8980551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Perche il mercato si muove adesso?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7046595"/>
            <a:ext cx="5120640" cy="288036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7046595"/>
            <a:ext cx="50292" cy="28803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712889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B8523A"/>
                </a:solidFill>
                <a:latin typeface="Courier New"/>
              </a:rPr>
              <a:t>Cerchio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7540371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INDUSTRY &amp;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8157591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Competitor, occasioni d'uso, barriere, driver.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8980551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Come si comporta questa categoria?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618720" y="7046595"/>
            <a:ext cx="5120640" cy="288036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2618720" y="7046595"/>
            <a:ext cx="50292" cy="28803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83312" y="712889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B8523A"/>
                </a:solidFill>
                <a:latin typeface="Courier New"/>
              </a:rPr>
              <a:t>Cerchio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83312" y="7540371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BRAND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83312" y="8157591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Menzioni, campagna, customer experience, reputazione.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783312" y="8980551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Cosa dice il mercato di questo brand?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DAL DATO ALL'INSIGHT — I TRE ATTRITI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800">
                <a:solidFill>
                  <a:srgbClr val="3D3833"/>
                </a:solidFill>
                <a:latin typeface="Georgia"/>
              </a:rPr>
              <a:t>I segnali che nessuna dashboard mostra.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900">
                <a:solidFill>
                  <a:srgbClr val="8A8175"/>
                </a:solidFill>
                <a:latin typeface="Arial"/>
              </a:rPr>
              <a:t>Formalizzati dopo centinaia di dataset. Li cerco per primi in ogni progetto — sono la firma di un problema reale.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70332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4011930"/>
            <a:ext cx="5120640" cy="596646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4011930"/>
            <a:ext cx="50292" cy="59664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4063365"/>
            <a:ext cx="10058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600">
                <a:solidFill>
                  <a:srgbClr val="E0D8C4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524637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INTENTION
INTERFACE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6100191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B8523A"/>
                </a:solidFill>
                <a:latin typeface="Arial"/>
              </a:rPr>
              <a:t>Q&amp;A, recensioni, customer care, forum di supporto.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6737985"/>
            <a:ext cx="45720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3D3833"/>
                </a:solidFill>
                <a:latin typeface="Arial"/>
              </a:rPr>
              <a:t>L'utente vuole fare qualcosa ma non riesce. Ostacolo nell'interfaccia, nel processo, nella value proposition.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8229600"/>
            <a:ext cx="45720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Frustrazione ricorrente su un punto del journey. Indica dove il prodotto perde l'utente.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011930"/>
            <a:ext cx="5120640" cy="596646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011930"/>
            <a:ext cx="50292" cy="59664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4063365"/>
            <a:ext cx="10058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600">
                <a:solidFill>
                  <a:srgbClr val="E0D8C4"/>
                </a:solidFill>
                <a:latin typeface="Georgia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524637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TRUST
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6100191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B8523A"/>
                </a:solidFill>
                <a:latin typeface="Arial"/>
              </a:rPr>
              <a:t>Community di settore, comparatori, review spontanee.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6737985"/>
            <a:ext cx="45720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3D3833"/>
                </a:solidFill>
                <a:latin typeface="Arial"/>
              </a:rPr>
              <a:t>L'utente esita a fidarsi — del brand, della promessa, del prezzo. Arriva prima che la crisi diventi visibile.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8229600"/>
            <a:ext cx="45720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Esitazione sistematica pre-acquisto. Permette di intervenire sulla narrativa prima del danno.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0" y="4011930"/>
            <a:ext cx="5120640" cy="596646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618720" y="4011930"/>
            <a:ext cx="50292" cy="596646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83312" y="4063365"/>
            <a:ext cx="10058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600">
                <a:solidFill>
                  <a:srgbClr val="E0D8C4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83312" y="524637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USAGE
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83312" y="6100191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B8523A"/>
                </a:solidFill>
                <a:latin typeface="Arial"/>
              </a:rPr>
              <a:t>Tutorial spontanei, micro-community, gruppi chiusi.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83312" y="6737985"/>
            <a:ext cx="45720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3D3833"/>
                </a:solidFill>
                <a:latin typeface="Arial"/>
              </a:rPr>
              <a:t>L'utente usa il prodotto in modi non previsti — workaround, rituali, micro-community creative.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83312" y="8229600"/>
            <a:ext cx="45720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Usi non previsti = opportunita di innovazione. Qui si nasconde il vantaggio competitivo.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CAPITOLO 6 — LE TRE ERE DEL SOCIAL LISTENING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Siamo al terzo atto.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Il social listening ha attraversato tre ere. Capire dove siamo richiede di vedere le due che vengono prima.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70332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4011930"/>
            <a:ext cx="5120640" cy="504063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4011930"/>
            <a:ext cx="50292" cy="504063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4114800"/>
            <a:ext cx="45720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B8523A"/>
                </a:solidFill>
                <a:latin typeface="Courier New"/>
              </a:rPr>
              <a:t>2008–2014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4649724"/>
            <a:ext cx="457200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3D3833"/>
                </a:solidFill>
                <a:latin typeface="Arial"/>
              </a:rPr>
              <a:t>ERA DEL
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5585841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B8523A"/>
                </a:solidFill>
                <a:latin typeface="Arial"/>
              </a:rPr>
              <a:t>Quante volte mi nominano?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6336792"/>
            <a:ext cx="4572000" cy="1337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Mention, reach, share of voice. Descrizione retrospettiva.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771525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Ho fatto questi report nel 2012. Utili per una prima visibilita. Limitati a cio che era gia successo.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011930"/>
            <a:ext cx="5120640" cy="504063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011930"/>
            <a:ext cx="50292" cy="504063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4114800"/>
            <a:ext cx="45720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B8523A"/>
                </a:solidFill>
                <a:latin typeface="Courier New"/>
              </a:rPr>
              <a:t>2015–2023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649724"/>
            <a:ext cx="457200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3D3833"/>
                </a:solidFill>
                <a:latin typeface="Arial"/>
              </a:rPr>
              <a:t>ERA DEL
CONTESTO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5585841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B8523A"/>
                </a:solidFill>
                <a:latin typeface="Arial"/>
              </a:rPr>
              <a:t>Cosa sta succedendo e perche?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6336792"/>
            <a:ext cx="4572000" cy="1337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Topic modeling, sentiment driver, community, crisi, reputazione.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771525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Ho vissuto questo passaggio. Cambia il tipo di conversazioni con i clienti.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0" y="4011930"/>
            <a:ext cx="5120640" cy="5040630"/>
          </a:xfrm>
          <a:prstGeom prst="rect">
            <a:avLst/>
          </a:prstGeom>
          <a:solidFill>
            <a:srgbClr val="3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618720" y="4011930"/>
            <a:ext cx="50292" cy="504063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83312" y="4114800"/>
            <a:ext cx="45720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B8523A"/>
                </a:solidFill>
                <a:latin typeface="Courier New"/>
              </a:rPr>
              <a:t>2024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83312" y="4649724"/>
            <a:ext cx="457200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3EDE1"/>
                </a:solidFill>
                <a:latin typeface="Arial"/>
              </a:rPr>
              <a:t>ERA DEL
SEGNALE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83312" y="5585841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B8523A"/>
                </a:solidFill>
                <a:latin typeface="Arial"/>
              </a:rPr>
              <a:t>Quale segnale anticipa la prossima decisione?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83312" y="6336792"/>
            <a:ext cx="4572000" cy="1337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Frizioni, pattern emergenti, micro-cluster, rischi latenti, opportunita pre-mainstream.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83312" y="771525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F3EDE1"/>
                </a:solidFill>
                <a:latin typeface="Arial"/>
              </a:rPr>
              <a:t>L'AI riduce il costo della sintesi. L'interpretazione diventa il vero valore.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9103995"/>
            <a:ext cx="18288000" cy="1183005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9309735"/>
            <a:ext cx="1572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900">
                <a:solidFill>
                  <a:srgbClr val="F3EDE1"/>
                </a:solidFill>
                <a:latin typeface="Arial"/>
              </a:rPr>
              <a:t>“Il volume racconta dove guardano tutti. La forma del rumore racconta dove si nasconde il vantaggio.”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46720" cy="10287000"/>
          </a:xfrm>
          <a:prstGeom prst="rect">
            <a:avLst/>
          </a:prstGeom>
          <a:solidFill>
            <a:srgbClr val="1E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82296" cy="102870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0" y="1337310"/>
            <a:ext cx="5120640" cy="6583680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4217670"/>
            <a:ext cx="512064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000">
                <a:solidFill>
                  <a:srgbClr val="8A8175"/>
                </a:solidFill>
                <a:latin typeface="Arial"/>
              </a:rPr>
              <a:t>[FOTO]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954530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600">
                <a:solidFill>
                  <a:srgbClr val="F3EDE1"/>
                </a:solidFill>
                <a:latin typeface="Georgia"/>
              </a:rPr>
              <a:t>“Il calcio e semplice.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983230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600">
                <a:solidFill>
                  <a:srgbClr val="F3EDE1"/>
                </a:solidFill>
                <a:latin typeface="Georgia"/>
              </a:rPr>
              <a:t>Ma giocare a calcio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909060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600">
                <a:solidFill>
                  <a:srgbClr val="F3EDE1"/>
                </a:solidFill>
                <a:latin typeface="Georgia"/>
              </a:rPr>
              <a:t>in modo semplice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834890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600">
                <a:solidFill>
                  <a:srgbClr val="B8523A"/>
                </a:solidFill>
                <a:latin typeface="Georgia"/>
              </a:rPr>
              <a:t>e la cosa piu difficile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5760720"/>
            <a:ext cx="804672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3600">
                <a:solidFill>
                  <a:srgbClr val="B8523A"/>
                </a:solidFill>
                <a:latin typeface="Georgia"/>
              </a:rPr>
              <a:t>che esista.”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7200900"/>
            <a:ext cx="80467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Courier New"/>
              </a:rPr>
              <a:t>— Johan Cruyff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8229600"/>
            <a:ext cx="768096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0" y="8641080"/>
            <a:ext cx="80467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Il nostro mestiere. L'AI non lo cambia — lo amplifica.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CAPITOLO 7 — AI E L'ANALISTA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L'AI non fa il tuo lavoro.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71750"/>
            <a:ext cx="1572768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B8523A"/>
                </a:solidFill>
                <a:latin typeface="Georgia"/>
              </a:rPr>
              <a:t>Fa il lavoro che ti impediva di farlo.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0619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Arial"/>
              </a:rPr>
              <a:t>Domanda sbagliata: “L'AI mi sostituira?”   —   Domanda giusta: “Cosa posso fare adesso che prima non potevo?”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0" y="462915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280160" y="4937760"/>
            <a:ext cx="7315200" cy="565785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TASK LAYER — COSA ACCELERA L'AI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5534406"/>
            <a:ext cx="7315200" cy="411480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0" y="5534406"/>
            <a:ext cx="50292" cy="4114800"/>
          </a:xfrm>
          <a:prstGeom prst="rect">
            <a:avLst/>
          </a:prstGeom>
          <a:solidFill>
            <a:srgbClr val="24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5637276"/>
            <a:ext cx="6583680" cy="390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D3833"/>
                </a:solidFill>
                <a:latin typeface="Arial"/>
              </a:rPr>
              <a:t>Un collaboratore che non dorme. Legge un milione di conversazioni in un'ora.</a:t>
            </a:r>
          </a:p>
          <a:p>
            <a:pPr algn="l"/>
            <a:r>
              <a:t/>
            </a:r>
          </a:p>
          <a:p>
            <a:pPr algn="l"/>
            <a:r>
              <a:rPr b="0" i="0" sz="1200">
                <a:solidFill>
                  <a:srgbClr val="3D3833"/>
                </a:solidFill>
                <a:latin typeface="Arial"/>
              </a:rPr>
              <a:t>+  Sintesi di volumi enormi</a:t>
            </a:r>
          </a:p>
          <a:p>
            <a:pPr algn="l"/>
            <a:r>
              <a:rPr b="0" i="0" sz="1200">
                <a:solidFill>
                  <a:srgbClr val="3D3833"/>
                </a:solidFill>
                <a:latin typeface="Arial"/>
              </a:rPr>
              <a:t>+  Clustering, tagging, classificazione a scala</a:t>
            </a:r>
          </a:p>
          <a:p>
            <a:pPr algn="l"/>
            <a:r>
              <a:rPr b="0" i="0" sz="1200">
                <a:solidFill>
                  <a:srgbClr val="3D3833"/>
                </a:solidFill>
                <a:latin typeface="Arial"/>
              </a:rPr>
              <a:t>+  Riconoscimento pattern e correlazioni</a:t>
            </a:r>
          </a:p>
          <a:p>
            <a:pPr algn="l"/>
            <a:r>
              <a:rPr b="0" i="0" sz="1200">
                <a:solidFill>
                  <a:srgbClr val="3D3833"/>
                </a:solidFill>
                <a:latin typeface="Arial"/>
              </a:rPr>
              <a:t>+  Generazione bozze, esplorazione ipotesi rapida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4937760"/>
            <a:ext cx="7315200" cy="565785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4937760"/>
            <a:ext cx="7315200" cy="565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JUDGEMENT LAYER — COSA RESTA UMANO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5534406"/>
            <a:ext cx="7315200" cy="4114800"/>
          </a:xfrm>
          <a:prstGeom prst="rect">
            <a:avLst/>
          </a:prstGeom>
          <a:solidFill>
            <a:srgbClr val="3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509760" y="5534406"/>
            <a:ext cx="50292" cy="41148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5637276"/>
            <a:ext cx="6583680" cy="390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F3EDE1"/>
                </a:solidFill>
                <a:latin typeface="Arial"/>
              </a:rPr>
              <a:t>Queste non sono attivita di contorno. Sono il mestiere.</a:t>
            </a:r>
          </a:p>
          <a:p>
            <a:pPr algn="l"/>
            <a:r>
              <a:t/>
            </a:r>
          </a:p>
          <a:p>
            <a:pPr algn="l"/>
            <a:r>
              <a:rPr b="0" i="0" sz="1200">
                <a:solidFill>
                  <a:srgbClr val="F3EDE1"/>
                </a:solidFill>
                <a:latin typeface="Arial"/>
              </a:rPr>
              <a:t>+  Formulare la domanda di business giusta</a:t>
            </a:r>
          </a:p>
          <a:p>
            <a:pPr algn="l"/>
            <a:r>
              <a:rPr b="0" i="0" sz="1200">
                <a:solidFill>
                  <a:srgbClr val="F3EDE1"/>
                </a:solidFill>
                <a:latin typeface="Arial"/>
              </a:rPr>
              <a:t>+  Validare l'affidabilita del dato</a:t>
            </a:r>
          </a:p>
          <a:p>
            <a:pPr algn="l"/>
            <a:r>
              <a:rPr b="0" i="0" sz="1200">
                <a:solidFill>
                  <a:srgbClr val="F3EDE1"/>
                </a:solidFill>
                <a:latin typeface="Arial"/>
              </a:rPr>
              <a:t>+  Riconoscere bias e contesto culturale</a:t>
            </a:r>
          </a:p>
          <a:p>
            <a:pPr algn="l"/>
            <a:r>
              <a:rPr b="0" i="0" sz="1200">
                <a:solidFill>
                  <a:srgbClr val="F3EDE1"/>
                </a:solidFill>
                <a:latin typeface="Arial"/>
              </a:rPr>
              <a:t>+  Portare una verita scomoda nella stanza giusta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AI E L'ANALISTA — IL NUOVO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Ecco come cambia il metodo.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Dal 'apri il tool, digita il brand' al 'parti dalla decisione che devi supportare'.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70332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4011930"/>
            <a:ext cx="2980944" cy="565785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4011930"/>
            <a:ext cx="50292" cy="565785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4063365"/>
            <a:ext cx="298094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200">
                <a:solidFill>
                  <a:srgbClr val="E0D8C4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5112639"/>
            <a:ext cx="2798064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DOMANDA
DI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6069330"/>
            <a:ext cx="2798064" cy="2366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Non 'cosa succede sul brand?' ma 'perche i nuovi clienti non convertono?' La domanda precede tutto.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8538210"/>
            <a:ext cx="2798064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B8523A"/>
                </a:solidFill>
                <a:latin typeface="Courier New"/>
              </a:rPr>
              <a:t>[Brief]  [Board]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4011930"/>
            <a:ext cx="2980944" cy="565785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4011930"/>
            <a:ext cx="50292" cy="565785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4063365"/>
            <a:ext cx="298094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200">
                <a:solidFill>
                  <a:srgbClr val="E0D8C4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5112639"/>
            <a:ext cx="2798064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FONTI
GIUSTE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6069330"/>
            <a:ext cx="2798064" cy="2366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Non una fonte — le fonti giuste per quella domanda. Ogni fonte vede una parte diversa del mercato.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8538210"/>
            <a:ext cx="2798064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B8523A"/>
                </a:solidFill>
                <a:latin typeface="Courier New"/>
              </a:rPr>
              <a:t>[SL]  [CRM]  [Search]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4011930"/>
            <a:ext cx="2980944" cy="565785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4011930"/>
            <a:ext cx="50292" cy="565785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4063365"/>
            <a:ext cx="298094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200">
                <a:solidFill>
                  <a:srgbClr val="E0D8C4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5112639"/>
            <a:ext cx="2798064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SINTESI
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6069330"/>
            <a:ext cx="2798064" cy="2366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sintetizza, raggruppa, identifica pattern a scala. Task Layer in azione — veloce, instancabile.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8538210"/>
            <a:ext cx="2798064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B8523A"/>
                </a:solidFill>
                <a:latin typeface="Courier New"/>
              </a:rPr>
              <a:t>[Claude]  [GPT]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42448" y="4011930"/>
            <a:ext cx="2980944" cy="565785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42448" y="4011930"/>
            <a:ext cx="50292" cy="565785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4063365"/>
            <a:ext cx="298094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200">
                <a:solidFill>
                  <a:srgbClr val="E0D8C4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5112639"/>
            <a:ext cx="2798064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VALIDAZIONE
UMANA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069330"/>
            <a:ext cx="2798064" cy="2366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L'analista valida, contestualizza, riconosce bias e codice culturale. Judgement Layer.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8538210"/>
            <a:ext cx="2798064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B8523A"/>
                </a:solidFill>
                <a:latin typeface="Courier New"/>
              </a:rPr>
              <a:t>[Context]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496544" y="4011930"/>
            <a:ext cx="2980944" cy="565785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496544" y="4011930"/>
            <a:ext cx="50292" cy="565785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661136" y="4063365"/>
            <a:ext cx="2980944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200">
                <a:solidFill>
                  <a:srgbClr val="E0D8C4"/>
                </a:solidFill>
                <a:latin typeface="Georgia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661136" y="5112639"/>
            <a:ext cx="2798064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INSIGHT
E AZIONE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61136" y="6069330"/>
            <a:ext cx="2798064" cy="2366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Portato alla persona giusta, nel momento giusto, nel linguaggio giusto.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661136" y="8538210"/>
            <a:ext cx="2798064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B8523A"/>
                </a:solidFill>
                <a:latin typeface="Courier New"/>
              </a:rPr>
              <a:t>[Decision]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AI E L'ANALISTA — L'ECOSISTEMA DELLE FONTI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4200">
                <a:solidFill>
                  <a:srgbClr val="3D3833"/>
                </a:solidFill>
                <a:latin typeface="Georgia"/>
              </a:rPr>
              <a:t>L'orchestratore conosce tutte le finestre.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468880"/>
            <a:ext cx="18288000" cy="977265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468880"/>
            <a:ext cx="82296" cy="977265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551176"/>
            <a:ext cx="1572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3D3833"/>
                </a:solidFill>
                <a:latin typeface="Arial"/>
              </a:rPr>
              <a:t>Dialogare con tutte le fonti non e una novita — e quello che avremmo sempre dovuto fare.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11220"/>
            <a:ext cx="1572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B8523A"/>
                </a:solidFill>
                <a:latin typeface="Arial"/>
              </a:rPr>
              <a:t>L'AI adesso lo rende possibile a una scala, velocita e profondita prima irraggiungibili.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55930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355930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65188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Social Listening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396049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Voce spontanea — cosa dicono senza sapere di essere osservati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436168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sintesi real-time]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8656" y="355930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48656" y="355930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65188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Search Intent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96049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Intenzione pre-decisione — il bisogno non ancora dichiarato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436168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clustering intent]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17152" y="355930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7152" y="355930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365188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Survey CAWI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96049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Voce sollecitata — strutturata, quantificabile, filtrata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36168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analisi testuale]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85648" y="355930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185648" y="355930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04520" y="365188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CRM &amp; First-party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04520" y="396049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Customer base reale — comportamenti verificati, non percepiti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04520" y="436168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pattern predittivi]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469087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469087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9032" y="478345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Review &amp; Rating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9032" y="50920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Esperienza vissuta post-acquisto — frustrazione e delizia reali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9032" y="549325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sentiment granulare]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48656" y="469087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48656" y="469087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7528" y="478345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Forum &amp; Community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67528" y="50920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Codice di nicchia — conversazioni non filtrate di community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7528" y="549325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pattern di nicchia]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17152" y="469087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17152" y="469087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36024" y="478345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News &amp; Media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50920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Narrativa pubblica e agenda setting — frame esterno al brand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024" y="549325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agenda tracking]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185648" y="469087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85648" y="469087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304520" y="478345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Trend &amp; Culture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04520" y="50920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Segnali pre-mainstream — dove il mercato sta andando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04520" y="549325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segnali deboli]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80160" y="582244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80160" y="582244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99032" y="591502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Influencer &amp; Creator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99032" y="622363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Amplificatori culturali — bridge tra brand e audience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99032" y="662482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reach e tono]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48656" y="582244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48656" y="582244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67528" y="591502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Competitor Intel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8" y="622363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Gap di posizionamento — il mercato in prospettiva comparata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67528" y="662482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gap mapping]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17152" y="582244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17152" y="582244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36024" y="591502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CX &amp; Support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36024" y="622363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Frizione nel journey — Intention-Interface Gap in prima persona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36024" y="662482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friction detection]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185648" y="582244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3185648" y="582244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304520" y="591502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Patent &amp; R&amp;D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304520" y="622363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Innovazione in preparazione — il futuro che si annuncia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304520" y="662482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innovation signals]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80160" y="695401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280160" y="695401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99032" y="704659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Retail &amp; Sales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99032" y="73552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Gap dichiarato/reale — comportamento d'acquisto effettivo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99032" y="775639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behavioral gap]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48656" y="695401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248656" y="695401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67528" y="704659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Earned Media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67528" y="73552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Reputazione editoriale — menzioni in contesto giornalistico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67528" y="775639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reputaz. contestuale]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17152" y="695401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17152" y="695401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36024" y="704659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Dark Social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36024" y="73552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Conversazione invisibile — messaggistica privata, gruppi chiusi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36024" y="775639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pattern inferiti]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185648" y="6954011"/>
            <a:ext cx="3803904" cy="1059561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3185648" y="6954011"/>
            <a:ext cx="45720" cy="1059561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304520" y="7046594"/>
            <a:ext cx="3657600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3D3833"/>
                </a:solidFill>
                <a:latin typeface="Arial"/>
              </a:rPr>
              <a:t>Geo &amp; Location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304520" y="73552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8A8175"/>
                </a:solidFill>
                <a:latin typeface="Arial"/>
              </a:rPr>
              <a:t>Movimenti reali, cluster geografici, presenza fisica vs digitale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304520" y="7756397"/>
            <a:ext cx="365760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B8523A"/>
                </a:solidFill>
                <a:latin typeface="Courier New"/>
              </a:rPr>
              <a:t>[AI: geo-clustering]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9258300"/>
            <a:ext cx="18288000" cy="1028700"/>
          </a:xfrm>
          <a:prstGeom prst="rect">
            <a:avLst/>
          </a:prstGeom>
          <a:solidFill>
            <a:srgbClr val="3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80160" y="9443466"/>
            <a:ext cx="15727680" cy="668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700">
                <a:solidFill>
                  <a:srgbClr val="F3EDE1"/>
                </a:solidFill>
                <a:latin typeface="Arial"/>
              </a:rPr>
              <a:t>“Il professionista maturo non difende la sua fonte. Sa quale aprire per la domanda giusta — e l'AI le fa dialogare tutte insieme.”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AI E L'ANALISTA — L'EVOLUZIONE DEL RUOLO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Il tuo ruolo non sparisce. Sale.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Ogni generazione ha risposto a una domanda piu utile della precedente. L'AI accelera il passaggio, non lo interrompe.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70332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4011930"/>
            <a:ext cx="5120640" cy="576072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4011930"/>
            <a:ext cx="50292" cy="576072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4063365"/>
            <a:ext cx="10058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600">
                <a:solidFill>
                  <a:srgbClr val="E0D8C4"/>
                </a:solidFill>
                <a:latin typeface="Georgia"/>
              </a:rPr>
              <a:t>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524637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ANALYST
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6089904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B8523A"/>
                </a:solidFill>
                <a:latin typeface="Arial"/>
              </a:rPr>
              <a:t>Cosa e successo?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6737985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Dashboard, report, riepilogo menzioni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7478649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Nel 2012 facevo questi report. Utili per la prima visibilita — limitati per chi doveva decidere.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8795385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B8523A"/>
                </a:solidFill>
                <a:latin typeface="Arial"/>
              </a:rPr>
              <a:t>L'AI automatizza l'80% di questo livello.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4011930"/>
            <a:ext cx="5120640" cy="576072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4011930"/>
            <a:ext cx="50292" cy="576072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4063365"/>
            <a:ext cx="10058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600">
                <a:solidFill>
                  <a:srgbClr val="E0D8C4"/>
                </a:solidFill>
                <a:latin typeface="Georgia"/>
              </a:rPr>
              <a:t>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524637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ANALYST
INTERPRETER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6089904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B8523A"/>
                </a:solidFill>
                <a:latin typeface="Arial"/>
              </a:rPr>
              <a:t>Perche e successo?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6737985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Driver, ipotesi causali, insight contestuali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7478649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8A8175"/>
                </a:solidFill>
                <a:latin typeface="Arial"/>
              </a:rPr>
              <a:t>Il salto che cambia le conversazioni con i clienti. Il tuo lavoro entra nelle riunioni strategiche.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8795385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B8523A"/>
                </a:solidFill>
                <a:latin typeface="Arial"/>
              </a:rPr>
              <a:t>L'AI accelera: 10 ipotesi in un'ora invece che in una settimana.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618720" y="4011930"/>
            <a:ext cx="5120640" cy="5760720"/>
          </a:xfrm>
          <a:prstGeom prst="rect">
            <a:avLst/>
          </a:prstGeom>
          <a:solidFill>
            <a:srgbClr val="3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618720" y="4011930"/>
            <a:ext cx="50292" cy="576072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83312" y="4063365"/>
            <a:ext cx="1005840" cy="113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6600">
                <a:solidFill>
                  <a:srgbClr val="B8523A"/>
                </a:solidFill>
                <a:latin typeface="Georgia"/>
              </a:rPr>
              <a:t>3.0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83312" y="524637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3EDE1"/>
                </a:solidFill>
                <a:latin typeface="Arial"/>
              </a:rPr>
              <a:t>ANALYST
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83312" y="6089904"/>
            <a:ext cx="4572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700">
                <a:solidFill>
                  <a:srgbClr val="B8523A"/>
                </a:solidFill>
                <a:latin typeface="Arial"/>
              </a:rPr>
              <a:t>Cosa dovremmo fare?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83312" y="6737985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Intelligence strategica, ecosistema di fonti, decisioni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83312" y="7478649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F3EDE1"/>
                </a:solidFill>
                <a:latin typeface="Arial"/>
              </a:rPr>
              <a:t>Combina fonti, usa l'AI per sintetizzare a scala, valida con giudizio umano, porta l'insight dove serve.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83312" y="8795385"/>
            <a:ext cx="45720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B8523A"/>
                </a:solidFill>
                <a:latin typeface="Arial"/>
              </a:rPr>
              <a:t>L'AI e il motore che rende il 3.0 concretamente raggiungibile.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AI E L'ANALISTA — I SEI AMPLIFICATORI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Sei amplificatori. Tutti gia tuoi.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Non sono feature dell'AI. Sono amplificatori delle competenze che gia avete.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70332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3909060"/>
            <a:ext cx="5212080" cy="1522476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3909060"/>
            <a:ext cx="50292" cy="152247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40325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4485132"/>
            <a:ext cx="4983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leggete le conversazioni del mercato.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4896612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vi permette di farlo su milioni in parallelo, su mercati diversi, in tempo reale.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104" y="3909060"/>
            <a:ext cx="5212080" cy="1522476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47104" y="3909060"/>
            <a:ext cx="50292" cy="152247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11696" y="40325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4485132"/>
            <a:ext cx="4983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formulate ipotesi analitiche.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4896612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permette di generarne e testarne dieci in un'ora invece che in una settimana.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14048" y="3909060"/>
            <a:ext cx="5212080" cy="1522476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14048" y="3909060"/>
            <a:ext cx="50292" cy="152247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0" y="40325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0" y="4485132"/>
            <a:ext cx="4983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monitorate fonti diverse.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78640" y="4896612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vi permette di farlo su piu lingue, mercati, canali — simultaneamente.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5554980"/>
            <a:ext cx="5212080" cy="1522476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80160" y="5554980"/>
            <a:ext cx="50292" cy="152247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44752" y="567842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6131052"/>
            <a:ext cx="4983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costruite trend analysis nel tempo.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6542532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permette di interrogare anni di dati storici come se fossero una conversazione.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47104" y="5554980"/>
            <a:ext cx="5212080" cy="1522476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47104" y="5554980"/>
            <a:ext cx="50292" cy="152247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567842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6131052"/>
            <a:ext cx="4983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cercate pattern nascosti.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6542532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identifica correlazioni che l'occhio umano non vedrebbe mai — e ve le porta.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14048" y="5554980"/>
            <a:ext cx="5212080" cy="1522476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814048" y="5554980"/>
            <a:ext cx="50292" cy="152247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978640" y="567842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B8523A"/>
                </a:solidFill>
                <a:latin typeface="Courier New"/>
              </a:rPr>
              <a:t>SIMULATION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978640" y="6131052"/>
            <a:ext cx="4983480" cy="390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Gia ragionate per scenari.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978640" y="6542532"/>
            <a:ext cx="4983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L'AI vi permette di simularli. Testare 'e se?' prima che diventi reale.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9052560"/>
            <a:ext cx="18288000" cy="1234440"/>
          </a:xfrm>
          <a:prstGeom prst="rect">
            <a:avLst/>
          </a:prstGeom>
          <a:solidFill>
            <a:srgbClr val="3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9299448"/>
            <a:ext cx="15727680" cy="771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2200">
                <a:solidFill>
                  <a:srgbClr val="F3EDE1"/>
                </a:solidFill>
                <a:latin typeface="Georgia"/>
              </a:rPr>
              <a:t>“L'AI non pensa al posto dell'analista. Amplifica cio che l'analista e in grado di vedere.”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CAPITOLO 8 — APPLICAZIONI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Dove si vede il valore concreto.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Quattro applicazioni in cui il listening entra prima delle decisioni. Non dopo.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70332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3909060"/>
            <a:ext cx="7863840" cy="277749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3909060"/>
            <a:ext cx="50292" cy="277749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4042791"/>
            <a:ext cx="763524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REPUTATION
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4762881"/>
            <a:ext cx="763524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Non il monitoring — l'intelligence reputazionale.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5297805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Percezione, driver di fiducia, associazioni spontanee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637276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Rischi latenti prima che diventino crisi visibili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5976747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Alert preventivi, non post-mortem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6316218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Non solo cosa dicono — perche e dove sta andando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3909060"/>
            <a:ext cx="7863840" cy="277749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75520" y="3909060"/>
            <a:ext cx="50292" cy="277749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40112" y="4042791"/>
            <a:ext cx="763524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CAMPAIGN
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0112" y="4762881"/>
            <a:ext cx="763524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Come viene ricevuta organicamente, al netto del paid?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112" y="5297805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Quali messaggi compresi e quali fraintesi?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5637276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Quali asset funzionano nei contesti reali?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0112" y="5976747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Correzioni in itinere — non valutazioni a campagna chiusa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2" y="6316218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Agisci quando e ancora possibile cambiare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6892290"/>
            <a:ext cx="7863840" cy="277749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80160" y="6892290"/>
            <a:ext cx="50292" cy="277749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4752" y="7026021"/>
            <a:ext cx="763524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PRODUCT
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7746111"/>
            <a:ext cx="763524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I bisogni che nessuna survey riesce a catturare.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8281035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Barriere non emerse nei focus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8620506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Usi imprevisti: workaround, rituali, micro-community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8959977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Segnali per roadmap verso cio che il mercato vuole davvero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9299448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Non quello che dice di volere — quello che fa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0" y="6892290"/>
            <a:ext cx="7863840" cy="277749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75520" y="6892290"/>
            <a:ext cx="50292" cy="277749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7026021"/>
            <a:ext cx="7635240" cy="699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3D3833"/>
                </a:solidFill>
                <a:latin typeface="Arial"/>
              </a:rPr>
              <a:t>REAL-TIME
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7746111"/>
            <a:ext cx="7635240" cy="462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B8523A"/>
                </a:solidFill>
                <a:latin typeface="Arial"/>
              </a:rPr>
              <a:t>Lanci, sponsorship, crisi in tempo reale.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2" y="8281035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La distinzione fondamentale: polemica vs rischio reale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8620506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Quando un topic diventa rumore vs quando diventa crisi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8959977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Se rispondere, come, quando, con quale tono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9299448"/>
            <a:ext cx="7635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8A8175"/>
                </a:solidFill>
                <a:latin typeface="Arial"/>
              </a:rPr>
              <a:t>—  Velocita calibrata — non la risposta generica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80238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7830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3EDE1"/>
                </a:solidFill>
                <a:latin typeface="Courier New"/>
              </a:rPr>
              <a:t>   CAPITOLO 9 — CHIUSURA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440180"/>
            <a:ext cx="15727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3D3833"/>
                </a:solidFill>
                <a:latin typeface="Georgia"/>
              </a:rPr>
              <a:t>Cosa cambia da lunedi mattina.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157276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2000">
                <a:solidFill>
                  <a:srgbClr val="8A8175"/>
                </a:solidFill>
                <a:latin typeface="Arial"/>
              </a:rPr>
              <a:t>Quattro principi operativi. Non teoria — azioni immediate.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3703320"/>
            <a:ext cx="15727680" cy="0"/>
          </a:xfrm>
          <a:prstGeom prst="line">
            <a:avLst/>
          </a:prstGeom>
          <a:ln w="381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280160" y="3909060"/>
            <a:ext cx="7680960" cy="257175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0160" y="3909060"/>
            <a:ext cx="50292" cy="257175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4032504"/>
            <a:ext cx="82296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800">
                <a:solidFill>
                  <a:srgbClr val="E0D8C4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2" y="4032504"/>
            <a:ext cx="6675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DAI UN NOME AL MESTIERE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5040630"/>
            <a:ext cx="745236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Se viene confuso con social media management o reporting, non entrera nelle decisioni che contano.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657850"/>
            <a:ext cx="745236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Non e un problema semantico — e un problema di potere organizzativo.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3909060"/>
            <a:ext cx="7680960" cy="257175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5520" y="3909060"/>
            <a:ext cx="50292" cy="257175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40112" y="4032504"/>
            <a:ext cx="82296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800">
                <a:solidFill>
                  <a:srgbClr val="E0D8C4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912" y="4032504"/>
            <a:ext cx="6675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PRIMA DELLA QUERY, LA DECISIONE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0112" y="5040630"/>
            <a:ext cx="745236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Non si apre il tool e si digita il nome del brand. Si parte da: quale decisione devo supportare?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0112" y="5657850"/>
            <a:ext cx="745236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Se la decisione non e chiara, produci monitoraggio — non intelligence.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6686550"/>
            <a:ext cx="7680960" cy="257175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6686550"/>
            <a:ext cx="50292" cy="257175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6809994"/>
            <a:ext cx="82296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800">
                <a:solidFill>
                  <a:srgbClr val="E0D8C4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0552" y="6809994"/>
            <a:ext cx="6675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NON CERCARE VOLUME. CERCA FRIZIONE.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7818120"/>
            <a:ext cx="745236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Il segnale piu utile spesso non e il picco piu grande, ma il pattern piu scomodo.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8435340"/>
            <a:ext cx="745236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Il vantaggio competitivo non si nasconde dove guardano tutti.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6686550"/>
            <a:ext cx="7680960" cy="2571750"/>
          </a:xfrm>
          <a:prstGeom prst="rect">
            <a:avLst/>
          </a:prstGeom>
          <a:solidFill>
            <a:srgbClr val="EBE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20" y="6686550"/>
            <a:ext cx="50292" cy="257175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2" y="6809994"/>
            <a:ext cx="822960" cy="92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800">
                <a:solidFill>
                  <a:srgbClr val="E0D8C4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809994"/>
            <a:ext cx="667512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3D3833"/>
                </a:solidFill>
                <a:latin typeface="Arial"/>
              </a:rPr>
              <a:t>USA L'AI PER ACCELERARE, NON PER DELEGARE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2" y="7818120"/>
            <a:ext cx="745236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600">
                <a:solidFill>
                  <a:srgbClr val="3D3833"/>
                </a:solidFill>
                <a:latin typeface="Arial"/>
              </a:rPr>
              <a:t>L'AI fa il Task Layer meglio e piu velocemente. Il Judgement Layer resta umano.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2" y="8435340"/>
            <a:ext cx="745236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8A8175"/>
                </a:solidFill>
                <a:latin typeface="Arial"/>
              </a:rPr>
              <a:t>Usala per andare piu lontano — non per smettere di pensare.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0" cy="1028700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0" y="0"/>
            <a:ext cx="16642080" cy="82296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0" y="154305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2800">
                <a:solidFill>
                  <a:srgbClr val="F3EDE1"/>
                </a:solidFill>
                <a:latin typeface="Georgia"/>
              </a:rPr>
              <a:t>“Il futuro del social listening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46888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2800">
                <a:solidFill>
                  <a:srgbClr val="F3EDE1"/>
                </a:solidFill>
                <a:latin typeface="Georgia"/>
              </a:rPr>
              <a:t>non sara deciso da chi possiede il tool migliore.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339471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2800">
                <a:solidFill>
                  <a:srgbClr val="F3EDE1"/>
                </a:solidFill>
                <a:latin typeface="Georgia"/>
              </a:rPr>
              <a:t>Sara deciso da chi sapra fare le domande migliori,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32054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2800">
                <a:solidFill>
                  <a:srgbClr val="B8523A"/>
                </a:solidFill>
                <a:latin typeface="Georgia"/>
              </a:rPr>
              <a:t>difendere il metodo,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5246370"/>
            <a:ext cx="146304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2800">
                <a:solidFill>
                  <a:srgbClr val="F3EDE1"/>
                </a:solidFill>
                <a:latin typeface="Georgia"/>
              </a:rPr>
              <a:t>e portare il segnale dove le decisioni vengono prese.”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6789420"/>
            <a:ext cx="9509760" cy="0"/>
          </a:xfrm>
          <a:prstGeom prst="line">
            <a:avLst/>
          </a:prstGeom>
          <a:ln w="50800">
            <a:solidFill>
              <a:srgbClr val="B852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77440" y="7200900"/>
            <a:ext cx="7315200" cy="144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5000">
                <a:solidFill>
                  <a:srgbClr val="B8523A"/>
                </a:solidFill>
                <a:latin typeface="Georgia"/>
              </a:rPr>
              <a:t>GRAZIE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8846820"/>
            <a:ext cx="10972800" cy="72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900">
                <a:solidFill>
                  <a:srgbClr val="8A8175"/>
                </a:solidFill>
                <a:latin typeface="Courier New"/>
              </a:rPr>
              <a:t>EY Studio+   ×   Brandwatch   ×   Trajaan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