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6705432" y="0"/>
            <a:ext cx="5486262" cy="4800600"/>
          </a:xfrm>
          <a:prstGeom prst="rect">
            <a:avLst/>
          </a:prstGeom>
          <a:solidFill>
            <a:srgbClr val="051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5" name="Rectangle 4"/>
          <p:cNvSpPr/>
          <p:nvPr/>
        </p:nvSpPr>
        <p:spPr>
          <a:xfrm>
            <a:off x="822960" y="347472"/>
            <a:ext cx="1371600" cy="256032"/>
          </a:xfrm>
          <a:prstGeom prst="roundRect">
            <a:avLst>
              <a:gd name="adj" fmla="val 20000"/>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365760"/>
            <a:ext cx="1325880" cy="228600"/>
          </a:xfrm>
          <a:prstGeom prst="rect">
            <a:avLst/>
          </a:prstGeom>
          <a:noFill/>
        </p:spPr>
        <p:txBody>
          <a:bodyPr wrap="square">
            <a:spAutoFit/>
          </a:bodyPr>
          <a:lstStyle/>
          <a:p>
            <a:pPr algn="l"/>
            <a:r>
              <a:rPr sz="800" b="0" i="0">
                <a:solidFill>
                  <a:srgbClr val="AAAAAA"/>
                </a:solidFill>
                <a:latin typeface="Arial"/>
              </a:rPr>
              <a:t>● STUDIO STRATEGICO</a:t>
            </a:r>
          </a:p>
        </p:txBody>
      </p:sp>
      <p:sp>
        <p:nvSpPr>
          <p:cNvPr id="7" name="TextBox 6"/>
          <p:cNvSpPr txBox="1"/>
          <p:nvPr/>
        </p:nvSpPr>
        <p:spPr>
          <a:xfrm>
            <a:off x="822960" y="1097280"/>
            <a:ext cx="5943600" cy="2194560"/>
          </a:xfrm>
          <a:prstGeom prst="rect">
            <a:avLst/>
          </a:prstGeom>
          <a:noFill/>
        </p:spPr>
        <p:txBody>
          <a:bodyPr wrap="square">
            <a:spAutoFit/>
          </a:bodyPr>
          <a:lstStyle/>
          <a:p>
            <a:pPr algn="l"/>
            <a:r>
              <a:rPr sz="9000" b="1" i="0">
                <a:solidFill>
                  <a:srgbClr val="FFFFFF"/>
                </a:solidFill>
                <a:latin typeface="Arial Black"/>
              </a:rPr>
              <a:t>SOCIAL
LISTENING</a:t>
            </a:r>
          </a:p>
        </p:txBody>
      </p:sp>
      <p:sp>
        <p:nvSpPr>
          <p:cNvPr id="8" name="TextBox 7"/>
          <p:cNvSpPr txBox="1"/>
          <p:nvPr/>
        </p:nvSpPr>
        <p:spPr>
          <a:xfrm>
            <a:off x="822960" y="3200400"/>
            <a:ext cx="5943600" cy="1280160"/>
          </a:xfrm>
          <a:prstGeom prst="rect">
            <a:avLst/>
          </a:prstGeom>
          <a:noFill/>
        </p:spPr>
        <p:txBody>
          <a:bodyPr wrap="square">
            <a:spAutoFit/>
          </a:bodyPr>
          <a:lstStyle/>
          <a:p>
            <a:pPr algn="l"/>
            <a:r>
              <a:rPr sz="9000" b="1" i="0">
                <a:solidFill>
                  <a:srgbClr val="FFE600"/>
                </a:solidFill>
                <a:latin typeface="Arial Black"/>
              </a:rPr>
              <a:t>IN ITALIA</a:t>
            </a:r>
          </a:p>
        </p:txBody>
      </p:sp>
      <p:sp>
        <p:nvSpPr>
          <p:cNvPr id="9" name="TextBox 8"/>
          <p:cNvSpPr txBox="1"/>
          <p:nvPr/>
        </p:nvSpPr>
        <p:spPr>
          <a:xfrm>
            <a:off x="822960" y="4617720"/>
            <a:ext cx="4572000" cy="457200"/>
          </a:xfrm>
          <a:prstGeom prst="rect">
            <a:avLst/>
          </a:prstGeom>
          <a:noFill/>
        </p:spPr>
        <p:txBody>
          <a:bodyPr wrap="square">
            <a:spAutoFit/>
          </a:bodyPr>
          <a:lstStyle/>
          <a:p>
            <a:pPr algn="l"/>
            <a:r>
              <a:rPr sz="1800" b="0" i="0">
                <a:solidFill>
                  <a:srgbClr val="AAAAAA"/>
                </a:solidFill>
                <a:latin typeface="Arial"/>
              </a:rPr>
              <a:t>Realtà, sfide e opportunità</a:t>
            </a:r>
          </a:p>
        </p:txBody>
      </p:sp>
      <p:sp>
        <p:nvSpPr>
          <p:cNvPr id="10" name="TextBox 9"/>
          <p:cNvSpPr txBox="1"/>
          <p:nvPr/>
        </p:nvSpPr>
        <p:spPr>
          <a:xfrm>
            <a:off x="822960" y="6217920"/>
            <a:ext cx="5486400" cy="365760"/>
          </a:xfrm>
          <a:prstGeom prst="rect">
            <a:avLst/>
          </a:prstGeom>
          <a:noFill/>
        </p:spPr>
        <p:txBody>
          <a:bodyPr wrap="square">
            <a:spAutoFit/>
          </a:bodyPr>
          <a:lstStyle/>
          <a:p>
            <a:pPr algn="l"/>
            <a:r>
              <a:rPr sz="1000" b="0" i="0">
                <a:solidFill>
                  <a:srgbClr val="6B6B6B"/>
                </a:solidFill>
                <a:latin typeface="Arial"/>
              </a:rPr>
              <a:t>EY Studio+ × Brandwatch × Trajaan — Maggio 2026</a:t>
            </a:r>
          </a:p>
        </p:txBody>
      </p:sp>
      <p:sp>
        <p:nvSpPr>
          <p:cNvPr id="11" name="TextBox 10"/>
          <p:cNvSpPr txBox="1"/>
          <p:nvPr/>
        </p:nvSpPr>
        <p:spPr>
          <a:xfrm>
            <a:off x="10789920" y="6217920"/>
            <a:ext cx="1188720" cy="365760"/>
          </a:xfrm>
          <a:prstGeom prst="rect">
            <a:avLst/>
          </a:prstGeom>
          <a:noFill/>
        </p:spPr>
        <p:txBody>
          <a:bodyPr wrap="square">
            <a:spAutoFit/>
          </a:bodyPr>
          <a:lstStyle/>
          <a:p>
            <a:pPr algn="r"/>
            <a:r>
              <a:rPr sz="900" b="0" i="0">
                <a:solidFill>
                  <a:srgbClr val="6B6B6B"/>
                </a:solidFill>
                <a:latin typeface="Arial"/>
              </a:rPr>
              <a:t>SCROLL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Rectangle 3"/>
          <p:cNvSpPr/>
          <p:nvPr/>
        </p:nvSpPr>
        <p:spPr>
          <a:xfrm>
            <a:off x="822960" y="1920240"/>
            <a:ext cx="91440" cy="18288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920240"/>
            <a:ext cx="9144000" cy="2011680"/>
          </a:xfrm>
          <a:prstGeom prst="rect">
            <a:avLst/>
          </a:prstGeom>
          <a:noFill/>
        </p:spPr>
        <p:txBody>
          <a:bodyPr wrap="square">
            <a:spAutoFit/>
          </a:bodyPr>
          <a:lstStyle/>
          <a:p>
            <a:pPr algn="l"/>
            <a:r>
              <a:rPr sz="5200" b="1" i="0">
                <a:solidFill>
                  <a:srgbClr val="0D0D0D"/>
                </a:solidFill>
                <a:latin typeface="Arial Black"/>
              </a:rPr>
              <a:t>"Il tuo lavoro sparirà in
meno di due anni."</a:t>
            </a:r>
          </a:p>
        </p:txBody>
      </p:sp>
      <p:sp>
        <p:nvSpPr>
          <p:cNvPr id="6" name="TextBox 5"/>
          <p:cNvSpPr txBox="1"/>
          <p:nvPr/>
        </p:nvSpPr>
        <p:spPr>
          <a:xfrm>
            <a:off x="1051560" y="4069080"/>
            <a:ext cx="6400800" cy="548640"/>
          </a:xfrm>
          <a:prstGeom prst="rect">
            <a:avLst/>
          </a:prstGeom>
          <a:noFill/>
        </p:spPr>
        <p:txBody>
          <a:bodyPr wrap="square">
            <a:spAutoFit/>
          </a:bodyPr>
          <a:lstStyle/>
          <a:p>
            <a:pPr algn="l"/>
            <a:r>
              <a:rPr sz="1400" b="0" i="0">
                <a:solidFill>
                  <a:srgbClr val="6B6B6B"/>
                </a:solidFill>
                <a:latin typeface="Arial"/>
              </a:rPr>
              <a:t>Qualcuno lo ha detto a una collega a una conferenza.
Questa presentazione è la risposta.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7F7"/>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TextBox 3"/>
          <p:cNvSpPr txBox="1"/>
          <p:nvPr/>
        </p:nvSpPr>
        <p:spPr>
          <a:xfrm>
            <a:off x="822960" y="502920"/>
            <a:ext cx="2743200" cy="274320"/>
          </a:xfrm>
          <a:prstGeom prst="rect">
            <a:avLst/>
          </a:prstGeom>
          <a:noFill/>
        </p:spPr>
        <p:txBody>
          <a:bodyPr wrap="square">
            <a:spAutoFit/>
          </a:bodyPr>
          <a:lstStyle/>
          <a:p>
            <a:pPr algn="l"/>
            <a:r>
              <a:rPr sz="850" b="0" i="0">
                <a:solidFill>
                  <a:srgbClr val="6E5CF6"/>
                </a:solidFill>
                <a:latin typeface="Arial"/>
              </a:rPr>
              <a:t>CHI RISPONDE</a:t>
            </a:r>
          </a:p>
        </p:txBody>
      </p:sp>
      <p:sp>
        <p:nvSpPr>
          <p:cNvPr id="5" name="Rectangle 4"/>
          <p:cNvSpPr/>
          <p:nvPr/>
        </p:nvSpPr>
        <p:spPr>
          <a:xfrm>
            <a:off x="822960" y="795528"/>
            <a:ext cx="1097280" cy="18288"/>
          </a:xfrm>
          <a:prstGeom prst="rect">
            <a:avLst/>
          </a:prstGeom>
          <a:solidFill>
            <a:srgbClr val="6E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960120"/>
            <a:ext cx="5943600" cy="1188720"/>
          </a:xfrm>
          <a:prstGeom prst="rect">
            <a:avLst/>
          </a:prstGeom>
          <a:noFill/>
        </p:spPr>
        <p:txBody>
          <a:bodyPr wrap="square">
            <a:spAutoFit/>
          </a:bodyPr>
          <a:lstStyle/>
          <a:p>
            <a:pPr algn="l"/>
            <a:r>
              <a:rPr sz="4400" b="1" i="0">
                <a:solidFill>
                  <a:srgbClr val="0D0D0D"/>
                </a:solidFill>
                <a:latin typeface="Arial Black"/>
              </a:rPr>
              <a:t>Vincenzo Alberto
Marrari</a:t>
            </a:r>
          </a:p>
        </p:txBody>
      </p:sp>
      <p:sp>
        <p:nvSpPr>
          <p:cNvPr id="7" name="TextBox 6"/>
          <p:cNvSpPr txBox="1"/>
          <p:nvPr/>
        </p:nvSpPr>
        <p:spPr>
          <a:xfrm>
            <a:off x="822960" y="2240280"/>
            <a:ext cx="3657600" cy="320040"/>
          </a:xfrm>
          <a:prstGeom prst="rect">
            <a:avLst/>
          </a:prstGeom>
          <a:noFill/>
        </p:spPr>
        <p:txBody>
          <a:bodyPr wrap="square">
            <a:spAutoFit/>
          </a:bodyPr>
          <a:lstStyle/>
          <a:p>
            <a:pPr algn="l"/>
            <a:r>
              <a:rPr sz="950" b="1" i="0">
                <a:solidFill>
                  <a:srgbClr val="6E5CF6"/>
                </a:solidFill>
                <a:latin typeface="Arial"/>
              </a:rPr>
              <a:t>ANALYST &amp; INSIGHT STRATEGIST</a:t>
            </a:r>
          </a:p>
        </p:txBody>
      </p:sp>
      <p:sp>
        <p:nvSpPr>
          <p:cNvPr id="8" name="TextBox 7"/>
          <p:cNvSpPr txBox="1"/>
          <p:nvPr/>
        </p:nvSpPr>
        <p:spPr>
          <a:xfrm>
            <a:off x="822960" y="2697480"/>
            <a:ext cx="5029200" cy="365760"/>
          </a:xfrm>
          <a:prstGeom prst="rect">
            <a:avLst/>
          </a:prstGeom>
          <a:noFill/>
        </p:spPr>
        <p:txBody>
          <a:bodyPr wrap="square">
            <a:spAutoFit/>
          </a:bodyPr>
          <a:lstStyle/>
          <a:p>
            <a:pPr algn="l"/>
            <a:r>
              <a:rPr sz="1300" b="0" i="0">
                <a:solidFill>
                  <a:srgbClr val="0D0D0D"/>
                </a:solidFill>
                <a:latin typeface="Arial"/>
              </a:rPr>
              <a:t>EY Studio+ &amp; Trajaan — intelligence per le organizzazioni.</a:t>
            </a:r>
          </a:p>
        </p:txBody>
      </p:sp>
      <p:sp>
        <p:nvSpPr>
          <p:cNvPr id="9" name="Rectangle 8"/>
          <p:cNvSpPr/>
          <p:nvPr/>
        </p:nvSpPr>
        <p:spPr>
          <a:xfrm>
            <a:off x="822960" y="3355848"/>
            <a:ext cx="164592" cy="4572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246120"/>
            <a:ext cx="4937760" cy="502920"/>
          </a:xfrm>
          <a:prstGeom prst="rect">
            <a:avLst/>
          </a:prstGeom>
          <a:noFill/>
        </p:spPr>
        <p:txBody>
          <a:bodyPr wrap="square">
            <a:spAutoFit/>
          </a:bodyPr>
          <a:lstStyle/>
          <a:p>
            <a:pPr algn="l"/>
            <a:r>
              <a:rPr sz="1250" b="0" i="0">
                <a:solidFill>
                  <a:srgbClr val="0D0D0D"/>
                </a:solidFill>
                <a:latin typeface="Arial"/>
              </a:rPr>
              <a:t>12+ anni di social listening, cultural intelligence e ricerca strategica.</a:t>
            </a:r>
          </a:p>
        </p:txBody>
      </p:sp>
      <p:sp>
        <p:nvSpPr>
          <p:cNvPr id="11" name="Rectangle 10"/>
          <p:cNvSpPr/>
          <p:nvPr/>
        </p:nvSpPr>
        <p:spPr>
          <a:xfrm>
            <a:off x="822960" y="3904488"/>
            <a:ext cx="164592" cy="4572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794760"/>
            <a:ext cx="4937760" cy="502920"/>
          </a:xfrm>
          <a:prstGeom prst="rect">
            <a:avLst/>
          </a:prstGeom>
          <a:noFill/>
        </p:spPr>
        <p:txBody>
          <a:bodyPr wrap="square">
            <a:spAutoFit/>
          </a:bodyPr>
          <a:lstStyle/>
          <a:p>
            <a:pPr algn="l"/>
            <a:r>
              <a:rPr sz="1250" b="0" i="0">
                <a:solidFill>
                  <a:srgbClr val="0D0D0D"/>
                </a:solidFill>
                <a:latin typeface="Arial"/>
              </a:rPr>
              <a:t>Ha visto questo mestiere cambiare forma tre volte, strumenti diventare obsoleti, e l'AI ridefinire dove sta il valore — senza eliminare il mestiere.</a:t>
            </a:r>
          </a:p>
        </p:txBody>
      </p:sp>
      <p:sp>
        <p:nvSpPr>
          <p:cNvPr id="13" name="Rectangle 12"/>
          <p:cNvSpPr/>
          <p:nvPr/>
        </p:nvSpPr>
        <p:spPr>
          <a:xfrm>
            <a:off x="822960" y="4453128"/>
            <a:ext cx="164592" cy="4572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343400"/>
            <a:ext cx="4937760" cy="502920"/>
          </a:xfrm>
          <a:prstGeom prst="rect">
            <a:avLst/>
          </a:prstGeom>
          <a:noFill/>
        </p:spPr>
        <p:txBody>
          <a:bodyPr wrap="square">
            <a:spAutoFit/>
          </a:bodyPr>
          <a:lstStyle/>
          <a:p>
            <a:pPr algn="l"/>
            <a:r>
              <a:rPr sz="1250" b="0" i="0">
                <a:solidFill>
                  <a:srgbClr val="0D0D0D"/>
                </a:solidFill>
                <a:latin typeface="Arial"/>
              </a:rPr>
              <a:t>Con Francesca Olivieri di Brandwatch — il mercato italiano dall'interno.</a:t>
            </a:r>
          </a:p>
        </p:txBody>
      </p:sp>
      <p:sp>
        <p:nvSpPr>
          <p:cNvPr id="15" name="Rectangle 14"/>
          <p:cNvSpPr/>
          <p:nvPr/>
        </p:nvSpPr>
        <p:spPr>
          <a:xfrm>
            <a:off x="6858000" y="1920240"/>
            <a:ext cx="4846320" cy="2377440"/>
          </a:xfrm>
          <a:prstGeom prst="roundRect">
            <a:avLst>
              <a:gd name="adj" fmla="val 30000"/>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0" y="2103120"/>
            <a:ext cx="320040" cy="320040"/>
          </a:xfrm>
          <a:prstGeom prst="rect">
            <a:avLst/>
          </a:prstGeom>
          <a:noFill/>
        </p:spPr>
        <p:txBody>
          <a:bodyPr wrap="square">
            <a:spAutoFit/>
          </a:bodyPr>
          <a:lstStyle/>
          <a:p>
            <a:pPr algn="l"/>
            <a:r>
              <a:rPr sz="2200" b="0" i="0">
                <a:solidFill>
                  <a:srgbClr val="FFE600"/>
                </a:solidFill>
                <a:latin typeface="Arial"/>
              </a:rPr>
              <a:t>❝</a:t>
            </a:r>
          </a:p>
        </p:txBody>
      </p:sp>
      <p:sp>
        <p:nvSpPr>
          <p:cNvPr id="17" name="TextBox 16"/>
          <p:cNvSpPr txBox="1"/>
          <p:nvPr/>
        </p:nvSpPr>
        <p:spPr>
          <a:xfrm>
            <a:off x="7132320" y="2423160"/>
            <a:ext cx="4297680" cy="1645920"/>
          </a:xfrm>
          <a:prstGeom prst="rect">
            <a:avLst/>
          </a:prstGeom>
          <a:noFill/>
        </p:spPr>
        <p:txBody>
          <a:bodyPr wrap="square">
            <a:spAutoFit/>
          </a:bodyPr>
          <a:lstStyle/>
          <a:p>
            <a:pPr algn="l"/>
            <a:r>
              <a:rPr sz="1550" b="0" i="0">
                <a:solidFill>
                  <a:srgbClr val="FFFFFF"/>
                </a:solidFill>
                <a:latin typeface="Arial"/>
              </a:rPr>
              <a:t>"Il valore dell'AI non sta nel sostituire l'uomo, ma nell'amplificarne le competenze."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TextBox 3"/>
          <p:cNvSpPr txBox="1"/>
          <p:nvPr/>
        </p:nvSpPr>
        <p:spPr>
          <a:xfrm>
            <a:off x="822960" y="731520"/>
            <a:ext cx="1828800" cy="274320"/>
          </a:xfrm>
          <a:prstGeom prst="rect">
            <a:avLst/>
          </a:prstGeom>
          <a:noFill/>
        </p:spPr>
        <p:txBody>
          <a:bodyPr wrap="square">
            <a:spAutoFit/>
          </a:bodyPr>
          <a:lstStyle/>
          <a:p>
            <a:pPr algn="l"/>
            <a:r>
              <a:rPr sz="900" b="0" i="0">
                <a:solidFill>
                  <a:srgbClr val="6B6B6B"/>
                </a:solidFill>
                <a:latin typeface="Arial"/>
              </a:rPr>
              <a:t>CAP 1</a:t>
            </a:r>
          </a:p>
        </p:txBody>
      </p:sp>
      <p:sp>
        <p:nvSpPr>
          <p:cNvPr id="5" name="TextBox 4"/>
          <p:cNvSpPr txBox="1"/>
          <p:nvPr/>
        </p:nvSpPr>
        <p:spPr>
          <a:xfrm>
            <a:off x="822960" y="822960"/>
            <a:ext cx="8229600" cy="1097280"/>
          </a:xfrm>
          <a:prstGeom prst="rect">
            <a:avLst/>
          </a:prstGeom>
          <a:noFill/>
        </p:spPr>
        <p:txBody>
          <a:bodyPr wrap="square">
            <a:spAutoFit/>
          </a:bodyPr>
          <a:lstStyle/>
          <a:p>
            <a:pPr algn="l"/>
            <a:r>
              <a:rPr sz="5800" b="1" i="0">
                <a:solidFill>
                  <a:srgbClr val="0D0D0D"/>
                </a:solidFill>
                <a:latin typeface="Arial Black"/>
              </a:rPr>
              <a:t>IL PARADOSSO</a:t>
            </a:r>
          </a:p>
        </p:txBody>
      </p:sp>
      <p:sp>
        <p:nvSpPr>
          <p:cNvPr id="6" name="TextBox 5"/>
          <p:cNvSpPr txBox="1"/>
          <p:nvPr/>
        </p:nvSpPr>
        <p:spPr>
          <a:xfrm>
            <a:off x="822960" y="1874519"/>
            <a:ext cx="7772400" cy="640080"/>
          </a:xfrm>
          <a:prstGeom prst="rect">
            <a:avLst/>
          </a:prstGeom>
          <a:noFill/>
        </p:spPr>
        <p:txBody>
          <a:bodyPr wrap="square">
            <a:spAutoFit/>
          </a:bodyPr>
          <a:lstStyle/>
          <a:p>
            <a:pPr algn="l"/>
            <a:r>
              <a:rPr sz="2200" b="1" i="0">
                <a:solidFill>
                  <a:srgbClr val="0D0D0D"/>
                </a:solidFill>
                <a:latin typeface="Arial"/>
              </a:rPr>
              <a:t>Eppure lo chiedono tutti.</a:t>
            </a:r>
          </a:p>
        </p:txBody>
      </p:sp>
      <p:sp>
        <p:nvSpPr>
          <p:cNvPr id="7" name="TextBox 6"/>
          <p:cNvSpPr txBox="1"/>
          <p:nvPr/>
        </p:nvSpPr>
        <p:spPr>
          <a:xfrm>
            <a:off x="822960" y="2423160"/>
            <a:ext cx="8229600" cy="914400"/>
          </a:xfrm>
          <a:prstGeom prst="rect">
            <a:avLst/>
          </a:prstGeom>
          <a:noFill/>
        </p:spPr>
        <p:txBody>
          <a:bodyPr wrap="square">
            <a:spAutoFit/>
          </a:bodyPr>
          <a:lstStyle/>
          <a:p>
            <a:pPr algn="l">
              <a:spcBef>
                <a:spcPts val="400"/>
              </a:spcBef>
            </a:pPr>
            <a:r>
              <a:rPr sz="1300" b="0">
                <a:solidFill>
                  <a:srgbClr val="0D0D0D"/>
                </a:solidFill>
                <a:latin typeface="Arial"/>
              </a:rPr>
              <a:t>Il social listening viene citato ovunque: brief, piani media, board strategici. 42 milioni di utenti sociali attivi in Italia.</a:t>
            </a:r>
          </a:p>
          <a:p>
            <a:pPr algn="l">
              <a:spcBef>
                <a:spcPts val="400"/>
              </a:spcBef>
            </a:pPr>
            <a:r>
              <a:rPr sz="1300" b="0">
                <a:solidFill>
                  <a:srgbClr val="0D0D0D"/>
                </a:solidFill>
                <a:latin typeface="Arial"/>
              </a:rPr>
              <a:t>Eppure il risultato è sempre lo stesso: un report mensile che arriva in ritardo rispetto alle decisioni che avrebbe dovuto supportare.</a:t>
            </a:r>
          </a:p>
        </p:txBody>
      </p:sp>
      <p:sp>
        <p:nvSpPr>
          <p:cNvPr id="8" name="TextBox 7"/>
          <p:cNvSpPr txBox="1"/>
          <p:nvPr/>
        </p:nvSpPr>
        <p:spPr>
          <a:xfrm>
            <a:off x="822960" y="3291840"/>
            <a:ext cx="8229600" cy="320040"/>
          </a:xfrm>
          <a:prstGeom prst="rect">
            <a:avLst/>
          </a:prstGeom>
          <a:noFill/>
        </p:spPr>
        <p:txBody>
          <a:bodyPr wrap="square">
            <a:spAutoFit/>
          </a:bodyPr>
          <a:lstStyle/>
          <a:p>
            <a:pPr algn="l"/>
            <a:r>
              <a:rPr sz="1400" b="1" i="0">
                <a:solidFill>
                  <a:srgbClr val="0D0D0D"/>
                </a:solidFill>
                <a:latin typeface="Arial"/>
              </a:rPr>
              <a:t>Il problema non è lo strumento. È il posizionamento.</a:t>
            </a:r>
          </a:p>
        </p:txBody>
      </p:sp>
      <p:sp>
        <p:nvSpPr>
          <p:cNvPr id="9" name="Rectangle 8"/>
          <p:cNvSpPr/>
          <p:nvPr/>
        </p:nvSpPr>
        <p:spPr>
          <a:xfrm>
            <a:off x="822960" y="3749039"/>
            <a:ext cx="3566160" cy="2651760"/>
          </a:xfrm>
          <a:prstGeom prst="roundRect">
            <a:avLst>
              <a:gd name="adj" fmla="val 25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886200"/>
            <a:ext cx="1097280" cy="822960"/>
          </a:xfrm>
          <a:prstGeom prst="rect">
            <a:avLst/>
          </a:prstGeom>
          <a:noFill/>
        </p:spPr>
        <p:txBody>
          <a:bodyPr wrap="square">
            <a:spAutoFit/>
          </a:bodyPr>
          <a:lstStyle/>
          <a:p>
            <a:pPr algn="l"/>
            <a:r>
              <a:rPr sz="4200" b="1" i="0">
                <a:solidFill>
                  <a:srgbClr val="FFE600"/>
                </a:solidFill>
                <a:latin typeface="Arial Black"/>
              </a:rPr>
              <a:t>01</a:t>
            </a:r>
          </a:p>
        </p:txBody>
      </p:sp>
      <p:sp>
        <p:nvSpPr>
          <p:cNvPr id="11" name="TextBox 10"/>
          <p:cNvSpPr txBox="1"/>
          <p:nvPr/>
        </p:nvSpPr>
        <p:spPr>
          <a:xfrm>
            <a:off x="1097280" y="4663440"/>
            <a:ext cx="3017520" cy="320040"/>
          </a:xfrm>
          <a:prstGeom prst="rect">
            <a:avLst/>
          </a:prstGeom>
          <a:noFill/>
        </p:spPr>
        <p:txBody>
          <a:bodyPr wrap="square">
            <a:spAutoFit/>
          </a:bodyPr>
          <a:lstStyle/>
          <a:p>
            <a:pPr algn="l"/>
            <a:r>
              <a:rPr sz="1100" b="1" i="0">
                <a:solidFill>
                  <a:srgbClr val="0D0D0D"/>
                </a:solidFill>
                <a:latin typeface="Arial"/>
              </a:rPr>
              <a:t>TUTTI LO CHIEDONO</a:t>
            </a:r>
          </a:p>
        </p:txBody>
      </p:sp>
      <p:sp>
        <p:nvSpPr>
          <p:cNvPr id="12" name="TextBox 11"/>
          <p:cNvSpPr txBox="1"/>
          <p:nvPr/>
        </p:nvSpPr>
        <p:spPr>
          <a:xfrm>
            <a:off x="1097280" y="5029200"/>
            <a:ext cx="3017520" cy="457200"/>
          </a:xfrm>
          <a:prstGeom prst="rect">
            <a:avLst/>
          </a:prstGeom>
          <a:noFill/>
        </p:spPr>
        <p:txBody>
          <a:bodyPr wrap="square">
            <a:spAutoFit/>
          </a:bodyPr>
          <a:lstStyle/>
          <a:p>
            <a:pPr algn="l"/>
            <a:r>
              <a:rPr sz="1200" b="0" i="0">
                <a:solidFill>
                  <a:srgbClr val="6B6B6B"/>
                </a:solidFill>
                <a:latin typeface="Arial"/>
              </a:rPr>
              <a:t>Ogni brief, ogni RFP, ogni piano media</a:t>
            </a:r>
          </a:p>
        </p:txBody>
      </p:sp>
      <p:sp>
        <p:nvSpPr>
          <p:cNvPr id="13" name="Rectangle 12"/>
          <p:cNvSpPr/>
          <p:nvPr/>
        </p:nvSpPr>
        <p:spPr>
          <a:xfrm>
            <a:off x="4617720" y="3749039"/>
            <a:ext cx="3566160" cy="2651760"/>
          </a:xfrm>
          <a:prstGeom prst="roundRect">
            <a:avLst>
              <a:gd name="adj" fmla="val 25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92040" y="3886200"/>
            <a:ext cx="1097280" cy="822960"/>
          </a:xfrm>
          <a:prstGeom prst="rect">
            <a:avLst/>
          </a:prstGeom>
          <a:noFill/>
        </p:spPr>
        <p:txBody>
          <a:bodyPr wrap="square">
            <a:spAutoFit/>
          </a:bodyPr>
          <a:lstStyle/>
          <a:p>
            <a:pPr algn="l"/>
            <a:r>
              <a:rPr sz="4200" b="1" i="0">
                <a:solidFill>
                  <a:srgbClr val="6E5CF6"/>
                </a:solidFill>
                <a:latin typeface="Arial Black"/>
              </a:rPr>
              <a:t>02</a:t>
            </a:r>
          </a:p>
        </p:txBody>
      </p:sp>
      <p:sp>
        <p:nvSpPr>
          <p:cNvPr id="15" name="TextBox 14"/>
          <p:cNvSpPr txBox="1"/>
          <p:nvPr/>
        </p:nvSpPr>
        <p:spPr>
          <a:xfrm>
            <a:off x="4892040" y="4663440"/>
            <a:ext cx="3017520" cy="320040"/>
          </a:xfrm>
          <a:prstGeom prst="rect">
            <a:avLst/>
          </a:prstGeom>
          <a:noFill/>
        </p:spPr>
        <p:txBody>
          <a:bodyPr wrap="square">
            <a:spAutoFit/>
          </a:bodyPr>
          <a:lstStyle/>
          <a:p>
            <a:pPr algn="l"/>
            <a:r>
              <a:rPr sz="1100" b="1" i="0">
                <a:solidFill>
                  <a:srgbClr val="0D0D0D"/>
                </a:solidFill>
                <a:latin typeface="Arial"/>
              </a:rPr>
              <a:t>POCHI LO RICONOSCONO</a:t>
            </a:r>
          </a:p>
        </p:txBody>
      </p:sp>
      <p:sp>
        <p:nvSpPr>
          <p:cNvPr id="16" name="TextBox 15"/>
          <p:cNvSpPr txBox="1"/>
          <p:nvPr/>
        </p:nvSpPr>
        <p:spPr>
          <a:xfrm>
            <a:off x="4892040" y="5029200"/>
            <a:ext cx="3017520" cy="457200"/>
          </a:xfrm>
          <a:prstGeom prst="rect">
            <a:avLst/>
          </a:prstGeom>
          <a:noFill/>
        </p:spPr>
        <p:txBody>
          <a:bodyPr wrap="square">
            <a:spAutoFit/>
          </a:bodyPr>
          <a:lstStyle/>
          <a:p>
            <a:pPr algn="l"/>
            <a:r>
              <a:rPr sz="1200" b="0" i="0">
                <a:solidFill>
                  <a:srgbClr val="6B6B6B"/>
                </a:solidFill>
                <a:latin typeface="Arial"/>
              </a:rPr>
              <a:t>Validazione a posteriori, non orientamento</a:t>
            </a:r>
          </a:p>
        </p:txBody>
      </p:sp>
      <p:sp>
        <p:nvSpPr>
          <p:cNvPr id="17" name="Rectangle 16"/>
          <p:cNvSpPr/>
          <p:nvPr/>
        </p:nvSpPr>
        <p:spPr>
          <a:xfrm>
            <a:off x="8412480" y="3749039"/>
            <a:ext cx="3566160" cy="2651760"/>
          </a:xfrm>
          <a:prstGeom prst="roundRect">
            <a:avLst>
              <a:gd name="adj" fmla="val 25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0" y="3886200"/>
            <a:ext cx="1097280" cy="822960"/>
          </a:xfrm>
          <a:prstGeom prst="rect">
            <a:avLst/>
          </a:prstGeom>
          <a:noFill/>
        </p:spPr>
        <p:txBody>
          <a:bodyPr wrap="square">
            <a:spAutoFit/>
          </a:bodyPr>
          <a:lstStyle/>
          <a:p>
            <a:pPr algn="l"/>
            <a:r>
              <a:rPr sz="4200" b="1" i="0">
                <a:solidFill>
                  <a:srgbClr val="0D0D0D"/>
                </a:solidFill>
                <a:latin typeface="Arial Black"/>
              </a:rPr>
              <a:t>03</a:t>
            </a:r>
          </a:p>
        </p:txBody>
      </p:sp>
      <p:sp>
        <p:nvSpPr>
          <p:cNvPr id="19" name="TextBox 18"/>
          <p:cNvSpPr txBox="1"/>
          <p:nvPr/>
        </p:nvSpPr>
        <p:spPr>
          <a:xfrm>
            <a:off x="8686800" y="4663440"/>
            <a:ext cx="3017520" cy="320040"/>
          </a:xfrm>
          <a:prstGeom prst="rect">
            <a:avLst/>
          </a:prstGeom>
          <a:noFill/>
        </p:spPr>
        <p:txBody>
          <a:bodyPr wrap="square">
            <a:spAutoFit/>
          </a:bodyPr>
          <a:lstStyle/>
          <a:p>
            <a:pPr algn="l"/>
            <a:r>
              <a:rPr sz="1100" b="1" i="0">
                <a:solidFill>
                  <a:srgbClr val="0D0D0D"/>
                </a:solidFill>
                <a:latin typeface="Arial"/>
              </a:rPr>
              <a:t>RARO LO STRUTTURANO</a:t>
            </a:r>
          </a:p>
        </p:txBody>
      </p:sp>
      <p:sp>
        <p:nvSpPr>
          <p:cNvPr id="20" name="TextBox 19"/>
          <p:cNvSpPr txBox="1"/>
          <p:nvPr/>
        </p:nvSpPr>
        <p:spPr>
          <a:xfrm>
            <a:off x="8686800" y="5029200"/>
            <a:ext cx="3017520" cy="457200"/>
          </a:xfrm>
          <a:prstGeom prst="rect">
            <a:avLst/>
          </a:prstGeom>
          <a:noFill/>
        </p:spPr>
        <p:txBody>
          <a:bodyPr wrap="square">
            <a:spAutoFit/>
          </a:bodyPr>
          <a:lstStyle/>
          <a:p>
            <a:pPr algn="l"/>
            <a:r>
              <a:rPr sz="1200" b="0" i="0">
                <a:solidFill>
                  <a:srgbClr val="6B6B6B"/>
                </a:solidFill>
                <a:latin typeface="Arial"/>
              </a:rPr>
              <a:t>Senza metodo rimane monitoring, non intelligence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TextBox 3"/>
          <p:cNvSpPr txBox="1"/>
          <p:nvPr/>
        </p:nvSpPr>
        <p:spPr>
          <a:xfrm>
            <a:off x="822960" y="731520"/>
            <a:ext cx="1828800" cy="274320"/>
          </a:xfrm>
          <a:prstGeom prst="rect">
            <a:avLst/>
          </a:prstGeom>
          <a:noFill/>
        </p:spPr>
        <p:txBody>
          <a:bodyPr wrap="square">
            <a:spAutoFit/>
          </a:bodyPr>
          <a:lstStyle/>
          <a:p>
            <a:pPr algn="l"/>
            <a:r>
              <a:rPr sz="900" b="0" i="0">
                <a:solidFill>
                  <a:srgbClr val="AAAAAA"/>
                </a:solidFill>
                <a:latin typeface="Arial"/>
              </a:rPr>
              <a:t>CAP 2</a:t>
            </a:r>
          </a:p>
        </p:txBody>
      </p:sp>
      <p:sp>
        <p:nvSpPr>
          <p:cNvPr id="5" name="TextBox 4"/>
          <p:cNvSpPr txBox="1"/>
          <p:nvPr/>
        </p:nvSpPr>
        <p:spPr>
          <a:xfrm>
            <a:off x="822960" y="914400"/>
            <a:ext cx="8229600" cy="1097280"/>
          </a:xfrm>
          <a:prstGeom prst="rect">
            <a:avLst/>
          </a:prstGeom>
          <a:noFill/>
        </p:spPr>
        <p:txBody>
          <a:bodyPr wrap="square">
            <a:spAutoFit/>
          </a:bodyPr>
          <a:lstStyle/>
          <a:p>
            <a:pPr algn="l"/>
            <a:r>
              <a:rPr sz="5800" b="1" i="0">
                <a:solidFill>
                  <a:srgbClr val="FFFFFF"/>
                </a:solidFill>
                <a:latin typeface="Arial Black"/>
              </a:rPr>
              <a:t>IL PERIMETRO</a:t>
            </a:r>
          </a:p>
        </p:txBody>
      </p:sp>
      <p:sp>
        <p:nvSpPr>
          <p:cNvPr id="6" name="TextBox 5"/>
          <p:cNvSpPr txBox="1"/>
          <p:nvPr/>
        </p:nvSpPr>
        <p:spPr>
          <a:xfrm>
            <a:off x="822960" y="1920240"/>
            <a:ext cx="8229600" cy="640080"/>
          </a:xfrm>
          <a:prstGeom prst="rect">
            <a:avLst/>
          </a:prstGeom>
          <a:noFill/>
        </p:spPr>
        <p:txBody>
          <a:bodyPr wrap="square">
            <a:spAutoFit/>
          </a:bodyPr>
          <a:lstStyle/>
          <a:p>
            <a:pPr algn="l"/>
            <a:r>
              <a:rPr sz="1350" b="0" i="0">
                <a:solidFill>
                  <a:srgbClr val="AAAAAA"/>
                </a:solidFill>
                <a:latin typeface="Arial"/>
              </a:rPr>
              <a:t>Prima però, sgombriamo il terreno. Il social listening è uno di quei mestieri che quasi tutti
credono di capire — e quasi nessuno sa definire.</a:t>
            </a:r>
          </a:p>
        </p:txBody>
      </p:sp>
      <p:sp>
        <p:nvSpPr>
          <p:cNvPr id="7" name="Rectangle 6"/>
          <p:cNvSpPr/>
          <p:nvPr/>
        </p:nvSpPr>
        <p:spPr>
          <a:xfrm>
            <a:off x="822960" y="2651760"/>
            <a:ext cx="5394960" cy="2468880"/>
          </a:xfrm>
          <a:prstGeom prst="roundRect">
            <a:avLst>
              <a:gd name="adj" fmla="val 25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788920"/>
            <a:ext cx="1828800" cy="274320"/>
          </a:xfrm>
          <a:prstGeom prst="rect">
            <a:avLst/>
          </a:prstGeom>
          <a:noFill/>
        </p:spPr>
        <p:txBody>
          <a:bodyPr wrap="square">
            <a:spAutoFit/>
          </a:bodyPr>
          <a:lstStyle/>
          <a:p>
            <a:pPr algn="l"/>
            <a:r>
              <a:rPr sz="900" b="1" i="0">
                <a:solidFill>
                  <a:srgbClr val="AAAAAA"/>
                </a:solidFill>
                <a:latin typeface="Arial"/>
              </a:rPr>
              <a:t>NON È</a:t>
            </a:r>
          </a:p>
        </p:txBody>
      </p:sp>
      <p:sp>
        <p:nvSpPr>
          <p:cNvPr id="9" name="TextBox 8"/>
          <p:cNvSpPr txBox="1"/>
          <p:nvPr/>
        </p:nvSpPr>
        <p:spPr>
          <a:xfrm>
            <a:off x="1097280" y="3108960"/>
            <a:ext cx="320040" cy="365760"/>
          </a:xfrm>
          <a:prstGeom prst="rect">
            <a:avLst/>
          </a:prstGeom>
          <a:noFill/>
        </p:spPr>
        <p:txBody>
          <a:bodyPr wrap="square">
            <a:spAutoFit/>
          </a:bodyPr>
          <a:lstStyle/>
          <a:p>
            <a:pPr algn="l"/>
            <a:r>
              <a:rPr sz="1300" b="1" i="0">
                <a:solidFill>
                  <a:srgbClr val="FFE600"/>
                </a:solidFill>
                <a:latin typeface="Arial"/>
              </a:rPr>
              <a:t>✕</a:t>
            </a:r>
          </a:p>
        </p:txBody>
      </p:sp>
      <p:sp>
        <p:nvSpPr>
          <p:cNvPr id="10" name="TextBox 9"/>
          <p:cNvSpPr txBox="1"/>
          <p:nvPr/>
        </p:nvSpPr>
        <p:spPr>
          <a:xfrm>
            <a:off x="1463040" y="3108960"/>
            <a:ext cx="4480560" cy="411480"/>
          </a:xfrm>
          <a:prstGeom prst="rect">
            <a:avLst/>
          </a:prstGeom>
          <a:noFill/>
        </p:spPr>
        <p:txBody>
          <a:bodyPr wrap="square">
            <a:spAutoFit/>
          </a:bodyPr>
          <a:lstStyle/>
          <a:p>
            <a:pPr algn="l"/>
            <a:r>
              <a:rPr sz="1300" b="0" i="0">
                <a:solidFill>
                  <a:srgbClr val="FFFFFF"/>
                </a:solidFill>
                <a:latin typeface="Arial"/>
              </a:rPr>
              <a:t>Contare menzioni o sentiment automatico come verità</a:t>
            </a:r>
          </a:p>
        </p:txBody>
      </p:sp>
      <p:sp>
        <p:nvSpPr>
          <p:cNvPr id="11" name="TextBox 10"/>
          <p:cNvSpPr txBox="1"/>
          <p:nvPr/>
        </p:nvSpPr>
        <p:spPr>
          <a:xfrm>
            <a:off x="1097280" y="3584448"/>
            <a:ext cx="320040" cy="365760"/>
          </a:xfrm>
          <a:prstGeom prst="rect">
            <a:avLst/>
          </a:prstGeom>
          <a:noFill/>
        </p:spPr>
        <p:txBody>
          <a:bodyPr wrap="square">
            <a:spAutoFit/>
          </a:bodyPr>
          <a:lstStyle/>
          <a:p>
            <a:pPr algn="l"/>
            <a:r>
              <a:rPr sz="1300" b="1" i="0">
                <a:solidFill>
                  <a:srgbClr val="FFE600"/>
                </a:solidFill>
                <a:latin typeface="Arial"/>
              </a:rPr>
              <a:t>✕</a:t>
            </a:r>
          </a:p>
        </p:txBody>
      </p:sp>
      <p:sp>
        <p:nvSpPr>
          <p:cNvPr id="12" name="TextBox 11"/>
          <p:cNvSpPr txBox="1"/>
          <p:nvPr/>
        </p:nvSpPr>
        <p:spPr>
          <a:xfrm>
            <a:off x="1463040" y="3584448"/>
            <a:ext cx="4480560" cy="411480"/>
          </a:xfrm>
          <a:prstGeom prst="rect">
            <a:avLst/>
          </a:prstGeom>
          <a:noFill/>
        </p:spPr>
        <p:txBody>
          <a:bodyPr wrap="square">
            <a:spAutoFit/>
          </a:bodyPr>
          <a:lstStyle/>
          <a:p>
            <a:pPr algn="l"/>
            <a:r>
              <a:rPr sz="1300" b="0" i="0">
                <a:solidFill>
                  <a:srgbClr val="FFFFFF"/>
                </a:solidFill>
                <a:latin typeface="Arial"/>
              </a:rPr>
              <a:t>Share of voice come fine. Dashboard come deliverable.</a:t>
            </a:r>
          </a:p>
        </p:txBody>
      </p:sp>
      <p:sp>
        <p:nvSpPr>
          <p:cNvPr id="13" name="TextBox 12"/>
          <p:cNvSpPr txBox="1"/>
          <p:nvPr/>
        </p:nvSpPr>
        <p:spPr>
          <a:xfrm>
            <a:off x="1097280" y="4059936"/>
            <a:ext cx="320040" cy="365760"/>
          </a:xfrm>
          <a:prstGeom prst="rect">
            <a:avLst/>
          </a:prstGeom>
          <a:noFill/>
        </p:spPr>
        <p:txBody>
          <a:bodyPr wrap="square">
            <a:spAutoFit/>
          </a:bodyPr>
          <a:lstStyle/>
          <a:p>
            <a:pPr algn="l"/>
            <a:r>
              <a:rPr sz="1300" b="1" i="0">
                <a:solidFill>
                  <a:srgbClr val="FFE600"/>
                </a:solidFill>
                <a:latin typeface="Arial"/>
              </a:rPr>
              <a:t>✕</a:t>
            </a:r>
          </a:p>
        </p:txBody>
      </p:sp>
      <p:sp>
        <p:nvSpPr>
          <p:cNvPr id="14" name="TextBox 13"/>
          <p:cNvSpPr txBox="1"/>
          <p:nvPr/>
        </p:nvSpPr>
        <p:spPr>
          <a:xfrm>
            <a:off x="1463040" y="4059936"/>
            <a:ext cx="4480560" cy="411480"/>
          </a:xfrm>
          <a:prstGeom prst="rect">
            <a:avLst/>
          </a:prstGeom>
          <a:noFill/>
        </p:spPr>
        <p:txBody>
          <a:bodyPr wrap="square">
            <a:spAutoFit/>
          </a:bodyPr>
          <a:lstStyle/>
          <a:p>
            <a:pPr algn="l"/>
            <a:r>
              <a:rPr sz="1300" b="0" i="0">
                <a:solidFill>
                  <a:srgbClr val="FFFFFF"/>
                </a:solidFill>
                <a:latin typeface="Arial"/>
              </a:rPr>
              <a:t>IL TOOL — abilita l'ascolto, non produce comprensione.</a:t>
            </a:r>
          </a:p>
        </p:txBody>
      </p:sp>
      <p:sp>
        <p:nvSpPr>
          <p:cNvPr id="15" name="Rectangle 14"/>
          <p:cNvSpPr/>
          <p:nvPr/>
        </p:nvSpPr>
        <p:spPr>
          <a:xfrm>
            <a:off x="6446520" y="2651760"/>
            <a:ext cx="5394960" cy="2468880"/>
          </a:xfrm>
          <a:prstGeom prst="roundRect">
            <a:avLst>
              <a:gd name="adj" fmla="val 25000"/>
            </a:avLst>
          </a:prstGeom>
          <a:solidFill>
            <a:srgbClr val="5C4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2788920"/>
            <a:ext cx="1828800" cy="274320"/>
          </a:xfrm>
          <a:prstGeom prst="rect">
            <a:avLst/>
          </a:prstGeom>
          <a:noFill/>
        </p:spPr>
        <p:txBody>
          <a:bodyPr wrap="square">
            <a:spAutoFit/>
          </a:bodyPr>
          <a:lstStyle/>
          <a:p>
            <a:pPr algn="l"/>
            <a:r>
              <a:rPr sz="900" b="1" i="0">
                <a:solidFill>
                  <a:srgbClr val="C0B8FF"/>
                </a:solidFill>
                <a:latin typeface="Arial"/>
              </a:rPr>
              <a:t>È</a:t>
            </a:r>
          </a:p>
        </p:txBody>
      </p:sp>
      <p:sp>
        <p:nvSpPr>
          <p:cNvPr id="17" name="TextBox 16"/>
          <p:cNvSpPr txBox="1"/>
          <p:nvPr/>
        </p:nvSpPr>
        <p:spPr>
          <a:xfrm>
            <a:off x="6720840" y="3108960"/>
            <a:ext cx="320040" cy="365760"/>
          </a:xfrm>
          <a:prstGeom prst="rect">
            <a:avLst/>
          </a:prstGeom>
          <a:noFill/>
        </p:spPr>
        <p:txBody>
          <a:bodyPr wrap="square">
            <a:spAutoFit/>
          </a:bodyPr>
          <a:lstStyle/>
          <a:p>
            <a:pPr algn="l"/>
            <a:r>
              <a:rPr sz="1300" b="1" i="0">
                <a:solidFill>
                  <a:srgbClr val="FFFFFF"/>
                </a:solidFill>
                <a:latin typeface="Arial"/>
              </a:rPr>
              <a:t>＋</a:t>
            </a:r>
          </a:p>
        </p:txBody>
      </p:sp>
      <p:sp>
        <p:nvSpPr>
          <p:cNvPr id="18" name="TextBox 17"/>
          <p:cNvSpPr txBox="1"/>
          <p:nvPr/>
        </p:nvSpPr>
        <p:spPr>
          <a:xfrm>
            <a:off x="7086600" y="3108960"/>
            <a:ext cx="4480560" cy="411480"/>
          </a:xfrm>
          <a:prstGeom prst="rect">
            <a:avLst/>
          </a:prstGeom>
          <a:noFill/>
        </p:spPr>
        <p:txBody>
          <a:bodyPr wrap="square">
            <a:spAutoFit/>
          </a:bodyPr>
          <a:lstStyle/>
          <a:p>
            <a:pPr algn="l"/>
            <a:r>
              <a:rPr sz="1300" b="0" i="0">
                <a:solidFill>
                  <a:srgbClr val="FFFFFF"/>
                </a:solidFill>
                <a:latin typeface="Arial"/>
              </a:rPr>
              <a:t>Un sistema di intelligence strategica.</a:t>
            </a:r>
          </a:p>
        </p:txBody>
      </p:sp>
      <p:sp>
        <p:nvSpPr>
          <p:cNvPr id="19" name="TextBox 18"/>
          <p:cNvSpPr txBox="1"/>
          <p:nvPr/>
        </p:nvSpPr>
        <p:spPr>
          <a:xfrm>
            <a:off x="6720840" y="3584448"/>
            <a:ext cx="320040" cy="365760"/>
          </a:xfrm>
          <a:prstGeom prst="rect">
            <a:avLst/>
          </a:prstGeom>
          <a:noFill/>
        </p:spPr>
        <p:txBody>
          <a:bodyPr wrap="square">
            <a:spAutoFit/>
          </a:bodyPr>
          <a:lstStyle/>
          <a:p>
            <a:pPr algn="l"/>
            <a:r>
              <a:rPr sz="1300" b="1" i="0">
                <a:solidFill>
                  <a:srgbClr val="FFFFFF"/>
                </a:solidFill>
                <a:latin typeface="Arial"/>
              </a:rPr>
              <a:t>＋</a:t>
            </a:r>
          </a:p>
        </p:txBody>
      </p:sp>
      <p:sp>
        <p:nvSpPr>
          <p:cNvPr id="20" name="TextBox 19"/>
          <p:cNvSpPr txBox="1"/>
          <p:nvPr/>
        </p:nvSpPr>
        <p:spPr>
          <a:xfrm>
            <a:off x="7086600" y="3584448"/>
            <a:ext cx="4480560" cy="411480"/>
          </a:xfrm>
          <a:prstGeom prst="rect">
            <a:avLst/>
          </a:prstGeom>
          <a:noFill/>
        </p:spPr>
        <p:txBody>
          <a:bodyPr wrap="square">
            <a:spAutoFit/>
          </a:bodyPr>
          <a:lstStyle/>
          <a:p>
            <a:pPr algn="l"/>
            <a:r>
              <a:rPr sz="1300" b="0" i="0">
                <a:solidFill>
                  <a:srgbClr val="FFFFFF"/>
                </a:solidFill>
                <a:latin typeface="Arial"/>
              </a:rPr>
              <a:t>La voce spontanea del mercato — bisogni latenti, segnali.</a:t>
            </a:r>
          </a:p>
        </p:txBody>
      </p:sp>
      <p:sp>
        <p:nvSpPr>
          <p:cNvPr id="21" name="TextBox 20"/>
          <p:cNvSpPr txBox="1"/>
          <p:nvPr/>
        </p:nvSpPr>
        <p:spPr>
          <a:xfrm>
            <a:off x="6720840" y="4059936"/>
            <a:ext cx="320040" cy="365760"/>
          </a:xfrm>
          <a:prstGeom prst="rect">
            <a:avLst/>
          </a:prstGeom>
          <a:noFill/>
        </p:spPr>
        <p:txBody>
          <a:bodyPr wrap="square">
            <a:spAutoFit/>
          </a:bodyPr>
          <a:lstStyle/>
          <a:p>
            <a:pPr algn="l"/>
            <a:r>
              <a:rPr sz="1300" b="1" i="0">
                <a:solidFill>
                  <a:srgbClr val="FFFFFF"/>
                </a:solidFill>
                <a:latin typeface="Arial"/>
              </a:rPr>
              <a:t>＋</a:t>
            </a:r>
          </a:p>
        </p:txBody>
      </p:sp>
      <p:sp>
        <p:nvSpPr>
          <p:cNvPr id="22" name="TextBox 21"/>
          <p:cNvSpPr txBox="1"/>
          <p:nvPr/>
        </p:nvSpPr>
        <p:spPr>
          <a:xfrm>
            <a:off x="7086600" y="4059936"/>
            <a:ext cx="4480560" cy="411480"/>
          </a:xfrm>
          <a:prstGeom prst="rect">
            <a:avLst/>
          </a:prstGeom>
          <a:noFill/>
        </p:spPr>
        <p:txBody>
          <a:bodyPr wrap="square">
            <a:spAutoFit/>
          </a:bodyPr>
          <a:lstStyle/>
          <a:p>
            <a:pPr algn="l"/>
            <a:r>
              <a:rPr sz="1300" b="0" i="0">
                <a:solidFill>
                  <a:srgbClr val="FFFFFF"/>
                </a:solidFill>
                <a:latin typeface="Arial"/>
              </a:rPr>
              <a:t>IL METODO che precede il tool e ne determina il valore.</a:t>
            </a:r>
          </a:p>
        </p:txBody>
      </p:sp>
      <p:sp>
        <p:nvSpPr>
          <p:cNvPr id="23" name="TextBox 22"/>
          <p:cNvSpPr txBox="1"/>
          <p:nvPr/>
        </p:nvSpPr>
        <p:spPr>
          <a:xfrm>
            <a:off x="822960" y="5257800"/>
            <a:ext cx="4572000" cy="256032"/>
          </a:xfrm>
          <a:prstGeom prst="rect">
            <a:avLst/>
          </a:prstGeom>
          <a:noFill/>
        </p:spPr>
        <p:txBody>
          <a:bodyPr wrap="square">
            <a:spAutoFit/>
          </a:bodyPr>
          <a:lstStyle/>
          <a:p>
            <a:pPr algn="l"/>
            <a:r>
              <a:rPr sz="850" b="0" i="0">
                <a:solidFill>
                  <a:srgbClr val="6B6B6B"/>
                </a:solidFill>
                <a:latin typeface="Arial"/>
              </a:rPr>
              <a:t>LE TRE CONFUSIONI PIÙ COMUNI:</a:t>
            </a:r>
          </a:p>
        </p:txBody>
      </p:sp>
      <p:sp>
        <p:nvSpPr>
          <p:cNvPr id="24" name="TextBox 23"/>
          <p:cNvSpPr txBox="1"/>
          <p:nvPr/>
        </p:nvSpPr>
        <p:spPr>
          <a:xfrm>
            <a:off x="822960" y="5577840"/>
            <a:ext cx="3657600" cy="1005840"/>
          </a:xfrm>
          <a:prstGeom prst="rect">
            <a:avLst/>
          </a:prstGeom>
          <a:noFill/>
        </p:spPr>
        <p:txBody>
          <a:bodyPr wrap="square">
            <a:spAutoFit/>
          </a:bodyPr>
          <a:lstStyle/>
          <a:p>
            <a:pPr algn="l">
              <a:spcBef>
                <a:spcPts val="200"/>
              </a:spcBef>
            </a:pPr>
            <a:r>
              <a:rPr sz="1150" b="1">
                <a:solidFill>
                  <a:srgbClr val="FFFFFF"/>
                </a:solidFill>
                <a:latin typeface="Arial"/>
              </a:rPr>
              <a:t>Social Listening ≠ Community Mgmt</a:t>
            </a:r>
          </a:p>
          <a:p>
            <a:pPr algn="l">
              <a:spcBef>
                <a:spcPts val="200"/>
              </a:spcBef>
            </a:pPr>
            <a:r>
              <a:rPr sz="1100" b="0">
                <a:solidFill>
                  <a:srgbClr val="AAAAAA"/>
                </a:solidFill>
                <a:latin typeface="Arial"/>
              </a:rPr>
              <a:t>— 'cosa rispondiamo?' vs 'cosa sta succedendo nel mercato?'</a:t>
            </a:r>
          </a:p>
        </p:txBody>
      </p:sp>
      <p:sp>
        <p:nvSpPr>
          <p:cNvPr id="25" name="TextBox 24"/>
          <p:cNvSpPr txBox="1"/>
          <p:nvPr/>
        </p:nvSpPr>
        <p:spPr>
          <a:xfrm>
            <a:off x="4617720" y="5577840"/>
            <a:ext cx="3657600" cy="1005840"/>
          </a:xfrm>
          <a:prstGeom prst="rect">
            <a:avLst/>
          </a:prstGeom>
          <a:noFill/>
        </p:spPr>
        <p:txBody>
          <a:bodyPr wrap="square">
            <a:spAutoFit/>
          </a:bodyPr>
          <a:lstStyle/>
          <a:p>
            <a:pPr algn="l">
              <a:spcBef>
                <a:spcPts val="200"/>
              </a:spcBef>
            </a:pPr>
            <a:r>
              <a:rPr sz="1150" b="1">
                <a:solidFill>
                  <a:srgbClr val="FFFFFF"/>
                </a:solidFill>
                <a:latin typeface="Arial"/>
              </a:rPr>
              <a:t>Social Listening ≠ Social Media Mgmt</a:t>
            </a:r>
          </a:p>
          <a:p>
            <a:pPr algn="l">
              <a:spcBef>
                <a:spcPts val="200"/>
              </a:spcBef>
            </a:pPr>
            <a:r>
              <a:rPr sz="1100" b="0">
                <a:solidFill>
                  <a:srgbClr val="AAAAAA"/>
                </a:solidFill>
                <a:latin typeface="Arial"/>
              </a:rPr>
              <a:t>— Performance dei contenuti vs segnale del mercato. Paralleli, non sovrapponibili.</a:t>
            </a:r>
          </a:p>
        </p:txBody>
      </p:sp>
      <p:sp>
        <p:nvSpPr>
          <p:cNvPr id="26" name="TextBox 25"/>
          <p:cNvSpPr txBox="1"/>
          <p:nvPr/>
        </p:nvSpPr>
        <p:spPr>
          <a:xfrm>
            <a:off x="8412480" y="5577840"/>
            <a:ext cx="3657600" cy="1005840"/>
          </a:xfrm>
          <a:prstGeom prst="rect">
            <a:avLst/>
          </a:prstGeom>
          <a:noFill/>
        </p:spPr>
        <p:txBody>
          <a:bodyPr wrap="square">
            <a:spAutoFit/>
          </a:bodyPr>
          <a:lstStyle/>
          <a:p>
            <a:pPr algn="l">
              <a:spcBef>
                <a:spcPts val="200"/>
              </a:spcBef>
            </a:pPr>
            <a:r>
              <a:rPr sz="1150" b="1">
                <a:solidFill>
                  <a:srgbClr val="FFFFFF"/>
                </a:solidFill>
                <a:latin typeface="Arial"/>
              </a:rPr>
              <a:t>Social Listening ≠ Tool Operator</a:t>
            </a:r>
          </a:p>
          <a:p>
            <a:pPr algn="l">
              <a:spcBef>
                <a:spcPts val="200"/>
              </a:spcBef>
            </a:pPr>
            <a:r>
              <a:rPr sz="1100" b="0">
                <a:solidFill>
                  <a:srgbClr val="AAAAAA"/>
                </a:solidFill>
                <a:latin typeface="Arial"/>
              </a:rPr>
              <a:t>— Acquistare una licenza non è acquistare competenza. La competenza è nel framework.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TextBox 3"/>
          <p:cNvSpPr txBox="1"/>
          <p:nvPr/>
        </p:nvSpPr>
        <p:spPr>
          <a:xfrm>
            <a:off x="822960" y="731520"/>
            <a:ext cx="1828800" cy="274320"/>
          </a:xfrm>
          <a:prstGeom prst="rect">
            <a:avLst/>
          </a:prstGeom>
          <a:noFill/>
        </p:spPr>
        <p:txBody>
          <a:bodyPr wrap="square">
            <a:spAutoFit/>
          </a:bodyPr>
          <a:lstStyle/>
          <a:p>
            <a:pPr algn="l"/>
            <a:r>
              <a:rPr sz="900" b="0" i="0">
                <a:solidFill>
                  <a:srgbClr val="6B6B6B"/>
                </a:solidFill>
                <a:latin typeface="Arial"/>
              </a:rPr>
              <a:t>CAP 3</a:t>
            </a:r>
          </a:p>
        </p:txBody>
      </p:sp>
      <p:sp>
        <p:nvSpPr>
          <p:cNvPr id="5" name="TextBox 4"/>
          <p:cNvSpPr txBox="1"/>
          <p:nvPr/>
        </p:nvSpPr>
        <p:spPr>
          <a:xfrm>
            <a:off x="822960" y="822960"/>
            <a:ext cx="8229600" cy="1097280"/>
          </a:xfrm>
          <a:prstGeom prst="rect">
            <a:avLst/>
          </a:prstGeom>
          <a:noFill/>
        </p:spPr>
        <p:txBody>
          <a:bodyPr wrap="square">
            <a:spAutoFit/>
          </a:bodyPr>
          <a:lstStyle/>
          <a:p>
            <a:pPr algn="l"/>
            <a:r>
              <a:rPr sz="5800" b="1" i="0">
                <a:solidFill>
                  <a:srgbClr val="0D0D0D"/>
                </a:solidFill>
                <a:latin typeface="Arial Black"/>
              </a:rPr>
              <a:t>IDENTITÀ</a:t>
            </a:r>
          </a:p>
        </p:txBody>
      </p:sp>
      <p:sp>
        <p:nvSpPr>
          <p:cNvPr id="6" name="TextBox 5"/>
          <p:cNvSpPr txBox="1"/>
          <p:nvPr/>
        </p:nvSpPr>
        <p:spPr>
          <a:xfrm>
            <a:off x="822960" y="1874519"/>
            <a:ext cx="8686800" cy="640080"/>
          </a:xfrm>
          <a:prstGeom prst="rect">
            <a:avLst/>
          </a:prstGeom>
          <a:noFill/>
        </p:spPr>
        <p:txBody>
          <a:bodyPr wrap="square">
            <a:spAutoFit/>
          </a:bodyPr>
          <a:lstStyle/>
          <a:p>
            <a:pPr algn="l"/>
            <a:r>
              <a:rPr sz="1350" b="0" i="0">
                <a:solidFill>
                  <a:srgbClr val="0D0D0D"/>
                </a:solidFill>
                <a:latin typeface="Arial"/>
              </a:rPr>
              <a:t>Non è un tuo fallimento. È un fallimento della disciplina. La stessa competenza si chiama
in undici modi diversi. Senza un nome chiaro, mancano seniority, budget, carriera.</a:t>
            </a:r>
          </a:p>
        </p:txBody>
      </p:sp>
      <p:sp>
        <p:nvSpPr>
          <p:cNvPr id="7" name="TextBox 6"/>
          <p:cNvSpPr txBox="1"/>
          <p:nvPr/>
        </p:nvSpPr>
        <p:spPr>
          <a:xfrm>
            <a:off x="822960" y="2542032"/>
            <a:ext cx="2743200" cy="256032"/>
          </a:xfrm>
          <a:prstGeom prst="rect">
            <a:avLst/>
          </a:prstGeom>
          <a:noFill/>
        </p:spPr>
        <p:txBody>
          <a:bodyPr wrap="square">
            <a:spAutoFit/>
          </a:bodyPr>
          <a:lstStyle/>
          <a:p>
            <a:pPr algn="l"/>
            <a:r>
              <a:rPr sz="850" b="0" i="0">
                <a:solidFill>
                  <a:srgbClr val="6B6B6B"/>
                </a:solidFill>
                <a:latin typeface="Arial"/>
              </a:rPr>
              <a:t>I TRE NODI STRUTTURALI</a:t>
            </a:r>
          </a:p>
        </p:txBody>
      </p:sp>
      <p:sp>
        <p:nvSpPr>
          <p:cNvPr id="8" name="Rectangle 7"/>
          <p:cNvSpPr/>
          <p:nvPr/>
        </p:nvSpPr>
        <p:spPr>
          <a:xfrm>
            <a:off x="822960" y="2834640"/>
            <a:ext cx="3566160" cy="2834640"/>
          </a:xfrm>
          <a:prstGeom prst="roundRect">
            <a:avLst>
              <a:gd name="adj" fmla="val 25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71800"/>
            <a:ext cx="1371600" cy="731520"/>
          </a:xfrm>
          <a:prstGeom prst="rect">
            <a:avLst/>
          </a:prstGeom>
          <a:noFill/>
        </p:spPr>
        <p:txBody>
          <a:bodyPr wrap="square">
            <a:spAutoFit/>
          </a:bodyPr>
          <a:lstStyle/>
          <a:p>
            <a:pPr algn="l"/>
            <a:r>
              <a:rPr sz="4200" b="1" i="0">
                <a:solidFill>
                  <a:srgbClr val="AAAAAA"/>
                </a:solidFill>
                <a:latin typeface="Arial Black"/>
              </a:rPr>
              <a:t>01</a:t>
            </a:r>
          </a:p>
        </p:txBody>
      </p:sp>
      <p:sp>
        <p:nvSpPr>
          <p:cNvPr id="10" name="TextBox 9"/>
          <p:cNvSpPr txBox="1"/>
          <p:nvPr/>
        </p:nvSpPr>
        <p:spPr>
          <a:xfrm>
            <a:off x="1097280" y="3657600"/>
            <a:ext cx="3017520" cy="320040"/>
          </a:xfrm>
          <a:prstGeom prst="rect">
            <a:avLst/>
          </a:prstGeom>
          <a:noFill/>
        </p:spPr>
        <p:txBody>
          <a:bodyPr wrap="square">
            <a:spAutoFit/>
          </a:bodyPr>
          <a:lstStyle/>
          <a:p>
            <a:pPr algn="l"/>
            <a:r>
              <a:rPr sz="1100" b="1" i="0">
                <a:solidFill>
                  <a:srgbClr val="0D0D0D"/>
                </a:solidFill>
                <a:latin typeface="Arial"/>
              </a:rPr>
              <a:t>ISOLAMENTO</a:t>
            </a:r>
          </a:p>
        </p:txBody>
      </p:sp>
      <p:sp>
        <p:nvSpPr>
          <p:cNvPr id="11" name="TextBox 10"/>
          <p:cNvSpPr txBox="1"/>
          <p:nvPr/>
        </p:nvSpPr>
        <p:spPr>
          <a:xfrm>
            <a:off x="1097280" y="4023360"/>
            <a:ext cx="3017520" cy="1463040"/>
          </a:xfrm>
          <a:prstGeom prst="rect">
            <a:avLst/>
          </a:prstGeom>
          <a:noFill/>
        </p:spPr>
        <p:txBody>
          <a:bodyPr wrap="square">
            <a:spAutoFit/>
          </a:bodyPr>
          <a:lstStyle/>
          <a:p>
            <a:pPr algn="l"/>
            <a:r>
              <a:rPr sz="1200" b="0" i="0">
                <a:solidFill>
                  <a:srgbClr val="6B6B6B"/>
                </a:solidFill>
                <a:latin typeface="Arial"/>
              </a:rPr>
              <a:t>Lo spiega da capo in ogni stanza nuova. Quello che ha costruito — metodologia, punto di vista — esiste dentro quella struttura. Se cambia contesto, ricomincia da zero.</a:t>
            </a:r>
          </a:p>
        </p:txBody>
      </p:sp>
      <p:sp>
        <p:nvSpPr>
          <p:cNvPr id="12" name="Rectangle 11"/>
          <p:cNvSpPr/>
          <p:nvPr/>
        </p:nvSpPr>
        <p:spPr>
          <a:xfrm>
            <a:off x="4617720" y="2834640"/>
            <a:ext cx="3566160" cy="2834640"/>
          </a:xfrm>
          <a:prstGeom prst="roundRect">
            <a:avLst>
              <a:gd name="adj" fmla="val 25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92040" y="2971800"/>
            <a:ext cx="1371600" cy="731520"/>
          </a:xfrm>
          <a:prstGeom prst="rect">
            <a:avLst/>
          </a:prstGeom>
          <a:noFill/>
        </p:spPr>
        <p:txBody>
          <a:bodyPr wrap="square">
            <a:spAutoFit/>
          </a:bodyPr>
          <a:lstStyle/>
          <a:p>
            <a:pPr algn="l"/>
            <a:r>
              <a:rPr sz="4200" b="1" i="0">
                <a:solidFill>
                  <a:srgbClr val="AAAAAA"/>
                </a:solidFill>
                <a:latin typeface="Arial Black"/>
              </a:rPr>
              <a:t>02</a:t>
            </a:r>
          </a:p>
        </p:txBody>
      </p:sp>
      <p:sp>
        <p:nvSpPr>
          <p:cNvPr id="14" name="TextBox 13"/>
          <p:cNvSpPr txBox="1"/>
          <p:nvPr/>
        </p:nvSpPr>
        <p:spPr>
          <a:xfrm>
            <a:off x="4892040" y="3657600"/>
            <a:ext cx="3017520" cy="320040"/>
          </a:xfrm>
          <a:prstGeom prst="rect">
            <a:avLst/>
          </a:prstGeom>
          <a:noFill/>
        </p:spPr>
        <p:txBody>
          <a:bodyPr wrap="square">
            <a:spAutoFit/>
          </a:bodyPr>
          <a:lstStyle/>
          <a:p>
            <a:pPr algn="l"/>
            <a:r>
              <a:rPr sz="1100" b="1" i="0">
                <a:solidFill>
                  <a:srgbClr val="0D0D0D"/>
                </a:solidFill>
                <a:latin typeface="Arial"/>
              </a:rPr>
              <a:t>NESSUNO STANDARD</a:t>
            </a:r>
          </a:p>
        </p:txBody>
      </p:sp>
      <p:sp>
        <p:nvSpPr>
          <p:cNvPr id="15" name="TextBox 14"/>
          <p:cNvSpPr txBox="1"/>
          <p:nvPr/>
        </p:nvSpPr>
        <p:spPr>
          <a:xfrm>
            <a:off x="4892040" y="4023360"/>
            <a:ext cx="3017520" cy="1463040"/>
          </a:xfrm>
          <a:prstGeom prst="rect">
            <a:avLst/>
          </a:prstGeom>
          <a:noFill/>
        </p:spPr>
        <p:txBody>
          <a:bodyPr wrap="square">
            <a:spAutoFit/>
          </a:bodyPr>
          <a:lstStyle/>
          <a:p>
            <a:pPr algn="l"/>
            <a:r>
              <a:rPr sz="1200" b="0" i="0">
                <a:solidFill>
                  <a:srgbClr val="6B6B6B"/>
                </a:solidFill>
                <a:latin typeface="Arial"/>
              </a:rPr>
              <a:t>Nessuna definizione di cosa significa 'fare bene' questo lavoro. Ogni team reinventa il metodo. Il cliente non può valutare la qualità.</a:t>
            </a:r>
          </a:p>
        </p:txBody>
      </p:sp>
      <p:sp>
        <p:nvSpPr>
          <p:cNvPr id="16" name="Rectangle 15"/>
          <p:cNvSpPr/>
          <p:nvPr/>
        </p:nvSpPr>
        <p:spPr>
          <a:xfrm>
            <a:off x="8412480" y="2834640"/>
            <a:ext cx="3566160" cy="2834640"/>
          </a:xfrm>
          <a:prstGeom prst="roundRect">
            <a:avLst>
              <a:gd name="adj" fmla="val 25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0" y="2971800"/>
            <a:ext cx="1371600" cy="731520"/>
          </a:xfrm>
          <a:prstGeom prst="rect">
            <a:avLst/>
          </a:prstGeom>
          <a:noFill/>
        </p:spPr>
        <p:txBody>
          <a:bodyPr wrap="square">
            <a:spAutoFit/>
          </a:bodyPr>
          <a:lstStyle/>
          <a:p>
            <a:pPr algn="l"/>
            <a:r>
              <a:rPr sz="4200" b="1" i="0">
                <a:solidFill>
                  <a:srgbClr val="AAAAAA"/>
                </a:solidFill>
                <a:latin typeface="Arial Black"/>
              </a:rPr>
              <a:t>03</a:t>
            </a:r>
          </a:p>
        </p:txBody>
      </p:sp>
      <p:sp>
        <p:nvSpPr>
          <p:cNvPr id="18" name="TextBox 17"/>
          <p:cNvSpPr txBox="1"/>
          <p:nvPr/>
        </p:nvSpPr>
        <p:spPr>
          <a:xfrm>
            <a:off x="8686800" y="3657600"/>
            <a:ext cx="3017520" cy="320040"/>
          </a:xfrm>
          <a:prstGeom prst="rect">
            <a:avLst/>
          </a:prstGeom>
          <a:noFill/>
        </p:spPr>
        <p:txBody>
          <a:bodyPr wrap="square">
            <a:spAutoFit/>
          </a:bodyPr>
          <a:lstStyle/>
          <a:p>
            <a:pPr algn="l"/>
            <a:r>
              <a:rPr sz="1100" b="1" i="0">
                <a:solidFill>
                  <a:srgbClr val="0D0D0D"/>
                </a:solidFill>
                <a:latin typeface="Arial"/>
              </a:rPr>
              <a:t>EXPERTISE INVISIBILE</a:t>
            </a:r>
          </a:p>
        </p:txBody>
      </p:sp>
      <p:sp>
        <p:nvSpPr>
          <p:cNvPr id="19" name="TextBox 18"/>
          <p:cNvSpPr txBox="1"/>
          <p:nvPr/>
        </p:nvSpPr>
        <p:spPr>
          <a:xfrm>
            <a:off x="8686800" y="4023360"/>
            <a:ext cx="3017520" cy="1463040"/>
          </a:xfrm>
          <a:prstGeom prst="rect">
            <a:avLst/>
          </a:prstGeom>
          <a:noFill/>
        </p:spPr>
        <p:txBody>
          <a:bodyPr wrap="square">
            <a:spAutoFit/>
          </a:bodyPr>
          <a:lstStyle/>
          <a:p>
            <a:pPr algn="l"/>
            <a:r>
              <a:rPr sz="1200" b="0" i="0">
                <a:solidFill>
                  <a:srgbClr val="6B6B6B"/>
                </a:solidFill>
                <a:latin typeface="Arial"/>
              </a:rPr>
              <a:t>Il manager capisce il lavoro ma non abbastanza da difenderlo in un board. Nessuna credenziale che viaggi fuori dall'azienda.</a:t>
            </a:r>
          </a:p>
        </p:txBody>
      </p:sp>
      <p:sp>
        <p:nvSpPr>
          <p:cNvPr id="20" name="Rectangle 19"/>
          <p:cNvSpPr/>
          <p:nvPr/>
        </p:nvSpPr>
        <p:spPr>
          <a:xfrm>
            <a:off x="822960" y="5806440"/>
            <a:ext cx="6858000" cy="640080"/>
          </a:xfrm>
          <a:prstGeom prst="roundRect">
            <a:avLst>
              <a:gd name="adj" fmla="val 12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870448"/>
            <a:ext cx="6583680" cy="502920"/>
          </a:xfrm>
          <a:prstGeom prst="rect">
            <a:avLst/>
          </a:prstGeom>
          <a:noFill/>
        </p:spPr>
        <p:txBody>
          <a:bodyPr wrap="square">
            <a:spAutoFit/>
          </a:bodyPr>
          <a:lstStyle/>
          <a:p>
            <a:pPr algn="l"/>
            <a:r>
              <a:rPr sz="1300" b="0" i="0">
                <a:solidFill>
                  <a:srgbClr val="0D0D0D"/>
                </a:solidFill>
                <a:latin typeface="Arial"/>
              </a:rPr>
              <a:t>"Questo non è un vostro fallimento. È un fallimento strutturale della disciplina."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7F7"/>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TextBox 3"/>
          <p:cNvSpPr txBox="1"/>
          <p:nvPr/>
        </p:nvSpPr>
        <p:spPr>
          <a:xfrm>
            <a:off x="822960" y="731520"/>
            <a:ext cx="1828800" cy="274320"/>
          </a:xfrm>
          <a:prstGeom prst="rect">
            <a:avLst/>
          </a:prstGeom>
          <a:noFill/>
        </p:spPr>
        <p:txBody>
          <a:bodyPr wrap="square">
            <a:spAutoFit/>
          </a:bodyPr>
          <a:lstStyle/>
          <a:p>
            <a:pPr algn="l"/>
            <a:r>
              <a:rPr sz="900" b="0" i="0">
                <a:solidFill>
                  <a:srgbClr val="6B6B6B"/>
                </a:solidFill>
                <a:latin typeface="Arial"/>
              </a:rPr>
              <a:t>CAP 4</a:t>
            </a:r>
          </a:p>
        </p:txBody>
      </p:sp>
      <p:sp>
        <p:nvSpPr>
          <p:cNvPr id="5" name="TextBox 4"/>
          <p:cNvSpPr txBox="1"/>
          <p:nvPr/>
        </p:nvSpPr>
        <p:spPr>
          <a:xfrm>
            <a:off x="822960" y="822960"/>
            <a:ext cx="8229600" cy="1097280"/>
          </a:xfrm>
          <a:prstGeom prst="rect">
            <a:avLst/>
          </a:prstGeom>
          <a:noFill/>
        </p:spPr>
        <p:txBody>
          <a:bodyPr wrap="square">
            <a:spAutoFit/>
          </a:bodyPr>
          <a:lstStyle/>
          <a:p>
            <a:pPr algn="l"/>
            <a:r>
              <a:rPr sz="5800" b="1" i="0">
                <a:solidFill>
                  <a:srgbClr val="0D0D0D"/>
                </a:solidFill>
                <a:latin typeface="Arial Black"/>
              </a:rPr>
              <a:t>IL MERCATO</a:t>
            </a:r>
          </a:p>
        </p:txBody>
      </p:sp>
      <p:sp>
        <p:nvSpPr>
          <p:cNvPr id="6" name="TextBox 5"/>
          <p:cNvSpPr txBox="1"/>
          <p:nvPr/>
        </p:nvSpPr>
        <p:spPr>
          <a:xfrm>
            <a:off x="822960" y="1874519"/>
            <a:ext cx="8229600" cy="594360"/>
          </a:xfrm>
          <a:prstGeom prst="rect">
            <a:avLst/>
          </a:prstGeom>
          <a:noFill/>
        </p:spPr>
        <p:txBody>
          <a:bodyPr wrap="square">
            <a:spAutoFit/>
          </a:bodyPr>
          <a:lstStyle/>
          <a:p>
            <a:pPr algn="l"/>
            <a:r>
              <a:rPr sz="1350" b="0" i="0">
                <a:solidFill>
                  <a:srgbClr val="0D0D0D"/>
                </a:solidFill>
                <a:latin typeface="Arial"/>
              </a:rPr>
              <a:t>In Italia il problema è più profondo. Non è tecnologico. Gli strumenti ci sono. Quello che
manca è il posizionamento strategico del ruolo.</a:t>
            </a:r>
          </a:p>
        </p:txBody>
      </p:sp>
      <p:sp>
        <p:nvSpPr>
          <p:cNvPr id="7" name="Rectangle 6"/>
          <p:cNvSpPr/>
          <p:nvPr/>
        </p:nvSpPr>
        <p:spPr>
          <a:xfrm>
            <a:off x="822960" y="2606040"/>
            <a:ext cx="5394960" cy="3291840"/>
          </a:xfrm>
          <a:prstGeom prst="roundRect">
            <a:avLst>
              <a:gd name="adj" fmla="val 20000"/>
            </a:avLst>
          </a:prstGeom>
          <a:solidFill>
            <a:srgbClr val="FFFFFF"/>
          </a:solidFill>
          <a:ln w="1270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788920"/>
            <a:ext cx="4846320" cy="320040"/>
          </a:xfrm>
          <a:prstGeom prst="rect">
            <a:avLst/>
          </a:prstGeom>
          <a:noFill/>
        </p:spPr>
        <p:txBody>
          <a:bodyPr wrap="square">
            <a:spAutoFit/>
          </a:bodyPr>
          <a:lstStyle/>
          <a:p>
            <a:pPr algn="l"/>
            <a:r>
              <a:rPr sz="1200" b="1" i="0">
                <a:solidFill>
                  <a:srgbClr val="0D0D0D"/>
                </a:solidFill>
                <a:latin typeface="Arial"/>
              </a:rPr>
              <a:t>ITALIA — PRATICA IMPLICITA</a:t>
            </a:r>
          </a:p>
        </p:txBody>
      </p:sp>
      <p:sp>
        <p:nvSpPr>
          <p:cNvPr id="9" name="TextBox 8"/>
          <p:cNvSpPr txBox="1"/>
          <p:nvPr/>
        </p:nvSpPr>
        <p:spPr>
          <a:xfrm>
            <a:off x="1097280" y="3246120"/>
            <a:ext cx="228600" cy="292608"/>
          </a:xfrm>
          <a:prstGeom prst="rect">
            <a:avLst/>
          </a:prstGeom>
          <a:noFill/>
        </p:spPr>
        <p:txBody>
          <a:bodyPr wrap="square">
            <a:spAutoFit/>
          </a:bodyPr>
          <a:lstStyle/>
          <a:p>
            <a:pPr algn="l"/>
            <a:r>
              <a:rPr sz="1300" b="0" i="0">
                <a:solidFill>
                  <a:srgbClr val="6B6B6B"/>
                </a:solidFill>
                <a:latin typeface="Arial"/>
              </a:rPr>
              <a:t>~</a:t>
            </a:r>
          </a:p>
        </p:txBody>
      </p:sp>
      <p:sp>
        <p:nvSpPr>
          <p:cNvPr id="10" name="TextBox 9"/>
          <p:cNvSpPr txBox="1"/>
          <p:nvPr/>
        </p:nvSpPr>
        <p:spPr>
          <a:xfrm>
            <a:off x="1371600" y="3246120"/>
            <a:ext cx="4572000" cy="292608"/>
          </a:xfrm>
          <a:prstGeom prst="rect">
            <a:avLst/>
          </a:prstGeom>
          <a:noFill/>
        </p:spPr>
        <p:txBody>
          <a:bodyPr wrap="square">
            <a:spAutoFit/>
          </a:bodyPr>
          <a:lstStyle/>
          <a:p>
            <a:pPr algn="l"/>
            <a:r>
              <a:rPr sz="1250" b="0" i="0">
                <a:solidFill>
                  <a:srgbClr val="0D0D0D"/>
                </a:solidFill>
                <a:latin typeface="Arial"/>
              </a:rPr>
              <a:t>Strumenti presenti, metodo assente</a:t>
            </a:r>
          </a:p>
        </p:txBody>
      </p:sp>
      <p:sp>
        <p:nvSpPr>
          <p:cNvPr id="11" name="TextBox 10"/>
          <p:cNvSpPr txBox="1"/>
          <p:nvPr/>
        </p:nvSpPr>
        <p:spPr>
          <a:xfrm>
            <a:off x="1097280" y="3630168"/>
            <a:ext cx="228600" cy="292608"/>
          </a:xfrm>
          <a:prstGeom prst="rect">
            <a:avLst/>
          </a:prstGeom>
          <a:noFill/>
        </p:spPr>
        <p:txBody>
          <a:bodyPr wrap="square">
            <a:spAutoFit/>
          </a:bodyPr>
          <a:lstStyle/>
          <a:p>
            <a:pPr algn="l"/>
            <a:r>
              <a:rPr sz="1300" b="0" i="0">
                <a:solidFill>
                  <a:srgbClr val="6B6B6B"/>
                </a:solidFill>
                <a:latin typeface="Arial"/>
              </a:rPr>
              <a:t>~</a:t>
            </a:r>
          </a:p>
        </p:txBody>
      </p:sp>
      <p:sp>
        <p:nvSpPr>
          <p:cNvPr id="12" name="TextBox 11"/>
          <p:cNvSpPr txBox="1"/>
          <p:nvPr/>
        </p:nvSpPr>
        <p:spPr>
          <a:xfrm>
            <a:off x="1371600" y="3630168"/>
            <a:ext cx="4572000" cy="292608"/>
          </a:xfrm>
          <a:prstGeom prst="rect">
            <a:avLst/>
          </a:prstGeom>
          <a:noFill/>
        </p:spPr>
        <p:txBody>
          <a:bodyPr wrap="square">
            <a:spAutoFit/>
          </a:bodyPr>
          <a:lstStyle/>
          <a:p>
            <a:pPr algn="l"/>
            <a:r>
              <a:rPr sz="1250" b="0" i="0">
                <a:solidFill>
                  <a:srgbClr val="0D0D0D"/>
                </a:solidFill>
                <a:latin typeface="Arial"/>
              </a:rPr>
              <a:t>Ruolo raramente nominato come autonomo</a:t>
            </a:r>
          </a:p>
        </p:txBody>
      </p:sp>
      <p:sp>
        <p:nvSpPr>
          <p:cNvPr id="13" name="TextBox 12"/>
          <p:cNvSpPr txBox="1"/>
          <p:nvPr/>
        </p:nvSpPr>
        <p:spPr>
          <a:xfrm>
            <a:off x="1097280" y="4014216"/>
            <a:ext cx="228600" cy="292608"/>
          </a:xfrm>
          <a:prstGeom prst="rect">
            <a:avLst/>
          </a:prstGeom>
          <a:noFill/>
        </p:spPr>
        <p:txBody>
          <a:bodyPr wrap="square">
            <a:spAutoFit/>
          </a:bodyPr>
          <a:lstStyle/>
          <a:p>
            <a:pPr algn="l"/>
            <a:r>
              <a:rPr sz="1300" b="0" i="0">
                <a:solidFill>
                  <a:srgbClr val="6B6B6B"/>
                </a:solidFill>
                <a:latin typeface="Arial"/>
              </a:rPr>
              <a:t>~</a:t>
            </a:r>
          </a:p>
        </p:txBody>
      </p:sp>
      <p:sp>
        <p:nvSpPr>
          <p:cNvPr id="14" name="TextBox 13"/>
          <p:cNvSpPr txBox="1"/>
          <p:nvPr/>
        </p:nvSpPr>
        <p:spPr>
          <a:xfrm>
            <a:off x="1371600" y="4014216"/>
            <a:ext cx="4572000" cy="292608"/>
          </a:xfrm>
          <a:prstGeom prst="rect">
            <a:avLst/>
          </a:prstGeom>
          <a:noFill/>
        </p:spPr>
        <p:txBody>
          <a:bodyPr wrap="square">
            <a:spAutoFit/>
          </a:bodyPr>
          <a:lstStyle/>
          <a:p>
            <a:pPr algn="l"/>
            <a:r>
              <a:rPr sz="1250" b="0" i="0">
                <a:solidFill>
                  <a:srgbClr val="0D0D0D"/>
                </a:solidFill>
                <a:latin typeface="Arial"/>
              </a:rPr>
              <a:t>Formazione quasi sempre autodidatta</a:t>
            </a:r>
          </a:p>
        </p:txBody>
      </p:sp>
      <p:sp>
        <p:nvSpPr>
          <p:cNvPr id="15" name="TextBox 14"/>
          <p:cNvSpPr txBox="1"/>
          <p:nvPr/>
        </p:nvSpPr>
        <p:spPr>
          <a:xfrm>
            <a:off x="1097280" y="4398264"/>
            <a:ext cx="228600" cy="292608"/>
          </a:xfrm>
          <a:prstGeom prst="rect">
            <a:avLst/>
          </a:prstGeom>
          <a:noFill/>
        </p:spPr>
        <p:txBody>
          <a:bodyPr wrap="square">
            <a:spAutoFit/>
          </a:bodyPr>
          <a:lstStyle/>
          <a:p>
            <a:pPr algn="l"/>
            <a:r>
              <a:rPr sz="1300" b="0" i="0">
                <a:solidFill>
                  <a:srgbClr val="6B6B6B"/>
                </a:solidFill>
                <a:latin typeface="Arial"/>
              </a:rPr>
              <a:t>~</a:t>
            </a:r>
          </a:p>
        </p:txBody>
      </p:sp>
      <p:sp>
        <p:nvSpPr>
          <p:cNvPr id="16" name="TextBox 15"/>
          <p:cNvSpPr txBox="1"/>
          <p:nvPr/>
        </p:nvSpPr>
        <p:spPr>
          <a:xfrm>
            <a:off x="1371600" y="4398264"/>
            <a:ext cx="4572000" cy="292608"/>
          </a:xfrm>
          <a:prstGeom prst="rect">
            <a:avLst/>
          </a:prstGeom>
          <a:noFill/>
        </p:spPr>
        <p:txBody>
          <a:bodyPr wrap="square">
            <a:spAutoFit/>
          </a:bodyPr>
          <a:lstStyle/>
          <a:p>
            <a:pPr algn="l"/>
            <a:r>
              <a:rPr sz="1250" b="0" i="0">
                <a:solidFill>
                  <a:srgbClr val="0D0D0D"/>
                </a:solidFill>
                <a:latin typeface="Arial"/>
              </a:rPr>
              <a:t>Ownership contesa tra social, PR, insight</a:t>
            </a:r>
          </a:p>
        </p:txBody>
      </p:sp>
      <p:sp>
        <p:nvSpPr>
          <p:cNvPr id="17" name="TextBox 16"/>
          <p:cNvSpPr txBox="1"/>
          <p:nvPr/>
        </p:nvSpPr>
        <p:spPr>
          <a:xfrm>
            <a:off x="1097280" y="4782312"/>
            <a:ext cx="228600" cy="292608"/>
          </a:xfrm>
          <a:prstGeom prst="rect">
            <a:avLst/>
          </a:prstGeom>
          <a:noFill/>
        </p:spPr>
        <p:txBody>
          <a:bodyPr wrap="square">
            <a:spAutoFit/>
          </a:bodyPr>
          <a:lstStyle/>
          <a:p>
            <a:pPr algn="l"/>
            <a:r>
              <a:rPr sz="1300" b="0" i="0">
                <a:solidFill>
                  <a:srgbClr val="6B6B6B"/>
                </a:solidFill>
                <a:latin typeface="Arial"/>
              </a:rPr>
              <a:t>~</a:t>
            </a:r>
          </a:p>
        </p:txBody>
      </p:sp>
      <p:sp>
        <p:nvSpPr>
          <p:cNvPr id="18" name="TextBox 17"/>
          <p:cNvSpPr txBox="1"/>
          <p:nvPr/>
        </p:nvSpPr>
        <p:spPr>
          <a:xfrm>
            <a:off x="1371600" y="4782312"/>
            <a:ext cx="4572000" cy="292608"/>
          </a:xfrm>
          <a:prstGeom prst="rect">
            <a:avLst/>
          </a:prstGeom>
          <a:noFill/>
        </p:spPr>
        <p:txBody>
          <a:bodyPr wrap="square">
            <a:spAutoFit/>
          </a:bodyPr>
          <a:lstStyle/>
          <a:p>
            <a:pPr algn="l"/>
            <a:r>
              <a:rPr sz="1250" b="0" i="0">
                <a:solidFill>
                  <a:srgbClr val="0D0D0D"/>
                </a:solidFill>
                <a:latin typeface="Arial"/>
              </a:rPr>
              <a:t>Competenza reale ma non portabile</a:t>
            </a:r>
          </a:p>
        </p:txBody>
      </p:sp>
      <p:sp>
        <p:nvSpPr>
          <p:cNvPr id="19" name="TextBox 18"/>
          <p:cNvSpPr txBox="1"/>
          <p:nvPr/>
        </p:nvSpPr>
        <p:spPr>
          <a:xfrm>
            <a:off x="1097280" y="5166360"/>
            <a:ext cx="228600" cy="292608"/>
          </a:xfrm>
          <a:prstGeom prst="rect">
            <a:avLst/>
          </a:prstGeom>
          <a:noFill/>
        </p:spPr>
        <p:txBody>
          <a:bodyPr wrap="square">
            <a:spAutoFit/>
          </a:bodyPr>
          <a:lstStyle/>
          <a:p>
            <a:pPr algn="l"/>
            <a:r>
              <a:rPr sz="1300" b="0" i="0">
                <a:solidFill>
                  <a:srgbClr val="6B6B6B"/>
                </a:solidFill>
                <a:latin typeface="Arial"/>
              </a:rPr>
              <a:t>~</a:t>
            </a:r>
          </a:p>
        </p:txBody>
      </p:sp>
      <p:sp>
        <p:nvSpPr>
          <p:cNvPr id="20" name="TextBox 19"/>
          <p:cNvSpPr txBox="1"/>
          <p:nvPr/>
        </p:nvSpPr>
        <p:spPr>
          <a:xfrm>
            <a:off x="1371600" y="5166360"/>
            <a:ext cx="4572000" cy="292608"/>
          </a:xfrm>
          <a:prstGeom prst="rect">
            <a:avLst/>
          </a:prstGeom>
          <a:noFill/>
        </p:spPr>
        <p:txBody>
          <a:bodyPr wrap="square">
            <a:spAutoFit/>
          </a:bodyPr>
          <a:lstStyle/>
          <a:p>
            <a:pPr algn="l"/>
            <a:r>
              <a:rPr sz="1250" b="0" i="0">
                <a:solidFill>
                  <a:srgbClr val="0D0D0D"/>
                </a:solidFill>
                <a:latin typeface="Arial"/>
              </a:rPr>
              <a:t>Assenza di benchmark di qualità visibili</a:t>
            </a:r>
          </a:p>
        </p:txBody>
      </p:sp>
      <p:sp>
        <p:nvSpPr>
          <p:cNvPr id="21" name="Rectangle 20"/>
          <p:cNvSpPr/>
          <p:nvPr/>
        </p:nvSpPr>
        <p:spPr>
          <a:xfrm>
            <a:off x="6446520" y="2606040"/>
            <a:ext cx="5394960" cy="3291840"/>
          </a:xfrm>
          <a:prstGeom prst="roundRect">
            <a:avLst>
              <a:gd name="adj" fmla="val 20000"/>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2788920"/>
            <a:ext cx="4846320" cy="320040"/>
          </a:xfrm>
          <a:prstGeom prst="rect">
            <a:avLst/>
          </a:prstGeom>
          <a:noFill/>
        </p:spPr>
        <p:txBody>
          <a:bodyPr wrap="square">
            <a:spAutoFit/>
          </a:bodyPr>
          <a:lstStyle/>
          <a:p>
            <a:pPr algn="l"/>
            <a:r>
              <a:rPr sz="1200" b="1" i="0">
                <a:solidFill>
                  <a:srgbClr val="FFE600"/>
                </a:solidFill>
                <a:latin typeface="Arial"/>
              </a:rPr>
              <a:t>ESTERO — INFRASTRUTTURA STRUTTURATA</a:t>
            </a:r>
          </a:p>
        </p:txBody>
      </p:sp>
      <p:sp>
        <p:nvSpPr>
          <p:cNvPr id="23" name="TextBox 22"/>
          <p:cNvSpPr txBox="1"/>
          <p:nvPr/>
        </p:nvSpPr>
        <p:spPr>
          <a:xfrm>
            <a:off x="6720840" y="3246120"/>
            <a:ext cx="228600" cy="292608"/>
          </a:xfrm>
          <a:prstGeom prst="rect">
            <a:avLst/>
          </a:prstGeom>
          <a:noFill/>
        </p:spPr>
        <p:txBody>
          <a:bodyPr wrap="square">
            <a:spAutoFit/>
          </a:bodyPr>
          <a:lstStyle/>
          <a:p>
            <a:pPr algn="l"/>
            <a:r>
              <a:rPr sz="1300" b="0" i="0">
                <a:solidFill>
                  <a:srgbClr val="FFE600"/>
                </a:solidFill>
                <a:latin typeface="Arial"/>
              </a:rPr>
              <a:t>＋</a:t>
            </a:r>
          </a:p>
        </p:txBody>
      </p:sp>
      <p:sp>
        <p:nvSpPr>
          <p:cNvPr id="24" name="TextBox 23"/>
          <p:cNvSpPr txBox="1"/>
          <p:nvPr/>
        </p:nvSpPr>
        <p:spPr>
          <a:xfrm>
            <a:off x="6995160" y="3246120"/>
            <a:ext cx="4572000" cy="292608"/>
          </a:xfrm>
          <a:prstGeom prst="rect">
            <a:avLst/>
          </a:prstGeom>
          <a:noFill/>
        </p:spPr>
        <p:txBody>
          <a:bodyPr wrap="square">
            <a:spAutoFit/>
          </a:bodyPr>
          <a:lstStyle/>
          <a:p>
            <a:pPr algn="l"/>
            <a:r>
              <a:rPr sz="1250" b="0" i="0">
                <a:solidFill>
                  <a:srgbClr val="FFFFFF"/>
                </a:solidFill>
                <a:latin typeface="Arial"/>
              </a:rPr>
              <a:t>Comunità di pratica verticali e attive</a:t>
            </a:r>
          </a:p>
        </p:txBody>
      </p:sp>
      <p:sp>
        <p:nvSpPr>
          <p:cNvPr id="25" name="TextBox 24"/>
          <p:cNvSpPr txBox="1"/>
          <p:nvPr/>
        </p:nvSpPr>
        <p:spPr>
          <a:xfrm>
            <a:off x="6720840" y="3630168"/>
            <a:ext cx="228600" cy="292608"/>
          </a:xfrm>
          <a:prstGeom prst="rect">
            <a:avLst/>
          </a:prstGeom>
          <a:noFill/>
        </p:spPr>
        <p:txBody>
          <a:bodyPr wrap="square">
            <a:spAutoFit/>
          </a:bodyPr>
          <a:lstStyle/>
          <a:p>
            <a:pPr algn="l"/>
            <a:r>
              <a:rPr sz="1300" b="0" i="0">
                <a:solidFill>
                  <a:srgbClr val="FFE600"/>
                </a:solidFill>
                <a:latin typeface="Arial"/>
              </a:rPr>
              <a:t>＋</a:t>
            </a:r>
          </a:p>
        </p:txBody>
      </p:sp>
      <p:sp>
        <p:nvSpPr>
          <p:cNvPr id="26" name="TextBox 25"/>
          <p:cNvSpPr txBox="1"/>
          <p:nvPr/>
        </p:nvSpPr>
        <p:spPr>
          <a:xfrm>
            <a:off x="6995160" y="3630168"/>
            <a:ext cx="4572000" cy="292608"/>
          </a:xfrm>
          <a:prstGeom prst="rect">
            <a:avLst/>
          </a:prstGeom>
          <a:noFill/>
        </p:spPr>
        <p:txBody>
          <a:bodyPr wrap="square">
            <a:spAutoFit/>
          </a:bodyPr>
          <a:lstStyle/>
          <a:p>
            <a:pPr algn="l"/>
            <a:r>
              <a:rPr sz="1250" b="0" i="0">
                <a:solidFill>
                  <a:srgbClr val="FFFFFF"/>
                </a:solidFill>
                <a:latin typeface="Arial"/>
              </a:rPr>
              <a:t>Percorsi di carriera espliciti e riconoscibili</a:t>
            </a:r>
          </a:p>
        </p:txBody>
      </p:sp>
      <p:sp>
        <p:nvSpPr>
          <p:cNvPr id="27" name="TextBox 26"/>
          <p:cNvSpPr txBox="1"/>
          <p:nvPr/>
        </p:nvSpPr>
        <p:spPr>
          <a:xfrm>
            <a:off x="6720840" y="4014216"/>
            <a:ext cx="228600" cy="292608"/>
          </a:xfrm>
          <a:prstGeom prst="rect">
            <a:avLst/>
          </a:prstGeom>
          <a:noFill/>
        </p:spPr>
        <p:txBody>
          <a:bodyPr wrap="square">
            <a:spAutoFit/>
          </a:bodyPr>
          <a:lstStyle/>
          <a:p>
            <a:pPr algn="l"/>
            <a:r>
              <a:rPr sz="1300" b="0" i="0">
                <a:solidFill>
                  <a:srgbClr val="FFE600"/>
                </a:solidFill>
                <a:latin typeface="Arial"/>
              </a:rPr>
              <a:t>＋</a:t>
            </a:r>
          </a:p>
        </p:txBody>
      </p:sp>
      <p:sp>
        <p:nvSpPr>
          <p:cNvPr id="28" name="TextBox 27"/>
          <p:cNvSpPr txBox="1"/>
          <p:nvPr/>
        </p:nvSpPr>
        <p:spPr>
          <a:xfrm>
            <a:off x="6995160" y="4014216"/>
            <a:ext cx="4572000" cy="292608"/>
          </a:xfrm>
          <a:prstGeom prst="rect">
            <a:avLst/>
          </a:prstGeom>
          <a:noFill/>
        </p:spPr>
        <p:txBody>
          <a:bodyPr wrap="square">
            <a:spAutoFit/>
          </a:bodyPr>
          <a:lstStyle/>
          <a:p>
            <a:pPr algn="l"/>
            <a:r>
              <a:rPr sz="1250" b="0" i="0">
                <a:solidFill>
                  <a:srgbClr val="FFFFFF"/>
                </a:solidFill>
                <a:latin typeface="Arial"/>
              </a:rPr>
              <a:t>Definizione condivisa del 'fare bene il lavoro'</a:t>
            </a:r>
          </a:p>
        </p:txBody>
      </p:sp>
      <p:sp>
        <p:nvSpPr>
          <p:cNvPr id="29" name="TextBox 28"/>
          <p:cNvSpPr txBox="1"/>
          <p:nvPr/>
        </p:nvSpPr>
        <p:spPr>
          <a:xfrm>
            <a:off x="6720840" y="4398264"/>
            <a:ext cx="228600" cy="292608"/>
          </a:xfrm>
          <a:prstGeom prst="rect">
            <a:avLst/>
          </a:prstGeom>
          <a:noFill/>
        </p:spPr>
        <p:txBody>
          <a:bodyPr wrap="square">
            <a:spAutoFit/>
          </a:bodyPr>
          <a:lstStyle/>
          <a:p>
            <a:pPr algn="l"/>
            <a:r>
              <a:rPr sz="1300" b="0" i="0">
                <a:solidFill>
                  <a:srgbClr val="FFE600"/>
                </a:solidFill>
                <a:latin typeface="Arial"/>
              </a:rPr>
              <a:t>＋</a:t>
            </a:r>
          </a:p>
        </p:txBody>
      </p:sp>
      <p:sp>
        <p:nvSpPr>
          <p:cNvPr id="30" name="TextBox 29"/>
          <p:cNvSpPr txBox="1"/>
          <p:nvPr/>
        </p:nvSpPr>
        <p:spPr>
          <a:xfrm>
            <a:off x="6995160" y="4398264"/>
            <a:ext cx="4572000" cy="292608"/>
          </a:xfrm>
          <a:prstGeom prst="rect">
            <a:avLst/>
          </a:prstGeom>
          <a:noFill/>
        </p:spPr>
        <p:txBody>
          <a:bodyPr wrap="square">
            <a:spAutoFit/>
          </a:bodyPr>
          <a:lstStyle/>
          <a:p>
            <a:pPr algn="l"/>
            <a:r>
              <a:rPr sz="1250" b="0" i="0">
                <a:solidFill>
                  <a:srgbClr val="FFFFFF"/>
                </a:solidFill>
                <a:latin typeface="Arial"/>
              </a:rPr>
              <a:t>Credenziali leggibili fuori dal contesto</a:t>
            </a:r>
          </a:p>
        </p:txBody>
      </p:sp>
      <p:sp>
        <p:nvSpPr>
          <p:cNvPr id="31" name="TextBox 30"/>
          <p:cNvSpPr txBox="1"/>
          <p:nvPr/>
        </p:nvSpPr>
        <p:spPr>
          <a:xfrm>
            <a:off x="6720840" y="4782312"/>
            <a:ext cx="228600" cy="292608"/>
          </a:xfrm>
          <a:prstGeom prst="rect">
            <a:avLst/>
          </a:prstGeom>
          <a:noFill/>
        </p:spPr>
        <p:txBody>
          <a:bodyPr wrap="square">
            <a:spAutoFit/>
          </a:bodyPr>
          <a:lstStyle/>
          <a:p>
            <a:pPr algn="l"/>
            <a:r>
              <a:rPr sz="1300" b="0" i="0">
                <a:solidFill>
                  <a:srgbClr val="FFE600"/>
                </a:solidFill>
                <a:latin typeface="Arial"/>
              </a:rPr>
              <a:t>＋</a:t>
            </a:r>
          </a:p>
        </p:txBody>
      </p:sp>
      <p:sp>
        <p:nvSpPr>
          <p:cNvPr id="32" name="TextBox 31"/>
          <p:cNvSpPr txBox="1"/>
          <p:nvPr/>
        </p:nvSpPr>
        <p:spPr>
          <a:xfrm>
            <a:off x="6995160" y="4782312"/>
            <a:ext cx="4572000" cy="292608"/>
          </a:xfrm>
          <a:prstGeom prst="rect">
            <a:avLst/>
          </a:prstGeom>
          <a:noFill/>
        </p:spPr>
        <p:txBody>
          <a:bodyPr wrap="square">
            <a:spAutoFit/>
          </a:bodyPr>
          <a:lstStyle/>
          <a:p>
            <a:pPr algn="l"/>
            <a:r>
              <a:rPr sz="1250" b="0" i="0">
                <a:solidFill>
                  <a:srgbClr val="FFFFFF"/>
                </a:solidFill>
                <a:latin typeface="Arial"/>
              </a:rPr>
              <a:t>Standard metodologici difendibili</a:t>
            </a:r>
          </a:p>
        </p:txBody>
      </p:sp>
      <p:sp>
        <p:nvSpPr>
          <p:cNvPr id="33" name="TextBox 32"/>
          <p:cNvSpPr txBox="1"/>
          <p:nvPr/>
        </p:nvSpPr>
        <p:spPr>
          <a:xfrm>
            <a:off x="6720840" y="5166360"/>
            <a:ext cx="228600" cy="292608"/>
          </a:xfrm>
          <a:prstGeom prst="rect">
            <a:avLst/>
          </a:prstGeom>
          <a:noFill/>
        </p:spPr>
        <p:txBody>
          <a:bodyPr wrap="square">
            <a:spAutoFit/>
          </a:bodyPr>
          <a:lstStyle/>
          <a:p>
            <a:pPr algn="l"/>
            <a:r>
              <a:rPr sz="1300" b="0" i="0">
                <a:solidFill>
                  <a:srgbClr val="FFE600"/>
                </a:solidFill>
                <a:latin typeface="Arial"/>
              </a:rPr>
              <a:t>＋</a:t>
            </a:r>
          </a:p>
        </p:txBody>
      </p:sp>
      <p:sp>
        <p:nvSpPr>
          <p:cNvPr id="34" name="TextBox 33"/>
          <p:cNvSpPr txBox="1"/>
          <p:nvPr/>
        </p:nvSpPr>
        <p:spPr>
          <a:xfrm>
            <a:off x="6995160" y="5166360"/>
            <a:ext cx="4572000" cy="292608"/>
          </a:xfrm>
          <a:prstGeom prst="rect">
            <a:avLst/>
          </a:prstGeom>
          <a:noFill/>
        </p:spPr>
        <p:txBody>
          <a:bodyPr wrap="square">
            <a:spAutoFit/>
          </a:bodyPr>
          <a:lstStyle/>
          <a:p>
            <a:pPr algn="l"/>
            <a:r>
              <a:rPr sz="1250" b="0" i="0">
                <a:solidFill>
                  <a:srgbClr val="FFFFFF"/>
                </a:solidFill>
                <a:latin typeface="Arial"/>
              </a:rPr>
              <a:t>Formazione continua e certificazioni</a:t>
            </a:r>
          </a:p>
        </p:txBody>
      </p:sp>
      <p:sp>
        <p:nvSpPr>
          <p:cNvPr id="35" name="TextBox 34"/>
          <p:cNvSpPr txBox="1"/>
          <p:nvPr/>
        </p:nvSpPr>
        <p:spPr>
          <a:xfrm>
            <a:off x="822960" y="6035040"/>
            <a:ext cx="7315200" cy="274320"/>
          </a:xfrm>
          <a:prstGeom prst="rect">
            <a:avLst/>
          </a:prstGeom>
          <a:noFill/>
        </p:spPr>
        <p:txBody>
          <a:bodyPr wrap="square">
            <a:spAutoFit/>
          </a:bodyPr>
          <a:lstStyle/>
          <a:p>
            <a:pPr algn="l"/>
            <a:r>
              <a:rPr sz="1100" b="0" i="0">
                <a:solidFill>
                  <a:srgbClr val="6B6B6B"/>
                </a:solidFill>
                <a:latin typeface="Arial"/>
              </a:rPr>
              <a:t>Nota: Il divario non è di dati. È di infrastruttura professionale.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TextBox 3"/>
          <p:cNvSpPr txBox="1"/>
          <p:nvPr/>
        </p:nvSpPr>
        <p:spPr>
          <a:xfrm>
            <a:off x="822960" y="640080"/>
            <a:ext cx="8229600" cy="1097280"/>
          </a:xfrm>
          <a:prstGeom prst="rect">
            <a:avLst/>
          </a:prstGeom>
          <a:noFill/>
        </p:spPr>
        <p:txBody>
          <a:bodyPr wrap="square">
            <a:spAutoFit/>
          </a:bodyPr>
          <a:lstStyle/>
          <a:p>
            <a:pPr algn="l"/>
            <a:r>
              <a:rPr sz="5800" b="1" i="0">
                <a:solidFill>
                  <a:srgbClr val="FFFFFF"/>
                </a:solidFill>
                <a:latin typeface="Arial Black"/>
              </a:rPr>
              <a:t>IL SALTO</a:t>
            </a:r>
          </a:p>
        </p:txBody>
      </p:sp>
      <p:sp>
        <p:nvSpPr>
          <p:cNvPr id="5" name="TextBox 4"/>
          <p:cNvSpPr txBox="1"/>
          <p:nvPr/>
        </p:nvSpPr>
        <p:spPr>
          <a:xfrm>
            <a:off x="822960" y="1600200"/>
            <a:ext cx="8686800" cy="548640"/>
          </a:xfrm>
          <a:prstGeom prst="rect">
            <a:avLst/>
          </a:prstGeom>
          <a:noFill/>
        </p:spPr>
        <p:txBody>
          <a:bodyPr wrap="square">
            <a:spAutoFit/>
          </a:bodyPr>
          <a:lstStyle/>
          <a:p>
            <a:pPr algn="l"/>
            <a:r>
              <a:rPr sz="1350" b="0" i="0">
                <a:solidFill>
                  <a:srgbClr val="AAAAAA"/>
                </a:solidFill>
                <a:latin typeface="Arial"/>
              </a:rPr>
              <a:t>Il salto che cambia tutto. Non è tecnologico. È un salto di posizionamento — da strumento reattivo a sistema generativo.</a:t>
            </a:r>
          </a:p>
        </p:txBody>
      </p:sp>
      <p:sp>
        <p:nvSpPr>
          <p:cNvPr id="6" name="Rectangle 5"/>
          <p:cNvSpPr/>
          <p:nvPr/>
        </p:nvSpPr>
        <p:spPr>
          <a:xfrm>
            <a:off x="822960" y="2286000"/>
            <a:ext cx="5394960" cy="2468880"/>
          </a:xfrm>
          <a:prstGeom prst="roundRect">
            <a:avLst>
              <a:gd name="adj" fmla="val 25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450592"/>
            <a:ext cx="2743200" cy="256032"/>
          </a:xfrm>
          <a:prstGeom prst="rect">
            <a:avLst/>
          </a:prstGeom>
          <a:noFill/>
        </p:spPr>
        <p:txBody>
          <a:bodyPr wrap="square">
            <a:spAutoFit/>
          </a:bodyPr>
          <a:lstStyle/>
          <a:p>
            <a:pPr algn="l"/>
            <a:r>
              <a:rPr sz="900" b="1" i="0">
                <a:solidFill>
                  <a:srgbClr val="6B6B6B"/>
                </a:solidFill>
                <a:latin typeface="Arial"/>
              </a:rPr>
              <a:t>STATO REATTIVO</a:t>
            </a:r>
          </a:p>
        </p:txBody>
      </p:sp>
      <p:sp>
        <p:nvSpPr>
          <p:cNvPr id="8" name="TextBox 7"/>
          <p:cNvSpPr txBox="1"/>
          <p:nvPr/>
        </p:nvSpPr>
        <p:spPr>
          <a:xfrm>
            <a:off x="1097280" y="2788920"/>
            <a:ext cx="4846320" cy="1645920"/>
          </a:xfrm>
          <a:prstGeom prst="rect">
            <a:avLst/>
          </a:prstGeom>
          <a:noFill/>
        </p:spPr>
        <p:txBody>
          <a:bodyPr wrap="square">
            <a:spAutoFit/>
          </a:bodyPr>
          <a:lstStyle/>
          <a:p>
            <a:pPr algn="l"/>
            <a:r>
              <a:rPr sz="1400" b="0" i="0">
                <a:solidFill>
                  <a:srgbClr val="FFFFFF"/>
                </a:solidFill>
                <a:latin typeface="Arial"/>
              </a:rPr>
              <a:t>Il listening entra dopo. Misura quello che è successo. Segue la crisi quando è già esplosa. Conferma il brief già scritto. Il dato commenta — non orienta.</a:t>
            </a:r>
          </a:p>
        </p:txBody>
      </p:sp>
      <p:sp>
        <p:nvSpPr>
          <p:cNvPr id="9" name="Rectangle 8"/>
          <p:cNvSpPr/>
          <p:nvPr/>
        </p:nvSpPr>
        <p:spPr>
          <a:xfrm>
            <a:off x="6446520" y="2286000"/>
            <a:ext cx="5394960" cy="2468880"/>
          </a:xfrm>
          <a:prstGeom prst="roundRect">
            <a:avLst>
              <a:gd name="adj" fmla="val 25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0840" y="2450592"/>
            <a:ext cx="2743200" cy="256032"/>
          </a:xfrm>
          <a:prstGeom prst="rect">
            <a:avLst/>
          </a:prstGeom>
          <a:noFill/>
        </p:spPr>
        <p:txBody>
          <a:bodyPr wrap="square">
            <a:spAutoFit/>
          </a:bodyPr>
          <a:lstStyle/>
          <a:p>
            <a:pPr algn="l"/>
            <a:r>
              <a:rPr sz="900" b="1" i="0">
                <a:solidFill>
                  <a:srgbClr val="2B2B2B"/>
                </a:solidFill>
                <a:latin typeface="Arial"/>
              </a:rPr>
              <a:t>STATO GENERATIVO</a:t>
            </a:r>
          </a:p>
        </p:txBody>
      </p:sp>
      <p:sp>
        <p:nvSpPr>
          <p:cNvPr id="11" name="TextBox 10"/>
          <p:cNvSpPr txBox="1"/>
          <p:nvPr/>
        </p:nvSpPr>
        <p:spPr>
          <a:xfrm>
            <a:off x="6720840" y="2788920"/>
            <a:ext cx="4846320" cy="1645920"/>
          </a:xfrm>
          <a:prstGeom prst="rect">
            <a:avLst/>
          </a:prstGeom>
          <a:noFill/>
        </p:spPr>
        <p:txBody>
          <a:bodyPr wrap="square">
            <a:spAutoFit/>
          </a:bodyPr>
          <a:lstStyle/>
          <a:p>
            <a:pPr algn="l"/>
            <a:r>
              <a:rPr sz="1400" b="0" i="0">
                <a:solidFill>
                  <a:srgbClr val="0D0D0D"/>
                </a:solidFill>
                <a:latin typeface="Arial"/>
              </a:rPr>
              <a:t>Il listening entra prima. Prima del brief — per formulare ipotesi. Prima del lancio — per intercettare barriere. Prima della crisi — per leggere i segnali deboli. Il dato orienta — non commenta.</a:t>
            </a:r>
          </a:p>
        </p:txBody>
      </p:sp>
      <p:sp>
        <p:nvSpPr>
          <p:cNvPr id="12" name="Rectangle 11"/>
          <p:cNvSpPr/>
          <p:nvPr/>
        </p:nvSpPr>
        <p:spPr>
          <a:xfrm>
            <a:off x="822960" y="4937760"/>
            <a:ext cx="64008" cy="685800"/>
          </a:xfrm>
          <a:prstGeom prst="rect">
            <a:avLst/>
          </a:prstGeom>
          <a:solidFill>
            <a:srgbClr val="6E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919472"/>
            <a:ext cx="10515600" cy="777240"/>
          </a:xfrm>
          <a:prstGeom prst="rect">
            <a:avLst/>
          </a:prstGeom>
          <a:noFill/>
        </p:spPr>
        <p:txBody>
          <a:bodyPr wrap="square">
            <a:spAutoFit/>
          </a:bodyPr>
          <a:lstStyle/>
          <a:p>
            <a:pPr algn="l"/>
            <a:r>
              <a:rPr sz="1300" b="0" i="1">
                <a:solidFill>
                  <a:srgbClr val="AAAAAA"/>
                </a:solidFill>
                <a:latin typeface="Arial"/>
              </a:rPr>
              <a:t>"Il social listening viene spesso invitato alla riunione in cui si valida una strategia già decisa — non a quella in cui la strategia viene costruita."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7F7"/>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TextBox 3"/>
          <p:cNvSpPr txBox="1"/>
          <p:nvPr/>
        </p:nvSpPr>
        <p:spPr>
          <a:xfrm>
            <a:off x="822960" y="731520"/>
            <a:ext cx="1828800" cy="274320"/>
          </a:xfrm>
          <a:prstGeom prst="rect">
            <a:avLst/>
          </a:prstGeom>
          <a:noFill/>
        </p:spPr>
        <p:txBody>
          <a:bodyPr wrap="square">
            <a:spAutoFit/>
          </a:bodyPr>
          <a:lstStyle/>
          <a:p>
            <a:pPr algn="l"/>
            <a:r>
              <a:rPr sz="900" b="0" i="0">
                <a:solidFill>
                  <a:srgbClr val="6B6B6B"/>
                </a:solidFill>
                <a:latin typeface="Arial"/>
              </a:rPr>
              <a:t>CAP 5</a:t>
            </a:r>
          </a:p>
        </p:txBody>
      </p:sp>
      <p:sp>
        <p:nvSpPr>
          <p:cNvPr id="5" name="TextBox 4"/>
          <p:cNvSpPr txBox="1"/>
          <p:nvPr/>
        </p:nvSpPr>
        <p:spPr>
          <a:xfrm>
            <a:off x="822960" y="822960"/>
            <a:ext cx="8229600" cy="1097280"/>
          </a:xfrm>
          <a:prstGeom prst="rect">
            <a:avLst/>
          </a:prstGeom>
          <a:noFill/>
        </p:spPr>
        <p:txBody>
          <a:bodyPr wrap="square">
            <a:spAutoFit/>
          </a:bodyPr>
          <a:lstStyle/>
          <a:p>
            <a:pPr algn="l"/>
            <a:r>
              <a:rPr sz="5800" b="1" i="0">
                <a:solidFill>
                  <a:srgbClr val="0D0D0D"/>
                </a:solidFill>
                <a:latin typeface="Arial Black"/>
              </a:rPr>
              <a:t>INSIGHT</a:t>
            </a:r>
          </a:p>
        </p:txBody>
      </p:sp>
      <p:sp>
        <p:nvSpPr>
          <p:cNvPr id="6" name="TextBox 5"/>
          <p:cNvSpPr txBox="1"/>
          <p:nvPr/>
        </p:nvSpPr>
        <p:spPr>
          <a:xfrm>
            <a:off x="822960" y="1874519"/>
            <a:ext cx="6400800" cy="320040"/>
          </a:xfrm>
          <a:prstGeom prst="rect">
            <a:avLst/>
          </a:prstGeom>
          <a:noFill/>
        </p:spPr>
        <p:txBody>
          <a:bodyPr wrap="square">
            <a:spAutoFit/>
          </a:bodyPr>
          <a:lstStyle/>
          <a:p>
            <a:pPr algn="l"/>
            <a:r>
              <a:rPr sz="1500" b="0" i="0">
                <a:solidFill>
                  <a:srgbClr val="0D0D0D"/>
                </a:solidFill>
                <a:latin typeface="Arial"/>
              </a:rPr>
              <a:t>La differenza non è nel dato. È nella domanda.</a:t>
            </a:r>
          </a:p>
        </p:txBody>
      </p:sp>
      <p:sp>
        <p:nvSpPr>
          <p:cNvPr id="7" name="Rectangle 6"/>
          <p:cNvSpPr/>
          <p:nvPr/>
        </p:nvSpPr>
        <p:spPr>
          <a:xfrm>
            <a:off x="822960" y="2331720"/>
            <a:ext cx="5394960" cy="2103120"/>
          </a:xfrm>
          <a:prstGeom prst="roundRect">
            <a:avLst>
              <a:gd name="adj" fmla="val 20000"/>
            </a:avLst>
          </a:prstGeom>
          <a:solidFill>
            <a:srgbClr val="FFFFFF"/>
          </a:solidFill>
          <a:ln w="1270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87168"/>
            <a:ext cx="2286000" cy="256032"/>
          </a:xfrm>
          <a:prstGeom prst="rect">
            <a:avLst/>
          </a:prstGeom>
          <a:noFill/>
        </p:spPr>
        <p:txBody>
          <a:bodyPr wrap="square">
            <a:spAutoFit/>
          </a:bodyPr>
          <a:lstStyle/>
          <a:p>
            <a:pPr algn="l"/>
            <a:r>
              <a:rPr sz="900" b="1" i="0">
                <a:solidFill>
                  <a:srgbClr val="6B6B6B"/>
                </a:solidFill>
                <a:latin typeface="Arial"/>
              </a:rPr>
              <a:t>REPORT — DESCRIVE</a:t>
            </a:r>
          </a:p>
        </p:txBody>
      </p:sp>
      <p:sp>
        <p:nvSpPr>
          <p:cNvPr id="9" name="TextBox 8"/>
          <p:cNvSpPr txBox="1"/>
          <p:nvPr/>
        </p:nvSpPr>
        <p:spPr>
          <a:xfrm>
            <a:off x="1097280" y="2788920"/>
            <a:ext cx="4846320" cy="502920"/>
          </a:xfrm>
          <a:prstGeom prst="rect">
            <a:avLst/>
          </a:prstGeom>
          <a:noFill/>
        </p:spPr>
        <p:txBody>
          <a:bodyPr wrap="square">
            <a:spAutoFit/>
          </a:bodyPr>
          <a:lstStyle/>
          <a:p>
            <a:pPr algn="l"/>
            <a:r>
              <a:rPr sz="1400" b="1" i="0">
                <a:solidFill>
                  <a:srgbClr val="0D0D0D"/>
                </a:solidFill>
                <a:latin typeface="Arial"/>
              </a:rPr>
              <a:t>"Le menzioni sono cresciute del +40% nell'ultimo mese."</a:t>
            </a:r>
          </a:p>
        </p:txBody>
      </p:sp>
      <p:sp>
        <p:nvSpPr>
          <p:cNvPr id="10" name="TextBox 9"/>
          <p:cNvSpPr txBox="1"/>
          <p:nvPr/>
        </p:nvSpPr>
        <p:spPr>
          <a:xfrm>
            <a:off x="1097280" y="3337560"/>
            <a:ext cx="4846320" cy="731520"/>
          </a:xfrm>
          <a:prstGeom prst="rect">
            <a:avLst/>
          </a:prstGeom>
          <a:noFill/>
        </p:spPr>
        <p:txBody>
          <a:bodyPr wrap="square">
            <a:spAutoFit/>
          </a:bodyPr>
          <a:lstStyle/>
          <a:p>
            <a:pPr algn="l"/>
            <a:r>
              <a:rPr sz="1200" b="0" i="0">
                <a:solidFill>
                  <a:srgbClr val="6B6B6B"/>
                </a:solidFill>
                <a:latin typeface="Arial"/>
              </a:rPr>
              <a:t>Il report allarma. Genera reazione, non orientamento. Arriva dopo che le decisioni sono già state prese.</a:t>
            </a:r>
          </a:p>
        </p:txBody>
      </p:sp>
      <p:sp>
        <p:nvSpPr>
          <p:cNvPr id="11" name="Rectangle 10"/>
          <p:cNvSpPr/>
          <p:nvPr/>
        </p:nvSpPr>
        <p:spPr>
          <a:xfrm>
            <a:off x="6446520" y="2331720"/>
            <a:ext cx="5394960" cy="2103120"/>
          </a:xfrm>
          <a:prstGeom prst="roundRect">
            <a:avLst>
              <a:gd name="adj" fmla="val 20000"/>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0840" y="2487168"/>
            <a:ext cx="2743200" cy="256032"/>
          </a:xfrm>
          <a:prstGeom prst="rect">
            <a:avLst/>
          </a:prstGeom>
          <a:noFill/>
        </p:spPr>
        <p:txBody>
          <a:bodyPr wrap="square">
            <a:spAutoFit/>
          </a:bodyPr>
          <a:lstStyle/>
          <a:p>
            <a:pPr algn="l"/>
            <a:r>
              <a:rPr sz="900" b="1" i="0">
                <a:solidFill>
                  <a:srgbClr val="6B6B6B"/>
                </a:solidFill>
                <a:latin typeface="Arial"/>
              </a:rPr>
              <a:t>INSIGHT — INTERPRETA</a:t>
            </a:r>
          </a:p>
        </p:txBody>
      </p:sp>
      <p:sp>
        <p:nvSpPr>
          <p:cNvPr id="13" name="TextBox 12"/>
          <p:cNvSpPr txBox="1"/>
          <p:nvPr/>
        </p:nvSpPr>
        <p:spPr>
          <a:xfrm>
            <a:off x="6720840" y="2788920"/>
            <a:ext cx="4846320" cy="822960"/>
          </a:xfrm>
          <a:prstGeom prst="rect">
            <a:avLst/>
          </a:prstGeom>
          <a:noFill/>
        </p:spPr>
        <p:txBody>
          <a:bodyPr wrap="square">
            <a:spAutoFit/>
          </a:bodyPr>
          <a:lstStyle/>
          <a:p>
            <a:pPr algn="l"/>
            <a:r>
              <a:rPr sz="1350" b="1" i="0">
                <a:solidFill>
                  <a:srgbClr val="FFFFFF"/>
                </a:solidFill>
                <a:latin typeface="Arial"/>
              </a:rPr>
              <a:t>"Il brand è associato a una tensione emergente sul servizio clienti che sta scalando — se non si interviene in due settimane, diventa crisi."</a:t>
            </a:r>
          </a:p>
        </p:txBody>
      </p:sp>
      <p:sp>
        <p:nvSpPr>
          <p:cNvPr id="14" name="TextBox 13"/>
          <p:cNvSpPr txBox="1"/>
          <p:nvPr/>
        </p:nvSpPr>
        <p:spPr>
          <a:xfrm>
            <a:off x="6720840" y="3657600"/>
            <a:ext cx="4846320" cy="365760"/>
          </a:xfrm>
          <a:prstGeom prst="rect">
            <a:avLst/>
          </a:prstGeom>
          <a:noFill/>
        </p:spPr>
        <p:txBody>
          <a:bodyPr wrap="square">
            <a:spAutoFit/>
          </a:bodyPr>
          <a:lstStyle/>
          <a:p>
            <a:pPr algn="l"/>
            <a:r>
              <a:rPr sz="1150" b="0" i="0">
                <a:solidFill>
                  <a:srgbClr val="AAAAAA"/>
                </a:solidFill>
                <a:latin typeface="Arial"/>
              </a:rPr>
              <a:t>L'insight orienta. Abilita la decisione nel momento giusto.</a:t>
            </a:r>
          </a:p>
        </p:txBody>
      </p:sp>
      <p:sp>
        <p:nvSpPr>
          <p:cNvPr id="15" name="TextBox 14"/>
          <p:cNvSpPr txBox="1"/>
          <p:nvPr/>
        </p:nvSpPr>
        <p:spPr>
          <a:xfrm>
            <a:off x="822960" y="4572000"/>
            <a:ext cx="2743200" cy="256032"/>
          </a:xfrm>
          <a:prstGeom prst="rect">
            <a:avLst/>
          </a:prstGeom>
          <a:noFill/>
        </p:spPr>
        <p:txBody>
          <a:bodyPr wrap="square">
            <a:spAutoFit/>
          </a:bodyPr>
          <a:lstStyle/>
          <a:p>
            <a:pPr algn="l"/>
            <a:r>
              <a:rPr sz="850" b="0" i="0">
                <a:solidFill>
                  <a:srgbClr val="6B6B6B"/>
                </a:solidFill>
                <a:latin typeface="Arial"/>
              </a:rPr>
              <a:t>TASSONOMIA A TRE CERCHI</a:t>
            </a:r>
          </a:p>
        </p:txBody>
      </p:sp>
      <p:sp>
        <p:nvSpPr>
          <p:cNvPr id="16" name="Oval 15"/>
          <p:cNvSpPr/>
          <p:nvPr/>
        </p:nvSpPr>
        <p:spPr>
          <a:xfrm>
            <a:off x="822960" y="4919472"/>
            <a:ext cx="3291840" cy="1691640"/>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956048"/>
            <a:ext cx="2926080" cy="201168"/>
          </a:xfrm>
          <a:prstGeom prst="rect">
            <a:avLst/>
          </a:prstGeom>
          <a:noFill/>
        </p:spPr>
        <p:txBody>
          <a:bodyPr wrap="square">
            <a:spAutoFit/>
          </a:bodyPr>
          <a:lstStyle/>
          <a:p>
            <a:pPr algn="ctr"/>
            <a:r>
              <a:rPr sz="750" b="1" i="0">
                <a:solidFill>
                  <a:srgbClr val="6B6B6B"/>
                </a:solidFill>
                <a:latin typeface="Arial"/>
              </a:rPr>
              <a:t>CERCHIO 1</a:t>
            </a:r>
          </a:p>
        </p:txBody>
      </p:sp>
      <p:sp>
        <p:nvSpPr>
          <p:cNvPr id="18" name="TextBox 17"/>
          <p:cNvSpPr txBox="1"/>
          <p:nvPr/>
        </p:nvSpPr>
        <p:spPr>
          <a:xfrm>
            <a:off x="1005840" y="5166360"/>
            <a:ext cx="2926080" cy="411480"/>
          </a:xfrm>
          <a:prstGeom prst="rect">
            <a:avLst/>
          </a:prstGeom>
          <a:noFill/>
        </p:spPr>
        <p:txBody>
          <a:bodyPr wrap="square">
            <a:spAutoFit/>
          </a:bodyPr>
          <a:lstStyle/>
          <a:p>
            <a:pPr algn="ctr"/>
            <a:r>
              <a:rPr sz="1300" b="1" i="0">
                <a:solidFill>
                  <a:srgbClr val="0D0D0D"/>
                </a:solidFill>
                <a:latin typeface="Arial"/>
              </a:rPr>
              <a:t>CONTESTO
CULTURALE</a:t>
            </a:r>
          </a:p>
        </p:txBody>
      </p:sp>
      <p:sp>
        <p:nvSpPr>
          <p:cNvPr id="19" name="TextBox 18"/>
          <p:cNvSpPr txBox="1"/>
          <p:nvPr/>
        </p:nvSpPr>
        <p:spPr>
          <a:xfrm>
            <a:off x="1005840" y="5596128"/>
            <a:ext cx="2926080" cy="777240"/>
          </a:xfrm>
          <a:prstGeom prst="rect">
            <a:avLst/>
          </a:prstGeom>
          <a:noFill/>
        </p:spPr>
        <p:txBody>
          <a:bodyPr wrap="square">
            <a:spAutoFit/>
          </a:bodyPr>
          <a:lstStyle/>
          <a:p>
            <a:pPr algn="ctr"/>
            <a:r>
              <a:rPr sz="1050" b="0" i="0">
                <a:solidFill>
                  <a:srgbClr val="6B6B6B"/>
                </a:solidFill>
                <a:latin typeface="Arial"/>
              </a:rPr>
              <a:t>Pop culture, economia, generazioni, tensioni sociali. Perché il mercato si muove adesso?</a:t>
            </a:r>
          </a:p>
        </p:txBody>
      </p:sp>
      <p:sp>
        <p:nvSpPr>
          <p:cNvPr id="20" name="Oval 19"/>
          <p:cNvSpPr/>
          <p:nvPr/>
        </p:nvSpPr>
        <p:spPr>
          <a:xfrm>
            <a:off x="4343400" y="4919472"/>
            <a:ext cx="3291840" cy="1691640"/>
          </a:xfrm>
          <a:prstGeom prst="ellipse">
            <a:avLst/>
          </a:prstGeom>
          <a:solidFill>
            <a:srgbClr val="C8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26280" y="4956048"/>
            <a:ext cx="2926080" cy="201168"/>
          </a:xfrm>
          <a:prstGeom prst="rect">
            <a:avLst/>
          </a:prstGeom>
          <a:noFill/>
        </p:spPr>
        <p:txBody>
          <a:bodyPr wrap="square">
            <a:spAutoFit/>
          </a:bodyPr>
          <a:lstStyle/>
          <a:p>
            <a:pPr algn="ctr"/>
            <a:r>
              <a:rPr sz="750" b="1" i="0">
                <a:solidFill>
                  <a:srgbClr val="6B6B6B"/>
                </a:solidFill>
                <a:latin typeface="Arial"/>
              </a:rPr>
              <a:t>CERCHIO 2</a:t>
            </a:r>
          </a:p>
        </p:txBody>
      </p:sp>
      <p:sp>
        <p:nvSpPr>
          <p:cNvPr id="22" name="TextBox 21"/>
          <p:cNvSpPr txBox="1"/>
          <p:nvPr/>
        </p:nvSpPr>
        <p:spPr>
          <a:xfrm>
            <a:off x="4526280" y="5166360"/>
            <a:ext cx="2926080" cy="411480"/>
          </a:xfrm>
          <a:prstGeom prst="rect">
            <a:avLst/>
          </a:prstGeom>
          <a:noFill/>
        </p:spPr>
        <p:txBody>
          <a:bodyPr wrap="square">
            <a:spAutoFit/>
          </a:bodyPr>
          <a:lstStyle/>
          <a:p>
            <a:pPr algn="ctr"/>
            <a:r>
              <a:rPr sz="1300" b="1" i="0">
                <a:solidFill>
                  <a:srgbClr val="0D0D0D"/>
                </a:solidFill>
                <a:latin typeface="Arial"/>
              </a:rPr>
              <a:t>INDUSTRY &amp;
CATEGORY</a:t>
            </a:r>
          </a:p>
        </p:txBody>
      </p:sp>
      <p:sp>
        <p:nvSpPr>
          <p:cNvPr id="23" name="TextBox 22"/>
          <p:cNvSpPr txBox="1"/>
          <p:nvPr/>
        </p:nvSpPr>
        <p:spPr>
          <a:xfrm>
            <a:off x="4526280" y="5596128"/>
            <a:ext cx="2926080" cy="777240"/>
          </a:xfrm>
          <a:prstGeom prst="rect">
            <a:avLst/>
          </a:prstGeom>
          <a:noFill/>
        </p:spPr>
        <p:txBody>
          <a:bodyPr wrap="square">
            <a:spAutoFit/>
          </a:bodyPr>
          <a:lstStyle/>
          <a:p>
            <a:pPr algn="ctr"/>
            <a:r>
              <a:rPr sz="1050" b="0" i="0">
                <a:solidFill>
                  <a:srgbClr val="6B6B6B"/>
                </a:solidFill>
                <a:latin typeface="Arial"/>
              </a:rPr>
              <a:t>Competitor, occasioni d'uso, barriere, driver. Come si comporta questa categoria?</a:t>
            </a:r>
          </a:p>
        </p:txBody>
      </p:sp>
      <p:sp>
        <p:nvSpPr>
          <p:cNvPr id="24" name="Oval 23"/>
          <p:cNvSpPr/>
          <p:nvPr/>
        </p:nvSpPr>
        <p:spPr>
          <a:xfrm>
            <a:off x="7863840" y="4919472"/>
            <a:ext cx="3291840" cy="1691640"/>
          </a:xfrm>
          <a:prstGeom prst="ellipse">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0" y="4956048"/>
            <a:ext cx="2926080" cy="201168"/>
          </a:xfrm>
          <a:prstGeom prst="rect">
            <a:avLst/>
          </a:prstGeom>
          <a:noFill/>
        </p:spPr>
        <p:txBody>
          <a:bodyPr wrap="square">
            <a:spAutoFit/>
          </a:bodyPr>
          <a:lstStyle/>
          <a:p>
            <a:pPr algn="ctr"/>
            <a:r>
              <a:rPr sz="750" b="1" i="0">
                <a:solidFill>
                  <a:srgbClr val="6B6B6B"/>
                </a:solidFill>
                <a:latin typeface="Arial"/>
              </a:rPr>
              <a:t>CERCHIO 3</a:t>
            </a:r>
          </a:p>
        </p:txBody>
      </p:sp>
      <p:sp>
        <p:nvSpPr>
          <p:cNvPr id="26" name="TextBox 25"/>
          <p:cNvSpPr txBox="1"/>
          <p:nvPr/>
        </p:nvSpPr>
        <p:spPr>
          <a:xfrm>
            <a:off x="8046720" y="5166360"/>
            <a:ext cx="2926080" cy="411480"/>
          </a:xfrm>
          <a:prstGeom prst="rect">
            <a:avLst/>
          </a:prstGeom>
          <a:noFill/>
        </p:spPr>
        <p:txBody>
          <a:bodyPr wrap="square">
            <a:spAutoFit/>
          </a:bodyPr>
          <a:lstStyle/>
          <a:p>
            <a:pPr algn="ctr"/>
            <a:r>
              <a:rPr sz="1300" b="1" i="0">
                <a:solidFill>
                  <a:srgbClr val="0D0D0D"/>
                </a:solidFill>
                <a:latin typeface="Arial"/>
              </a:rPr>
              <a:t>BRAND</a:t>
            </a:r>
          </a:p>
        </p:txBody>
      </p:sp>
      <p:sp>
        <p:nvSpPr>
          <p:cNvPr id="27" name="TextBox 26"/>
          <p:cNvSpPr txBox="1"/>
          <p:nvPr/>
        </p:nvSpPr>
        <p:spPr>
          <a:xfrm>
            <a:off x="8046720" y="5596128"/>
            <a:ext cx="2926080" cy="777240"/>
          </a:xfrm>
          <a:prstGeom prst="rect">
            <a:avLst/>
          </a:prstGeom>
          <a:noFill/>
        </p:spPr>
        <p:txBody>
          <a:bodyPr wrap="square">
            <a:spAutoFit/>
          </a:bodyPr>
          <a:lstStyle/>
          <a:p>
            <a:pPr algn="ctr"/>
            <a:r>
              <a:rPr sz="1050" b="0" i="0">
                <a:solidFill>
                  <a:srgbClr val="6B6B6B"/>
                </a:solidFill>
                <a:latin typeface="Arial"/>
              </a:rPr>
              <a:t>Menzioni, campagna, customer experience, reputazione. Cosa dice il mercato di questo brand?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TextBox 3"/>
          <p:cNvSpPr txBox="1"/>
          <p:nvPr/>
        </p:nvSpPr>
        <p:spPr>
          <a:xfrm>
            <a:off x="822960" y="640080"/>
            <a:ext cx="8229600" cy="1097280"/>
          </a:xfrm>
          <a:prstGeom prst="rect">
            <a:avLst/>
          </a:prstGeom>
          <a:noFill/>
        </p:spPr>
        <p:txBody>
          <a:bodyPr wrap="square">
            <a:spAutoFit/>
          </a:bodyPr>
          <a:lstStyle/>
          <a:p>
            <a:pPr algn="l"/>
            <a:r>
              <a:rPr sz="5800" b="1" i="0">
                <a:solidFill>
                  <a:srgbClr val="FFFFFF"/>
                </a:solidFill>
                <a:latin typeface="Arial Black"/>
              </a:rPr>
              <a:t>I TRE ATTRITI</a:t>
            </a:r>
          </a:p>
        </p:txBody>
      </p:sp>
      <p:sp>
        <p:nvSpPr>
          <p:cNvPr id="5" name="TextBox 4"/>
          <p:cNvSpPr txBox="1"/>
          <p:nvPr/>
        </p:nvSpPr>
        <p:spPr>
          <a:xfrm>
            <a:off x="822960" y="1600200"/>
            <a:ext cx="8686800" cy="640080"/>
          </a:xfrm>
          <a:prstGeom prst="rect">
            <a:avLst/>
          </a:prstGeom>
          <a:noFill/>
        </p:spPr>
        <p:txBody>
          <a:bodyPr wrap="square">
            <a:spAutoFit/>
          </a:bodyPr>
          <a:lstStyle/>
          <a:p>
            <a:pPr algn="l"/>
            <a:r>
              <a:rPr sz="1350" b="0" i="0">
                <a:solidFill>
                  <a:srgbClr val="AAAAAA"/>
                </a:solidFill>
                <a:latin typeface="Arial"/>
              </a:rPr>
              <a:t>I segnali che nessuna dashboard mostra. Formalizzati dopo centinaia di dataset. Li cerco per primi in
ogni progetto — sono la firma di un problema reale.</a:t>
            </a:r>
          </a:p>
        </p:txBody>
      </p:sp>
      <p:sp>
        <p:nvSpPr>
          <p:cNvPr id="6" name="Rectangle 5"/>
          <p:cNvSpPr/>
          <p:nvPr/>
        </p:nvSpPr>
        <p:spPr>
          <a:xfrm>
            <a:off x="822960" y="2377440"/>
            <a:ext cx="3566160" cy="3931920"/>
          </a:xfrm>
          <a:prstGeom prst="roundRect">
            <a:avLst>
              <a:gd name="adj" fmla="val 2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97280" y="2542032"/>
            <a:ext cx="502920" cy="502920"/>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200400"/>
            <a:ext cx="1097280" cy="685800"/>
          </a:xfrm>
          <a:prstGeom prst="rect">
            <a:avLst/>
          </a:prstGeom>
          <a:noFill/>
        </p:spPr>
        <p:txBody>
          <a:bodyPr wrap="square">
            <a:spAutoFit/>
          </a:bodyPr>
          <a:lstStyle/>
          <a:p>
            <a:pPr algn="l"/>
            <a:r>
              <a:rPr sz="3800" b="1" i="0">
                <a:solidFill>
                  <a:srgbClr val="6B6B6B"/>
                </a:solidFill>
                <a:latin typeface="Arial Black"/>
              </a:rPr>
              <a:t>01</a:t>
            </a:r>
          </a:p>
        </p:txBody>
      </p:sp>
      <p:sp>
        <p:nvSpPr>
          <p:cNvPr id="9" name="TextBox 8"/>
          <p:cNvSpPr txBox="1"/>
          <p:nvPr/>
        </p:nvSpPr>
        <p:spPr>
          <a:xfrm>
            <a:off x="1097280" y="3840480"/>
            <a:ext cx="3017520" cy="320040"/>
          </a:xfrm>
          <a:prstGeom prst="rect">
            <a:avLst/>
          </a:prstGeom>
          <a:noFill/>
        </p:spPr>
        <p:txBody>
          <a:bodyPr wrap="square">
            <a:spAutoFit/>
          </a:bodyPr>
          <a:lstStyle/>
          <a:p>
            <a:pPr algn="l"/>
            <a:r>
              <a:rPr sz="1100" b="1" i="0">
                <a:solidFill>
                  <a:srgbClr val="FFFFFF"/>
                </a:solidFill>
                <a:latin typeface="Arial"/>
              </a:rPr>
              <a:t>INTENTION-INTERFACE GAP</a:t>
            </a:r>
          </a:p>
        </p:txBody>
      </p:sp>
      <p:sp>
        <p:nvSpPr>
          <p:cNvPr id="10" name="TextBox 9"/>
          <p:cNvSpPr txBox="1"/>
          <p:nvPr/>
        </p:nvSpPr>
        <p:spPr>
          <a:xfrm>
            <a:off x="1097280" y="4206240"/>
            <a:ext cx="3017520" cy="1920240"/>
          </a:xfrm>
          <a:prstGeom prst="rect">
            <a:avLst/>
          </a:prstGeom>
          <a:noFill/>
        </p:spPr>
        <p:txBody>
          <a:bodyPr wrap="square">
            <a:spAutoFit/>
          </a:bodyPr>
          <a:lstStyle/>
          <a:p>
            <a:pPr algn="l"/>
            <a:r>
              <a:rPr sz="1150" b="0" i="0">
                <a:solidFill>
                  <a:srgbClr val="AAAAAA"/>
                </a:solidFill>
                <a:latin typeface="Arial"/>
              </a:rPr>
              <a:t>Q&amp;A, recensioni, customer care, forum di supporto. L'utente vuole fare qualcosa ma non riesce. Ostacolo nell'interfaccia, nel processo, nella value proposition. Frustrazione ricorrente su un punto del journey. Indica dove il prodotto perde l'utente.</a:t>
            </a:r>
          </a:p>
        </p:txBody>
      </p:sp>
      <p:sp>
        <p:nvSpPr>
          <p:cNvPr id="11" name="Rectangle 10"/>
          <p:cNvSpPr/>
          <p:nvPr/>
        </p:nvSpPr>
        <p:spPr>
          <a:xfrm>
            <a:off x="4617720" y="2377440"/>
            <a:ext cx="3566160" cy="3931920"/>
          </a:xfrm>
          <a:prstGeom prst="roundRect">
            <a:avLst>
              <a:gd name="adj" fmla="val 2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892040" y="2542032"/>
            <a:ext cx="502920" cy="502920"/>
          </a:xfrm>
          <a:prstGeom prst="ellipse">
            <a:avLst/>
          </a:prstGeom>
          <a:solidFill>
            <a:srgbClr val="6E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92040" y="3200400"/>
            <a:ext cx="1097280" cy="685800"/>
          </a:xfrm>
          <a:prstGeom prst="rect">
            <a:avLst/>
          </a:prstGeom>
          <a:noFill/>
        </p:spPr>
        <p:txBody>
          <a:bodyPr wrap="square">
            <a:spAutoFit/>
          </a:bodyPr>
          <a:lstStyle/>
          <a:p>
            <a:pPr algn="l"/>
            <a:r>
              <a:rPr sz="3800" b="1" i="0">
                <a:solidFill>
                  <a:srgbClr val="6B6B6B"/>
                </a:solidFill>
                <a:latin typeface="Arial Black"/>
              </a:rPr>
              <a:t>02</a:t>
            </a:r>
          </a:p>
        </p:txBody>
      </p:sp>
      <p:sp>
        <p:nvSpPr>
          <p:cNvPr id="14" name="TextBox 13"/>
          <p:cNvSpPr txBox="1"/>
          <p:nvPr/>
        </p:nvSpPr>
        <p:spPr>
          <a:xfrm>
            <a:off x="4892040" y="3840480"/>
            <a:ext cx="3017520" cy="320040"/>
          </a:xfrm>
          <a:prstGeom prst="rect">
            <a:avLst/>
          </a:prstGeom>
          <a:noFill/>
        </p:spPr>
        <p:txBody>
          <a:bodyPr wrap="square">
            <a:spAutoFit/>
          </a:bodyPr>
          <a:lstStyle/>
          <a:p>
            <a:pPr algn="l"/>
            <a:r>
              <a:rPr sz="1100" b="1" i="0">
                <a:solidFill>
                  <a:srgbClr val="FFFFFF"/>
                </a:solidFill>
                <a:latin typeface="Arial"/>
              </a:rPr>
              <a:t>TRUST GAP</a:t>
            </a:r>
          </a:p>
        </p:txBody>
      </p:sp>
      <p:sp>
        <p:nvSpPr>
          <p:cNvPr id="15" name="TextBox 14"/>
          <p:cNvSpPr txBox="1"/>
          <p:nvPr/>
        </p:nvSpPr>
        <p:spPr>
          <a:xfrm>
            <a:off x="4892040" y="4206240"/>
            <a:ext cx="3017520" cy="1920240"/>
          </a:xfrm>
          <a:prstGeom prst="rect">
            <a:avLst/>
          </a:prstGeom>
          <a:noFill/>
        </p:spPr>
        <p:txBody>
          <a:bodyPr wrap="square">
            <a:spAutoFit/>
          </a:bodyPr>
          <a:lstStyle/>
          <a:p>
            <a:pPr algn="l"/>
            <a:r>
              <a:rPr sz="1150" b="0" i="0">
                <a:solidFill>
                  <a:srgbClr val="AAAAAA"/>
                </a:solidFill>
                <a:latin typeface="Arial"/>
              </a:rPr>
              <a:t>Community di settore, comparatori, review spontanee. L'utente esita a fidarsi — del brand, della promessa, del prezzo. Arriva prima che la crisi diventi visibile. Esitazione sistematica pre-acquisto. Permette di intervenire sulla narrativa prima del danno.</a:t>
            </a:r>
          </a:p>
        </p:txBody>
      </p:sp>
      <p:sp>
        <p:nvSpPr>
          <p:cNvPr id="16" name="Rectangle 15"/>
          <p:cNvSpPr/>
          <p:nvPr/>
        </p:nvSpPr>
        <p:spPr>
          <a:xfrm>
            <a:off x="8412480" y="2377440"/>
            <a:ext cx="3566160" cy="3931920"/>
          </a:xfrm>
          <a:prstGeom prst="roundRect">
            <a:avLst>
              <a:gd name="adj" fmla="val 2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0" y="2542032"/>
            <a:ext cx="502920" cy="502920"/>
          </a:xfrm>
          <a:prstGeom prst="ellips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0" y="3200400"/>
            <a:ext cx="1097280" cy="685800"/>
          </a:xfrm>
          <a:prstGeom prst="rect">
            <a:avLst/>
          </a:prstGeom>
          <a:noFill/>
        </p:spPr>
        <p:txBody>
          <a:bodyPr wrap="square">
            <a:spAutoFit/>
          </a:bodyPr>
          <a:lstStyle/>
          <a:p>
            <a:pPr algn="l"/>
            <a:r>
              <a:rPr sz="3800" b="1" i="0">
                <a:solidFill>
                  <a:srgbClr val="6B6B6B"/>
                </a:solidFill>
                <a:latin typeface="Arial Black"/>
              </a:rPr>
              <a:t>03</a:t>
            </a:r>
          </a:p>
        </p:txBody>
      </p:sp>
      <p:sp>
        <p:nvSpPr>
          <p:cNvPr id="19" name="TextBox 18"/>
          <p:cNvSpPr txBox="1"/>
          <p:nvPr/>
        </p:nvSpPr>
        <p:spPr>
          <a:xfrm>
            <a:off x="8686800" y="3840480"/>
            <a:ext cx="3017520" cy="320040"/>
          </a:xfrm>
          <a:prstGeom prst="rect">
            <a:avLst/>
          </a:prstGeom>
          <a:noFill/>
        </p:spPr>
        <p:txBody>
          <a:bodyPr wrap="square">
            <a:spAutoFit/>
          </a:bodyPr>
          <a:lstStyle/>
          <a:p>
            <a:pPr algn="l"/>
            <a:r>
              <a:rPr sz="1100" b="1" i="0">
                <a:solidFill>
                  <a:srgbClr val="FFFFFF"/>
                </a:solidFill>
                <a:latin typeface="Arial"/>
              </a:rPr>
              <a:t>USAGE GAP</a:t>
            </a:r>
          </a:p>
        </p:txBody>
      </p:sp>
      <p:sp>
        <p:nvSpPr>
          <p:cNvPr id="20" name="TextBox 19"/>
          <p:cNvSpPr txBox="1"/>
          <p:nvPr/>
        </p:nvSpPr>
        <p:spPr>
          <a:xfrm>
            <a:off x="8686800" y="4206240"/>
            <a:ext cx="3017520" cy="1920240"/>
          </a:xfrm>
          <a:prstGeom prst="rect">
            <a:avLst/>
          </a:prstGeom>
          <a:noFill/>
        </p:spPr>
        <p:txBody>
          <a:bodyPr wrap="square">
            <a:spAutoFit/>
          </a:bodyPr>
          <a:lstStyle/>
          <a:p>
            <a:pPr algn="l"/>
            <a:r>
              <a:rPr sz="1150" b="0" i="0">
                <a:solidFill>
                  <a:srgbClr val="AAAAAA"/>
                </a:solidFill>
                <a:latin typeface="Arial"/>
              </a:rPr>
              <a:t>Tutorial spontanei, micro-community, gruppi chiusi. L'utente usa il prodotto in modi non previsti — workaround, rituali, micro-community creative. Usi non previsti = opportunità di innovazione. Qui si nasconde il vantaggio competitivo.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7F7"/>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TextBox 3"/>
          <p:cNvSpPr txBox="1"/>
          <p:nvPr/>
        </p:nvSpPr>
        <p:spPr>
          <a:xfrm>
            <a:off x="822960" y="731520"/>
            <a:ext cx="1828800" cy="274320"/>
          </a:xfrm>
          <a:prstGeom prst="rect">
            <a:avLst/>
          </a:prstGeom>
          <a:noFill/>
        </p:spPr>
        <p:txBody>
          <a:bodyPr wrap="square">
            <a:spAutoFit/>
          </a:bodyPr>
          <a:lstStyle/>
          <a:p>
            <a:pPr algn="l"/>
            <a:r>
              <a:rPr sz="900" b="0" i="0">
                <a:solidFill>
                  <a:srgbClr val="6B6B6B"/>
                </a:solidFill>
                <a:latin typeface="Arial"/>
              </a:rPr>
              <a:t>CAP 6</a:t>
            </a:r>
          </a:p>
        </p:txBody>
      </p:sp>
      <p:sp>
        <p:nvSpPr>
          <p:cNvPr id="5" name="TextBox 4"/>
          <p:cNvSpPr txBox="1"/>
          <p:nvPr/>
        </p:nvSpPr>
        <p:spPr>
          <a:xfrm>
            <a:off x="822960" y="822960"/>
            <a:ext cx="8229600" cy="1097280"/>
          </a:xfrm>
          <a:prstGeom prst="rect">
            <a:avLst/>
          </a:prstGeom>
          <a:noFill/>
        </p:spPr>
        <p:txBody>
          <a:bodyPr wrap="square">
            <a:spAutoFit/>
          </a:bodyPr>
          <a:lstStyle/>
          <a:p>
            <a:pPr algn="l"/>
            <a:r>
              <a:rPr sz="5800" b="1" i="0">
                <a:solidFill>
                  <a:srgbClr val="0D0D0D"/>
                </a:solidFill>
                <a:latin typeface="Arial Black"/>
              </a:rPr>
              <a:t>TRE ERE</a:t>
            </a:r>
          </a:p>
        </p:txBody>
      </p:sp>
      <p:sp>
        <p:nvSpPr>
          <p:cNvPr id="6" name="TextBox 5"/>
          <p:cNvSpPr txBox="1"/>
          <p:nvPr/>
        </p:nvSpPr>
        <p:spPr>
          <a:xfrm>
            <a:off x="822960" y="1874519"/>
            <a:ext cx="7315200" cy="320040"/>
          </a:xfrm>
          <a:prstGeom prst="rect">
            <a:avLst/>
          </a:prstGeom>
          <a:noFill/>
        </p:spPr>
        <p:txBody>
          <a:bodyPr wrap="square">
            <a:spAutoFit/>
          </a:bodyPr>
          <a:lstStyle/>
          <a:p>
            <a:pPr algn="l"/>
            <a:r>
              <a:rPr sz="1400" b="0" i="0">
                <a:solidFill>
                  <a:srgbClr val="0D0D0D"/>
                </a:solidFill>
                <a:latin typeface="Arial"/>
              </a:rPr>
              <a:t>Siamo al terzo atto. Il social listening ha attraversato tre ere.</a:t>
            </a:r>
          </a:p>
        </p:txBody>
      </p:sp>
      <p:sp>
        <p:nvSpPr>
          <p:cNvPr id="7" name="TextBox 6"/>
          <p:cNvSpPr txBox="1"/>
          <p:nvPr/>
        </p:nvSpPr>
        <p:spPr>
          <a:xfrm>
            <a:off x="822960" y="2331720"/>
            <a:ext cx="1371600" cy="320040"/>
          </a:xfrm>
          <a:prstGeom prst="rect">
            <a:avLst/>
          </a:prstGeom>
          <a:noFill/>
        </p:spPr>
        <p:txBody>
          <a:bodyPr wrap="square">
            <a:spAutoFit/>
          </a:bodyPr>
          <a:lstStyle/>
          <a:p>
            <a:pPr algn="l"/>
            <a:r>
              <a:rPr sz="1100" b="0" i="0">
                <a:solidFill>
                  <a:srgbClr val="6B6B6B"/>
                </a:solidFill>
                <a:latin typeface="Arial"/>
              </a:rPr>
              <a:t>2008–2014</a:t>
            </a:r>
          </a:p>
        </p:txBody>
      </p:sp>
      <p:sp>
        <p:nvSpPr>
          <p:cNvPr id="8" name="Rectangle 7"/>
          <p:cNvSpPr/>
          <p:nvPr/>
        </p:nvSpPr>
        <p:spPr>
          <a:xfrm>
            <a:off x="2286000" y="2377440"/>
            <a:ext cx="45720" cy="164592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68880" y="2331720"/>
            <a:ext cx="3474720" cy="320040"/>
          </a:xfrm>
          <a:prstGeom prst="rect">
            <a:avLst/>
          </a:prstGeom>
          <a:noFill/>
        </p:spPr>
        <p:txBody>
          <a:bodyPr wrap="square">
            <a:spAutoFit/>
          </a:bodyPr>
          <a:lstStyle/>
          <a:p>
            <a:pPr algn="l"/>
            <a:r>
              <a:rPr sz="1400" b="1" i="0">
                <a:solidFill>
                  <a:srgbClr val="0D0D0D"/>
                </a:solidFill>
                <a:latin typeface="Arial"/>
              </a:rPr>
              <a:t>ERA DEL VOLUME</a:t>
            </a:r>
          </a:p>
        </p:txBody>
      </p:sp>
      <p:sp>
        <p:nvSpPr>
          <p:cNvPr id="10" name="TextBox 9"/>
          <p:cNvSpPr txBox="1"/>
          <p:nvPr/>
        </p:nvSpPr>
        <p:spPr>
          <a:xfrm>
            <a:off x="2468880" y="2697480"/>
            <a:ext cx="3657600" cy="1280160"/>
          </a:xfrm>
          <a:prstGeom prst="rect">
            <a:avLst/>
          </a:prstGeom>
          <a:noFill/>
        </p:spPr>
        <p:txBody>
          <a:bodyPr wrap="square">
            <a:spAutoFit/>
          </a:bodyPr>
          <a:lstStyle/>
          <a:p>
            <a:pPr algn="l"/>
            <a:r>
              <a:rPr sz="1200" b="0" i="0">
                <a:solidFill>
                  <a:srgbClr val="6B6B6B"/>
                </a:solidFill>
                <a:latin typeface="Arial"/>
              </a:rPr>
              <a:t>Quante volte mi nominano? Mention, reach, share of voice. Descrizione retrospettiva. Ho fatto questi report nel 2012. Utili per una prima visibilità — limitati a ciò che era già il successo.</a:t>
            </a:r>
          </a:p>
        </p:txBody>
      </p:sp>
      <p:sp>
        <p:nvSpPr>
          <p:cNvPr id="11" name="TextBox 10"/>
          <p:cNvSpPr txBox="1"/>
          <p:nvPr/>
        </p:nvSpPr>
        <p:spPr>
          <a:xfrm>
            <a:off x="822960" y="4480560"/>
            <a:ext cx="1371600" cy="320040"/>
          </a:xfrm>
          <a:prstGeom prst="rect">
            <a:avLst/>
          </a:prstGeom>
          <a:noFill/>
        </p:spPr>
        <p:txBody>
          <a:bodyPr wrap="square">
            <a:spAutoFit/>
          </a:bodyPr>
          <a:lstStyle/>
          <a:p>
            <a:pPr algn="l"/>
            <a:r>
              <a:rPr sz="1100" b="0" i="0">
                <a:solidFill>
                  <a:srgbClr val="6B6B6B"/>
                </a:solidFill>
                <a:latin typeface="Arial"/>
              </a:rPr>
              <a:t>2015–2023</a:t>
            </a:r>
          </a:p>
        </p:txBody>
      </p:sp>
      <p:sp>
        <p:nvSpPr>
          <p:cNvPr id="12" name="Rectangle 11"/>
          <p:cNvSpPr/>
          <p:nvPr/>
        </p:nvSpPr>
        <p:spPr>
          <a:xfrm>
            <a:off x="2286000" y="4526280"/>
            <a:ext cx="45720" cy="164592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68880" y="4480560"/>
            <a:ext cx="3474720" cy="320040"/>
          </a:xfrm>
          <a:prstGeom prst="rect">
            <a:avLst/>
          </a:prstGeom>
          <a:noFill/>
        </p:spPr>
        <p:txBody>
          <a:bodyPr wrap="square">
            <a:spAutoFit/>
          </a:bodyPr>
          <a:lstStyle/>
          <a:p>
            <a:pPr algn="l"/>
            <a:r>
              <a:rPr sz="1400" b="1" i="0">
                <a:solidFill>
                  <a:srgbClr val="0D0D0D"/>
                </a:solidFill>
                <a:latin typeface="Arial"/>
              </a:rPr>
              <a:t>ERA DEL CONTESTO</a:t>
            </a:r>
          </a:p>
        </p:txBody>
      </p:sp>
      <p:sp>
        <p:nvSpPr>
          <p:cNvPr id="14" name="TextBox 13"/>
          <p:cNvSpPr txBox="1"/>
          <p:nvPr/>
        </p:nvSpPr>
        <p:spPr>
          <a:xfrm>
            <a:off x="2468880" y="4846320"/>
            <a:ext cx="3657600" cy="1280160"/>
          </a:xfrm>
          <a:prstGeom prst="rect">
            <a:avLst/>
          </a:prstGeom>
          <a:noFill/>
        </p:spPr>
        <p:txBody>
          <a:bodyPr wrap="square">
            <a:spAutoFit/>
          </a:bodyPr>
          <a:lstStyle/>
          <a:p>
            <a:pPr algn="l"/>
            <a:r>
              <a:rPr sz="1200" b="0" i="0">
                <a:solidFill>
                  <a:srgbClr val="6B6B6B"/>
                </a:solidFill>
                <a:latin typeface="Arial"/>
              </a:rPr>
              <a:t>Cosa sta succedendo e perché? Topic modeling, sentiment driver, community, crisi, reputazione. Ho vissuto questo passaggio. Cambia il tipo di conversazioni con i clienti.</a:t>
            </a:r>
          </a:p>
        </p:txBody>
      </p:sp>
      <p:sp>
        <p:nvSpPr>
          <p:cNvPr id="15" name="Rectangle 14"/>
          <p:cNvSpPr/>
          <p:nvPr/>
        </p:nvSpPr>
        <p:spPr>
          <a:xfrm>
            <a:off x="6309360" y="4480560"/>
            <a:ext cx="1188720" cy="292608"/>
          </a:xfrm>
          <a:prstGeom prst="roundRect">
            <a:avLst>
              <a:gd name="adj" fmla="val 15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507992"/>
            <a:ext cx="1097280" cy="256032"/>
          </a:xfrm>
          <a:prstGeom prst="rect">
            <a:avLst/>
          </a:prstGeom>
          <a:noFill/>
        </p:spPr>
        <p:txBody>
          <a:bodyPr wrap="square">
            <a:spAutoFit/>
          </a:bodyPr>
          <a:lstStyle/>
          <a:p>
            <a:pPr algn="l"/>
            <a:r>
              <a:rPr sz="1000" b="1" i="0">
                <a:solidFill>
                  <a:srgbClr val="FFFFFF"/>
                </a:solidFill>
                <a:latin typeface="Arial"/>
              </a:rPr>
              <a:t>2024 →</a:t>
            </a:r>
          </a:p>
        </p:txBody>
      </p:sp>
      <p:sp>
        <p:nvSpPr>
          <p:cNvPr id="17" name="TextBox 16"/>
          <p:cNvSpPr txBox="1"/>
          <p:nvPr/>
        </p:nvSpPr>
        <p:spPr>
          <a:xfrm>
            <a:off x="7635240" y="4480560"/>
            <a:ext cx="2926080" cy="320040"/>
          </a:xfrm>
          <a:prstGeom prst="rect">
            <a:avLst/>
          </a:prstGeom>
          <a:noFill/>
        </p:spPr>
        <p:txBody>
          <a:bodyPr wrap="square">
            <a:spAutoFit/>
          </a:bodyPr>
          <a:lstStyle/>
          <a:p>
            <a:pPr algn="l"/>
            <a:r>
              <a:rPr sz="1400" b="1" i="0">
                <a:solidFill>
                  <a:srgbClr val="0D0D0D"/>
                </a:solidFill>
                <a:latin typeface="Arial"/>
              </a:rPr>
              <a:t>ERA DEL SEGNALE</a:t>
            </a:r>
          </a:p>
        </p:txBody>
      </p:sp>
      <p:sp>
        <p:nvSpPr>
          <p:cNvPr id="18" name="TextBox 17"/>
          <p:cNvSpPr txBox="1"/>
          <p:nvPr/>
        </p:nvSpPr>
        <p:spPr>
          <a:xfrm>
            <a:off x="7635240" y="4846320"/>
            <a:ext cx="4114800" cy="1371600"/>
          </a:xfrm>
          <a:prstGeom prst="rect">
            <a:avLst/>
          </a:prstGeom>
          <a:noFill/>
        </p:spPr>
        <p:txBody>
          <a:bodyPr wrap="square">
            <a:spAutoFit/>
          </a:bodyPr>
          <a:lstStyle/>
          <a:p>
            <a:pPr algn="l"/>
            <a:r>
              <a:rPr sz="1200" b="0" i="0">
                <a:solidFill>
                  <a:srgbClr val="6B6B6B"/>
                </a:solidFill>
                <a:latin typeface="Arial"/>
              </a:rPr>
              <a:t>Quale segnale anticipa la prossima decisione? Frizioni, pattern emergenti, micro-cluster, rischi latenti, opportunità pre-mainstream. L'AI riduce il costo della sintesi. L'interpretazione diventa il vero valore.</a:t>
            </a:r>
          </a:p>
        </p:txBody>
      </p:sp>
      <p:sp>
        <p:nvSpPr>
          <p:cNvPr id="19" name="Rectangle 18"/>
          <p:cNvSpPr/>
          <p:nvPr/>
        </p:nvSpPr>
        <p:spPr>
          <a:xfrm>
            <a:off x="7772400" y="4389120"/>
            <a:ext cx="4114800" cy="914400"/>
          </a:xfrm>
          <a:prstGeom prst="roundRect">
            <a:avLst>
              <a:gd name="adj" fmla="val 15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79" y="4462272"/>
            <a:ext cx="3749039" cy="777240"/>
          </a:xfrm>
          <a:prstGeom prst="rect">
            <a:avLst/>
          </a:prstGeom>
          <a:noFill/>
        </p:spPr>
        <p:txBody>
          <a:bodyPr wrap="square">
            <a:spAutoFit/>
          </a:bodyPr>
          <a:lstStyle/>
          <a:p>
            <a:pPr algn="l"/>
            <a:r>
              <a:rPr sz="1100" b="0" i="1">
                <a:solidFill>
                  <a:srgbClr val="6B6B6B"/>
                </a:solidFill>
                <a:latin typeface="Arial"/>
              </a:rPr>
              <a:t>"Il volume racconta dove guardano tutti. La forma del rumore racconta dove si nasconde il vantaggio."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TextBox 3"/>
          <p:cNvSpPr txBox="1"/>
          <p:nvPr/>
        </p:nvSpPr>
        <p:spPr>
          <a:xfrm>
            <a:off x="822960" y="1463040"/>
            <a:ext cx="10515600" cy="2926080"/>
          </a:xfrm>
          <a:prstGeom prst="rect">
            <a:avLst/>
          </a:prstGeom>
          <a:noFill/>
        </p:spPr>
        <p:txBody>
          <a:bodyPr wrap="square">
            <a:spAutoFit/>
          </a:bodyPr>
          <a:lstStyle/>
          <a:p>
            <a:pPr algn="l"/>
            <a:r>
              <a:rPr sz="4800" b="1" i="0">
                <a:solidFill>
                  <a:srgbClr val="FFFFFF"/>
                </a:solidFill>
                <a:latin typeface="Arial Black"/>
              </a:rPr>
              <a:t>"Il calcio è semplice. Ma
giocare a calcio in modo
semplice è la cosa più
difficile che esista."</a:t>
            </a:r>
          </a:p>
        </p:txBody>
      </p:sp>
      <p:sp>
        <p:nvSpPr>
          <p:cNvPr id="5" name="TextBox 4"/>
          <p:cNvSpPr txBox="1"/>
          <p:nvPr/>
        </p:nvSpPr>
        <p:spPr>
          <a:xfrm>
            <a:off x="822960" y="4526280"/>
            <a:ext cx="3657600" cy="365760"/>
          </a:xfrm>
          <a:prstGeom prst="rect">
            <a:avLst/>
          </a:prstGeom>
          <a:noFill/>
        </p:spPr>
        <p:txBody>
          <a:bodyPr wrap="square">
            <a:spAutoFit/>
          </a:bodyPr>
          <a:lstStyle/>
          <a:p>
            <a:pPr algn="l"/>
            <a:r>
              <a:rPr sz="1400" b="0" i="1">
                <a:solidFill>
                  <a:srgbClr val="6B6B6B"/>
                </a:solidFill>
                <a:latin typeface="Arial"/>
              </a:rPr>
              <a:t>— Johan Cruyff</a:t>
            </a:r>
          </a:p>
        </p:txBody>
      </p:sp>
      <p:sp>
        <p:nvSpPr>
          <p:cNvPr id="6" name="TextBox 5"/>
          <p:cNvSpPr txBox="1"/>
          <p:nvPr/>
        </p:nvSpPr>
        <p:spPr>
          <a:xfrm>
            <a:off x="822960" y="5074920"/>
            <a:ext cx="6400800" cy="365760"/>
          </a:xfrm>
          <a:prstGeom prst="rect">
            <a:avLst/>
          </a:prstGeom>
          <a:noFill/>
        </p:spPr>
        <p:txBody>
          <a:bodyPr wrap="square">
            <a:spAutoFit/>
          </a:bodyPr>
          <a:lstStyle/>
          <a:p>
            <a:pPr algn="l"/>
            <a:r>
              <a:rPr sz="1300" b="0" i="0">
                <a:solidFill>
                  <a:srgbClr val="6B6B6B"/>
                </a:solidFill>
                <a:latin typeface="Arial"/>
              </a:rPr>
              <a:t>Il nostro mestiere. L'AI non lo cambia — lo amplifica.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TextBox 3"/>
          <p:cNvSpPr txBox="1"/>
          <p:nvPr/>
        </p:nvSpPr>
        <p:spPr>
          <a:xfrm>
            <a:off x="822960" y="731520"/>
            <a:ext cx="1828800" cy="274320"/>
          </a:xfrm>
          <a:prstGeom prst="rect">
            <a:avLst/>
          </a:prstGeom>
          <a:noFill/>
        </p:spPr>
        <p:txBody>
          <a:bodyPr wrap="square">
            <a:spAutoFit/>
          </a:bodyPr>
          <a:lstStyle/>
          <a:p>
            <a:pPr algn="l"/>
            <a:r>
              <a:rPr sz="900" b="0" i="0">
                <a:solidFill>
                  <a:srgbClr val="6B6B6B"/>
                </a:solidFill>
                <a:latin typeface="Arial"/>
              </a:rPr>
              <a:t>CAP 7</a:t>
            </a:r>
          </a:p>
        </p:txBody>
      </p:sp>
      <p:sp>
        <p:nvSpPr>
          <p:cNvPr id="5" name="TextBox 4"/>
          <p:cNvSpPr txBox="1"/>
          <p:nvPr/>
        </p:nvSpPr>
        <p:spPr>
          <a:xfrm>
            <a:off x="822960" y="822960"/>
            <a:ext cx="8229600" cy="1097280"/>
          </a:xfrm>
          <a:prstGeom prst="rect">
            <a:avLst/>
          </a:prstGeom>
          <a:noFill/>
        </p:spPr>
        <p:txBody>
          <a:bodyPr wrap="square">
            <a:spAutoFit/>
          </a:bodyPr>
          <a:lstStyle/>
          <a:p>
            <a:pPr algn="l"/>
            <a:r>
              <a:rPr sz="5800" b="1" i="0">
                <a:solidFill>
                  <a:srgbClr val="0D0D0D"/>
                </a:solidFill>
                <a:latin typeface="Arial Black"/>
              </a:rPr>
              <a:t>AI &amp; ANALISTA</a:t>
            </a:r>
          </a:p>
        </p:txBody>
      </p:sp>
      <p:sp>
        <p:nvSpPr>
          <p:cNvPr id="6" name="TextBox 5"/>
          <p:cNvSpPr txBox="1"/>
          <p:nvPr/>
        </p:nvSpPr>
        <p:spPr>
          <a:xfrm>
            <a:off x="822960" y="1874519"/>
            <a:ext cx="8229600" cy="320040"/>
          </a:xfrm>
          <a:prstGeom prst="rect">
            <a:avLst/>
          </a:prstGeom>
          <a:noFill/>
        </p:spPr>
        <p:txBody>
          <a:bodyPr wrap="square">
            <a:spAutoFit/>
          </a:bodyPr>
          <a:lstStyle/>
          <a:p>
            <a:pPr algn="l"/>
            <a:r>
              <a:rPr sz="1600" b="1" i="0">
                <a:solidFill>
                  <a:srgbClr val="0D0D0D"/>
                </a:solidFill>
                <a:latin typeface="Arial"/>
              </a:rPr>
              <a:t>L'AI non fa il tuo lavoro. Fa il lavoro che ti impediva di farlo.</a:t>
            </a:r>
          </a:p>
        </p:txBody>
      </p:sp>
      <p:sp>
        <p:nvSpPr>
          <p:cNvPr id="7" name="TextBox 6"/>
          <p:cNvSpPr txBox="1"/>
          <p:nvPr/>
        </p:nvSpPr>
        <p:spPr>
          <a:xfrm>
            <a:off x="822960" y="2267712"/>
            <a:ext cx="8229600" cy="274320"/>
          </a:xfrm>
          <a:prstGeom prst="rect">
            <a:avLst/>
          </a:prstGeom>
          <a:noFill/>
        </p:spPr>
        <p:txBody>
          <a:bodyPr wrap="square">
            <a:spAutoFit/>
          </a:bodyPr>
          <a:lstStyle/>
          <a:p>
            <a:pPr algn="l"/>
            <a:r>
              <a:rPr sz="1250" b="0" i="0">
                <a:solidFill>
                  <a:srgbClr val="6B6B6B"/>
                </a:solidFill>
                <a:latin typeface="Arial"/>
              </a:rPr>
              <a:t>Domanda sbagliata: "L'AI mi sostituirà?" — Domanda giusta: "Cosa posso fare adesso che prima non potevo?"</a:t>
            </a:r>
          </a:p>
        </p:txBody>
      </p:sp>
      <p:sp>
        <p:nvSpPr>
          <p:cNvPr id="8" name="Rectangle 7"/>
          <p:cNvSpPr/>
          <p:nvPr/>
        </p:nvSpPr>
        <p:spPr>
          <a:xfrm>
            <a:off x="822960" y="2743200"/>
            <a:ext cx="5394960" cy="3108960"/>
          </a:xfrm>
          <a:prstGeom prst="roundRect">
            <a:avLst>
              <a:gd name="adj" fmla="val 22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07792"/>
            <a:ext cx="3200400" cy="256032"/>
          </a:xfrm>
          <a:prstGeom prst="rect">
            <a:avLst/>
          </a:prstGeom>
          <a:noFill/>
        </p:spPr>
        <p:txBody>
          <a:bodyPr wrap="square">
            <a:spAutoFit/>
          </a:bodyPr>
          <a:lstStyle/>
          <a:p>
            <a:pPr algn="l"/>
            <a:r>
              <a:rPr sz="900" b="1" i="0">
                <a:solidFill>
                  <a:srgbClr val="6B6B6B"/>
                </a:solidFill>
                <a:latin typeface="Arial"/>
              </a:rPr>
              <a:t>TASK LAYER — COSA ACCELERA L'AI</a:t>
            </a:r>
          </a:p>
        </p:txBody>
      </p:sp>
      <p:sp>
        <p:nvSpPr>
          <p:cNvPr id="10" name="TextBox 9"/>
          <p:cNvSpPr txBox="1"/>
          <p:nvPr/>
        </p:nvSpPr>
        <p:spPr>
          <a:xfrm>
            <a:off x="1097280" y="3218688"/>
            <a:ext cx="4846320" cy="457200"/>
          </a:xfrm>
          <a:prstGeom prst="rect">
            <a:avLst/>
          </a:prstGeom>
          <a:noFill/>
        </p:spPr>
        <p:txBody>
          <a:bodyPr wrap="square">
            <a:spAutoFit/>
          </a:bodyPr>
          <a:lstStyle/>
          <a:p>
            <a:pPr algn="l"/>
            <a:r>
              <a:rPr sz="1350" b="1" i="0">
                <a:solidFill>
                  <a:srgbClr val="0D0D0D"/>
                </a:solidFill>
                <a:latin typeface="Arial"/>
              </a:rPr>
              <a:t>Un collaboratore che non dorme. Legge un milione di conversazioni in un'ora.</a:t>
            </a:r>
          </a:p>
        </p:txBody>
      </p:sp>
      <p:sp>
        <p:nvSpPr>
          <p:cNvPr id="11" name="TextBox 10"/>
          <p:cNvSpPr txBox="1"/>
          <p:nvPr/>
        </p:nvSpPr>
        <p:spPr>
          <a:xfrm>
            <a:off x="1097280" y="3794760"/>
            <a:ext cx="4846320" cy="347472"/>
          </a:xfrm>
          <a:prstGeom prst="rect">
            <a:avLst/>
          </a:prstGeom>
          <a:noFill/>
        </p:spPr>
        <p:txBody>
          <a:bodyPr wrap="square">
            <a:spAutoFit/>
          </a:bodyPr>
          <a:lstStyle/>
          <a:p>
            <a:pPr algn="l"/>
            <a:r>
              <a:rPr sz="1300" b="0" i="0">
                <a:solidFill>
                  <a:srgbClr val="0D0D0D"/>
                </a:solidFill>
                <a:latin typeface="Arial"/>
              </a:rPr>
              <a:t>＋  Sintesi di volumi enormi</a:t>
            </a:r>
          </a:p>
        </p:txBody>
      </p:sp>
      <p:sp>
        <p:nvSpPr>
          <p:cNvPr id="12" name="TextBox 11"/>
          <p:cNvSpPr txBox="1"/>
          <p:nvPr/>
        </p:nvSpPr>
        <p:spPr>
          <a:xfrm>
            <a:off x="1097280" y="4178808"/>
            <a:ext cx="4846320" cy="347472"/>
          </a:xfrm>
          <a:prstGeom prst="rect">
            <a:avLst/>
          </a:prstGeom>
          <a:noFill/>
        </p:spPr>
        <p:txBody>
          <a:bodyPr wrap="square">
            <a:spAutoFit/>
          </a:bodyPr>
          <a:lstStyle/>
          <a:p>
            <a:pPr algn="l"/>
            <a:r>
              <a:rPr sz="1300" b="0" i="0">
                <a:solidFill>
                  <a:srgbClr val="0D0D0D"/>
                </a:solidFill>
                <a:latin typeface="Arial"/>
              </a:rPr>
              <a:t>＋  Clustering, tagging, classificazione a scala</a:t>
            </a:r>
          </a:p>
        </p:txBody>
      </p:sp>
      <p:sp>
        <p:nvSpPr>
          <p:cNvPr id="13" name="TextBox 12"/>
          <p:cNvSpPr txBox="1"/>
          <p:nvPr/>
        </p:nvSpPr>
        <p:spPr>
          <a:xfrm>
            <a:off x="1097280" y="4562856"/>
            <a:ext cx="4846320" cy="347472"/>
          </a:xfrm>
          <a:prstGeom prst="rect">
            <a:avLst/>
          </a:prstGeom>
          <a:noFill/>
        </p:spPr>
        <p:txBody>
          <a:bodyPr wrap="square">
            <a:spAutoFit/>
          </a:bodyPr>
          <a:lstStyle/>
          <a:p>
            <a:pPr algn="l"/>
            <a:r>
              <a:rPr sz="1300" b="0" i="0">
                <a:solidFill>
                  <a:srgbClr val="0D0D0D"/>
                </a:solidFill>
                <a:latin typeface="Arial"/>
              </a:rPr>
              <a:t>＋  Riconoscimento pattern e correlazioni</a:t>
            </a:r>
          </a:p>
        </p:txBody>
      </p:sp>
      <p:sp>
        <p:nvSpPr>
          <p:cNvPr id="14" name="TextBox 13"/>
          <p:cNvSpPr txBox="1"/>
          <p:nvPr/>
        </p:nvSpPr>
        <p:spPr>
          <a:xfrm>
            <a:off x="1097280" y="4946904"/>
            <a:ext cx="4846320" cy="347472"/>
          </a:xfrm>
          <a:prstGeom prst="rect">
            <a:avLst/>
          </a:prstGeom>
          <a:noFill/>
        </p:spPr>
        <p:txBody>
          <a:bodyPr wrap="square">
            <a:spAutoFit/>
          </a:bodyPr>
          <a:lstStyle/>
          <a:p>
            <a:pPr algn="l"/>
            <a:r>
              <a:rPr sz="1300" b="0" i="0">
                <a:solidFill>
                  <a:srgbClr val="0D0D0D"/>
                </a:solidFill>
                <a:latin typeface="Arial"/>
              </a:rPr>
              <a:t>＋  Generazione bozze, esplorazione ipotesi rapida</a:t>
            </a:r>
          </a:p>
        </p:txBody>
      </p:sp>
      <p:sp>
        <p:nvSpPr>
          <p:cNvPr id="15" name="Rectangle 14"/>
          <p:cNvSpPr/>
          <p:nvPr/>
        </p:nvSpPr>
        <p:spPr>
          <a:xfrm>
            <a:off x="6446520" y="2743200"/>
            <a:ext cx="5394960" cy="3108960"/>
          </a:xfrm>
          <a:prstGeom prst="roundRect">
            <a:avLst>
              <a:gd name="adj" fmla="val 22000"/>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2907792"/>
            <a:ext cx="3657600" cy="256032"/>
          </a:xfrm>
          <a:prstGeom prst="rect">
            <a:avLst/>
          </a:prstGeom>
          <a:noFill/>
        </p:spPr>
        <p:txBody>
          <a:bodyPr wrap="square">
            <a:spAutoFit/>
          </a:bodyPr>
          <a:lstStyle/>
          <a:p>
            <a:pPr algn="l"/>
            <a:r>
              <a:rPr sz="900" b="1" i="0">
                <a:solidFill>
                  <a:srgbClr val="6B6B6B"/>
                </a:solidFill>
                <a:latin typeface="Arial"/>
              </a:rPr>
              <a:t>JUDGEMENT LAYER — COSA RESTA UMANO</a:t>
            </a:r>
          </a:p>
        </p:txBody>
      </p:sp>
      <p:sp>
        <p:nvSpPr>
          <p:cNvPr id="17" name="TextBox 16"/>
          <p:cNvSpPr txBox="1"/>
          <p:nvPr/>
        </p:nvSpPr>
        <p:spPr>
          <a:xfrm>
            <a:off x="6720840" y="3218688"/>
            <a:ext cx="4846320" cy="457200"/>
          </a:xfrm>
          <a:prstGeom prst="rect">
            <a:avLst/>
          </a:prstGeom>
          <a:noFill/>
        </p:spPr>
        <p:txBody>
          <a:bodyPr wrap="square">
            <a:spAutoFit/>
          </a:bodyPr>
          <a:lstStyle/>
          <a:p>
            <a:pPr algn="l"/>
            <a:r>
              <a:rPr sz="1350" b="1" i="0">
                <a:solidFill>
                  <a:srgbClr val="FFE600"/>
                </a:solidFill>
                <a:latin typeface="Arial"/>
              </a:rPr>
              <a:t>Queste non sono attività di contorno. Sono il mestiere.</a:t>
            </a:r>
          </a:p>
        </p:txBody>
      </p:sp>
      <p:sp>
        <p:nvSpPr>
          <p:cNvPr id="18" name="TextBox 17"/>
          <p:cNvSpPr txBox="1"/>
          <p:nvPr/>
        </p:nvSpPr>
        <p:spPr>
          <a:xfrm>
            <a:off x="6720840" y="3794760"/>
            <a:ext cx="4846320" cy="347472"/>
          </a:xfrm>
          <a:prstGeom prst="rect">
            <a:avLst/>
          </a:prstGeom>
          <a:noFill/>
        </p:spPr>
        <p:txBody>
          <a:bodyPr wrap="square">
            <a:spAutoFit/>
          </a:bodyPr>
          <a:lstStyle/>
          <a:p>
            <a:pPr algn="l"/>
            <a:r>
              <a:rPr sz="1300" b="0" i="0">
                <a:solidFill>
                  <a:srgbClr val="FFFFFF"/>
                </a:solidFill>
                <a:latin typeface="Arial"/>
              </a:rPr>
              <a:t>＋  Formulare la domanda di business giusta</a:t>
            </a:r>
          </a:p>
        </p:txBody>
      </p:sp>
      <p:sp>
        <p:nvSpPr>
          <p:cNvPr id="19" name="TextBox 18"/>
          <p:cNvSpPr txBox="1"/>
          <p:nvPr/>
        </p:nvSpPr>
        <p:spPr>
          <a:xfrm>
            <a:off x="6720840" y="4178808"/>
            <a:ext cx="4846320" cy="347472"/>
          </a:xfrm>
          <a:prstGeom prst="rect">
            <a:avLst/>
          </a:prstGeom>
          <a:noFill/>
        </p:spPr>
        <p:txBody>
          <a:bodyPr wrap="square">
            <a:spAutoFit/>
          </a:bodyPr>
          <a:lstStyle/>
          <a:p>
            <a:pPr algn="l"/>
            <a:r>
              <a:rPr sz="1300" b="0" i="0">
                <a:solidFill>
                  <a:srgbClr val="FFFFFF"/>
                </a:solidFill>
                <a:latin typeface="Arial"/>
              </a:rPr>
              <a:t>＋  Validare l'affidabilità del dato</a:t>
            </a:r>
          </a:p>
        </p:txBody>
      </p:sp>
      <p:sp>
        <p:nvSpPr>
          <p:cNvPr id="20" name="TextBox 19"/>
          <p:cNvSpPr txBox="1"/>
          <p:nvPr/>
        </p:nvSpPr>
        <p:spPr>
          <a:xfrm>
            <a:off x="6720840" y="4562856"/>
            <a:ext cx="4846320" cy="347472"/>
          </a:xfrm>
          <a:prstGeom prst="rect">
            <a:avLst/>
          </a:prstGeom>
          <a:noFill/>
        </p:spPr>
        <p:txBody>
          <a:bodyPr wrap="square">
            <a:spAutoFit/>
          </a:bodyPr>
          <a:lstStyle/>
          <a:p>
            <a:pPr algn="l"/>
            <a:r>
              <a:rPr sz="1300" b="0" i="0">
                <a:solidFill>
                  <a:srgbClr val="FFFFFF"/>
                </a:solidFill>
                <a:latin typeface="Arial"/>
              </a:rPr>
              <a:t>＋  Riconoscere bias e contesto culturale</a:t>
            </a:r>
          </a:p>
        </p:txBody>
      </p:sp>
      <p:sp>
        <p:nvSpPr>
          <p:cNvPr id="21" name="TextBox 20"/>
          <p:cNvSpPr txBox="1"/>
          <p:nvPr/>
        </p:nvSpPr>
        <p:spPr>
          <a:xfrm>
            <a:off x="6720840" y="4946904"/>
            <a:ext cx="4846320" cy="347472"/>
          </a:xfrm>
          <a:prstGeom prst="rect">
            <a:avLst/>
          </a:prstGeom>
          <a:noFill/>
        </p:spPr>
        <p:txBody>
          <a:bodyPr wrap="square">
            <a:spAutoFit/>
          </a:bodyPr>
          <a:lstStyle/>
          <a:p>
            <a:pPr algn="l"/>
            <a:r>
              <a:rPr sz="1300" b="0" i="0">
                <a:solidFill>
                  <a:srgbClr val="FFFFFF"/>
                </a:solidFill>
                <a:latin typeface="Arial"/>
              </a:rPr>
              <a:t>＋  Portare una verità scomoda nella stanza giusta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TextBox 3"/>
          <p:cNvSpPr txBox="1"/>
          <p:nvPr/>
        </p:nvSpPr>
        <p:spPr>
          <a:xfrm>
            <a:off x="822960" y="640080"/>
            <a:ext cx="8229600" cy="1097280"/>
          </a:xfrm>
          <a:prstGeom prst="rect">
            <a:avLst/>
          </a:prstGeom>
          <a:noFill/>
        </p:spPr>
        <p:txBody>
          <a:bodyPr wrap="square">
            <a:spAutoFit/>
          </a:bodyPr>
          <a:lstStyle/>
          <a:p>
            <a:pPr algn="l"/>
            <a:r>
              <a:rPr sz="5200" b="1" i="0">
                <a:solidFill>
                  <a:srgbClr val="0D0D0D"/>
                </a:solidFill>
                <a:latin typeface="Arial Black"/>
              </a:rPr>
              <a:t>IL NUOVO WORKFLOW</a:t>
            </a:r>
          </a:p>
        </p:txBody>
      </p:sp>
      <p:sp>
        <p:nvSpPr>
          <p:cNvPr id="5" name="TextBox 4"/>
          <p:cNvSpPr txBox="1"/>
          <p:nvPr/>
        </p:nvSpPr>
        <p:spPr>
          <a:xfrm>
            <a:off x="822960" y="1691640"/>
            <a:ext cx="7315200" cy="548640"/>
          </a:xfrm>
          <a:prstGeom prst="rect">
            <a:avLst/>
          </a:prstGeom>
          <a:noFill/>
        </p:spPr>
        <p:txBody>
          <a:bodyPr wrap="square">
            <a:spAutoFit/>
          </a:bodyPr>
          <a:lstStyle/>
          <a:p>
            <a:pPr algn="l"/>
            <a:r>
              <a:rPr sz="1350" b="0" i="0">
                <a:solidFill>
                  <a:srgbClr val="6B6B6B"/>
                </a:solidFill>
                <a:latin typeface="Arial"/>
              </a:rPr>
              <a:t>Ecco come cambia il metodo. Dal 'apri il tool, digita il brand' al 'parti dalla decisione che devi supportare'.</a:t>
            </a:r>
          </a:p>
        </p:txBody>
      </p:sp>
      <p:sp>
        <p:nvSpPr>
          <p:cNvPr id="6" name="Rectangle 5"/>
          <p:cNvSpPr/>
          <p:nvPr/>
        </p:nvSpPr>
        <p:spPr>
          <a:xfrm>
            <a:off x="822960" y="2423160"/>
            <a:ext cx="2148840" cy="3931920"/>
          </a:xfrm>
          <a:prstGeom prst="roundRect">
            <a:avLst>
              <a:gd name="adj" fmla="val 2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78608"/>
            <a:ext cx="822960" cy="640080"/>
          </a:xfrm>
          <a:prstGeom prst="rect">
            <a:avLst/>
          </a:prstGeom>
          <a:noFill/>
        </p:spPr>
        <p:txBody>
          <a:bodyPr wrap="square">
            <a:spAutoFit/>
          </a:bodyPr>
          <a:lstStyle/>
          <a:p>
            <a:pPr algn="l"/>
            <a:r>
              <a:rPr sz="3200" b="1" i="0">
                <a:solidFill>
                  <a:srgbClr val="FFE600"/>
                </a:solidFill>
                <a:latin typeface="Arial Black"/>
              </a:rPr>
              <a:t>01</a:t>
            </a:r>
          </a:p>
        </p:txBody>
      </p:sp>
      <p:sp>
        <p:nvSpPr>
          <p:cNvPr id="8" name="TextBox 7"/>
          <p:cNvSpPr txBox="1"/>
          <p:nvPr/>
        </p:nvSpPr>
        <p:spPr>
          <a:xfrm>
            <a:off x="1051560" y="3246120"/>
            <a:ext cx="1691640" cy="384048"/>
          </a:xfrm>
          <a:prstGeom prst="rect">
            <a:avLst/>
          </a:prstGeom>
          <a:noFill/>
        </p:spPr>
        <p:txBody>
          <a:bodyPr wrap="square">
            <a:spAutoFit/>
          </a:bodyPr>
          <a:lstStyle/>
          <a:p>
            <a:pPr algn="l"/>
            <a:r>
              <a:rPr sz="1100" b="1" i="0">
                <a:solidFill>
                  <a:srgbClr val="0D0D0D"/>
                </a:solidFill>
                <a:latin typeface="Arial"/>
              </a:rPr>
              <a:t>DOMANDA DI BUSINESS</a:t>
            </a:r>
          </a:p>
        </p:txBody>
      </p:sp>
      <p:sp>
        <p:nvSpPr>
          <p:cNvPr id="9" name="TextBox 8"/>
          <p:cNvSpPr txBox="1"/>
          <p:nvPr/>
        </p:nvSpPr>
        <p:spPr>
          <a:xfrm>
            <a:off x="1051560" y="3675887"/>
            <a:ext cx="1691640" cy="2468880"/>
          </a:xfrm>
          <a:prstGeom prst="rect">
            <a:avLst/>
          </a:prstGeom>
          <a:noFill/>
        </p:spPr>
        <p:txBody>
          <a:bodyPr wrap="square">
            <a:spAutoFit/>
          </a:bodyPr>
          <a:lstStyle/>
          <a:p>
            <a:pPr algn="l"/>
            <a:r>
              <a:rPr sz="1150" b="0" i="0">
                <a:solidFill>
                  <a:srgbClr val="6B6B6B"/>
                </a:solidFill>
                <a:latin typeface="Arial"/>
              </a:rPr>
              <a:t>Non 'cosa succede sul brand?' ma 'perché i nuovi clienti non convertono?'. La domanda precede tutto.</a:t>
            </a:r>
          </a:p>
        </p:txBody>
      </p:sp>
      <p:sp>
        <p:nvSpPr>
          <p:cNvPr id="10" name="Rectangle 9"/>
          <p:cNvSpPr/>
          <p:nvPr/>
        </p:nvSpPr>
        <p:spPr>
          <a:xfrm>
            <a:off x="3099816" y="2423160"/>
            <a:ext cx="2148840" cy="3931920"/>
          </a:xfrm>
          <a:prstGeom prst="roundRect">
            <a:avLst>
              <a:gd name="adj" fmla="val 2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28416" y="2578608"/>
            <a:ext cx="822960" cy="640080"/>
          </a:xfrm>
          <a:prstGeom prst="rect">
            <a:avLst/>
          </a:prstGeom>
          <a:noFill/>
        </p:spPr>
        <p:txBody>
          <a:bodyPr wrap="square">
            <a:spAutoFit/>
          </a:bodyPr>
          <a:lstStyle/>
          <a:p>
            <a:pPr algn="l"/>
            <a:r>
              <a:rPr sz="3200" b="1" i="0">
                <a:solidFill>
                  <a:srgbClr val="6E5CF6"/>
                </a:solidFill>
                <a:latin typeface="Arial Black"/>
              </a:rPr>
              <a:t>02</a:t>
            </a:r>
          </a:p>
        </p:txBody>
      </p:sp>
      <p:sp>
        <p:nvSpPr>
          <p:cNvPr id="12" name="TextBox 11"/>
          <p:cNvSpPr txBox="1"/>
          <p:nvPr/>
        </p:nvSpPr>
        <p:spPr>
          <a:xfrm>
            <a:off x="3328416" y="3246120"/>
            <a:ext cx="1691640" cy="384048"/>
          </a:xfrm>
          <a:prstGeom prst="rect">
            <a:avLst/>
          </a:prstGeom>
          <a:noFill/>
        </p:spPr>
        <p:txBody>
          <a:bodyPr wrap="square">
            <a:spAutoFit/>
          </a:bodyPr>
          <a:lstStyle/>
          <a:p>
            <a:pPr algn="l"/>
            <a:r>
              <a:rPr sz="1100" b="1" i="0">
                <a:solidFill>
                  <a:srgbClr val="0D0D0D"/>
                </a:solidFill>
                <a:latin typeface="Arial"/>
              </a:rPr>
              <a:t>FONTI GIUSTE</a:t>
            </a:r>
          </a:p>
        </p:txBody>
      </p:sp>
      <p:sp>
        <p:nvSpPr>
          <p:cNvPr id="13" name="TextBox 12"/>
          <p:cNvSpPr txBox="1"/>
          <p:nvPr/>
        </p:nvSpPr>
        <p:spPr>
          <a:xfrm>
            <a:off x="3328416" y="3675887"/>
            <a:ext cx="1691640" cy="2468880"/>
          </a:xfrm>
          <a:prstGeom prst="rect">
            <a:avLst/>
          </a:prstGeom>
          <a:noFill/>
        </p:spPr>
        <p:txBody>
          <a:bodyPr wrap="square">
            <a:spAutoFit/>
          </a:bodyPr>
          <a:lstStyle/>
          <a:p>
            <a:pPr algn="l"/>
            <a:r>
              <a:rPr sz="1150" b="0" i="0">
                <a:solidFill>
                  <a:srgbClr val="6B6B6B"/>
                </a:solidFill>
                <a:latin typeface="Arial"/>
              </a:rPr>
              <a:t>Non una fonte — le fonti giuste per quella domanda. Ogni fonte vede una parte diversa del mercato. [SL] [CRM] [Search]</a:t>
            </a:r>
          </a:p>
        </p:txBody>
      </p:sp>
      <p:sp>
        <p:nvSpPr>
          <p:cNvPr id="14" name="Rectangle 13"/>
          <p:cNvSpPr/>
          <p:nvPr/>
        </p:nvSpPr>
        <p:spPr>
          <a:xfrm>
            <a:off x="5376672" y="2423160"/>
            <a:ext cx="2148840" cy="3931920"/>
          </a:xfrm>
          <a:prstGeom prst="roundRect">
            <a:avLst>
              <a:gd name="adj" fmla="val 2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05272" y="2578608"/>
            <a:ext cx="822960" cy="640080"/>
          </a:xfrm>
          <a:prstGeom prst="rect">
            <a:avLst/>
          </a:prstGeom>
          <a:noFill/>
        </p:spPr>
        <p:txBody>
          <a:bodyPr wrap="square">
            <a:spAutoFit/>
          </a:bodyPr>
          <a:lstStyle/>
          <a:p>
            <a:pPr algn="l"/>
            <a:r>
              <a:rPr sz="3200" b="1" i="0">
                <a:solidFill>
                  <a:srgbClr val="FFFFFF"/>
                </a:solidFill>
                <a:latin typeface="Arial Black"/>
              </a:rPr>
              <a:t>03</a:t>
            </a:r>
          </a:p>
        </p:txBody>
      </p:sp>
      <p:sp>
        <p:nvSpPr>
          <p:cNvPr id="16" name="TextBox 15"/>
          <p:cNvSpPr txBox="1"/>
          <p:nvPr/>
        </p:nvSpPr>
        <p:spPr>
          <a:xfrm>
            <a:off x="5605272" y="3246120"/>
            <a:ext cx="1691640" cy="384048"/>
          </a:xfrm>
          <a:prstGeom prst="rect">
            <a:avLst/>
          </a:prstGeom>
          <a:noFill/>
        </p:spPr>
        <p:txBody>
          <a:bodyPr wrap="square">
            <a:spAutoFit/>
          </a:bodyPr>
          <a:lstStyle/>
          <a:p>
            <a:pPr algn="l"/>
            <a:r>
              <a:rPr sz="1100" b="1" i="0">
                <a:solidFill>
                  <a:srgbClr val="FFFFFF"/>
                </a:solidFill>
                <a:latin typeface="Arial"/>
              </a:rPr>
              <a:t>SINTESI AI</a:t>
            </a:r>
          </a:p>
        </p:txBody>
      </p:sp>
      <p:sp>
        <p:nvSpPr>
          <p:cNvPr id="17" name="TextBox 16"/>
          <p:cNvSpPr txBox="1"/>
          <p:nvPr/>
        </p:nvSpPr>
        <p:spPr>
          <a:xfrm>
            <a:off x="5605272" y="3675887"/>
            <a:ext cx="1691640" cy="2468880"/>
          </a:xfrm>
          <a:prstGeom prst="rect">
            <a:avLst/>
          </a:prstGeom>
          <a:noFill/>
        </p:spPr>
        <p:txBody>
          <a:bodyPr wrap="square">
            <a:spAutoFit/>
          </a:bodyPr>
          <a:lstStyle/>
          <a:p>
            <a:pPr algn="l"/>
            <a:r>
              <a:rPr sz="1150" b="0" i="0">
                <a:solidFill>
                  <a:srgbClr val="AAAAAA"/>
                </a:solidFill>
                <a:latin typeface="Arial"/>
              </a:rPr>
              <a:t>L'AI sintetizza, raggruppa, identifica pattern a scala. Task Layer in azione — veloce, instancabile. [Claude] [GPT]</a:t>
            </a:r>
          </a:p>
        </p:txBody>
      </p:sp>
      <p:sp>
        <p:nvSpPr>
          <p:cNvPr id="18" name="Rectangle 17"/>
          <p:cNvSpPr/>
          <p:nvPr/>
        </p:nvSpPr>
        <p:spPr>
          <a:xfrm>
            <a:off x="7653528" y="2423160"/>
            <a:ext cx="2148840" cy="3931920"/>
          </a:xfrm>
          <a:prstGeom prst="roundRect">
            <a:avLst>
              <a:gd name="adj" fmla="val 2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2578608"/>
            <a:ext cx="822960" cy="640080"/>
          </a:xfrm>
          <a:prstGeom prst="rect">
            <a:avLst/>
          </a:prstGeom>
          <a:noFill/>
        </p:spPr>
        <p:txBody>
          <a:bodyPr wrap="square">
            <a:spAutoFit/>
          </a:bodyPr>
          <a:lstStyle/>
          <a:p>
            <a:pPr algn="l"/>
            <a:r>
              <a:rPr sz="3200" b="1" i="0">
                <a:solidFill>
                  <a:srgbClr val="FFFFFF"/>
                </a:solidFill>
                <a:latin typeface="Arial Black"/>
              </a:rPr>
              <a:t>04</a:t>
            </a:r>
          </a:p>
        </p:txBody>
      </p:sp>
      <p:sp>
        <p:nvSpPr>
          <p:cNvPr id="20" name="TextBox 19"/>
          <p:cNvSpPr txBox="1"/>
          <p:nvPr/>
        </p:nvSpPr>
        <p:spPr>
          <a:xfrm>
            <a:off x="7882128" y="3246120"/>
            <a:ext cx="1691640" cy="384048"/>
          </a:xfrm>
          <a:prstGeom prst="rect">
            <a:avLst/>
          </a:prstGeom>
          <a:noFill/>
        </p:spPr>
        <p:txBody>
          <a:bodyPr wrap="square">
            <a:spAutoFit/>
          </a:bodyPr>
          <a:lstStyle/>
          <a:p>
            <a:pPr algn="l"/>
            <a:r>
              <a:rPr sz="1100" b="1" i="0">
                <a:solidFill>
                  <a:srgbClr val="FFFFFF"/>
                </a:solidFill>
                <a:latin typeface="Arial"/>
              </a:rPr>
              <a:t>VALIDAZIONE UMANA</a:t>
            </a:r>
          </a:p>
        </p:txBody>
      </p:sp>
      <p:sp>
        <p:nvSpPr>
          <p:cNvPr id="21" name="TextBox 20"/>
          <p:cNvSpPr txBox="1"/>
          <p:nvPr/>
        </p:nvSpPr>
        <p:spPr>
          <a:xfrm>
            <a:off x="7882128" y="3675887"/>
            <a:ext cx="1691640" cy="2468880"/>
          </a:xfrm>
          <a:prstGeom prst="rect">
            <a:avLst/>
          </a:prstGeom>
          <a:noFill/>
        </p:spPr>
        <p:txBody>
          <a:bodyPr wrap="square">
            <a:spAutoFit/>
          </a:bodyPr>
          <a:lstStyle/>
          <a:p>
            <a:pPr algn="l"/>
            <a:r>
              <a:rPr sz="1150" b="0" i="0">
                <a:solidFill>
                  <a:srgbClr val="AAAAAA"/>
                </a:solidFill>
                <a:latin typeface="Arial"/>
              </a:rPr>
              <a:t>L'analista valida, contestualizza, riconosce bias e codice culturale. Judgement Layer.</a:t>
            </a:r>
          </a:p>
        </p:txBody>
      </p:sp>
      <p:sp>
        <p:nvSpPr>
          <p:cNvPr id="22" name="Rectangle 21"/>
          <p:cNvSpPr/>
          <p:nvPr/>
        </p:nvSpPr>
        <p:spPr>
          <a:xfrm>
            <a:off x="9930384" y="2423160"/>
            <a:ext cx="2148840" cy="3931920"/>
          </a:xfrm>
          <a:prstGeom prst="roundRect">
            <a:avLst>
              <a:gd name="adj" fmla="val 2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58984" y="2578608"/>
            <a:ext cx="822960" cy="640080"/>
          </a:xfrm>
          <a:prstGeom prst="rect">
            <a:avLst/>
          </a:prstGeom>
          <a:noFill/>
        </p:spPr>
        <p:txBody>
          <a:bodyPr wrap="square">
            <a:spAutoFit/>
          </a:bodyPr>
          <a:lstStyle/>
          <a:p>
            <a:pPr algn="l"/>
            <a:r>
              <a:rPr sz="3200" b="1" i="0">
                <a:solidFill>
                  <a:srgbClr val="FFFFFF"/>
                </a:solidFill>
                <a:latin typeface="Arial Black"/>
              </a:rPr>
              <a:t>05</a:t>
            </a:r>
          </a:p>
        </p:txBody>
      </p:sp>
      <p:sp>
        <p:nvSpPr>
          <p:cNvPr id="24" name="TextBox 23"/>
          <p:cNvSpPr txBox="1"/>
          <p:nvPr/>
        </p:nvSpPr>
        <p:spPr>
          <a:xfrm>
            <a:off x="10158984" y="3246120"/>
            <a:ext cx="1691640" cy="384048"/>
          </a:xfrm>
          <a:prstGeom prst="rect">
            <a:avLst/>
          </a:prstGeom>
          <a:noFill/>
        </p:spPr>
        <p:txBody>
          <a:bodyPr wrap="square">
            <a:spAutoFit/>
          </a:bodyPr>
          <a:lstStyle/>
          <a:p>
            <a:pPr algn="l"/>
            <a:r>
              <a:rPr sz="1100" b="1" i="0">
                <a:solidFill>
                  <a:srgbClr val="FFFFFF"/>
                </a:solidFill>
                <a:latin typeface="Arial"/>
              </a:rPr>
              <a:t>INSIGHT E AZIONE</a:t>
            </a:r>
          </a:p>
        </p:txBody>
      </p:sp>
      <p:sp>
        <p:nvSpPr>
          <p:cNvPr id="25" name="TextBox 24"/>
          <p:cNvSpPr txBox="1"/>
          <p:nvPr/>
        </p:nvSpPr>
        <p:spPr>
          <a:xfrm>
            <a:off x="10158984" y="3675887"/>
            <a:ext cx="1691640" cy="2468880"/>
          </a:xfrm>
          <a:prstGeom prst="rect">
            <a:avLst/>
          </a:prstGeom>
          <a:noFill/>
        </p:spPr>
        <p:txBody>
          <a:bodyPr wrap="square">
            <a:spAutoFit/>
          </a:bodyPr>
          <a:lstStyle/>
          <a:p>
            <a:pPr algn="l"/>
            <a:r>
              <a:rPr sz="1150" b="0" i="0">
                <a:solidFill>
                  <a:srgbClr val="AAAAAA"/>
                </a:solidFill>
                <a:latin typeface="Arial"/>
              </a:rPr>
              <a:t>Portato alla persona giusta, nel momento giusto, nel linguaggio giusto. [Decision]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TextBox 3"/>
          <p:cNvSpPr txBox="1"/>
          <p:nvPr/>
        </p:nvSpPr>
        <p:spPr>
          <a:xfrm>
            <a:off x="822960" y="502920"/>
            <a:ext cx="8229600" cy="1097280"/>
          </a:xfrm>
          <a:prstGeom prst="rect">
            <a:avLst/>
          </a:prstGeom>
          <a:noFill/>
        </p:spPr>
        <p:txBody>
          <a:bodyPr wrap="square">
            <a:spAutoFit/>
          </a:bodyPr>
          <a:lstStyle/>
          <a:p>
            <a:pPr algn="l"/>
            <a:r>
              <a:rPr sz="4800" b="1" i="0">
                <a:solidFill>
                  <a:srgbClr val="FFFFFF"/>
                </a:solidFill>
                <a:latin typeface="Arial Black"/>
              </a:rPr>
              <a:t>L'ECOSISTEMA FONTI</a:t>
            </a:r>
          </a:p>
        </p:txBody>
      </p:sp>
      <p:sp>
        <p:nvSpPr>
          <p:cNvPr id="5" name="TextBox 4"/>
          <p:cNvSpPr txBox="1"/>
          <p:nvPr/>
        </p:nvSpPr>
        <p:spPr>
          <a:xfrm>
            <a:off x="822960" y="1417320"/>
            <a:ext cx="9144000" cy="457200"/>
          </a:xfrm>
          <a:prstGeom prst="rect">
            <a:avLst/>
          </a:prstGeom>
          <a:noFill/>
        </p:spPr>
        <p:txBody>
          <a:bodyPr wrap="square">
            <a:spAutoFit/>
          </a:bodyPr>
          <a:lstStyle/>
          <a:p>
            <a:pPr algn="l"/>
            <a:r>
              <a:rPr sz="1200" b="0" i="0">
                <a:solidFill>
                  <a:srgbClr val="AAAAAA"/>
                </a:solidFill>
                <a:latin typeface="Arial"/>
              </a:rPr>
              <a:t>L'orchestratore conosce tutte le finestre. Dialogare con tutte le fonti non è una fonte — è qualcosa che
avremo sempre dovuto fare. L'AI lo rende possibile a una scala, velocità e profondità prima #impossibile.</a:t>
            </a:r>
          </a:p>
        </p:txBody>
      </p:sp>
      <p:sp>
        <p:nvSpPr>
          <p:cNvPr id="6" name="Rectangle 5"/>
          <p:cNvSpPr/>
          <p:nvPr/>
        </p:nvSpPr>
        <p:spPr>
          <a:xfrm>
            <a:off x="822960" y="1965960"/>
            <a:ext cx="2651760" cy="914400"/>
          </a:xfrm>
          <a:prstGeom prst="roundRect">
            <a:avLst>
              <a:gd name="adj" fmla="val 1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2039112"/>
            <a:ext cx="2331720" cy="320040"/>
          </a:xfrm>
          <a:prstGeom prst="rect">
            <a:avLst/>
          </a:prstGeom>
          <a:noFill/>
        </p:spPr>
        <p:txBody>
          <a:bodyPr wrap="square">
            <a:spAutoFit/>
          </a:bodyPr>
          <a:lstStyle/>
          <a:p>
            <a:pPr algn="l"/>
            <a:r>
              <a:rPr sz="1100" b="1" i="0">
                <a:solidFill>
                  <a:srgbClr val="FFFFFF"/>
                </a:solidFill>
                <a:latin typeface="Arial"/>
              </a:rPr>
              <a:t>Social Listening</a:t>
            </a:r>
          </a:p>
        </p:txBody>
      </p:sp>
      <p:sp>
        <p:nvSpPr>
          <p:cNvPr id="8" name="TextBox 7"/>
          <p:cNvSpPr txBox="1"/>
          <p:nvPr/>
        </p:nvSpPr>
        <p:spPr>
          <a:xfrm>
            <a:off x="987552" y="2359152"/>
            <a:ext cx="2331720" cy="457200"/>
          </a:xfrm>
          <a:prstGeom prst="rect">
            <a:avLst/>
          </a:prstGeom>
          <a:noFill/>
        </p:spPr>
        <p:txBody>
          <a:bodyPr wrap="square">
            <a:spAutoFit/>
          </a:bodyPr>
          <a:lstStyle/>
          <a:p>
            <a:pPr algn="l"/>
            <a:r>
              <a:rPr sz="950" b="0" i="0">
                <a:solidFill>
                  <a:srgbClr val="AAAAAA"/>
                </a:solidFill>
                <a:latin typeface="Arial"/>
              </a:rPr>
              <a:t>Voce spontanea
On: sentiment, menzioni</a:t>
            </a:r>
          </a:p>
        </p:txBody>
      </p:sp>
      <p:sp>
        <p:nvSpPr>
          <p:cNvPr id="9" name="Rectangle 8"/>
          <p:cNvSpPr/>
          <p:nvPr/>
        </p:nvSpPr>
        <p:spPr>
          <a:xfrm>
            <a:off x="3675888" y="1965960"/>
            <a:ext cx="2651760" cy="914400"/>
          </a:xfrm>
          <a:prstGeom prst="roundRect">
            <a:avLst>
              <a:gd name="adj" fmla="val 1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0" y="2039112"/>
            <a:ext cx="2331720" cy="320040"/>
          </a:xfrm>
          <a:prstGeom prst="rect">
            <a:avLst/>
          </a:prstGeom>
          <a:noFill/>
        </p:spPr>
        <p:txBody>
          <a:bodyPr wrap="square">
            <a:spAutoFit/>
          </a:bodyPr>
          <a:lstStyle/>
          <a:p>
            <a:pPr algn="l"/>
            <a:r>
              <a:rPr sz="1100" b="1" i="0">
                <a:solidFill>
                  <a:srgbClr val="FFFFFF"/>
                </a:solidFill>
                <a:latin typeface="Arial"/>
              </a:rPr>
              <a:t>Search Intent</a:t>
            </a:r>
          </a:p>
        </p:txBody>
      </p:sp>
      <p:sp>
        <p:nvSpPr>
          <p:cNvPr id="11" name="TextBox 10"/>
          <p:cNvSpPr txBox="1"/>
          <p:nvPr/>
        </p:nvSpPr>
        <p:spPr>
          <a:xfrm>
            <a:off x="3840480" y="2359152"/>
            <a:ext cx="2331720" cy="457200"/>
          </a:xfrm>
          <a:prstGeom prst="rect">
            <a:avLst/>
          </a:prstGeom>
          <a:noFill/>
        </p:spPr>
        <p:txBody>
          <a:bodyPr wrap="square">
            <a:spAutoFit/>
          </a:bodyPr>
          <a:lstStyle/>
          <a:p>
            <a:pPr algn="l"/>
            <a:r>
              <a:rPr sz="950" b="0" i="0">
                <a:solidFill>
                  <a:srgbClr val="AAAAAA"/>
                </a:solidFill>
                <a:latin typeface="Arial"/>
              </a:rPr>
              <a:t>Intenzione pre-decisione
On: volume, trend</a:t>
            </a:r>
          </a:p>
        </p:txBody>
      </p:sp>
      <p:sp>
        <p:nvSpPr>
          <p:cNvPr id="12" name="Rectangle 11"/>
          <p:cNvSpPr/>
          <p:nvPr/>
        </p:nvSpPr>
        <p:spPr>
          <a:xfrm>
            <a:off x="6528816" y="1965960"/>
            <a:ext cx="2651760" cy="914400"/>
          </a:xfrm>
          <a:prstGeom prst="roundRect">
            <a:avLst>
              <a:gd name="adj" fmla="val 1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93408" y="2039112"/>
            <a:ext cx="2331720" cy="320040"/>
          </a:xfrm>
          <a:prstGeom prst="rect">
            <a:avLst/>
          </a:prstGeom>
          <a:noFill/>
        </p:spPr>
        <p:txBody>
          <a:bodyPr wrap="square">
            <a:spAutoFit/>
          </a:bodyPr>
          <a:lstStyle/>
          <a:p>
            <a:pPr algn="l"/>
            <a:r>
              <a:rPr sz="1100" b="1" i="0">
                <a:solidFill>
                  <a:srgbClr val="FFFFFF"/>
                </a:solidFill>
                <a:latin typeface="Arial"/>
              </a:rPr>
              <a:t>Survey (CAWI)</a:t>
            </a:r>
          </a:p>
        </p:txBody>
      </p:sp>
      <p:sp>
        <p:nvSpPr>
          <p:cNvPr id="14" name="TextBox 13"/>
          <p:cNvSpPr txBox="1"/>
          <p:nvPr/>
        </p:nvSpPr>
        <p:spPr>
          <a:xfrm>
            <a:off x="6693408" y="2359152"/>
            <a:ext cx="2331720" cy="457200"/>
          </a:xfrm>
          <a:prstGeom prst="rect">
            <a:avLst/>
          </a:prstGeom>
          <a:noFill/>
        </p:spPr>
        <p:txBody>
          <a:bodyPr wrap="square">
            <a:spAutoFit/>
          </a:bodyPr>
          <a:lstStyle/>
          <a:p>
            <a:pPr algn="l"/>
            <a:r>
              <a:rPr sz="950" b="0" i="0">
                <a:solidFill>
                  <a:srgbClr val="AAAAAA"/>
                </a:solidFill>
                <a:latin typeface="Arial"/>
              </a:rPr>
              <a:t>Narrativa pubblica
On: agency, benchmark</a:t>
            </a:r>
          </a:p>
        </p:txBody>
      </p:sp>
      <p:sp>
        <p:nvSpPr>
          <p:cNvPr id="15" name="Rectangle 14"/>
          <p:cNvSpPr/>
          <p:nvPr/>
        </p:nvSpPr>
        <p:spPr>
          <a:xfrm>
            <a:off x="9381744" y="1965960"/>
            <a:ext cx="2651760" cy="914400"/>
          </a:xfrm>
          <a:prstGeom prst="roundRect">
            <a:avLst>
              <a:gd name="adj" fmla="val 1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46336" y="2039112"/>
            <a:ext cx="2331720" cy="320040"/>
          </a:xfrm>
          <a:prstGeom prst="rect">
            <a:avLst/>
          </a:prstGeom>
          <a:noFill/>
        </p:spPr>
        <p:txBody>
          <a:bodyPr wrap="square">
            <a:spAutoFit/>
          </a:bodyPr>
          <a:lstStyle/>
          <a:p>
            <a:pPr algn="l"/>
            <a:r>
              <a:rPr sz="1100" b="1" i="0">
                <a:solidFill>
                  <a:srgbClr val="FFFFFF"/>
                </a:solidFill>
                <a:latin typeface="Arial"/>
              </a:rPr>
              <a:t>CRM &amp; First-party</a:t>
            </a:r>
          </a:p>
        </p:txBody>
      </p:sp>
      <p:sp>
        <p:nvSpPr>
          <p:cNvPr id="17" name="TextBox 16"/>
          <p:cNvSpPr txBox="1"/>
          <p:nvPr/>
        </p:nvSpPr>
        <p:spPr>
          <a:xfrm>
            <a:off x="9546336" y="2359152"/>
            <a:ext cx="2331720" cy="457200"/>
          </a:xfrm>
          <a:prstGeom prst="rect">
            <a:avLst/>
          </a:prstGeom>
          <a:noFill/>
        </p:spPr>
        <p:txBody>
          <a:bodyPr wrap="square">
            <a:spAutoFit/>
          </a:bodyPr>
          <a:lstStyle/>
          <a:p>
            <a:pPr algn="l"/>
            <a:r>
              <a:rPr sz="950" b="0" i="0">
                <a:solidFill>
                  <a:srgbClr val="AAAAAA"/>
                </a:solidFill>
                <a:latin typeface="Arial"/>
              </a:rPr>
              <a:t>Customer base note
On: CRM, acquisti</a:t>
            </a:r>
          </a:p>
        </p:txBody>
      </p:sp>
      <p:sp>
        <p:nvSpPr>
          <p:cNvPr id="18" name="Rectangle 17"/>
          <p:cNvSpPr/>
          <p:nvPr/>
        </p:nvSpPr>
        <p:spPr>
          <a:xfrm>
            <a:off x="822960" y="2990088"/>
            <a:ext cx="2651760" cy="914400"/>
          </a:xfrm>
          <a:prstGeom prst="roundRect">
            <a:avLst>
              <a:gd name="adj" fmla="val 1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3063240"/>
            <a:ext cx="2331720" cy="320040"/>
          </a:xfrm>
          <a:prstGeom prst="rect">
            <a:avLst/>
          </a:prstGeom>
          <a:noFill/>
        </p:spPr>
        <p:txBody>
          <a:bodyPr wrap="square">
            <a:spAutoFit/>
          </a:bodyPr>
          <a:lstStyle/>
          <a:p>
            <a:pPr algn="l"/>
            <a:r>
              <a:rPr sz="1100" b="1" i="0">
                <a:solidFill>
                  <a:srgbClr val="FFFFFF"/>
                </a:solidFill>
                <a:latin typeface="Arial"/>
              </a:rPr>
              <a:t>Review &amp; Rating</a:t>
            </a:r>
          </a:p>
        </p:txBody>
      </p:sp>
      <p:sp>
        <p:nvSpPr>
          <p:cNvPr id="20" name="TextBox 19"/>
          <p:cNvSpPr txBox="1"/>
          <p:nvPr/>
        </p:nvSpPr>
        <p:spPr>
          <a:xfrm>
            <a:off x="987552" y="3383280"/>
            <a:ext cx="2331720" cy="457200"/>
          </a:xfrm>
          <a:prstGeom prst="rect">
            <a:avLst/>
          </a:prstGeom>
          <a:noFill/>
        </p:spPr>
        <p:txBody>
          <a:bodyPr wrap="square">
            <a:spAutoFit/>
          </a:bodyPr>
          <a:lstStyle/>
          <a:p>
            <a:pPr algn="l"/>
            <a:r>
              <a:rPr sz="950" b="0" i="0">
                <a:solidFill>
                  <a:srgbClr val="AAAAAA"/>
                </a:solidFill>
                <a:latin typeface="Arial"/>
              </a:rPr>
              <a:t>Feedback strutturato
On: sentiment prodotto</a:t>
            </a:r>
          </a:p>
        </p:txBody>
      </p:sp>
      <p:sp>
        <p:nvSpPr>
          <p:cNvPr id="21" name="Rectangle 20"/>
          <p:cNvSpPr/>
          <p:nvPr/>
        </p:nvSpPr>
        <p:spPr>
          <a:xfrm>
            <a:off x="3675888" y="2990088"/>
            <a:ext cx="2651760" cy="914400"/>
          </a:xfrm>
          <a:prstGeom prst="roundRect">
            <a:avLst>
              <a:gd name="adj" fmla="val 1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0" y="3063240"/>
            <a:ext cx="2331720" cy="320040"/>
          </a:xfrm>
          <a:prstGeom prst="rect">
            <a:avLst/>
          </a:prstGeom>
          <a:noFill/>
        </p:spPr>
        <p:txBody>
          <a:bodyPr wrap="square">
            <a:spAutoFit/>
          </a:bodyPr>
          <a:lstStyle/>
          <a:p>
            <a:pPr algn="l"/>
            <a:r>
              <a:rPr sz="1100" b="1" i="0">
                <a:solidFill>
                  <a:srgbClr val="FFFFFF"/>
                </a:solidFill>
                <a:latin typeface="Arial"/>
              </a:rPr>
              <a:t>Forum &amp; Community</a:t>
            </a:r>
          </a:p>
        </p:txBody>
      </p:sp>
      <p:sp>
        <p:nvSpPr>
          <p:cNvPr id="23" name="TextBox 22"/>
          <p:cNvSpPr txBox="1"/>
          <p:nvPr/>
        </p:nvSpPr>
        <p:spPr>
          <a:xfrm>
            <a:off x="3840480" y="3383280"/>
            <a:ext cx="2331720" cy="457200"/>
          </a:xfrm>
          <a:prstGeom prst="rect">
            <a:avLst/>
          </a:prstGeom>
          <a:noFill/>
        </p:spPr>
        <p:txBody>
          <a:bodyPr wrap="square">
            <a:spAutoFit/>
          </a:bodyPr>
          <a:lstStyle/>
          <a:p>
            <a:pPr algn="l"/>
            <a:r>
              <a:rPr sz="950" b="0" i="0">
                <a:solidFill>
                  <a:srgbClr val="AAAAAA"/>
                </a:solidFill>
                <a:latin typeface="Arial"/>
              </a:rPr>
              <a:t>Codice di nicchia
On: settori di nicchia</a:t>
            </a:r>
          </a:p>
        </p:txBody>
      </p:sp>
      <p:sp>
        <p:nvSpPr>
          <p:cNvPr id="24" name="Rectangle 23"/>
          <p:cNvSpPr/>
          <p:nvPr/>
        </p:nvSpPr>
        <p:spPr>
          <a:xfrm>
            <a:off x="6528816" y="2990088"/>
            <a:ext cx="2651760" cy="914400"/>
          </a:xfrm>
          <a:prstGeom prst="roundRect">
            <a:avLst>
              <a:gd name="adj" fmla="val 1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8" y="3063240"/>
            <a:ext cx="2331720" cy="320040"/>
          </a:xfrm>
          <a:prstGeom prst="rect">
            <a:avLst/>
          </a:prstGeom>
          <a:noFill/>
        </p:spPr>
        <p:txBody>
          <a:bodyPr wrap="square">
            <a:spAutoFit/>
          </a:bodyPr>
          <a:lstStyle/>
          <a:p>
            <a:pPr algn="l"/>
            <a:r>
              <a:rPr sz="1100" b="1" i="0">
                <a:solidFill>
                  <a:srgbClr val="FFFFFF"/>
                </a:solidFill>
                <a:latin typeface="Arial"/>
              </a:rPr>
              <a:t>News &amp; Media</a:t>
            </a:r>
          </a:p>
        </p:txBody>
      </p:sp>
      <p:sp>
        <p:nvSpPr>
          <p:cNvPr id="26" name="TextBox 25"/>
          <p:cNvSpPr txBox="1"/>
          <p:nvPr/>
        </p:nvSpPr>
        <p:spPr>
          <a:xfrm>
            <a:off x="6693408" y="3383280"/>
            <a:ext cx="2331720" cy="457200"/>
          </a:xfrm>
          <a:prstGeom prst="rect">
            <a:avLst/>
          </a:prstGeom>
          <a:noFill/>
        </p:spPr>
        <p:txBody>
          <a:bodyPr wrap="square">
            <a:spAutoFit/>
          </a:bodyPr>
          <a:lstStyle/>
          <a:p>
            <a:pPr algn="l"/>
            <a:r>
              <a:rPr sz="950" b="0" i="0">
                <a:solidFill>
                  <a:srgbClr val="AAAAAA"/>
                </a:solidFill>
                <a:latin typeface="Arial"/>
              </a:rPr>
              <a:t>Narrativa pubblica
On: agenzia stampa</a:t>
            </a:r>
          </a:p>
        </p:txBody>
      </p:sp>
      <p:sp>
        <p:nvSpPr>
          <p:cNvPr id="27" name="Rectangle 26"/>
          <p:cNvSpPr/>
          <p:nvPr/>
        </p:nvSpPr>
        <p:spPr>
          <a:xfrm>
            <a:off x="9381744" y="2990088"/>
            <a:ext cx="2651760" cy="914400"/>
          </a:xfrm>
          <a:prstGeom prst="roundRect">
            <a:avLst>
              <a:gd name="adj" fmla="val 1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46336" y="3063240"/>
            <a:ext cx="2331720" cy="320040"/>
          </a:xfrm>
          <a:prstGeom prst="rect">
            <a:avLst/>
          </a:prstGeom>
          <a:noFill/>
        </p:spPr>
        <p:txBody>
          <a:bodyPr wrap="square">
            <a:spAutoFit/>
          </a:bodyPr>
          <a:lstStyle/>
          <a:p>
            <a:pPr algn="l"/>
            <a:r>
              <a:rPr sz="1100" b="1" i="0">
                <a:solidFill>
                  <a:srgbClr val="FFFFFF"/>
                </a:solidFill>
                <a:latin typeface="Arial"/>
              </a:rPr>
              <a:t>Trend &amp; Culture</a:t>
            </a:r>
          </a:p>
        </p:txBody>
      </p:sp>
      <p:sp>
        <p:nvSpPr>
          <p:cNvPr id="29" name="TextBox 28"/>
          <p:cNvSpPr txBox="1"/>
          <p:nvPr/>
        </p:nvSpPr>
        <p:spPr>
          <a:xfrm>
            <a:off x="9546336" y="3383280"/>
            <a:ext cx="2331720" cy="457200"/>
          </a:xfrm>
          <a:prstGeom prst="rect">
            <a:avLst/>
          </a:prstGeom>
          <a:noFill/>
        </p:spPr>
        <p:txBody>
          <a:bodyPr wrap="square">
            <a:spAutoFit/>
          </a:bodyPr>
          <a:lstStyle/>
          <a:p>
            <a:pPr algn="l"/>
            <a:r>
              <a:rPr sz="950" b="0" i="0">
                <a:solidFill>
                  <a:srgbClr val="AAAAAA"/>
                </a:solidFill>
                <a:latin typeface="Arial"/>
              </a:rPr>
              <a:t>Segnali per mantenersi
On: segnali emergenti</a:t>
            </a:r>
          </a:p>
        </p:txBody>
      </p:sp>
      <p:sp>
        <p:nvSpPr>
          <p:cNvPr id="30" name="Rectangle 29"/>
          <p:cNvSpPr/>
          <p:nvPr/>
        </p:nvSpPr>
        <p:spPr>
          <a:xfrm>
            <a:off x="822960" y="4014216"/>
            <a:ext cx="2651760" cy="914400"/>
          </a:xfrm>
          <a:prstGeom prst="roundRect">
            <a:avLst>
              <a:gd name="adj" fmla="val 1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4087368"/>
            <a:ext cx="2331720" cy="320040"/>
          </a:xfrm>
          <a:prstGeom prst="rect">
            <a:avLst/>
          </a:prstGeom>
          <a:noFill/>
        </p:spPr>
        <p:txBody>
          <a:bodyPr wrap="square">
            <a:spAutoFit/>
          </a:bodyPr>
          <a:lstStyle/>
          <a:p>
            <a:pPr algn="l"/>
            <a:r>
              <a:rPr sz="1100" b="1" i="0">
                <a:solidFill>
                  <a:srgbClr val="FFFFFF"/>
                </a:solidFill>
                <a:latin typeface="Arial"/>
              </a:rPr>
              <a:t>Influencer &amp; Creator</a:t>
            </a:r>
          </a:p>
        </p:txBody>
      </p:sp>
      <p:sp>
        <p:nvSpPr>
          <p:cNvPr id="32" name="TextBox 31"/>
          <p:cNvSpPr txBox="1"/>
          <p:nvPr/>
        </p:nvSpPr>
        <p:spPr>
          <a:xfrm>
            <a:off x="987552" y="4407408"/>
            <a:ext cx="2331720" cy="457200"/>
          </a:xfrm>
          <a:prstGeom prst="rect">
            <a:avLst/>
          </a:prstGeom>
          <a:noFill/>
        </p:spPr>
        <p:txBody>
          <a:bodyPr wrap="square">
            <a:spAutoFit/>
          </a:bodyPr>
          <a:lstStyle/>
          <a:p>
            <a:pPr algn="l"/>
            <a:r>
              <a:rPr sz="950" b="0" i="0">
                <a:solidFill>
                  <a:srgbClr val="AAAAAA"/>
                </a:solidFill>
                <a:latin typeface="Arial"/>
              </a:rPr>
              <a:t>Amplificatori culturali
On: reach + intent</a:t>
            </a:r>
          </a:p>
        </p:txBody>
      </p:sp>
      <p:sp>
        <p:nvSpPr>
          <p:cNvPr id="33" name="Rectangle 32"/>
          <p:cNvSpPr/>
          <p:nvPr/>
        </p:nvSpPr>
        <p:spPr>
          <a:xfrm>
            <a:off x="3675888" y="4014216"/>
            <a:ext cx="2651760" cy="914400"/>
          </a:xfrm>
          <a:prstGeom prst="roundRect">
            <a:avLst>
              <a:gd name="adj" fmla="val 1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40480" y="4087368"/>
            <a:ext cx="2331720" cy="320040"/>
          </a:xfrm>
          <a:prstGeom prst="rect">
            <a:avLst/>
          </a:prstGeom>
          <a:noFill/>
        </p:spPr>
        <p:txBody>
          <a:bodyPr wrap="square">
            <a:spAutoFit/>
          </a:bodyPr>
          <a:lstStyle/>
          <a:p>
            <a:pPr algn="l"/>
            <a:r>
              <a:rPr sz="1100" b="1" i="0">
                <a:solidFill>
                  <a:srgbClr val="FFFFFF"/>
                </a:solidFill>
                <a:latin typeface="Arial"/>
              </a:rPr>
              <a:t>Competitor Intel</a:t>
            </a:r>
          </a:p>
        </p:txBody>
      </p:sp>
      <p:sp>
        <p:nvSpPr>
          <p:cNvPr id="35" name="TextBox 34"/>
          <p:cNvSpPr txBox="1"/>
          <p:nvPr/>
        </p:nvSpPr>
        <p:spPr>
          <a:xfrm>
            <a:off x="3840480" y="4407408"/>
            <a:ext cx="2331720" cy="457200"/>
          </a:xfrm>
          <a:prstGeom prst="rect">
            <a:avLst/>
          </a:prstGeom>
          <a:noFill/>
        </p:spPr>
        <p:txBody>
          <a:bodyPr wrap="square">
            <a:spAutoFit/>
          </a:bodyPr>
          <a:lstStyle/>
          <a:p>
            <a:pPr algn="l"/>
            <a:r>
              <a:rPr sz="950" b="0" i="0">
                <a:solidFill>
                  <a:srgbClr val="AAAAAA"/>
                </a:solidFill>
                <a:latin typeface="Arial"/>
              </a:rPr>
              <a:t>Gap — day to day
On: segnali di settore</a:t>
            </a:r>
          </a:p>
        </p:txBody>
      </p:sp>
      <p:sp>
        <p:nvSpPr>
          <p:cNvPr id="36" name="Rectangle 35"/>
          <p:cNvSpPr/>
          <p:nvPr/>
        </p:nvSpPr>
        <p:spPr>
          <a:xfrm>
            <a:off x="6528816" y="4014216"/>
            <a:ext cx="2651760" cy="914400"/>
          </a:xfrm>
          <a:prstGeom prst="roundRect">
            <a:avLst>
              <a:gd name="adj" fmla="val 1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93408" y="4087368"/>
            <a:ext cx="2331720" cy="320040"/>
          </a:xfrm>
          <a:prstGeom prst="rect">
            <a:avLst/>
          </a:prstGeom>
          <a:noFill/>
        </p:spPr>
        <p:txBody>
          <a:bodyPr wrap="square">
            <a:spAutoFit/>
          </a:bodyPr>
          <a:lstStyle/>
          <a:p>
            <a:pPr algn="l"/>
            <a:r>
              <a:rPr sz="1100" b="1" i="0">
                <a:solidFill>
                  <a:srgbClr val="FFFFFF"/>
                </a:solidFill>
                <a:latin typeface="Arial"/>
              </a:rPr>
              <a:t>CR &amp; Support</a:t>
            </a:r>
          </a:p>
        </p:txBody>
      </p:sp>
      <p:sp>
        <p:nvSpPr>
          <p:cNvPr id="38" name="TextBox 37"/>
          <p:cNvSpPr txBox="1"/>
          <p:nvPr/>
        </p:nvSpPr>
        <p:spPr>
          <a:xfrm>
            <a:off x="6693408" y="4407408"/>
            <a:ext cx="2331720" cy="457200"/>
          </a:xfrm>
          <a:prstGeom prst="rect">
            <a:avLst/>
          </a:prstGeom>
          <a:noFill/>
        </p:spPr>
        <p:txBody>
          <a:bodyPr wrap="square">
            <a:spAutoFit/>
          </a:bodyPr>
          <a:lstStyle/>
          <a:p>
            <a:pPr algn="l"/>
            <a:r>
              <a:rPr sz="950" b="0" i="0">
                <a:solidFill>
                  <a:srgbClr val="AAAAAA"/>
                </a:solidFill>
                <a:latin typeface="Arial"/>
              </a:rPr>
              <a:t>Frizione in corso
On: ticket, churn</a:t>
            </a:r>
          </a:p>
        </p:txBody>
      </p:sp>
      <p:sp>
        <p:nvSpPr>
          <p:cNvPr id="39" name="Rectangle 38"/>
          <p:cNvSpPr/>
          <p:nvPr/>
        </p:nvSpPr>
        <p:spPr>
          <a:xfrm>
            <a:off x="9381744" y="4014216"/>
            <a:ext cx="2651760" cy="914400"/>
          </a:xfrm>
          <a:prstGeom prst="roundRect">
            <a:avLst>
              <a:gd name="adj" fmla="val 1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46336" y="4087368"/>
            <a:ext cx="2331720" cy="320040"/>
          </a:xfrm>
          <a:prstGeom prst="rect">
            <a:avLst/>
          </a:prstGeom>
          <a:noFill/>
        </p:spPr>
        <p:txBody>
          <a:bodyPr wrap="square">
            <a:spAutoFit/>
          </a:bodyPr>
          <a:lstStyle/>
          <a:p>
            <a:pPr algn="l"/>
            <a:r>
              <a:rPr sz="1100" b="1" i="0">
                <a:solidFill>
                  <a:srgbClr val="FFFFFF"/>
                </a:solidFill>
                <a:latin typeface="Arial"/>
              </a:rPr>
              <a:t>Patent &amp; R&amp;D</a:t>
            </a:r>
          </a:p>
        </p:txBody>
      </p:sp>
      <p:sp>
        <p:nvSpPr>
          <p:cNvPr id="41" name="TextBox 40"/>
          <p:cNvSpPr txBox="1"/>
          <p:nvPr/>
        </p:nvSpPr>
        <p:spPr>
          <a:xfrm>
            <a:off x="9546336" y="4407408"/>
            <a:ext cx="2331720" cy="457200"/>
          </a:xfrm>
          <a:prstGeom prst="rect">
            <a:avLst/>
          </a:prstGeom>
          <a:noFill/>
        </p:spPr>
        <p:txBody>
          <a:bodyPr wrap="square">
            <a:spAutoFit/>
          </a:bodyPr>
          <a:lstStyle/>
          <a:p>
            <a:pPr algn="l"/>
            <a:r>
              <a:rPr sz="950" b="0" i="0">
                <a:solidFill>
                  <a:srgbClr val="AAAAAA"/>
                </a:solidFill>
                <a:latin typeface="Arial"/>
              </a:rPr>
              <a:t>Innovazione in preparazione
On: segnali tecnici</a:t>
            </a:r>
          </a:p>
        </p:txBody>
      </p:sp>
      <p:sp>
        <p:nvSpPr>
          <p:cNvPr id="42" name="Rectangle 41"/>
          <p:cNvSpPr/>
          <p:nvPr/>
        </p:nvSpPr>
        <p:spPr>
          <a:xfrm>
            <a:off x="822960" y="5038344"/>
            <a:ext cx="2651760" cy="914400"/>
          </a:xfrm>
          <a:prstGeom prst="roundRect">
            <a:avLst>
              <a:gd name="adj" fmla="val 1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111496"/>
            <a:ext cx="2331720" cy="320040"/>
          </a:xfrm>
          <a:prstGeom prst="rect">
            <a:avLst/>
          </a:prstGeom>
          <a:noFill/>
        </p:spPr>
        <p:txBody>
          <a:bodyPr wrap="square">
            <a:spAutoFit/>
          </a:bodyPr>
          <a:lstStyle/>
          <a:p>
            <a:pPr algn="l"/>
            <a:r>
              <a:rPr sz="1100" b="1" i="0">
                <a:solidFill>
                  <a:srgbClr val="FFFFFF"/>
                </a:solidFill>
                <a:latin typeface="Arial"/>
              </a:rPr>
              <a:t>Retail &amp; Sales</a:t>
            </a:r>
          </a:p>
        </p:txBody>
      </p:sp>
      <p:sp>
        <p:nvSpPr>
          <p:cNvPr id="44" name="TextBox 43"/>
          <p:cNvSpPr txBox="1"/>
          <p:nvPr/>
        </p:nvSpPr>
        <p:spPr>
          <a:xfrm>
            <a:off x="987552" y="5431536"/>
            <a:ext cx="2331720" cy="457200"/>
          </a:xfrm>
          <a:prstGeom prst="rect">
            <a:avLst/>
          </a:prstGeom>
          <a:noFill/>
        </p:spPr>
        <p:txBody>
          <a:bodyPr wrap="square">
            <a:spAutoFit/>
          </a:bodyPr>
          <a:lstStyle/>
          <a:p>
            <a:pPr algn="l"/>
            <a:r>
              <a:rPr sz="950" b="0" i="0">
                <a:solidFill>
                  <a:srgbClr val="AAAAAA"/>
                </a:solidFill>
                <a:latin typeface="Arial"/>
              </a:rPr>
              <a:t>Gap domanda/offerta
On: sell-out, promo</a:t>
            </a:r>
          </a:p>
        </p:txBody>
      </p:sp>
      <p:sp>
        <p:nvSpPr>
          <p:cNvPr id="45" name="Rectangle 44"/>
          <p:cNvSpPr/>
          <p:nvPr/>
        </p:nvSpPr>
        <p:spPr>
          <a:xfrm>
            <a:off x="3675888" y="5038344"/>
            <a:ext cx="2651760" cy="914400"/>
          </a:xfrm>
          <a:prstGeom prst="roundRect">
            <a:avLst>
              <a:gd name="adj" fmla="val 1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0" y="5111496"/>
            <a:ext cx="2331720" cy="320040"/>
          </a:xfrm>
          <a:prstGeom prst="rect">
            <a:avLst/>
          </a:prstGeom>
          <a:noFill/>
        </p:spPr>
        <p:txBody>
          <a:bodyPr wrap="square">
            <a:spAutoFit/>
          </a:bodyPr>
          <a:lstStyle/>
          <a:p>
            <a:pPr algn="l"/>
            <a:r>
              <a:rPr sz="1100" b="1" i="0">
                <a:solidFill>
                  <a:srgbClr val="FFFFFF"/>
                </a:solidFill>
                <a:latin typeface="Arial"/>
              </a:rPr>
              <a:t>Earned Media</a:t>
            </a:r>
          </a:p>
        </p:txBody>
      </p:sp>
      <p:sp>
        <p:nvSpPr>
          <p:cNvPr id="47" name="TextBox 46"/>
          <p:cNvSpPr txBox="1"/>
          <p:nvPr/>
        </p:nvSpPr>
        <p:spPr>
          <a:xfrm>
            <a:off x="3840480" y="5431536"/>
            <a:ext cx="2331720" cy="457200"/>
          </a:xfrm>
          <a:prstGeom prst="rect">
            <a:avLst/>
          </a:prstGeom>
          <a:noFill/>
        </p:spPr>
        <p:txBody>
          <a:bodyPr wrap="square">
            <a:spAutoFit/>
          </a:bodyPr>
          <a:lstStyle/>
          <a:p>
            <a:pPr algn="l"/>
            <a:r>
              <a:rPr sz="950" b="0" i="0">
                <a:solidFill>
                  <a:srgbClr val="AAAAAA"/>
                </a:solidFill>
                <a:latin typeface="Arial"/>
              </a:rPr>
              <a:t>Reputazione editoriale
On: copertura media</a:t>
            </a:r>
          </a:p>
        </p:txBody>
      </p:sp>
      <p:sp>
        <p:nvSpPr>
          <p:cNvPr id="48" name="Rectangle 47"/>
          <p:cNvSpPr/>
          <p:nvPr/>
        </p:nvSpPr>
        <p:spPr>
          <a:xfrm>
            <a:off x="6528816" y="5038344"/>
            <a:ext cx="2651760" cy="914400"/>
          </a:xfrm>
          <a:prstGeom prst="roundRect">
            <a:avLst>
              <a:gd name="adj" fmla="val 1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93408" y="5111496"/>
            <a:ext cx="2331720" cy="320040"/>
          </a:xfrm>
          <a:prstGeom prst="rect">
            <a:avLst/>
          </a:prstGeom>
          <a:noFill/>
        </p:spPr>
        <p:txBody>
          <a:bodyPr wrap="square">
            <a:spAutoFit/>
          </a:bodyPr>
          <a:lstStyle/>
          <a:p>
            <a:pPr algn="l"/>
            <a:r>
              <a:rPr sz="1100" b="1" i="0">
                <a:solidFill>
                  <a:srgbClr val="FFFFFF"/>
                </a:solidFill>
                <a:latin typeface="Arial"/>
              </a:rPr>
              <a:t>Dark Social</a:t>
            </a:r>
          </a:p>
        </p:txBody>
      </p:sp>
      <p:sp>
        <p:nvSpPr>
          <p:cNvPr id="50" name="TextBox 49"/>
          <p:cNvSpPr txBox="1"/>
          <p:nvPr/>
        </p:nvSpPr>
        <p:spPr>
          <a:xfrm>
            <a:off x="6693408" y="5431536"/>
            <a:ext cx="2331720" cy="457200"/>
          </a:xfrm>
          <a:prstGeom prst="rect">
            <a:avLst/>
          </a:prstGeom>
          <a:noFill/>
        </p:spPr>
        <p:txBody>
          <a:bodyPr wrap="square">
            <a:spAutoFit/>
          </a:bodyPr>
          <a:lstStyle/>
          <a:p>
            <a:pPr algn="l"/>
            <a:r>
              <a:rPr sz="950" b="0" i="0">
                <a:solidFill>
                  <a:srgbClr val="AAAAAA"/>
                </a:solidFill>
                <a:latin typeface="Arial"/>
              </a:rPr>
              <a:t>Conversazione invisibile
On: solo white label</a:t>
            </a:r>
          </a:p>
        </p:txBody>
      </p:sp>
      <p:sp>
        <p:nvSpPr>
          <p:cNvPr id="51" name="Rectangle 50"/>
          <p:cNvSpPr/>
          <p:nvPr/>
        </p:nvSpPr>
        <p:spPr>
          <a:xfrm>
            <a:off x="9381744" y="5038344"/>
            <a:ext cx="2651760" cy="914400"/>
          </a:xfrm>
          <a:prstGeom prst="roundRect">
            <a:avLst>
              <a:gd name="adj" fmla="val 12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546336" y="5111496"/>
            <a:ext cx="2331720" cy="320040"/>
          </a:xfrm>
          <a:prstGeom prst="rect">
            <a:avLst/>
          </a:prstGeom>
          <a:noFill/>
        </p:spPr>
        <p:txBody>
          <a:bodyPr wrap="square">
            <a:spAutoFit/>
          </a:bodyPr>
          <a:lstStyle/>
          <a:p>
            <a:pPr algn="l"/>
            <a:r>
              <a:rPr sz="1100" b="1" i="0">
                <a:solidFill>
                  <a:srgbClr val="FFFFFF"/>
                </a:solidFill>
                <a:latin typeface="Arial"/>
              </a:rPr>
              <a:t>Geo &amp; Location</a:t>
            </a:r>
          </a:p>
        </p:txBody>
      </p:sp>
      <p:sp>
        <p:nvSpPr>
          <p:cNvPr id="53" name="TextBox 52"/>
          <p:cNvSpPr txBox="1"/>
          <p:nvPr/>
        </p:nvSpPr>
        <p:spPr>
          <a:xfrm>
            <a:off x="9546336" y="5431536"/>
            <a:ext cx="2331720" cy="457200"/>
          </a:xfrm>
          <a:prstGeom prst="rect">
            <a:avLst/>
          </a:prstGeom>
          <a:noFill/>
        </p:spPr>
        <p:txBody>
          <a:bodyPr wrap="square">
            <a:spAutoFit/>
          </a:bodyPr>
          <a:lstStyle/>
          <a:p>
            <a:pPr algn="l"/>
            <a:r>
              <a:rPr sz="950" b="0" i="0">
                <a:solidFill>
                  <a:srgbClr val="AAAAAA"/>
                </a:solidFill>
                <a:latin typeface="Arial"/>
              </a:rPr>
              <a:t>Momenti reali
On: geo, check-in</a:t>
            </a:r>
          </a:p>
        </p:txBody>
      </p:sp>
      <p:sp>
        <p:nvSpPr>
          <p:cNvPr id="54" name="TextBox 53"/>
          <p:cNvSpPr txBox="1"/>
          <p:nvPr/>
        </p:nvSpPr>
        <p:spPr>
          <a:xfrm>
            <a:off x="822960" y="6080760"/>
            <a:ext cx="9144000" cy="274320"/>
          </a:xfrm>
          <a:prstGeom prst="rect">
            <a:avLst/>
          </a:prstGeom>
          <a:noFill/>
        </p:spPr>
        <p:txBody>
          <a:bodyPr wrap="square">
            <a:spAutoFit/>
          </a:bodyPr>
          <a:lstStyle/>
          <a:p>
            <a:pPr algn="l"/>
            <a:r>
              <a:rPr sz="1000" b="0" i="1">
                <a:solidFill>
                  <a:srgbClr val="6B6B6B"/>
                </a:solidFill>
                <a:latin typeface="Arial"/>
              </a:rPr>
              <a:t>* Il professionista maturo non difende le sue fonti. Sa quale aprire per la domanda giusta.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TextBox 3"/>
          <p:cNvSpPr txBox="1"/>
          <p:nvPr/>
        </p:nvSpPr>
        <p:spPr>
          <a:xfrm>
            <a:off x="822960" y="640080"/>
            <a:ext cx="8229600" cy="1097280"/>
          </a:xfrm>
          <a:prstGeom prst="rect">
            <a:avLst/>
          </a:prstGeom>
          <a:noFill/>
        </p:spPr>
        <p:txBody>
          <a:bodyPr wrap="square">
            <a:spAutoFit/>
          </a:bodyPr>
          <a:lstStyle/>
          <a:p>
            <a:pPr algn="l"/>
            <a:r>
              <a:rPr sz="4600" b="1" i="0">
                <a:solidFill>
                  <a:srgbClr val="0D0D0D"/>
                </a:solidFill>
                <a:latin typeface="Arial Black"/>
              </a:rPr>
              <a:t>L'EVOLUZIONE DEL RUOLO</a:t>
            </a:r>
          </a:p>
        </p:txBody>
      </p:sp>
      <p:sp>
        <p:nvSpPr>
          <p:cNvPr id="5" name="TextBox 4"/>
          <p:cNvSpPr txBox="1"/>
          <p:nvPr/>
        </p:nvSpPr>
        <p:spPr>
          <a:xfrm>
            <a:off x="822960" y="1600200"/>
            <a:ext cx="8229600" cy="502920"/>
          </a:xfrm>
          <a:prstGeom prst="rect">
            <a:avLst/>
          </a:prstGeom>
          <a:noFill/>
        </p:spPr>
        <p:txBody>
          <a:bodyPr wrap="square">
            <a:spAutoFit/>
          </a:bodyPr>
          <a:lstStyle/>
          <a:p>
            <a:pPr algn="l"/>
            <a:r>
              <a:rPr sz="1350" b="0" i="0">
                <a:solidFill>
                  <a:srgbClr val="6B6B6B"/>
                </a:solidFill>
                <a:latin typeface="Arial"/>
              </a:rPr>
              <a:t>Il tuo ruolo non sparisce. Sale. Ogni generazione ha risposto a una domanda più utile della
precedente. L'AI accelera il passaggio, non lo interrompe.</a:t>
            </a:r>
          </a:p>
        </p:txBody>
      </p:sp>
      <p:sp>
        <p:nvSpPr>
          <p:cNvPr id="6" name="Rectangle 5"/>
          <p:cNvSpPr/>
          <p:nvPr/>
        </p:nvSpPr>
        <p:spPr>
          <a:xfrm>
            <a:off x="822960" y="2286000"/>
            <a:ext cx="3566160" cy="3931920"/>
          </a:xfrm>
          <a:prstGeom prst="roundRect">
            <a:avLst>
              <a:gd name="adj" fmla="val 22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450592"/>
            <a:ext cx="731520" cy="274320"/>
          </a:xfrm>
          <a:prstGeom prst="rect">
            <a:avLst/>
          </a:prstGeom>
          <a:noFill/>
        </p:spPr>
        <p:txBody>
          <a:bodyPr wrap="square">
            <a:spAutoFit/>
          </a:bodyPr>
          <a:lstStyle/>
          <a:p>
            <a:pPr algn="l"/>
            <a:r>
              <a:rPr sz="1100" b="0" i="0">
                <a:solidFill>
                  <a:srgbClr val="6B6B6B"/>
                </a:solidFill>
                <a:latin typeface="Arial"/>
              </a:rPr>
              <a:t>1.0</a:t>
            </a:r>
          </a:p>
        </p:txBody>
      </p:sp>
      <p:sp>
        <p:nvSpPr>
          <p:cNvPr id="8" name="TextBox 7"/>
          <p:cNvSpPr txBox="1"/>
          <p:nvPr/>
        </p:nvSpPr>
        <p:spPr>
          <a:xfrm>
            <a:off x="1097280" y="2743200"/>
            <a:ext cx="3017520" cy="384048"/>
          </a:xfrm>
          <a:prstGeom prst="rect">
            <a:avLst/>
          </a:prstGeom>
          <a:noFill/>
        </p:spPr>
        <p:txBody>
          <a:bodyPr wrap="square">
            <a:spAutoFit/>
          </a:bodyPr>
          <a:lstStyle/>
          <a:p>
            <a:pPr algn="l"/>
            <a:r>
              <a:rPr sz="1300" b="1" i="0">
                <a:solidFill>
                  <a:srgbClr val="0D0D0D"/>
                </a:solidFill>
                <a:latin typeface="Arial"/>
              </a:rPr>
              <a:t>ANALYST MONITOR</a:t>
            </a:r>
          </a:p>
        </p:txBody>
      </p:sp>
      <p:sp>
        <p:nvSpPr>
          <p:cNvPr id="9" name="TextBox 8"/>
          <p:cNvSpPr txBox="1"/>
          <p:nvPr/>
        </p:nvSpPr>
        <p:spPr>
          <a:xfrm>
            <a:off x="1097280" y="3154680"/>
            <a:ext cx="3017520" cy="320040"/>
          </a:xfrm>
          <a:prstGeom prst="rect">
            <a:avLst/>
          </a:prstGeom>
          <a:noFill/>
        </p:spPr>
        <p:txBody>
          <a:bodyPr wrap="square">
            <a:spAutoFit/>
          </a:bodyPr>
          <a:lstStyle/>
          <a:p>
            <a:pPr algn="l"/>
            <a:r>
              <a:rPr sz="1250" b="0" i="0">
                <a:solidFill>
                  <a:srgbClr val="6B6B6B"/>
                </a:solidFill>
                <a:latin typeface="Arial"/>
              </a:rPr>
              <a:t>Cosa è successo?</a:t>
            </a:r>
          </a:p>
        </p:txBody>
      </p:sp>
      <p:sp>
        <p:nvSpPr>
          <p:cNvPr id="10" name="TextBox 9"/>
          <p:cNvSpPr txBox="1"/>
          <p:nvPr/>
        </p:nvSpPr>
        <p:spPr>
          <a:xfrm>
            <a:off x="1097280" y="3547872"/>
            <a:ext cx="3017520" cy="2286000"/>
          </a:xfrm>
          <a:prstGeom prst="rect">
            <a:avLst/>
          </a:prstGeom>
          <a:noFill/>
        </p:spPr>
        <p:txBody>
          <a:bodyPr wrap="square">
            <a:spAutoFit/>
          </a:bodyPr>
          <a:lstStyle/>
          <a:p>
            <a:pPr algn="l"/>
            <a:r>
              <a:rPr sz="1150" b="0" i="0">
                <a:solidFill>
                  <a:srgbClr val="6B6B6B"/>
                </a:solidFill>
                <a:latin typeface="Arial"/>
              </a:rPr>
              <a:t>Dashboard, report, riepilogo menzioni. Nel 2012 facevo questi report. Utili per la prima visibilità — limitati per chi doveva decidere. L'AI automatizza l'80% di questo livello.</a:t>
            </a:r>
          </a:p>
        </p:txBody>
      </p:sp>
      <p:sp>
        <p:nvSpPr>
          <p:cNvPr id="11" name="Rectangle 10"/>
          <p:cNvSpPr/>
          <p:nvPr/>
        </p:nvSpPr>
        <p:spPr>
          <a:xfrm>
            <a:off x="4617720" y="2286000"/>
            <a:ext cx="3566160" cy="3931920"/>
          </a:xfrm>
          <a:prstGeom prst="roundRect">
            <a:avLst>
              <a:gd name="adj" fmla="val 22000"/>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92040" y="2450592"/>
            <a:ext cx="731520" cy="274320"/>
          </a:xfrm>
          <a:prstGeom prst="rect">
            <a:avLst/>
          </a:prstGeom>
          <a:noFill/>
        </p:spPr>
        <p:txBody>
          <a:bodyPr wrap="square">
            <a:spAutoFit/>
          </a:bodyPr>
          <a:lstStyle/>
          <a:p>
            <a:pPr algn="l"/>
            <a:r>
              <a:rPr sz="1100" b="0" i="0">
                <a:solidFill>
                  <a:srgbClr val="AAAAAA"/>
                </a:solidFill>
                <a:latin typeface="Arial"/>
              </a:rPr>
              <a:t>2.0</a:t>
            </a:r>
          </a:p>
        </p:txBody>
      </p:sp>
      <p:sp>
        <p:nvSpPr>
          <p:cNvPr id="13" name="TextBox 12"/>
          <p:cNvSpPr txBox="1"/>
          <p:nvPr/>
        </p:nvSpPr>
        <p:spPr>
          <a:xfrm>
            <a:off x="4892040" y="2743200"/>
            <a:ext cx="3017520" cy="384048"/>
          </a:xfrm>
          <a:prstGeom prst="rect">
            <a:avLst/>
          </a:prstGeom>
          <a:noFill/>
        </p:spPr>
        <p:txBody>
          <a:bodyPr wrap="square">
            <a:spAutoFit/>
          </a:bodyPr>
          <a:lstStyle/>
          <a:p>
            <a:pPr algn="l"/>
            <a:r>
              <a:rPr sz="1300" b="1" i="0">
                <a:solidFill>
                  <a:srgbClr val="FFFFFF"/>
                </a:solidFill>
                <a:latin typeface="Arial"/>
              </a:rPr>
              <a:t>ANALYST INTERPRETER</a:t>
            </a:r>
          </a:p>
        </p:txBody>
      </p:sp>
      <p:sp>
        <p:nvSpPr>
          <p:cNvPr id="14" name="TextBox 13"/>
          <p:cNvSpPr txBox="1"/>
          <p:nvPr/>
        </p:nvSpPr>
        <p:spPr>
          <a:xfrm>
            <a:off x="4892040" y="3154680"/>
            <a:ext cx="3017520" cy="320040"/>
          </a:xfrm>
          <a:prstGeom prst="rect">
            <a:avLst/>
          </a:prstGeom>
          <a:noFill/>
        </p:spPr>
        <p:txBody>
          <a:bodyPr wrap="square">
            <a:spAutoFit/>
          </a:bodyPr>
          <a:lstStyle/>
          <a:p>
            <a:pPr algn="l"/>
            <a:r>
              <a:rPr sz="1250" b="0" i="0">
                <a:solidFill>
                  <a:srgbClr val="FFE600"/>
                </a:solidFill>
                <a:latin typeface="Arial"/>
              </a:rPr>
              <a:t>Perché è successo?</a:t>
            </a:r>
          </a:p>
        </p:txBody>
      </p:sp>
      <p:sp>
        <p:nvSpPr>
          <p:cNvPr id="15" name="TextBox 14"/>
          <p:cNvSpPr txBox="1"/>
          <p:nvPr/>
        </p:nvSpPr>
        <p:spPr>
          <a:xfrm>
            <a:off x="4892040" y="3547872"/>
            <a:ext cx="3017520" cy="2286000"/>
          </a:xfrm>
          <a:prstGeom prst="rect">
            <a:avLst/>
          </a:prstGeom>
          <a:noFill/>
        </p:spPr>
        <p:txBody>
          <a:bodyPr wrap="square">
            <a:spAutoFit/>
          </a:bodyPr>
          <a:lstStyle/>
          <a:p>
            <a:pPr algn="l"/>
            <a:r>
              <a:rPr sz="1150" b="0" i="0">
                <a:solidFill>
                  <a:srgbClr val="AAAAAA"/>
                </a:solidFill>
                <a:latin typeface="Arial"/>
              </a:rPr>
              <a:t>Driver, ipotesi causali, insight contestuali. Il salto che cambia le conversazioni con i clienti. Il tuo lavoro entra nelle riunioni strategiche. L'AI accelera: 10 ipotesi in un'ora invece che in una settimana.</a:t>
            </a:r>
          </a:p>
        </p:txBody>
      </p:sp>
      <p:sp>
        <p:nvSpPr>
          <p:cNvPr id="16" name="Rectangle 15"/>
          <p:cNvSpPr/>
          <p:nvPr/>
        </p:nvSpPr>
        <p:spPr>
          <a:xfrm>
            <a:off x="8412480" y="2286000"/>
            <a:ext cx="3566160" cy="3931920"/>
          </a:xfrm>
          <a:prstGeom prst="roundRect">
            <a:avLst>
              <a:gd name="adj" fmla="val 22000"/>
            </a:avLst>
          </a:prstGeom>
          <a:solidFill>
            <a:srgbClr val="6E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0" y="2450592"/>
            <a:ext cx="731520" cy="274320"/>
          </a:xfrm>
          <a:prstGeom prst="rect">
            <a:avLst/>
          </a:prstGeom>
          <a:noFill/>
        </p:spPr>
        <p:txBody>
          <a:bodyPr wrap="square">
            <a:spAutoFit/>
          </a:bodyPr>
          <a:lstStyle/>
          <a:p>
            <a:pPr algn="l"/>
            <a:r>
              <a:rPr sz="1100" b="0" i="0">
                <a:solidFill>
                  <a:srgbClr val="AAAAAA"/>
                </a:solidFill>
                <a:latin typeface="Arial"/>
              </a:rPr>
              <a:t>3.0</a:t>
            </a:r>
          </a:p>
        </p:txBody>
      </p:sp>
      <p:sp>
        <p:nvSpPr>
          <p:cNvPr id="18" name="TextBox 17"/>
          <p:cNvSpPr txBox="1"/>
          <p:nvPr/>
        </p:nvSpPr>
        <p:spPr>
          <a:xfrm>
            <a:off x="8686800" y="2743200"/>
            <a:ext cx="3017520" cy="384048"/>
          </a:xfrm>
          <a:prstGeom prst="rect">
            <a:avLst/>
          </a:prstGeom>
          <a:noFill/>
        </p:spPr>
        <p:txBody>
          <a:bodyPr wrap="square">
            <a:spAutoFit/>
          </a:bodyPr>
          <a:lstStyle/>
          <a:p>
            <a:pPr algn="l"/>
            <a:r>
              <a:rPr sz="1300" b="1" i="0">
                <a:solidFill>
                  <a:srgbClr val="FFFFFF"/>
                </a:solidFill>
                <a:latin typeface="Arial"/>
              </a:rPr>
              <a:t>ANALYST ORCHESTRATOR</a:t>
            </a:r>
          </a:p>
        </p:txBody>
      </p:sp>
      <p:sp>
        <p:nvSpPr>
          <p:cNvPr id="19" name="TextBox 18"/>
          <p:cNvSpPr txBox="1"/>
          <p:nvPr/>
        </p:nvSpPr>
        <p:spPr>
          <a:xfrm>
            <a:off x="8686800" y="3154680"/>
            <a:ext cx="3017520" cy="320040"/>
          </a:xfrm>
          <a:prstGeom prst="rect">
            <a:avLst/>
          </a:prstGeom>
          <a:noFill/>
        </p:spPr>
        <p:txBody>
          <a:bodyPr wrap="square">
            <a:spAutoFit/>
          </a:bodyPr>
          <a:lstStyle/>
          <a:p>
            <a:pPr algn="l"/>
            <a:r>
              <a:rPr sz="1250" b="0" i="0">
                <a:solidFill>
                  <a:srgbClr val="C0B5FF"/>
                </a:solidFill>
                <a:latin typeface="Arial"/>
              </a:rPr>
              <a:t>Cosa dovremmo fare?</a:t>
            </a:r>
          </a:p>
        </p:txBody>
      </p:sp>
      <p:sp>
        <p:nvSpPr>
          <p:cNvPr id="20" name="TextBox 19"/>
          <p:cNvSpPr txBox="1"/>
          <p:nvPr/>
        </p:nvSpPr>
        <p:spPr>
          <a:xfrm>
            <a:off x="8686800" y="3547872"/>
            <a:ext cx="3017520" cy="2286000"/>
          </a:xfrm>
          <a:prstGeom prst="rect">
            <a:avLst/>
          </a:prstGeom>
          <a:noFill/>
        </p:spPr>
        <p:txBody>
          <a:bodyPr wrap="square">
            <a:spAutoFit/>
          </a:bodyPr>
          <a:lstStyle/>
          <a:p>
            <a:pPr algn="l"/>
            <a:r>
              <a:rPr sz="1150" b="0" i="0">
                <a:solidFill>
                  <a:srgbClr val="AAAAAA"/>
                </a:solidFill>
                <a:latin typeface="Arial"/>
              </a:rPr>
              <a:t>Intelligence strategica, ecosistema di fonti, decisioni. Combina fonti, usa l'AI per sintetizzare a scala, valida con giudizio umano, porta l'insight dove serve. L'AI è il motore che rende il 3.0 concretamente raggiungibile.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TextBox 3"/>
          <p:cNvSpPr txBox="1"/>
          <p:nvPr/>
        </p:nvSpPr>
        <p:spPr>
          <a:xfrm>
            <a:off x="822960" y="640080"/>
            <a:ext cx="8229600" cy="1097280"/>
          </a:xfrm>
          <a:prstGeom prst="rect">
            <a:avLst/>
          </a:prstGeom>
          <a:noFill/>
        </p:spPr>
        <p:txBody>
          <a:bodyPr wrap="square">
            <a:spAutoFit/>
          </a:bodyPr>
          <a:lstStyle/>
          <a:p>
            <a:pPr algn="l"/>
            <a:r>
              <a:rPr sz="5200" b="1" i="0">
                <a:solidFill>
                  <a:srgbClr val="0D0D0D"/>
                </a:solidFill>
                <a:latin typeface="Arial Black"/>
              </a:rPr>
              <a:t>I SEI AMPLIFICATORI</a:t>
            </a:r>
          </a:p>
        </p:txBody>
      </p:sp>
      <p:sp>
        <p:nvSpPr>
          <p:cNvPr id="5" name="TextBox 4"/>
          <p:cNvSpPr txBox="1"/>
          <p:nvPr/>
        </p:nvSpPr>
        <p:spPr>
          <a:xfrm>
            <a:off x="822960" y="1600200"/>
            <a:ext cx="8686800" cy="502920"/>
          </a:xfrm>
          <a:prstGeom prst="rect">
            <a:avLst/>
          </a:prstGeom>
          <a:noFill/>
        </p:spPr>
        <p:txBody>
          <a:bodyPr wrap="square">
            <a:spAutoFit/>
          </a:bodyPr>
          <a:lstStyle/>
          <a:p>
            <a:pPr algn="l"/>
            <a:r>
              <a:rPr sz="1350" b="0" i="0">
                <a:solidFill>
                  <a:srgbClr val="6B6B6B"/>
                </a:solidFill>
                <a:latin typeface="Arial"/>
              </a:rPr>
              <a:t>Sei amplificatori. Tutti già tuoi. Non sono feature dell'AI. Sono amplificatori delle competenze che già avete.</a:t>
            </a:r>
          </a:p>
        </p:txBody>
      </p:sp>
      <p:sp>
        <p:nvSpPr>
          <p:cNvPr id="6" name="Rectangle 5"/>
          <p:cNvSpPr/>
          <p:nvPr/>
        </p:nvSpPr>
        <p:spPr>
          <a:xfrm>
            <a:off x="822960" y="2331720"/>
            <a:ext cx="3566160" cy="1874519"/>
          </a:xfrm>
          <a:prstGeom prst="roundRect">
            <a:avLst>
              <a:gd name="adj" fmla="val 2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514600"/>
            <a:ext cx="3017520" cy="320040"/>
          </a:xfrm>
          <a:prstGeom prst="rect">
            <a:avLst/>
          </a:prstGeom>
          <a:noFill/>
        </p:spPr>
        <p:txBody>
          <a:bodyPr wrap="square">
            <a:spAutoFit/>
          </a:bodyPr>
          <a:lstStyle/>
          <a:p>
            <a:pPr algn="l"/>
            <a:r>
              <a:rPr sz="1300" b="1" i="0">
                <a:solidFill>
                  <a:srgbClr val="0D0D0D"/>
                </a:solidFill>
                <a:latin typeface="Arial"/>
              </a:rPr>
              <a:t>SCALE</a:t>
            </a:r>
          </a:p>
        </p:txBody>
      </p:sp>
      <p:sp>
        <p:nvSpPr>
          <p:cNvPr id="8" name="TextBox 7"/>
          <p:cNvSpPr txBox="1"/>
          <p:nvPr/>
        </p:nvSpPr>
        <p:spPr>
          <a:xfrm>
            <a:off x="1097280" y="2880360"/>
            <a:ext cx="3017520" cy="1188720"/>
          </a:xfrm>
          <a:prstGeom prst="rect">
            <a:avLst/>
          </a:prstGeom>
          <a:noFill/>
        </p:spPr>
        <p:txBody>
          <a:bodyPr wrap="square">
            <a:spAutoFit/>
          </a:bodyPr>
          <a:lstStyle/>
          <a:p>
            <a:pPr algn="l"/>
            <a:r>
              <a:rPr sz="1200" b="0" i="0">
                <a:solidFill>
                  <a:srgbClr val="6B6B6B"/>
                </a:solidFill>
                <a:latin typeface="Arial"/>
              </a:rPr>
              <a:t>Già leggete le conversazioni del mercato. L'AI vi permette di farlo su milioni in parallelo, su mercati diversi, in tempo reale.</a:t>
            </a:r>
          </a:p>
        </p:txBody>
      </p:sp>
      <p:sp>
        <p:nvSpPr>
          <p:cNvPr id="9" name="Rectangle 8"/>
          <p:cNvSpPr/>
          <p:nvPr/>
        </p:nvSpPr>
        <p:spPr>
          <a:xfrm>
            <a:off x="4617720" y="2331720"/>
            <a:ext cx="3566160" cy="1874519"/>
          </a:xfrm>
          <a:prstGeom prst="roundRect">
            <a:avLst>
              <a:gd name="adj" fmla="val 2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92040" y="2514600"/>
            <a:ext cx="3017520" cy="320040"/>
          </a:xfrm>
          <a:prstGeom prst="rect">
            <a:avLst/>
          </a:prstGeom>
          <a:noFill/>
        </p:spPr>
        <p:txBody>
          <a:bodyPr wrap="square">
            <a:spAutoFit/>
          </a:bodyPr>
          <a:lstStyle/>
          <a:p>
            <a:pPr algn="l"/>
            <a:r>
              <a:rPr sz="1300" b="1" i="0">
                <a:solidFill>
                  <a:srgbClr val="0D0D0D"/>
                </a:solidFill>
                <a:latin typeface="Arial"/>
              </a:rPr>
              <a:t>SPEED</a:t>
            </a:r>
          </a:p>
        </p:txBody>
      </p:sp>
      <p:sp>
        <p:nvSpPr>
          <p:cNvPr id="11" name="TextBox 10"/>
          <p:cNvSpPr txBox="1"/>
          <p:nvPr/>
        </p:nvSpPr>
        <p:spPr>
          <a:xfrm>
            <a:off x="4892040" y="2880360"/>
            <a:ext cx="3017520" cy="1188720"/>
          </a:xfrm>
          <a:prstGeom prst="rect">
            <a:avLst/>
          </a:prstGeom>
          <a:noFill/>
        </p:spPr>
        <p:txBody>
          <a:bodyPr wrap="square">
            <a:spAutoFit/>
          </a:bodyPr>
          <a:lstStyle/>
          <a:p>
            <a:pPr algn="l"/>
            <a:r>
              <a:rPr sz="1200" b="0" i="0">
                <a:solidFill>
                  <a:srgbClr val="6B6B6B"/>
                </a:solidFill>
                <a:latin typeface="Arial"/>
              </a:rPr>
              <a:t>Già formulate ipotesi analitiche. L'AI permette di generarne e testarne dieci in un'ora invece che in una settimana.</a:t>
            </a:r>
          </a:p>
        </p:txBody>
      </p:sp>
      <p:sp>
        <p:nvSpPr>
          <p:cNvPr id="12" name="Rectangle 11"/>
          <p:cNvSpPr/>
          <p:nvPr/>
        </p:nvSpPr>
        <p:spPr>
          <a:xfrm>
            <a:off x="8412480" y="2331720"/>
            <a:ext cx="3566160" cy="1874519"/>
          </a:xfrm>
          <a:prstGeom prst="roundRect">
            <a:avLst>
              <a:gd name="adj" fmla="val 2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2514600"/>
            <a:ext cx="3017520" cy="320040"/>
          </a:xfrm>
          <a:prstGeom prst="rect">
            <a:avLst/>
          </a:prstGeom>
          <a:noFill/>
        </p:spPr>
        <p:txBody>
          <a:bodyPr wrap="square">
            <a:spAutoFit/>
          </a:bodyPr>
          <a:lstStyle/>
          <a:p>
            <a:pPr algn="l"/>
            <a:r>
              <a:rPr sz="1300" b="1" i="0">
                <a:solidFill>
                  <a:srgbClr val="0D0D0D"/>
                </a:solidFill>
                <a:latin typeface="Arial"/>
              </a:rPr>
              <a:t>COVERAGE</a:t>
            </a:r>
          </a:p>
        </p:txBody>
      </p:sp>
      <p:sp>
        <p:nvSpPr>
          <p:cNvPr id="14" name="TextBox 13"/>
          <p:cNvSpPr txBox="1"/>
          <p:nvPr/>
        </p:nvSpPr>
        <p:spPr>
          <a:xfrm>
            <a:off x="8686800" y="2880360"/>
            <a:ext cx="3017520" cy="1188720"/>
          </a:xfrm>
          <a:prstGeom prst="rect">
            <a:avLst/>
          </a:prstGeom>
          <a:noFill/>
        </p:spPr>
        <p:txBody>
          <a:bodyPr wrap="square">
            <a:spAutoFit/>
          </a:bodyPr>
          <a:lstStyle/>
          <a:p>
            <a:pPr algn="l"/>
            <a:r>
              <a:rPr sz="1200" b="0" i="0">
                <a:solidFill>
                  <a:srgbClr val="6B6B6B"/>
                </a:solidFill>
                <a:latin typeface="Arial"/>
              </a:rPr>
              <a:t>Già monitorate fonti diverse. L'AI vi permette di farlo su più lingue, mercati, canali — simultaneamente.</a:t>
            </a:r>
          </a:p>
        </p:txBody>
      </p:sp>
      <p:sp>
        <p:nvSpPr>
          <p:cNvPr id="15" name="Rectangle 14"/>
          <p:cNvSpPr/>
          <p:nvPr/>
        </p:nvSpPr>
        <p:spPr>
          <a:xfrm>
            <a:off x="822960" y="4389120"/>
            <a:ext cx="3566160" cy="1874519"/>
          </a:xfrm>
          <a:prstGeom prst="roundRect">
            <a:avLst>
              <a:gd name="adj" fmla="val 2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572000"/>
            <a:ext cx="3017520" cy="320040"/>
          </a:xfrm>
          <a:prstGeom prst="rect">
            <a:avLst/>
          </a:prstGeom>
          <a:noFill/>
        </p:spPr>
        <p:txBody>
          <a:bodyPr wrap="square">
            <a:spAutoFit/>
          </a:bodyPr>
          <a:lstStyle/>
          <a:p>
            <a:pPr algn="l"/>
            <a:r>
              <a:rPr sz="1300" b="1" i="0">
                <a:solidFill>
                  <a:srgbClr val="0D0D0D"/>
                </a:solidFill>
                <a:latin typeface="Arial"/>
              </a:rPr>
              <a:t>MEMORY</a:t>
            </a:r>
          </a:p>
        </p:txBody>
      </p:sp>
      <p:sp>
        <p:nvSpPr>
          <p:cNvPr id="17" name="TextBox 16"/>
          <p:cNvSpPr txBox="1"/>
          <p:nvPr/>
        </p:nvSpPr>
        <p:spPr>
          <a:xfrm>
            <a:off x="1097280" y="4937760"/>
            <a:ext cx="3017520" cy="1188720"/>
          </a:xfrm>
          <a:prstGeom prst="rect">
            <a:avLst/>
          </a:prstGeom>
          <a:noFill/>
        </p:spPr>
        <p:txBody>
          <a:bodyPr wrap="square">
            <a:spAutoFit/>
          </a:bodyPr>
          <a:lstStyle/>
          <a:p>
            <a:pPr algn="l"/>
            <a:r>
              <a:rPr sz="1200" b="0" i="0">
                <a:solidFill>
                  <a:srgbClr val="6B6B6B"/>
                </a:solidFill>
                <a:latin typeface="Arial"/>
              </a:rPr>
              <a:t>Già costruite trend analysis nel tempo. L'AI permette di interrogare anni di dati storici come se fossero una conversazione.</a:t>
            </a:r>
          </a:p>
        </p:txBody>
      </p:sp>
      <p:sp>
        <p:nvSpPr>
          <p:cNvPr id="18" name="Rectangle 17"/>
          <p:cNvSpPr/>
          <p:nvPr/>
        </p:nvSpPr>
        <p:spPr>
          <a:xfrm>
            <a:off x="4617720" y="4389120"/>
            <a:ext cx="3566160" cy="1874519"/>
          </a:xfrm>
          <a:prstGeom prst="roundRect">
            <a:avLst>
              <a:gd name="adj" fmla="val 2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92040" y="4572000"/>
            <a:ext cx="3017520" cy="320040"/>
          </a:xfrm>
          <a:prstGeom prst="rect">
            <a:avLst/>
          </a:prstGeom>
          <a:noFill/>
        </p:spPr>
        <p:txBody>
          <a:bodyPr wrap="square">
            <a:spAutoFit/>
          </a:bodyPr>
          <a:lstStyle/>
          <a:p>
            <a:pPr algn="l"/>
            <a:r>
              <a:rPr sz="1300" b="1" i="0">
                <a:solidFill>
                  <a:srgbClr val="0D0D0D"/>
                </a:solidFill>
                <a:latin typeface="Arial"/>
              </a:rPr>
              <a:t>DISCOVERY</a:t>
            </a:r>
          </a:p>
        </p:txBody>
      </p:sp>
      <p:sp>
        <p:nvSpPr>
          <p:cNvPr id="20" name="TextBox 19"/>
          <p:cNvSpPr txBox="1"/>
          <p:nvPr/>
        </p:nvSpPr>
        <p:spPr>
          <a:xfrm>
            <a:off x="4892040" y="4937760"/>
            <a:ext cx="3017520" cy="1188720"/>
          </a:xfrm>
          <a:prstGeom prst="rect">
            <a:avLst/>
          </a:prstGeom>
          <a:noFill/>
        </p:spPr>
        <p:txBody>
          <a:bodyPr wrap="square">
            <a:spAutoFit/>
          </a:bodyPr>
          <a:lstStyle/>
          <a:p>
            <a:pPr algn="l"/>
            <a:r>
              <a:rPr sz="1200" b="0" i="0">
                <a:solidFill>
                  <a:srgbClr val="6B6B6B"/>
                </a:solidFill>
                <a:latin typeface="Arial"/>
              </a:rPr>
              <a:t>Già cercate pattern nascosti. L'AI identifica correlazioni che l'occhio umano non vedrebbe mai — e ve le porta.</a:t>
            </a:r>
          </a:p>
        </p:txBody>
      </p:sp>
      <p:sp>
        <p:nvSpPr>
          <p:cNvPr id="21" name="Rectangle 20"/>
          <p:cNvSpPr/>
          <p:nvPr/>
        </p:nvSpPr>
        <p:spPr>
          <a:xfrm>
            <a:off x="8412480" y="4389120"/>
            <a:ext cx="3566160" cy="1874519"/>
          </a:xfrm>
          <a:prstGeom prst="roundRect">
            <a:avLst>
              <a:gd name="adj" fmla="val 2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0" y="4572000"/>
            <a:ext cx="3017520" cy="320040"/>
          </a:xfrm>
          <a:prstGeom prst="rect">
            <a:avLst/>
          </a:prstGeom>
          <a:noFill/>
        </p:spPr>
        <p:txBody>
          <a:bodyPr wrap="square">
            <a:spAutoFit/>
          </a:bodyPr>
          <a:lstStyle/>
          <a:p>
            <a:pPr algn="l"/>
            <a:r>
              <a:rPr sz="1300" b="1" i="0">
                <a:solidFill>
                  <a:srgbClr val="0D0D0D"/>
                </a:solidFill>
                <a:latin typeface="Arial"/>
              </a:rPr>
              <a:t>SIMULATION</a:t>
            </a:r>
          </a:p>
        </p:txBody>
      </p:sp>
      <p:sp>
        <p:nvSpPr>
          <p:cNvPr id="23" name="TextBox 22"/>
          <p:cNvSpPr txBox="1"/>
          <p:nvPr/>
        </p:nvSpPr>
        <p:spPr>
          <a:xfrm>
            <a:off x="8686800" y="4937760"/>
            <a:ext cx="3017520" cy="1188720"/>
          </a:xfrm>
          <a:prstGeom prst="rect">
            <a:avLst/>
          </a:prstGeom>
          <a:noFill/>
        </p:spPr>
        <p:txBody>
          <a:bodyPr wrap="square">
            <a:spAutoFit/>
          </a:bodyPr>
          <a:lstStyle/>
          <a:p>
            <a:pPr algn="l"/>
            <a:r>
              <a:rPr sz="1200" b="0" i="0">
                <a:solidFill>
                  <a:srgbClr val="6B6B6B"/>
                </a:solidFill>
                <a:latin typeface="Arial"/>
              </a:rPr>
              <a:t>Già ragionate per scenari. L'AI vi permette di simularli. Testare 'e se?' prima che diventi reale.</a:t>
            </a:r>
          </a:p>
        </p:txBody>
      </p:sp>
      <p:sp>
        <p:nvSpPr>
          <p:cNvPr id="24" name="TextBox 23"/>
          <p:cNvSpPr txBox="1"/>
          <p:nvPr/>
        </p:nvSpPr>
        <p:spPr>
          <a:xfrm>
            <a:off x="822960" y="6492240"/>
            <a:ext cx="9144000" cy="274320"/>
          </a:xfrm>
          <a:prstGeom prst="rect">
            <a:avLst/>
          </a:prstGeom>
          <a:noFill/>
        </p:spPr>
        <p:txBody>
          <a:bodyPr wrap="square">
            <a:spAutoFit/>
          </a:bodyPr>
          <a:lstStyle/>
          <a:p>
            <a:pPr algn="l"/>
            <a:r>
              <a:rPr sz="1200" b="0" i="1">
                <a:solidFill>
                  <a:srgbClr val="6B6B6B"/>
                </a:solidFill>
                <a:latin typeface="Arial"/>
              </a:rPr>
              <a:t>"L'AI non pensa al posto dell'analista. Amplifica ciò che l'analista è in grado di vedere."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TextBox 3"/>
          <p:cNvSpPr txBox="1"/>
          <p:nvPr/>
        </p:nvSpPr>
        <p:spPr>
          <a:xfrm>
            <a:off x="822960" y="731520"/>
            <a:ext cx="1828800" cy="274320"/>
          </a:xfrm>
          <a:prstGeom prst="rect">
            <a:avLst/>
          </a:prstGeom>
          <a:noFill/>
        </p:spPr>
        <p:txBody>
          <a:bodyPr wrap="square">
            <a:spAutoFit/>
          </a:bodyPr>
          <a:lstStyle/>
          <a:p>
            <a:pPr algn="l"/>
            <a:r>
              <a:rPr sz="900" b="0" i="0">
                <a:solidFill>
                  <a:srgbClr val="AAAAAA"/>
                </a:solidFill>
                <a:latin typeface="Arial"/>
              </a:rPr>
              <a:t>CAP 8</a:t>
            </a:r>
          </a:p>
        </p:txBody>
      </p:sp>
      <p:sp>
        <p:nvSpPr>
          <p:cNvPr id="5" name="TextBox 4"/>
          <p:cNvSpPr txBox="1"/>
          <p:nvPr/>
        </p:nvSpPr>
        <p:spPr>
          <a:xfrm>
            <a:off x="822960" y="822960"/>
            <a:ext cx="8229600" cy="1097280"/>
          </a:xfrm>
          <a:prstGeom prst="rect">
            <a:avLst/>
          </a:prstGeom>
          <a:noFill/>
        </p:spPr>
        <p:txBody>
          <a:bodyPr wrap="square">
            <a:spAutoFit/>
          </a:bodyPr>
          <a:lstStyle/>
          <a:p>
            <a:pPr algn="l"/>
            <a:r>
              <a:rPr sz="5200" b="1" i="0">
                <a:solidFill>
                  <a:srgbClr val="FFFFFF"/>
                </a:solidFill>
                <a:latin typeface="Arial Black"/>
              </a:rPr>
              <a:t>APPLICAZIONI</a:t>
            </a:r>
          </a:p>
        </p:txBody>
      </p:sp>
      <p:sp>
        <p:nvSpPr>
          <p:cNvPr id="6" name="TextBox 5"/>
          <p:cNvSpPr txBox="1"/>
          <p:nvPr/>
        </p:nvSpPr>
        <p:spPr>
          <a:xfrm>
            <a:off x="822960" y="1828800"/>
            <a:ext cx="7315200" cy="365760"/>
          </a:xfrm>
          <a:prstGeom prst="rect">
            <a:avLst/>
          </a:prstGeom>
          <a:noFill/>
        </p:spPr>
        <p:txBody>
          <a:bodyPr wrap="square">
            <a:spAutoFit/>
          </a:bodyPr>
          <a:lstStyle/>
          <a:p>
            <a:pPr algn="l"/>
            <a:r>
              <a:rPr sz="1300" b="0" i="0">
                <a:solidFill>
                  <a:srgbClr val="AAAAAA"/>
                </a:solidFill>
                <a:latin typeface="Arial"/>
              </a:rPr>
              <a:t>Dove si vede il valore concreto. Quattro applicazioni in cui il listening entra prima delle decisioni. Non dopo.</a:t>
            </a:r>
          </a:p>
        </p:txBody>
      </p:sp>
      <p:sp>
        <p:nvSpPr>
          <p:cNvPr id="7" name="Rectangle 6"/>
          <p:cNvSpPr/>
          <p:nvPr/>
        </p:nvSpPr>
        <p:spPr>
          <a:xfrm>
            <a:off x="822960" y="2331720"/>
            <a:ext cx="5029200" cy="201168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468880"/>
            <a:ext cx="4572000" cy="320040"/>
          </a:xfrm>
          <a:prstGeom prst="rect">
            <a:avLst/>
          </a:prstGeom>
          <a:noFill/>
        </p:spPr>
        <p:txBody>
          <a:bodyPr wrap="square">
            <a:spAutoFit/>
          </a:bodyPr>
          <a:lstStyle/>
          <a:p>
            <a:pPr algn="l"/>
            <a:r>
              <a:rPr sz="1150" b="1" i="0">
                <a:solidFill>
                  <a:srgbClr val="0D0D0D"/>
                </a:solidFill>
                <a:latin typeface="Arial"/>
              </a:rPr>
              <a:t>REPUTATION INTELLIGENCE</a:t>
            </a:r>
          </a:p>
        </p:txBody>
      </p:sp>
      <p:sp>
        <p:nvSpPr>
          <p:cNvPr id="9" name="TextBox 8"/>
          <p:cNvSpPr txBox="1"/>
          <p:nvPr/>
        </p:nvSpPr>
        <p:spPr>
          <a:xfrm>
            <a:off x="1051560" y="2834640"/>
            <a:ext cx="4572000" cy="274320"/>
          </a:xfrm>
          <a:prstGeom prst="rect">
            <a:avLst/>
          </a:prstGeom>
          <a:noFill/>
        </p:spPr>
        <p:txBody>
          <a:bodyPr wrap="square">
            <a:spAutoFit/>
          </a:bodyPr>
          <a:lstStyle/>
          <a:p>
            <a:pPr algn="l"/>
            <a:r>
              <a:rPr sz="1100" b="0" i="0">
                <a:solidFill>
                  <a:srgbClr val="6B6B6B"/>
                </a:solidFill>
                <a:latin typeface="Arial"/>
              </a:rPr>
              <a:t>— Real-time monitoring — l'intelligence reputazionale.</a:t>
            </a:r>
          </a:p>
        </p:txBody>
      </p:sp>
      <p:sp>
        <p:nvSpPr>
          <p:cNvPr id="10" name="TextBox 9"/>
          <p:cNvSpPr txBox="1"/>
          <p:nvPr/>
        </p:nvSpPr>
        <p:spPr>
          <a:xfrm>
            <a:off x="1051560" y="3127248"/>
            <a:ext cx="4572000" cy="274320"/>
          </a:xfrm>
          <a:prstGeom prst="rect">
            <a:avLst/>
          </a:prstGeom>
          <a:noFill/>
        </p:spPr>
        <p:txBody>
          <a:bodyPr wrap="square">
            <a:spAutoFit/>
          </a:bodyPr>
          <a:lstStyle/>
          <a:p>
            <a:pPr algn="l"/>
            <a:r>
              <a:rPr sz="1100" b="0" i="0">
                <a:solidFill>
                  <a:srgbClr val="6B6B6B"/>
                </a:solidFill>
                <a:latin typeface="Arial"/>
              </a:rPr>
              <a:t>— Reputazione in tempo reale. Crisis management. Share of voice.</a:t>
            </a:r>
          </a:p>
        </p:txBody>
      </p:sp>
      <p:sp>
        <p:nvSpPr>
          <p:cNvPr id="11" name="TextBox 10"/>
          <p:cNvSpPr txBox="1"/>
          <p:nvPr/>
        </p:nvSpPr>
        <p:spPr>
          <a:xfrm>
            <a:off x="1051560" y="3419856"/>
            <a:ext cx="4572000" cy="274320"/>
          </a:xfrm>
          <a:prstGeom prst="rect">
            <a:avLst/>
          </a:prstGeom>
          <a:noFill/>
        </p:spPr>
        <p:txBody>
          <a:bodyPr wrap="square">
            <a:spAutoFit/>
          </a:bodyPr>
          <a:lstStyle/>
          <a:p>
            <a:pPr algn="l"/>
            <a:r>
              <a:rPr sz="1100" b="0" i="0">
                <a:solidFill>
                  <a:srgbClr val="6B6B6B"/>
                </a:solidFill>
                <a:latin typeface="Arial"/>
              </a:rPr>
              <a:t>— Narrativo che emerge nei forum (non solo press).</a:t>
            </a:r>
          </a:p>
        </p:txBody>
      </p:sp>
      <p:sp>
        <p:nvSpPr>
          <p:cNvPr id="12" name="Rectangle 11"/>
          <p:cNvSpPr/>
          <p:nvPr/>
        </p:nvSpPr>
        <p:spPr>
          <a:xfrm>
            <a:off x="6035040" y="2331720"/>
            <a:ext cx="5029200" cy="2011680"/>
          </a:xfrm>
          <a:prstGeom prst="roundRect">
            <a:avLst>
              <a:gd name="adj" fmla="val 15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2468880"/>
            <a:ext cx="4572000" cy="320040"/>
          </a:xfrm>
          <a:prstGeom prst="rect">
            <a:avLst/>
          </a:prstGeom>
          <a:noFill/>
        </p:spPr>
        <p:txBody>
          <a:bodyPr wrap="square">
            <a:spAutoFit/>
          </a:bodyPr>
          <a:lstStyle/>
          <a:p>
            <a:pPr algn="l"/>
            <a:r>
              <a:rPr sz="1150" b="1" i="0">
                <a:solidFill>
                  <a:srgbClr val="FFE600"/>
                </a:solidFill>
                <a:latin typeface="Arial"/>
              </a:rPr>
              <a:t>CAMPAIGN INTELLIGENCE</a:t>
            </a:r>
          </a:p>
        </p:txBody>
      </p:sp>
      <p:sp>
        <p:nvSpPr>
          <p:cNvPr id="14" name="TextBox 13"/>
          <p:cNvSpPr txBox="1"/>
          <p:nvPr/>
        </p:nvSpPr>
        <p:spPr>
          <a:xfrm>
            <a:off x="6263640" y="2834640"/>
            <a:ext cx="4572000" cy="274320"/>
          </a:xfrm>
          <a:prstGeom prst="rect">
            <a:avLst/>
          </a:prstGeom>
          <a:noFill/>
        </p:spPr>
        <p:txBody>
          <a:bodyPr wrap="square">
            <a:spAutoFit/>
          </a:bodyPr>
          <a:lstStyle/>
          <a:p>
            <a:pPr algn="l"/>
            <a:r>
              <a:rPr sz="1100" b="0" i="0">
                <a:solidFill>
                  <a:srgbClr val="AAAAAA"/>
                </a:solidFill>
                <a:latin typeface="Arial"/>
              </a:rPr>
              <a:t>— Come viene recepita organicamente, al netto dei paid?</a:t>
            </a:r>
          </a:p>
        </p:txBody>
      </p:sp>
      <p:sp>
        <p:nvSpPr>
          <p:cNvPr id="15" name="TextBox 14"/>
          <p:cNvSpPr txBox="1"/>
          <p:nvPr/>
        </p:nvSpPr>
        <p:spPr>
          <a:xfrm>
            <a:off x="6263640" y="3127248"/>
            <a:ext cx="4572000" cy="274320"/>
          </a:xfrm>
          <a:prstGeom prst="rect">
            <a:avLst/>
          </a:prstGeom>
          <a:noFill/>
        </p:spPr>
        <p:txBody>
          <a:bodyPr wrap="square">
            <a:spAutoFit/>
          </a:bodyPr>
          <a:lstStyle/>
          <a:p>
            <a:pPr algn="l"/>
            <a:r>
              <a:rPr sz="1100" b="0" i="0">
                <a:solidFill>
                  <a:srgbClr val="AAAAAA"/>
                </a:solidFill>
                <a:latin typeface="Arial"/>
              </a:rPr>
              <a:t>— Quali messaggi conquistano, quali annoiano?</a:t>
            </a:r>
          </a:p>
        </p:txBody>
      </p:sp>
      <p:sp>
        <p:nvSpPr>
          <p:cNvPr id="16" name="TextBox 15"/>
          <p:cNvSpPr txBox="1"/>
          <p:nvPr/>
        </p:nvSpPr>
        <p:spPr>
          <a:xfrm>
            <a:off x="6263640" y="3419856"/>
            <a:ext cx="4572000" cy="274320"/>
          </a:xfrm>
          <a:prstGeom prst="rect">
            <a:avLst/>
          </a:prstGeom>
          <a:noFill/>
        </p:spPr>
        <p:txBody>
          <a:bodyPr wrap="square">
            <a:spAutoFit/>
          </a:bodyPr>
          <a:lstStyle/>
          <a:p>
            <a:pPr algn="l"/>
            <a:r>
              <a:rPr sz="1100" b="0" i="0">
                <a:solidFill>
                  <a:srgbClr val="AAAAAA"/>
                </a:solidFill>
                <a:latin typeface="Arial"/>
              </a:rPr>
              <a:t>— Correzione in diretta — non valutazione a campagna chiusa.</a:t>
            </a:r>
          </a:p>
        </p:txBody>
      </p:sp>
      <p:sp>
        <p:nvSpPr>
          <p:cNvPr id="17" name="Rectangle 16"/>
          <p:cNvSpPr/>
          <p:nvPr/>
        </p:nvSpPr>
        <p:spPr>
          <a:xfrm>
            <a:off x="822960" y="4572000"/>
            <a:ext cx="5029200" cy="2011680"/>
          </a:xfrm>
          <a:prstGeom prst="roundRect">
            <a:avLst>
              <a:gd name="adj" fmla="val 15000"/>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709160"/>
            <a:ext cx="4572000" cy="320040"/>
          </a:xfrm>
          <a:prstGeom prst="rect">
            <a:avLst/>
          </a:prstGeom>
          <a:noFill/>
        </p:spPr>
        <p:txBody>
          <a:bodyPr wrap="square">
            <a:spAutoFit/>
          </a:bodyPr>
          <a:lstStyle/>
          <a:p>
            <a:pPr algn="l"/>
            <a:r>
              <a:rPr sz="1150" b="1" i="0">
                <a:solidFill>
                  <a:srgbClr val="FFFFFF"/>
                </a:solidFill>
                <a:latin typeface="Arial"/>
              </a:rPr>
              <a:t>PRODUCT INTELLIGENCE</a:t>
            </a:r>
          </a:p>
        </p:txBody>
      </p:sp>
      <p:sp>
        <p:nvSpPr>
          <p:cNvPr id="19" name="TextBox 18"/>
          <p:cNvSpPr txBox="1"/>
          <p:nvPr/>
        </p:nvSpPr>
        <p:spPr>
          <a:xfrm>
            <a:off x="1051560" y="5074920"/>
            <a:ext cx="4572000" cy="274320"/>
          </a:xfrm>
          <a:prstGeom prst="rect">
            <a:avLst/>
          </a:prstGeom>
          <a:noFill/>
        </p:spPr>
        <p:txBody>
          <a:bodyPr wrap="square">
            <a:spAutoFit/>
          </a:bodyPr>
          <a:lstStyle/>
          <a:p>
            <a:pPr algn="l"/>
            <a:r>
              <a:rPr sz="1100" b="0" i="0">
                <a:solidFill>
                  <a:srgbClr val="AAAAAA"/>
                </a:solidFill>
                <a:latin typeface="Arial"/>
              </a:rPr>
              <a:t>— Insight che nessuna survey cattura:</a:t>
            </a:r>
          </a:p>
        </p:txBody>
      </p:sp>
      <p:sp>
        <p:nvSpPr>
          <p:cNvPr id="20" name="TextBox 19"/>
          <p:cNvSpPr txBox="1"/>
          <p:nvPr/>
        </p:nvSpPr>
        <p:spPr>
          <a:xfrm>
            <a:off x="1051560" y="5367528"/>
            <a:ext cx="4572000" cy="274320"/>
          </a:xfrm>
          <a:prstGeom prst="rect">
            <a:avLst/>
          </a:prstGeom>
          <a:noFill/>
        </p:spPr>
        <p:txBody>
          <a:bodyPr wrap="square">
            <a:spAutoFit/>
          </a:bodyPr>
          <a:lstStyle/>
          <a:p>
            <a:pPr algn="l"/>
            <a:r>
              <a:rPr sz="1100" b="0" i="0">
                <a:solidFill>
                  <a:srgbClr val="AAAAAA"/>
                </a:solidFill>
                <a:latin typeface="Arial"/>
              </a:rPr>
              <a:t>— I fix improvvisati. Workaround. Micro-community.</a:t>
            </a:r>
          </a:p>
        </p:txBody>
      </p:sp>
      <p:sp>
        <p:nvSpPr>
          <p:cNvPr id="21" name="TextBox 20"/>
          <p:cNvSpPr txBox="1"/>
          <p:nvPr/>
        </p:nvSpPr>
        <p:spPr>
          <a:xfrm>
            <a:off x="1051560" y="5660136"/>
            <a:ext cx="4572000" cy="274320"/>
          </a:xfrm>
          <a:prstGeom prst="rect">
            <a:avLst/>
          </a:prstGeom>
          <a:noFill/>
        </p:spPr>
        <p:txBody>
          <a:bodyPr wrap="square">
            <a:spAutoFit/>
          </a:bodyPr>
          <a:lstStyle/>
          <a:p>
            <a:pPr algn="l"/>
            <a:r>
              <a:rPr sz="1100" b="0" i="0">
                <a:solidFill>
                  <a:srgbClr val="AAAAAA"/>
                </a:solidFill>
                <a:latin typeface="Arial"/>
              </a:rPr>
              <a:t>— Segnali migliorativi prima che il cliente lo chieda.</a:t>
            </a:r>
          </a:p>
        </p:txBody>
      </p:sp>
      <p:sp>
        <p:nvSpPr>
          <p:cNvPr id="22" name="Rectangle 21"/>
          <p:cNvSpPr/>
          <p:nvPr/>
        </p:nvSpPr>
        <p:spPr>
          <a:xfrm>
            <a:off x="6035040" y="4572000"/>
            <a:ext cx="5029200" cy="201168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3640" y="4709160"/>
            <a:ext cx="4572000" cy="320040"/>
          </a:xfrm>
          <a:prstGeom prst="rect">
            <a:avLst/>
          </a:prstGeom>
          <a:noFill/>
        </p:spPr>
        <p:txBody>
          <a:bodyPr wrap="square">
            <a:spAutoFit/>
          </a:bodyPr>
          <a:lstStyle/>
          <a:p>
            <a:pPr algn="l"/>
            <a:r>
              <a:rPr sz="1150" b="1" i="0">
                <a:solidFill>
                  <a:srgbClr val="0D0D0D"/>
                </a:solidFill>
                <a:latin typeface="Arial"/>
              </a:rPr>
              <a:t>REAL-TIME INTELLIGENCE</a:t>
            </a:r>
          </a:p>
        </p:txBody>
      </p:sp>
      <p:sp>
        <p:nvSpPr>
          <p:cNvPr id="24" name="TextBox 23"/>
          <p:cNvSpPr txBox="1"/>
          <p:nvPr/>
        </p:nvSpPr>
        <p:spPr>
          <a:xfrm>
            <a:off x="6263640" y="5074920"/>
            <a:ext cx="4572000" cy="274320"/>
          </a:xfrm>
          <a:prstGeom prst="rect">
            <a:avLst/>
          </a:prstGeom>
          <a:noFill/>
        </p:spPr>
        <p:txBody>
          <a:bodyPr wrap="square">
            <a:spAutoFit/>
          </a:bodyPr>
          <a:lstStyle/>
          <a:p>
            <a:pPr algn="l"/>
            <a:r>
              <a:rPr sz="1100" b="0" i="0">
                <a:solidFill>
                  <a:srgbClr val="6B6B6B"/>
                </a:solidFill>
                <a:latin typeface="Arial"/>
              </a:rPr>
              <a:t>— Lancio, sponsorship, crisi in factory ready.</a:t>
            </a:r>
          </a:p>
        </p:txBody>
      </p:sp>
      <p:sp>
        <p:nvSpPr>
          <p:cNvPr id="25" name="TextBox 24"/>
          <p:cNvSpPr txBox="1"/>
          <p:nvPr/>
        </p:nvSpPr>
        <p:spPr>
          <a:xfrm>
            <a:off x="6263640" y="5367528"/>
            <a:ext cx="4572000" cy="274320"/>
          </a:xfrm>
          <a:prstGeom prst="rect">
            <a:avLst/>
          </a:prstGeom>
          <a:noFill/>
        </p:spPr>
        <p:txBody>
          <a:bodyPr wrap="square">
            <a:spAutoFit/>
          </a:bodyPr>
          <a:lstStyle/>
          <a:p>
            <a:pPr algn="l"/>
            <a:r>
              <a:rPr sz="1100" b="0" i="0">
                <a:solidFill>
                  <a:srgbClr val="6B6B6B"/>
                </a:solidFill>
                <a:latin typeface="Arial"/>
              </a:rPr>
              <a:t>— La definizione europea è un factory in factory ready.</a:t>
            </a:r>
          </a:p>
        </p:txBody>
      </p:sp>
      <p:sp>
        <p:nvSpPr>
          <p:cNvPr id="26" name="TextBox 25"/>
          <p:cNvSpPr txBox="1"/>
          <p:nvPr/>
        </p:nvSpPr>
        <p:spPr>
          <a:xfrm>
            <a:off x="6263640" y="5660136"/>
            <a:ext cx="4572000" cy="274320"/>
          </a:xfrm>
          <a:prstGeom prst="rect">
            <a:avLst/>
          </a:prstGeom>
          <a:noFill/>
        </p:spPr>
        <p:txBody>
          <a:bodyPr wrap="square">
            <a:spAutoFit/>
          </a:bodyPr>
          <a:lstStyle/>
          <a:p>
            <a:pPr algn="l"/>
            <a:r>
              <a:rPr sz="1100" b="0" i="0">
                <a:solidFill>
                  <a:srgbClr val="6B6B6B"/>
                </a:solidFill>
                <a:latin typeface="Arial"/>
              </a:rPr>
              <a:t>— Quando un topic diventa caldo io sono già lì.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TextBox 3"/>
          <p:cNvSpPr txBox="1"/>
          <p:nvPr/>
        </p:nvSpPr>
        <p:spPr>
          <a:xfrm>
            <a:off x="822960" y="731520"/>
            <a:ext cx="1828800" cy="274320"/>
          </a:xfrm>
          <a:prstGeom prst="rect">
            <a:avLst/>
          </a:prstGeom>
          <a:noFill/>
        </p:spPr>
        <p:txBody>
          <a:bodyPr wrap="square">
            <a:spAutoFit/>
          </a:bodyPr>
          <a:lstStyle/>
          <a:p>
            <a:pPr algn="l"/>
            <a:r>
              <a:rPr sz="900" b="0" i="0">
                <a:solidFill>
                  <a:srgbClr val="6B6B6B"/>
                </a:solidFill>
                <a:latin typeface="Arial"/>
              </a:rPr>
              <a:t>CAP 9</a:t>
            </a:r>
          </a:p>
        </p:txBody>
      </p:sp>
      <p:sp>
        <p:nvSpPr>
          <p:cNvPr id="5" name="TextBox 4"/>
          <p:cNvSpPr txBox="1"/>
          <p:nvPr/>
        </p:nvSpPr>
        <p:spPr>
          <a:xfrm>
            <a:off x="822960" y="822960"/>
            <a:ext cx="8229600" cy="1097280"/>
          </a:xfrm>
          <a:prstGeom prst="rect">
            <a:avLst/>
          </a:prstGeom>
          <a:noFill/>
        </p:spPr>
        <p:txBody>
          <a:bodyPr wrap="square">
            <a:spAutoFit/>
          </a:bodyPr>
          <a:lstStyle/>
          <a:p>
            <a:pPr algn="l"/>
            <a:r>
              <a:rPr sz="5800" b="1" i="0">
                <a:solidFill>
                  <a:srgbClr val="0D0D0D"/>
                </a:solidFill>
                <a:latin typeface="Arial Black"/>
              </a:rPr>
              <a:t>CHIUSURA</a:t>
            </a:r>
          </a:p>
        </p:txBody>
      </p:sp>
      <p:sp>
        <p:nvSpPr>
          <p:cNvPr id="6" name="TextBox 5"/>
          <p:cNvSpPr txBox="1"/>
          <p:nvPr/>
        </p:nvSpPr>
        <p:spPr>
          <a:xfrm>
            <a:off x="822960" y="1874519"/>
            <a:ext cx="8229600" cy="365760"/>
          </a:xfrm>
          <a:prstGeom prst="rect">
            <a:avLst/>
          </a:prstGeom>
          <a:noFill/>
        </p:spPr>
        <p:txBody>
          <a:bodyPr wrap="square">
            <a:spAutoFit/>
          </a:bodyPr>
          <a:lstStyle/>
          <a:p>
            <a:pPr algn="l"/>
            <a:r>
              <a:rPr sz="1400" b="0" i="0">
                <a:solidFill>
                  <a:srgbClr val="6B6B6B"/>
                </a:solidFill>
                <a:latin typeface="Arial"/>
              </a:rPr>
              <a:t>Cosa cambia da lunedì mattina. Quattro principi operativi. Non teoria — azioni immediate.</a:t>
            </a:r>
          </a:p>
        </p:txBody>
      </p:sp>
      <p:sp>
        <p:nvSpPr>
          <p:cNvPr id="7" name="Rectangle 6"/>
          <p:cNvSpPr/>
          <p:nvPr/>
        </p:nvSpPr>
        <p:spPr>
          <a:xfrm>
            <a:off x="822960" y="2377440"/>
            <a:ext cx="5212080" cy="1920240"/>
          </a:xfrm>
          <a:prstGeom prst="roundRect">
            <a:avLst>
              <a:gd name="adj" fmla="val 2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514600"/>
            <a:ext cx="914400" cy="502920"/>
          </a:xfrm>
          <a:prstGeom prst="rect">
            <a:avLst/>
          </a:prstGeom>
          <a:noFill/>
        </p:spPr>
        <p:txBody>
          <a:bodyPr wrap="square">
            <a:spAutoFit/>
          </a:bodyPr>
          <a:lstStyle/>
          <a:p>
            <a:pPr algn="l"/>
            <a:r>
              <a:rPr sz="3200" b="1" i="0">
                <a:solidFill>
                  <a:srgbClr val="AAAAAA"/>
                </a:solidFill>
                <a:latin typeface="Arial Black"/>
              </a:rPr>
              <a:t>01</a:t>
            </a:r>
          </a:p>
        </p:txBody>
      </p:sp>
      <p:sp>
        <p:nvSpPr>
          <p:cNvPr id="9" name="TextBox 8"/>
          <p:cNvSpPr txBox="1"/>
          <p:nvPr/>
        </p:nvSpPr>
        <p:spPr>
          <a:xfrm>
            <a:off x="1097280" y="3017520"/>
            <a:ext cx="4663440" cy="320040"/>
          </a:xfrm>
          <a:prstGeom prst="rect">
            <a:avLst/>
          </a:prstGeom>
          <a:noFill/>
        </p:spPr>
        <p:txBody>
          <a:bodyPr wrap="square">
            <a:spAutoFit/>
          </a:bodyPr>
          <a:lstStyle/>
          <a:p>
            <a:pPr algn="l"/>
            <a:r>
              <a:rPr sz="1100" b="1" i="0">
                <a:solidFill>
                  <a:srgbClr val="0D0D0D"/>
                </a:solidFill>
                <a:latin typeface="Arial"/>
              </a:rPr>
              <a:t>DAI UN NOME AL MESTIERE</a:t>
            </a:r>
          </a:p>
        </p:txBody>
      </p:sp>
      <p:sp>
        <p:nvSpPr>
          <p:cNvPr id="10" name="TextBox 9"/>
          <p:cNvSpPr txBox="1"/>
          <p:nvPr/>
        </p:nvSpPr>
        <p:spPr>
          <a:xfrm>
            <a:off x="1097280" y="3383280"/>
            <a:ext cx="4663440" cy="777240"/>
          </a:xfrm>
          <a:prstGeom prst="rect">
            <a:avLst/>
          </a:prstGeom>
          <a:noFill/>
        </p:spPr>
        <p:txBody>
          <a:bodyPr wrap="square">
            <a:spAutoFit/>
          </a:bodyPr>
          <a:lstStyle/>
          <a:p>
            <a:pPr algn="l"/>
            <a:r>
              <a:rPr sz="1150" b="0" i="0">
                <a:solidFill>
                  <a:srgbClr val="6B6B6B"/>
                </a:solidFill>
                <a:latin typeface="Arial"/>
              </a:rPr>
              <a:t>Se viene confuso con social media management o reporting, non entrerà nelle decisioni che contano. Non è un problema semantico — è un problema di potere organizzativo.</a:t>
            </a:r>
          </a:p>
        </p:txBody>
      </p:sp>
      <p:sp>
        <p:nvSpPr>
          <p:cNvPr id="11" name="Rectangle 10"/>
          <p:cNvSpPr/>
          <p:nvPr/>
        </p:nvSpPr>
        <p:spPr>
          <a:xfrm>
            <a:off x="6309360" y="2377440"/>
            <a:ext cx="5212080" cy="1920240"/>
          </a:xfrm>
          <a:prstGeom prst="roundRect">
            <a:avLst>
              <a:gd name="adj" fmla="val 2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514600"/>
            <a:ext cx="914400" cy="502920"/>
          </a:xfrm>
          <a:prstGeom prst="rect">
            <a:avLst/>
          </a:prstGeom>
          <a:noFill/>
        </p:spPr>
        <p:txBody>
          <a:bodyPr wrap="square">
            <a:spAutoFit/>
          </a:bodyPr>
          <a:lstStyle/>
          <a:p>
            <a:pPr algn="l"/>
            <a:r>
              <a:rPr sz="3200" b="1" i="0">
                <a:solidFill>
                  <a:srgbClr val="AAAAAA"/>
                </a:solidFill>
                <a:latin typeface="Arial Black"/>
              </a:rPr>
              <a:t>02</a:t>
            </a:r>
          </a:p>
        </p:txBody>
      </p:sp>
      <p:sp>
        <p:nvSpPr>
          <p:cNvPr id="13" name="TextBox 12"/>
          <p:cNvSpPr txBox="1"/>
          <p:nvPr/>
        </p:nvSpPr>
        <p:spPr>
          <a:xfrm>
            <a:off x="6583680" y="3017520"/>
            <a:ext cx="4663440" cy="320040"/>
          </a:xfrm>
          <a:prstGeom prst="rect">
            <a:avLst/>
          </a:prstGeom>
          <a:noFill/>
        </p:spPr>
        <p:txBody>
          <a:bodyPr wrap="square">
            <a:spAutoFit/>
          </a:bodyPr>
          <a:lstStyle/>
          <a:p>
            <a:pPr algn="l"/>
            <a:r>
              <a:rPr sz="1100" b="1" i="0">
                <a:solidFill>
                  <a:srgbClr val="0D0D0D"/>
                </a:solidFill>
                <a:latin typeface="Arial"/>
              </a:rPr>
              <a:t>PRIMA DELLA QUERY, LA DECISIONE</a:t>
            </a:r>
          </a:p>
        </p:txBody>
      </p:sp>
      <p:sp>
        <p:nvSpPr>
          <p:cNvPr id="14" name="TextBox 13"/>
          <p:cNvSpPr txBox="1"/>
          <p:nvPr/>
        </p:nvSpPr>
        <p:spPr>
          <a:xfrm>
            <a:off x="6583680" y="3383280"/>
            <a:ext cx="4663440" cy="777240"/>
          </a:xfrm>
          <a:prstGeom prst="rect">
            <a:avLst/>
          </a:prstGeom>
          <a:noFill/>
        </p:spPr>
        <p:txBody>
          <a:bodyPr wrap="square">
            <a:spAutoFit/>
          </a:bodyPr>
          <a:lstStyle/>
          <a:p>
            <a:pPr algn="l"/>
            <a:r>
              <a:rPr sz="1150" b="0" i="0">
                <a:solidFill>
                  <a:srgbClr val="6B6B6B"/>
                </a:solidFill>
                <a:latin typeface="Arial"/>
              </a:rPr>
              <a:t>Non si apre il tool e si digita il nome del brand. Si parte da: quale decisione devo supportare? Se la decisione non è chiara, produci monitoraggio — non intelligence.</a:t>
            </a:r>
          </a:p>
        </p:txBody>
      </p:sp>
      <p:sp>
        <p:nvSpPr>
          <p:cNvPr id="15" name="Rectangle 14"/>
          <p:cNvSpPr/>
          <p:nvPr/>
        </p:nvSpPr>
        <p:spPr>
          <a:xfrm>
            <a:off x="822960" y="4572000"/>
            <a:ext cx="5212080" cy="1920240"/>
          </a:xfrm>
          <a:prstGeom prst="roundRect">
            <a:avLst>
              <a:gd name="adj" fmla="val 2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709160"/>
            <a:ext cx="914400" cy="502920"/>
          </a:xfrm>
          <a:prstGeom prst="rect">
            <a:avLst/>
          </a:prstGeom>
          <a:noFill/>
        </p:spPr>
        <p:txBody>
          <a:bodyPr wrap="square">
            <a:spAutoFit/>
          </a:bodyPr>
          <a:lstStyle/>
          <a:p>
            <a:pPr algn="l"/>
            <a:r>
              <a:rPr sz="3200" b="1" i="0">
                <a:solidFill>
                  <a:srgbClr val="AAAAAA"/>
                </a:solidFill>
                <a:latin typeface="Arial Black"/>
              </a:rPr>
              <a:t>03</a:t>
            </a:r>
          </a:p>
        </p:txBody>
      </p:sp>
      <p:sp>
        <p:nvSpPr>
          <p:cNvPr id="17" name="TextBox 16"/>
          <p:cNvSpPr txBox="1"/>
          <p:nvPr/>
        </p:nvSpPr>
        <p:spPr>
          <a:xfrm>
            <a:off x="1097280" y="5212080"/>
            <a:ext cx="4663440" cy="320040"/>
          </a:xfrm>
          <a:prstGeom prst="rect">
            <a:avLst/>
          </a:prstGeom>
          <a:noFill/>
        </p:spPr>
        <p:txBody>
          <a:bodyPr wrap="square">
            <a:spAutoFit/>
          </a:bodyPr>
          <a:lstStyle/>
          <a:p>
            <a:pPr algn="l"/>
            <a:r>
              <a:rPr sz="1100" b="1" i="0">
                <a:solidFill>
                  <a:srgbClr val="0D0D0D"/>
                </a:solidFill>
                <a:latin typeface="Arial"/>
              </a:rPr>
              <a:t>NON CERCARE VOLUME. CERCA FRIZIONE.</a:t>
            </a:r>
          </a:p>
        </p:txBody>
      </p:sp>
      <p:sp>
        <p:nvSpPr>
          <p:cNvPr id="18" name="TextBox 17"/>
          <p:cNvSpPr txBox="1"/>
          <p:nvPr/>
        </p:nvSpPr>
        <p:spPr>
          <a:xfrm>
            <a:off x="1097280" y="5577840"/>
            <a:ext cx="4663440" cy="777240"/>
          </a:xfrm>
          <a:prstGeom prst="rect">
            <a:avLst/>
          </a:prstGeom>
          <a:noFill/>
        </p:spPr>
        <p:txBody>
          <a:bodyPr wrap="square">
            <a:spAutoFit/>
          </a:bodyPr>
          <a:lstStyle/>
          <a:p>
            <a:pPr algn="l"/>
            <a:r>
              <a:rPr sz="1150" b="0" i="0">
                <a:solidFill>
                  <a:srgbClr val="6B6B6B"/>
                </a:solidFill>
                <a:latin typeface="Arial"/>
              </a:rPr>
              <a:t>Il segnale più utile spesso non è il picco più grande, ma il pattern più scomodo. Il vantaggio competitivo non si nasconde dove guardano tutti.</a:t>
            </a:r>
          </a:p>
        </p:txBody>
      </p:sp>
      <p:sp>
        <p:nvSpPr>
          <p:cNvPr id="19" name="Rectangle 18"/>
          <p:cNvSpPr/>
          <p:nvPr/>
        </p:nvSpPr>
        <p:spPr>
          <a:xfrm>
            <a:off x="6309360" y="4572000"/>
            <a:ext cx="5212080" cy="1920240"/>
          </a:xfrm>
          <a:prstGeom prst="roundRect">
            <a:avLst>
              <a:gd name="adj" fmla="val 2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4709160"/>
            <a:ext cx="914400" cy="502920"/>
          </a:xfrm>
          <a:prstGeom prst="rect">
            <a:avLst/>
          </a:prstGeom>
          <a:noFill/>
        </p:spPr>
        <p:txBody>
          <a:bodyPr wrap="square">
            <a:spAutoFit/>
          </a:bodyPr>
          <a:lstStyle/>
          <a:p>
            <a:pPr algn="l"/>
            <a:r>
              <a:rPr sz="3200" b="1" i="0">
                <a:solidFill>
                  <a:srgbClr val="AAAAAA"/>
                </a:solidFill>
                <a:latin typeface="Arial Black"/>
              </a:rPr>
              <a:t>04</a:t>
            </a:r>
          </a:p>
        </p:txBody>
      </p:sp>
      <p:sp>
        <p:nvSpPr>
          <p:cNvPr id="21" name="TextBox 20"/>
          <p:cNvSpPr txBox="1"/>
          <p:nvPr/>
        </p:nvSpPr>
        <p:spPr>
          <a:xfrm>
            <a:off x="6583680" y="5212080"/>
            <a:ext cx="4663440" cy="320040"/>
          </a:xfrm>
          <a:prstGeom prst="rect">
            <a:avLst/>
          </a:prstGeom>
          <a:noFill/>
        </p:spPr>
        <p:txBody>
          <a:bodyPr wrap="square">
            <a:spAutoFit/>
          </a:bodyPr>
          <a:lstStyle/>
          <a:p>
            <a:pPr algn="l"/>
            <a:r>
              <a:rPr sz="1100" b="1" i="0">
                <a:solidFill>
                  <a:srgbClr val="0D0D0D"/>
                </a:solidFill>
                <a:latin typeface="Arial"/>
              </a:rPr>
              <a:t>USA L'AI PER ACCELERARE, NON PER DELEGARE</a:t>
            </a:r>
          </a:p>
        </p:txBody>
      </p:sp>
      <p:sp>
        <p:nvSpPr>
          <p:cNvPr id="22" name="TextBox 21"/>
          <p:cNvSpPr txBox="1"/>
          <p:nvPr/>
        </p:nvSpPr>
        <p:spPr>
          <a:xfrm>
            <a:off x="6583680" y="5577840"/>
            <a:ext cx="4663440" cy="777240"/>
          </a:xfrm>
          <a:prstGeom prst="rect">
            <a:avLst/>
          </a:prstGeom>
          <a:noFill/>
        </p:spPr>
        <p:txBody>
          <a:bodyPr wrap="square">
            <a:spAutoFit/>
          </a:bodyPr>
          <a:lstStyle/>
          <a:p>
            <a:pPr algn="l"/>
            <a:r>
              <a:rPr sz="1150" b="0" i="0">
                <a:solidFill>
                  <a:srgbClr val="6B6B6B"/>
                </a:solidFill>
                <a:latin typeface="Arial"/>
              </a:rPr>
              <a:t>L'AI fa il Task Layer meglio e più velocemente. Il Judgement Layer resta umano. Usala per andare più lontano — non per smettere di pensare.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228600" y="182880"/>
            <a:ext cx="502920" cy="502920"/>
          </a:xfrm>
          <a:prstGeom prst="roundRect">
            <a:avLst>
              <a:gd name="adj" fmla="val 50000"/>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201168"/>
            <a:ext cx="457200" cy="411480"/>
          </a:xfrm>
          <a:prstGeom prst="rect">
            <a:avLst/>
          </a:prstGeom>
          <a:noFill/>
        </p:spPr>
        <p:txBody>
          <a:bodyPr wrap="square">
            <a:spAutoFit/>
          </a:bodyPr>
          <a:lstStyle/>
          <a:p>
            <a:pPr algn="ctr"/>
            <a:r>
              <a:rPr sz="1400" b="1" i="0">
                <a:solidFill>
                  <a:srgbClr val="0D0D0D"/>
                </a:solidFill>
                <a:latin typeface="Arial"/>
              </a:rPr>
              <a:t>EY</a:t>
            </a:r>
          </a:p>
        </p:txBody>
      </p:sp>
      <p:sp>
        <p:nvSpPr>
          <p:cNvPr id="4" name="TextBox 3"/>
          <p:cNvSpPr txBox="1"/>
          <p:nvPr/>
        </p:nvSpPr>
        <p:spPr>
          <a:xfrm>
            <a:off x="822960" y="1188720"/>
            <a:ext cx="10515600" cy="2743200"/>
          </a:xfrm>
          <a:prstGeom prst="rect">
            <a:avLst/>
          </a:prstGeom>
          <a:noFill/>
        </p:spPr>
        <p:txBody>
          <a:bodyPr wrap="square">
            <a:spAutoFit/>
          </a:bodyPr>
          <a:lstStyle/>
          <a:p>
            <a:pPr algn="l"/>
            <a:r>
              <a:rPr sz="2600" b="1" i="0">
                <a:solidFill>
                  <a:srgbClr val="FFFFFF"/>
                </a:solidFill>
                <a:latin typeface="Arial Black"/>
              </a:rPr>
              <a:t>"Il futuro del social listening non sarà deciso da chi possiede il tool migliore. Sarà deciso da chi saprà fare le domande migliori, difendere il metodo, e portare il segnale dove le decisioni vengono prese."</a:t>
            </a:r>
          </a:p>
        </p:txBody>
      </p:sp>
      <p:sp>
        <p:nvSpPr>
          <p:cNvPr id="5" name="TextBox 4"/>
          <p:cNvSpPr txBox="1"/>
          <p:nvPr/>
        </p:nvSpPr>
        <p:spPr>
          <a:xfrm>
            <a:off x="822960" y="4754880"/>
            <a:ext cx="3657600" cy="1097280"/>
          </a:xfrm>
          <a:prstGeom prst="rect">
            <a:avLst/>
          </a:prstGeom>
          <a:noFill/>
        </p:spPr>
        <p:txBody>
          <a:bodyPr wrap="square">
            <a:spAutoFit/>
          </a:bodyPr>
          <a:lstStyle/>
          <a:p>
            <a:pPr algn="l"/>
            <a:r>
              <a:rPr sz="7200" b="1" i="0">
                <a:solidFill>
                  <a:srgbClr val="FFFFFF"/>
                </a:solidFill>
                <a:latin typeface="Arial Black"/>
              </a:rPr>
              <a:t>GRAZIE</a:t>
            </a:r>
          </a:p>
        </p:txBody>
      </p:sp>
      <p:sp>
        <p:nvSpPr>
          <p:cNvPr id="6" name="TextBox 5"/>
          <p:cNvSpPr txBox="1"/>
          <p:nvPr/>
        </p:nvSpPr>
        <p:spPr>
          <a:xfrm>
            <a:off x="822960" y="6035040"/>
            <a:ext cx="5486400" cy="365760"/>
          </a:xfrm>
          <a:prstGeom prst="rect">
            <a:avLst/>
          </a:prstGeom>
          <a:noFill/>
        </p:spPr>
        <p:txBody>
          <a:bodyPr wrap="square">
            <a:spAutoFit/>
          </a:bodyPr>
          <a:lstStyle/>
          <a:p>
            <a:pPr algn="l"/>
            <a:r>
              <a:rPr sz="1100" b="0" i="0">
                <a:solidFill>
                  <a:srgbClr val="6B6B6B"/>
                </a:solidFill>
                <a:latin typeface="Arial"/>
              </a:rPr>
              <a:t>EY Studio+ × Brandwatch × Trajaan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