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714"/>
        </a:solidFill>
        <a:effectLst/>
      </p:bgPr>
    </p:bg>
    <p:spTree>
      <p:nvGrpSpPr>
        <p:cNvPr id="1" name=""/>
        <p:cNvGrpSpPr/>
        <p:nvPr/>
      </p:nvGrpSpPr>
      <p:grpSpPr/>
      <p:sp>
        <p:nvSpPr>
          <p:cNvPr id="2" name="Rectangle 1"/>
          <p:cNvSpPr/>
          <p:nvPr/>
        </p:nvSpPr>
        <p:spPr>
          <a:xfrm>
            <a:off x="0" y="0"/>
            <a:ext cx="1097280" cy="1028700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63140"/>
            <a:ext cx="14630400" cy="1851660"/>
          </a:xfrm>
          <a:prstGeom prst="rect">
            <a:avLst/>
          </a:prstGeom>
          <a:noFill/>
        </p:spPr>
        <p:txBody>
          <a:bodyPr wrap="square">
            <a:spAutoFit/>
          </a:bodyPr>
          <a:lstStyle/>
          <a:p>
            <a:pPr algn="l"/>
            <a:r>
              <a:rPr b="1" i="0" sz="3800">
                <a:solidFill>
                  <a:srgbClr val="F3EDE1"/>
                </a:solidFill>
                <a:latin typeface="Georgia"/>
              </a:rPr>
              <a:t>SOCIAL LISTENING IN ITALIA</a:t>
            </a:r>
          </a:p>
        </p:txBody>
      </p:sp>
      <p:sp>
        <p:nvSpPr>
          <p:cNvPr id="4" name="TextBox 3"/>
          <p:cNvSpPr txBox="1"/>
          <p:nvPr/>
        </p:nvSpPr>
        <p:spPr>
          <a:xfrm>
            <a:off x="1828800" y="4320540"/>
            <a:ext cx="13716000" cy="1028700"/>
          </a:xfrm>
          <a:prstGeom prst="rect">
            <a:avLst/>
          </a:prstGeom>
          <a:noFill/>
        </p:spPr>
        <p:txBody>
          <a:bodyPr wrap="square">
            <a:spAutoFit/>
          </a:bodyPr>
          <a:lstStyle/>
          <a:p>
            <a:pPr algn="l"/>
            <a:r>
              <a:rPr b="0" i="1" sz="2200">
                <a:solidFill>
                  <a:srgbClr val="B8523A"/>
                </a:solidFill>
                <a:latin typeface="Georgia"/>
              </a:rPr>
              <a:t>Realta, sfide e opportunita</a:t>
            </a:r>
          </a:p>
        </p:txBody>
      </p:sp>
      <p:cxnSp>
        <p:nvCxnSpPr>
          <p:cNvPr id="5" name="Connector 4"/>
          <p:cNvCxnSpPr/>
          <p:nvPr/>
        </p:nvCxnSpPr>
        <p:spPr>
          <a:xfrm>
            <a:off x="1828800" y="5760720"/>
            <a:ext cx="914400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828800" y="6172200"/>
            <a:ext cx="12801600" cy="822960"/>
          </a:xfrm>
          <a:prstGeom prst="rect">
            <a:avLst/>
          </a:prstGeom>
          <a:noFill/>
        </p:spPr>
        <p:txBody>
          <a:bodyPr wrap="square">
            <a:spAutoFit/>
          </a:bodyPr>
          <a:lstStyle/>
          <a:p>
            <a:pPr algn="l"/>
            <a:r>
              <a:rPr b="0" i="0" sz="1300">
                <a:solidFill>
                  <a:srgbClr val="8A8175"/>
                </a:solidFill>
                <a:latin typeface="Courier New"/>
              </a:rPr>
              <a:t>EY Studio+  x  Brandwatch  x  Trajaan</a:t>
            </a:r>
          </a:p>
        </p:txBody>
      </p:sp>
      <p:sp>
        <p:nvSpPr>
          <p:cNvPr id="7" name="TextBox 6"/>
          <p:cNvSpPr txBox="1"/>
          <p:nvPr/>
        </p:nvSpPr>
        <p:spPr>
          <a:xfrm>
            <a:off x="1828800" y="6995160"/>
            <a:ext cx="7315200" cy="720090"/>
          </a:xfrm>
          <a:prstGeom prst="rect">
            <a:avLst/>
          </a:prstGeom>
          <a:noFill/>
        </p:spPr>
        <p:txBody>
          <a:bodyPr wrap="square">
            <a:spAutoFit/>
          </a:bodyPr>
          <a:lstStyle/>
          <a:p>
            <a:pPr algn="l"/>
            <a:r>
              <a:rPr b="0" i="0" sz="1200">
                <a:solidFill>
                  <a:srgbClr val="8A8175"/>
                </a:solidFill>
                <a:latin typeface="Courier New"/>
              </a:rPr>
              <a:t>Maggio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714"/>
        </a:solidFill>
        <a:effectLst/>
      </p:bgPr>
    </p:bg>
    <p:spTree>
      <p:nvGrpSpPr>
        <p:cNvPr id="1" name=""/>
        <p:cNvGrpSpPr/>
        <p:nvPr/>
      </p:nvGrpSpPr>
      <p:grpSpPr/>
      <p:sp>
        <p:nvSpPr>
          <p:cNvPr id="2" name="Rectangle 1"/>
          <p:cNvSpPr/>
          <p:nvPr/>
        </p:nvSpPr>
        <p:spPr>
          <a:xfrm>
            <a:off x="0" y="0"/>
            <a:ext cx="1097280" cy="1028700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94560" y="2880360"/>
            <a:ext cx="14264640" cy="1645920"/>
          </a:xfrm>
          <a:prstGeom prst="rect">
            <a:avLst/>
          </a:prstGeom>
          <a:noFill/>
        </p:spPr>
        <p:txBody>
          <a:bodyPr wrap="square">
            <a:spAutoFit/>
          </a:bodyPr>
          <a:lstStyle/>
          <a:p>
            <a:pPr algn="l"/>
            <a:r>
              <a:rPr b="1" i="1" sz="4400">
                <a:solidFill>
                  <a:srgbClr val="F3EDE1"/>
                </a:solidFill>
                <a:latin typeface="Georgia"/>
              </a:rPr>
              <a:t>“Il tuo lavoro sparira</a:t>
            </a:r>
          </a:p>
        </p:txBody>
      </p:sp>
      <p:sp>
        <p:nvSpPr>
          <p:cNvPr id="4" name="TextBox 3"/>
          <p:cNvSpPr txBox="1"/>
          <p:nvPr/>
        </p:nvSpPr>
        <p:spPr>
          <a:xfrm>
            <a:off x="2194560" y="4423410"/>
            <a:ext cx="14264640" cy="1645920"/>
          </a:xfrm>
          <a:prstGeom prst="rect">
            <a:avLst/>
          </a:prstGeom>
          <a:noFill/>
        </p:spPr>
        <p:txBody>
          <a:bodyPr wrap="square">
            <a:spAutoFit/>
          </a:bodyPr>
          <a:lstStyle/>
          <a:p>
            <a:pPr algn="l"/>
            <a:r>
              <a:rPr b="1" i="1" sz="4400">
                <a:solidFill>
                  <a:srgbClr val="B8523A"/>
                </a:solidFill>
                <a:latin typeface="Georgia"/>
              </a:rPr>
              <a:t>in meno di due anni.”</a:t>
            </a:r>
          </a:p>
        </p:txBody>
      </p:sp>
      <p:cxnSp>
        <p:nvCxnSpPr>
          <p:cNvPr id="5" name="Connector 4"/>
          <p:cNvCxnSpPr/>
          <p:nvPr/>
        </p:nvCxnSpPr>
        <p:spPr>
          <a:xfrm>
            <a:off x="2194560" y="6480810"/>
            <a:ext cx="6400800" cy="0"/>
          </a:xfrm>
          <a:prstGeom prst="line">
            <a:avLst/>
          </a:prstGeom>
          <a:ln w="19050">
            <a:solidFill>
              <a:srgbClr val="8A8175"/>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194560" y="6892290"/>
            <a:ext cx="13898880" cy="720090"/>
          </a:xfrm>
          <a:prstGeom prst="rect">
            <a:avLst/>
          </a:prstGeom>
          <a:noFill/>
        </p:spPr>
        <p:txBody>
          <a:bodyPr wrap="square">
            <a:spAutoFit/>
          </a:bodyPr>
          <a:lstStyle/>
          <a:p>
            <a:pPr algn="l"/>
            <a:r>
              <a:rPr b="0" i="1" sz="1400">
                <a:solidFill>
                  <a:srgbClr val="8A8175"/>
                </a:solidFill>
                <a:latin typeface="Arial"/>
              </a:rPr>
              <a:t>Qualcuno lo ha detto a una collega a una conferenza.</a:t>
            </a:r>
          </a:p>
        </p:txBody>
      </p:sp>
      <p:sp>
        <p:nvSpPr>
          <p:cNvPr id="7" name="TextBox 6"/>
          <p:cNvSpPr txBox="1"/>
          <p:nvPr/>
        </p:nvSpPr>
        <p:spPr>
          <a:xfrm>
            <a:off x="2194560" y="7612380"/>
            <a:ext cx="13898880" cy="720090"/>
          </a:xfrm>
          <a:prstGeom prst="rect">
            <a:avLst/>
          </a:prstGeom>
          <a:noFill/>
        </p:spPr>
        <p:txBody>
          <a:bodyPr wrap="square">
            <a:spAutoFit/>
          </a:bodyPr>
          <a:lstStyle/>
          <a:p>
            <a:pPr algn="l"/>
            <a:r>
              <a:rPr b="0" i="1" sz="1400">
                <a:solidFill>
                  <a:srgbClr val="8A8175"/>
                </a:solidFill>
                <a:latin typeface="Arial"/>
              </a:rPr>
              <a:t>Questa presentazione e la risposta.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Rectangle 1"/>
          <p:cNvSpPr/>
          <p:nvPr/>
        </p:nvSpPr>
        <p:spPr>
          <a:xfrm>
            <a:off x="0" y="0"/>
            <a:ext cx="7680960" cy="102870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0" y="1028700"/>
            <a:ext cx="9784080" cy="320040"/>
          </a:xfrm>
          <a:prstGeom prst="rect">
            <a:avLst/>
          </a:prstGeom>
          <a:noFill/>
        </p:spPr>
        <p:txBody>
          <a:bodyPr wrap="square">
            <a:spAutoFit/>
          </a:bodyPr>
          <a:lstStyle/>
          <a:p>
            <a:pPr algn="l"/>
            <a:r>
              <a:rPr b="1" i="0" sz="1000">
                <a:solidFill>
                  <a:srgbClr val="B8523A"/>
                </a:solidFill>
                <a:latin typeface="Courier New"/>
              </a:rPr>
              <a:t>●  CHI STA RISPONDENDO</a:t>
            </a:r>
          </a:p>
        </p:txBody>
      </p:sp>
      <p:sp>
        <p:nvSpPr>
          <p:cNvPr id="4" name="TextBox 3"/>
          <p:cNvSpPr txBox="1"/>
          <p:nvPr/>
        </p:nvSpPr>
        <p:spPr>
          <a:xfrm>
            <a:off x="8046720" y="1851660"/>
            <a:ext cx="9509760" cy="1234440"/>
          </a:xfrm>
          <a:prstGeom prst="rect">
            <a:avLst/>
          </a:prstGeom>
          <a:noFill/>
        </p:spPr>
        <p:txBody>
          <a:bodyPr wrap="square">
            <a:spAutoFit/>
          </a:bodyPr>
          <a:lstStyle/>
          <a:p>
            <a:pPr algn="l"/>
            <a:r>
              <a:rPr b="1" i="0" sz="2600">
                <a:solidFill>
                  <a:srgbClr val="3D3833"/>
                </a:solidFill>
                <a:latin typeface="Georgia"/>
              </a:rPr>
              <a:t>Vincenzo Alberto Marrari</a:t>
            </a:r>
          </a:p>
        </p:txBody>
      </p:sp>
      <p:sp>
        <p:nvSpPr>
          <p:cNvPr id="5" name="TextBox 4"/>
          <p:cNvSpPr txBox="1"/>
          <p:nvPr/>
        </p:nvSpPr>
        <p:spPr>
          <a:xfrm>
            <a:off x="8046720" y="3086100"/>
            <a:ext cx="9509760" cy="720090"/>
          </a:xfrm>
          <a:prstGeom prst="rect">
            <a:avLst/>
          </a:prstGeom>
          <a:noFill/>
        </p:spPr>
        <p:txBody>
          <a:bodyPr wrap="square">
            <a:spAutoFit/>
          </a:bodyPr>
          <a:lstStyle/>
          <a:p>
            <a:pPr algn="l"/>
            <a:r>
              <a:rPr b="1" i="0" sz="1300">
                <a:solidFill>
                  <a:srgbClr val="B8523A"/>
                </a:solidFill>
                <a:latin typeface="Courier New"/>
              </a:rPr>
              <a:t>Analyst &amp; Insight Strategist Manager</a:t>
            </a:r>
          </a:p>
        </p:txBody>
      </p:sp>
      <p:sp>
        <p:nvSpPr>
          <p:cNvPr id="6" name="TextBox 5"/>
          <p:cNvSpPr txBox="1"/>
          <p:nvPr/>
        </p:nvSpPr>
        <p:spPr>
          <a:xfrm>
            <a:off x="8046720" y="4114800"/>
            <a:ext cx="9509760" cy="4320540"/>
          </a:xfrm>
          <a:prstGeom prst="rect">
            <a:avLst/>
          </a:prstGeom>
          <a:noFill/>
        </p:spPr>
        <p:txBody>
          <a:bodyPr wrap="square">
            <a:spAutoFit/>
          </a:bodyPr>
          <a:lstStyle/>
          <a:p>
            <a:pPr algn="l"/>
            <a:r>
              <a:rPr b="0" i="0" sz="1300">
                <a:solidFill>
                  <a:srgbClr val="3D3833"/>
                </a:solidFill>
                <a:latin typeface="Arial"/>
              </a:rPr>
              <a:t>EY Studio+ &amp; Trajaan — sistemi di intelligence per le organizzazioni.</a:t>
            </a:r>
          </a:p>
          <a:p>
            <a:pPr algn="l"/>
            <a:r>
              <a:t/>
            </a:r>
          </a:p>
          <a:p>
            <a:pPr algn="l"/>
            <a:r>
              <a:rPr b="0" i="0" sz="1300">
                <a:solidFill>
                  <a:srgbClr val="3D3833"/>
                </a:solidFill>
                <a:latin typeface="Arial"/>
              </a:rPr>
              <a:t>12+ anni di social listening, cultural intelligence e ricerca strategica.</a:t>
            </a:r>
          </a:p>
          <a:p>
            <a:pPr algn="l"/>
            <a:r>
              <a:t/>
            </a:r>
          </a:p>
          <a:p>
            <a:pPr algn="l"/>
            <a:r>
              <a:rPr b="0" i="0" sz="1200">
                <a:solidFill>
                  <a:srgbClr val="8A8175"/>
                </a:solidFill>
                <a:latin typeface="Arial"/>
              </a:rPr>
              <a:t>Ha visto questo mestiere cambiare forma tre volte. Ha visto strumenti</a:t>
            </a:r>
          </a:p>
          <a:p>
            <a:pPr algn="l"/>
            <a:r>
              <a:rPr b="0" i="0" sz="1200">
                <a:solidFill>
                  <a:srgbClr val="8A8175"/>
                </a:solidFill>
                <a:latin typeface="Arial"/>
              </a:rPr>
              <a:t>diventare obsoleti, approcci rivelarsi insufficienti, e l'AI ridefinire</a:t>
            </a:r>
          </a:p>
          <a:p>
            <a:pPr algn="l"/>
            <a:r>
              <a:rPr b="0" i="0" sz="1200">
                <a:solidFill>
                  <a:srgbClr val="8A8175"/>
                </a:solidFill>
                <a:latin typeface="Arial"/>
              </a:rPr>
              <a:t>dove sta il valore — senza eliminare il mestiere.</a:t>
            </a:r>
          </a:p>
          <a:p>
            <a:pPr algn="l"/>
            <a:r>
              <a:t/>
            </a:r>
          </a:p>
          <a:p>
            <a:pPr algn="l"/>
            <a:r>
              <a:rPr b="0" i="0" sz="1200">
                <a:solidFill>
                  <a:srgbClr val="8A8175"/>
                </a:solidFill>
                <a:latin typeface="Arial"/>
              </a:rPr>
              <a:t>Con Francesca Olivieri di Brandwatch, che conosce il mercato italiano</a:t>
            </a:r>
          </a:p>
          <a:p>
            <a:pPr algn="l"/>
            <a:r>
              <a:rPr b="0" i="0" sz="1200">
                <a:solidFill>
                  <a:srgbClr val="8A8175"/>
                </a:solidFill>
                <a:latin typeface="Arial"/>
              </a:rPr>
              <a:t>dall'interno: le domande reali dei brand, gli ostacoli, le aspettative.</a:t>
            </a:r>
          </a:p>
        </p:txBody>
      </p:sp>
      <p:cxnSp>
        <p:nvCxnSpPr>
          <p:cNvPr id="7" name="Connector 6"/>
          <p:cNvCxnSpPr/>
          <p:nvPr/>
        </p:nvCxnSpPr>
        <p:spPr>
          <a:xfrm>
            <a:off x="8046720" y="8641080"/>
            <a:ext cx="87782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046720" y="8846820"/>
            <a:ext cx="9509760" cy="617220"/>
          </a:xfrm>
          <a:prstGeom prst="rect">
            <a:avLst/>
          </a:prstGeom>
          <a:noFill/>
        </p:spPr>
        <p:txBody>
          <a:bodyPr wrap="square">
            <a:spAutoFit/>
          </a:bodyPr>
          <a:lstStyle/>
          <a:p>
            <a:pPr algn="l"/>
            <a:r>
              <a:rPr b="0" i="1" sz="1100">
                <a:solidFill>
                  <a:srgbClr val="8A8175"/>
                </a:solidFill>
                <a:latin typeface="Arial"/>
              </a:rPr>
              <a:t>"Il valore dell'AI non sta nel sostituire l'uomo,</a:t>
            </a:r>
          </a:p>
        </p:txBody>
      </p:sp>
      <p:sp>
        <p:nvSpPr>
          <p:cNvPr id="9" name="TextBox 8"/>
          <p:cNvSpPr txBox="1"/>
          <p:nvPr/>
        </p:nvSpPr>
        <p:spPr>
          <a:xfrm>
            <a:off x="8046720" y="9361170"/>
            <a:ext cx="9509760" cy="514350"/>
          </a:xfrm>
          <a:prstGeom prst="rect">
            <a:avLst/>
          </a:prstGeom>
          <a:noFill/>
        </p:spPr>
        <p:txBody>
          <a:bodyPr wrap="square">
            <a:spAutoFit/>
          </a:bodyPr>
          <a:lstStyle/>
          <a:p>
            <a:pPr algn="l"/>
            <a:r>
              <a:rPr b="0" i="1" sz="1100">
                <a:solidFill>
                  <a:srgbClr val="8A8175"/>
                </a:solidFill>
                <a:latin typeface="Arial"/>
              </a:rPr>
              <a:t>ma nel amplificarne le competenze."</a:t>
            </a:r>
          </a:p>
        </p:txBody>
      </p:sp>
      <p:sp>
        <p:nvSpPr>
          <p:cNvPr id="10" name="Rectangle 9"/>
          <p:cNvSpPr/>
          <p:nvPr/>
        </p:nvSpPr>
        <p:spPr>
          <a:xfrm>
            <a:off x="1097280" y="1543050"/>
            <a:ext cx="5486400" cy="5657850"/>
          </a:xfrm>
          <a:prstGeom prst="rect">
            <a:avLst/>
          </a:prstGeom>
          <a:solidFill>
            <a:srgbClr val="F3ED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11930"/>
            <a:ext cx="5486400" cy="822960"/>
          </a:xfrm>
          <a:prstGeom prst="rect">
            <a:avLst/>
          </a:prstGeom>
          <a:noFill/>
        </p:spPr>
        <p:txBody>
          <a:bodyPr wrap="square">
            <a:spAutoFit/>
          </a:bodyPr>
          <a:lstStyle/>
          <a:p>
            <a:pPr algn="ctr"/>
            <a:r>
              <a:rPr b="0" i="0" sz="1400">
                <a:solidFill>
                  <a:srgbClr val="8A8175"/>
                </a:solidFill>
                <a:latin typeface="Arial"/>
              </a:rPr>
              <a:t>[FOTO]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spAutoFit/>
          </a:bodyPr>
          <a:lstStyle/>
          <a:p>
            <a:pPr algn="l"/>
            <a:r>
              <a:rPr b="1" i="0" sz="1000">
                <a:solidFill>
                  <a:srgbClr val="B8523A"/>
                </a:solidFill>
                <a:latin typeface="Courier New"/>
              </a:rPr>
              <a:t>●  CAPITOLO 1 — IL PARADOSSO</a:t>
            </a:r>
          </a:p>
        </p:txBody>
      </p:sp>
      <p:sp>
        <p:nvSpPr>
          <p:cNvPr id="3" name="TextBox 2"/>
          <p:cNvSpPr txBox="1"/>
          <p:nvPr/>
        </p:nvSpPr>
        <p:spPr>
          <a:xfrm>
            <a:off x="1097280" y="1337310"/>
            <a:ext cx="16093440" cy="1131570"/>
          </a:xfrm>
          <a:prstGeom prst="rect">
            <a:avLst/>
          </a:prstGeom>
          <a:noFill/>
        </p:spPr>
        <p:txBody>
          <a:bodyPr wrap="square">
            <a:spAutoFit/>
          </a:bodyPr>
          <a:lstStyle/>
          <a:p>
            <a:pPr algn="l"/>
            <a:r>
              <a:rPr b="1" i="0" sz="3200">
                <a:solidFill>
                  <a:srgbClr val="3D3833"/>
                </a:solidFill>
                <a:latin typeface="Georgia"/>
              </a:rPr>
              <a:t>Eppure lo chiedono tutti.</a:t>
            </a:r>
          </a:p>
        </p:txBody>
      </p:sp>
      <p:cxnSp>
        <p:nvCxnSpPr>
          <p:cNvPr id="4" name="Connector 3"/>
          <p:cNvCxnSpPr/>
          <p:nvPr/>
        </p:nvCxnSpPr>
        <p:spPr>
          <a:xfrm>
            <a:off x="1097280" y="277749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 y="3086100"/>
            <a:ext cx="8046720" cy="6480810"/>
          </a:xfrm>
          <a:prstGeom prst="rect">
            <a:avLst/>
          </a:prstGeom>
          <a:noFill/>
        </p:spPr>
        <p:txBody>
          <a:bodyPr wrap="square">
            <a:spAutoFit/>
          </a:bodyPr>
          <a:lstStyle/>
          <a:p>
            <a:pPr algn="l"/>
            <a:r>
              <a:rPr b="1" i="0" sz="1400">
                <a:solidFill>
                  <a:srgbClr val="3D3833"/>
                </a:solidFill>
                <a:latin typeface="Arial"/>
              </a:rPr>
              <a:t>Il social listening viene citato ovunque:</a:t>
            </a:r>
          </a:p>
          <a:p>
            <a:pPr algn="l"/>
            <a:r>
              <a:rPr b="0" i="0" sz="1300">
                <a:solidFill>
                  <a:srgbClr val="8A8175"/>
                </a:solidFill>
                <a:latin typeface="Arial"/>
              </a:rPr>
              <a:t>nei brief di gara, nelle presentazioni strategiche, nei piani media.</a:t>
            </a:r>
          </a:p>
          <a:p>
            <a:pPr algn="l"/>
            <a:r>
              <a:t/>
            </a:r>
          </a:p>
          <a:p>
            <a:pPr algn="l"/>
            <a:r>
              <a:rPr b="1" i="0" sz="1500">
                <a:solidFill>
                  <a:srgbClr val="B8523A"/>
                </a:solidFill>
                <a:latin typeface="Arial"/>
              </a:rPr>
              <a:t>42 milioni di utenti social attivi in Italia.</a:t>
            </a:r>
          </a:p>
          <a:p>
            <a:pPr algn="l"/>
            <a:r>
              <a:rPr b="0" i="0" sz="1300">
                <a:solidFill>
                  <a:srgbClr val="8A8175"/>
                </a:solidFill>
                <a:latin typeface="Arial"/>
              </a:rPr>
              <a:t>Conversazioni spontanee su brand, prodotti, competitor ogni secondo.</a:t>
            </a:r>
          </a:p>
          <a:p>
            <a:pPr algn="l"/>
            <a:r>
              <a:t/>
            </a:r>
          </a:p>
          <a:p>
            <a:pPr algn="l"/>
            <a:r>
              <a:rPr b="0" i="0" sz="1300">
                <a:solidFill>
                  <a:srgbClr val="3D3833"/>
                </a:solidFill>
                <a:latin typeface="Arial"/>
              </a:rPr>
              <a:t>Gli strumenti ci sono. I dati ci sono. I budget vengono allocati.</a:t>
            </a:r>
          </a:p>
          <a:p>
            <a:pPr algn="l"/>
            <a:r>
              <a:t/>
            </a:r>
          </a:p>
          <a:p>
            <a:pPr algn="l"/>
            <a:r>
              <a:rPr b="0" i="0" sz="1300">
                <a:solidFill>
                  <a:srgbClr val="3D3833"/>
                </a:solidFill>
                <a:latin typeface="Arial"/>
              </a:rPr>
              <a:t>Eppure in dodici anni ho visto lo stesso schema ripetersi:</a:t>
            </a:r>
          </a:p>
          <a:p>
            <a:pPr algn="l"/>
            <a:r>
              <a:rPr b="0" i="0" sz="1300">
                <a:solidFill>
                  <a:srgbClr val="8A8175"/>
                </a:solidFill>
                <a:latin typeface="Arial"/>
              </a:rPr>
              <a:t>il listening produce un report mensile che arriva in ritardo</a:t>
            </a:r>
          </a:p>
          <a:p>
            <a:pPr algn="l"/>
            <a:r>
              <a:rPr b="0" i="0" sz="1300">
                <a:solidFill>
                  <a:srgbClr val="8A8175"/>
                </a:solidFill>
                <a:latin typeface="Arial"/>
              </a:rPr>
              <a:t>rispetto alle decisioni che avrebbe dovuto supportare.</a:t>
            </a:r>
          </a:p>
          <a:p>
            <a:pPr algn="l"/>
            <a:r>
              <a:t/>
            </a:r>
          </a:p>
          <a:p>
            <a:pPr algn="l"/>
            <a:r>
              <a:rPr b="0" i="0" sz="1300">
                <a:solidFill>
                  <a:srgbClr val="3D3833"/>
                </a:solidFill>
                <a:latin typeface="Arial"/>
              </a:rPr>
              <a:t>Il problema non e lo strumento. Non e il dato.</a:t>
            </a:r>
          </a:p>
          <a:p>
            <a:pPr algn="l"/>
            <a:r>
              <a:rPr b="1" i="0" sz="1300">
                <a:solidFill>
                  <a:srgbClr val="B8523A"/>
                </a:solidFill>
                <a:latin typeface="Arial"/>
              </a:rPr>
              <a:t>E il posizionamento — e manca un metodo condiviso.</a:t>
            </a:r>
          </a:p>
        </p:txBody>
      </p:sp>
      <p:sp>
        <p:nvSpPr>
          <p:cNvPr id="6" name="Rectangle 5"/>
          <p:cNvSpPr/>
          <p:nvPr/>
        </p:nvSpPr>
        <p:spPr>
          <a:xfrm>
            <a:off x="10058400" y="3086100"/>
            <a:ext cx="731520" cy="174879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3188970"/>
            <a:ext cx="6400800" cy="720090"/>
          </a:xfrm>
          <a:prstGeom prst="rect">
            <a:avLst/>
          </a:prstGeom>
          <a:noFill/>
        </p:spPr>
        <p:txBody>
          <a:bodyPr wrap="square">
            <a:spAutoFit/>
          </a:bodyPr>
          <a:lstStyle/>
          <a:p>
            <a:pPr algn="l"/>
            <a:r>
              <a:rPr b="1" i="0" sz="1300">
                <a:solidFill>
                  <a:srgbClr val="3D3833"/>
                </a:solidFill>
                <a:latin typeface="Arial"/>
              </a:rPr>
              <a:t>TUTTI LO CHIEDONO</a:t>
            </a:r>
          </a:p>
        </p:txBody>
      </p:sp>
      <p:sp>
        <p:nvSpPr>
          <p:cNvPr id="8" name="TextBox 7"/>
          <p:cNvSpPr txBox="1"/>
          <p:nvPr/>
        </p:nvSpPr>
        <p:spPr>
          <a:xfrm>
            <a:off x="11155680" y="3909060"/>
            <a:ext cx="6400800" cy="822960"/>
          </a:xfrm>
          <a:prstGeom prst="rect">
            <a:avLst/>
          </a:prstGeom>
          <a:noFill/>
        </p:spPr>
        <p:txBody>
          <a:bodyPr wrap="square">
            <a:spAutoFit/>
          </a:bodyPr>
          <a:lstStyle/>
          <a:p>
            <a:pPr algn="l"/>
            <a:r>
              <a:rPr b="0" i="0" sz="1200">
                <a:solidFill>
                  <a:srgbClr val="8A8175"/>
                </a:solidFill>
                <a:latin typeface="Arial"/>
              </a:rPr>
              <a:t>Presente in ogni brief, ogni piano, ogni RFP di agenzia</a:t>
            </a:r>
          </a:p>
        </p:txBody>
      </p:sp>
      <p:sp>
        <p:nvSpPr>
          <p:cNvPr id="9" name="Rectangle 8"/>
          <p:cNvSpPr/>
          <p:nvPr/>
        </p:nvSpPr>
        <p:spPr>
          <a:xfrm>
            <a:off x="10058400" y="5246370"/>
            <a:ext cx="731520" cy="174879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0" y="5349240"/>
            <a:ext cx="6400800" cy="720090"/>
          </a:xfrm>
          <a:prstGeom prst="rect">
            <a:avLst/>
          </a:prstGeom>
          <a:noFill/>
        </p:spPr>
        <p:txBody>
          <a:bodyPr wrap="square">
            <a:spAutoFit/>
          </a:bodyPr>
          <a:lstStyle/>
          <a:p>
            <a:pPr algn="l"/>
            <a:r>
              <a:rPr b="1" i="0" sz="1300">
                <a:solidFill>
                  <a:srgbClr val="3D3833"/>
                </a:solidFill>
                <a:latin typeface="Arial"/>
              </a:rPr>
              <a:t>POCHI LO RICONOSCONO</a:t>
            </a:r>
          </a:p>
        </p:txBody>
      </p:sp>
      <p:sp>
        <p:nvSpPr>
          <p:cNvPr id="11" name="TextBox 10"/>
          <p:cNvSpPr txBox="1"/>
          <p:nvPr/>
        </p:nvSpPr>
        <p:spPr>
          <a:xfrm>
            <a:off x="11155680" y="6069330"/>
            <a:ext cx="6400800" cy="822960"/>
          </a:xfrm>
          <a:prstGeom prst="rect">
            <a:avLst/>
          </a:prstGeom>
          <a:noFill/>
        </p:spPr>
        <p:txBody>
          <a:bodyPr wrap="square">
            <a:spAutoFit/>
          </a:bodyPr>
          <a:lstStyle/>
          <a:p>
            <a:pPr algn="l"/>
            <a:r>
              <a:rPr b="0" i="0" sz="1200">
                <a:solidFill>
                  <a:srgbClr val="8A8175"/>
                </a:solidFill>
                <a:latin typeface="Arial"/>
              </a:rPr>
              <a:t>Usato come validazione a posteriori, non come orientamento</a:t>
            </a:r>
          </a:p>
        </p:txBody>
      </p:sp>
      <p:sp>
        <p:nvSpPr>
          <p:cNvPr id="12" name="Rectangle 11"/>
          <p:cNvSpPr/>
          <p:nvPr/>
        </p:nvSpPr>
        <p:spPr>
          <a:xfrm>
            <a:off x="10058400" y="7406640"/>
            <a:ext cx="731520" cy="174879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0" y="7509510"/>
            <a:ext cx="6400800" cy="720090"/>
          </a:xfrm>
          <a:prstGeom prst="rect">
            <a:avLst/>
          </a:prstGeom>
          <a:noFill/>
        </p:spPr>
        <p:txBody>
          <a:bodyPr wrap="square">
            <a:spAutoFit/>
          </a:bodyPr>
          <a:lstStyle/>
          <a:p>
            <a:pPr algn="l"/>
            <a:r>
              <a:rPr b="1" i="0" sz="1300">
                <a:solidFill>
                  <a:srgbClr val="3D3833"/>
                </a:solidFill>
                <a:latin typeface="Arial"/>
              </a:rPr>
              <a:t>RARO LO STRUTTURANO</a:t>
            </a:r>
          </a:p>
        </p:txBody>
      </p:sp>
      <p:sp>
        <p:nvSpPr>
          <p:cNvPr id="14" name="TextBox 13"/>
          <p:cNvSpPr txBox="1"/>
          <p:nvPr/>
        </p:nvSpPr>
        <p:spPr>
          <a:xfrm>
            <a:off x="11155680" y="8229600"/>
            <a:ext cx="6400800" cy="822960"/>
          </a:xfrm>
          <a:prstGeom prst="rect">
            <a:avLst/>
          </a:prstGeom>
          <a:noFill/>
        </p:spPr>
        <p:txBody>
          <a:bodyPr wrap="square">
            <a:spAutoFit/>
          </a:bodyPr>
          <a:lstStyle/>
          <a:p>
            <a:pPr algn="l"/>
            <a:r>
              <a:rPr b="0" i="0" sz="1200">
                <a:solidFill>
                  <a:srgbClr val="8A8175"/>
                </a:solidFill>
                <a:latin typeface="Arial"/>
              </a:rPr>
              <a:t>Senza metodo condiviso rimane monitoring, non intelligence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spAutoFit/>
          </a:bodyPr>
          <a:lstStyle/>
          <a:p>
            <a:pPr algn="l"/>
            <a:r>
              <a:rPr b="1" i="0" sz="1000">
                <a:solidFill>
                  <a:srgbClr val="B8523A"/>
                </a:solidFill>
                <a:latin typeface="Courier New"/>
              </a:rPr>
              <a:t>●  CAPITOLO 2 — IL PERIMETRO</a:t>
            </a:r>
          </a:p>
        </p:txBody>
      </p:sp>
      <p:sp>
        <p:nvSpPr>
          <p:cNvPr id="3" name="TextBox 2"/>
          <p:cNvSpPr txBox="1"/>
          <p:nvPr/>
        </p:nvSpPr>
        <p:spPr>
          <a:xfrm>
            <a:off x="1097280" y="1234440"/>
            <a:ext cx="16093440" cy="1028700"/>
          </a:xfrm>
          <a:prstGeom prst="rect">
            <a:avLst/>
          </a:prstGeom>
          <a:noFill/>
        </p:spPr>
        <p:txBody>
          <a:bodyPr wrap="square">
            <a:spAutoFit/>
          </a:bodyPr>
          <a:lstStyle/>
          <a:p>
            <a:pPr algn="l"/>
            <a:r>
              <a:rPr b="1" i="0" sz="2800">
                <a:solidFill>
                  <a:srgbClr val="3D3833"/>
                </a:solidFill>
                <a:latin typeface="Georgia"/>
              </a:rPr>
              <a:t>Prima pero, sgombriamo il terreno.</a:t>
            </a:r>
          </a:p>
        </p:txBody>
      </p:sp>
      <p:sp>
        <p:nvSpPr>
          <p:cNvPr id="4" name="TextBox 3"/>
          <p:cNvSpPr txBox="1"/>
          <p:nvPr/>
        </p:nvSpPr>
        <p:spPr>
          <a:xfrm>
            <a:off x="1097280" y="2366010"/>
            <a:ext cx="16093440" cy="617220"/>
          </a:xfrm>
          <a:prstGeom prst="rect">
            <a:avLst/>
          </a:prstGeom>
          <a:noFill/>
        </p:spPr>
        <p:txBody>
          <a:bodyPr wrap="square">
            <a:spAutoFit/>
          </a:bodyPr>
          <a:lstStyle/>
          <a:p>
            <a:pPr algn="l"/>
            <a:r>
              <a:rPr b="0" i="0" sz="1200">
                <a:solidFill>
                  <a:srgbClr val="8A8175"/>
                </a:solidFill>
                <a:latin typeface="Arial"/>
              </a:rPr>
              <a:t>Il social listening e uno di quei mestieri che quasi tutti credono di capire — e quasi nessuno riesce a definire con precisione.</a:t>
            </a:r>
          </a:p>
        </p:txBody>
      </p:sp>
      <p:cxnSp>
        <p:nvCxnSpPr>
          <p:cNvPr id="5" name="Connector 4"/>
          <p:cNvCxnSpPr/>
          <p:nvPr/>
        </p:nvCxnSpPr>
        <p:spPr>
          <a:xfrm>
            <a:off x="1097280" y="318897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497580"/>
            <a:ext cx="7680960" cy="61722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497580"/>
            <a:ext cx="7680960" cy="617220"/>
          </a:xfrm>
          <a:prstGeom prst="rect">
            <a:avLst/>
          </a:prstGeom>
          <a:noFill/>
        </p:spPr>
        <p:txBody>
          <a:bodyPr wrap="square">
            <a:spAutoFit/>
          </a:bodyPr>
          <a:lstStyle/>
          <a:p>
            <a:pPr algn="ctr"/>
            <a:r>
              <a:rPr b="1" i="0" sz="1100">
                <a:solidFill>
                  <a:srgbClr val="8A8175"/>
                </a:solidFill>
                <a:latin typeface="Courier New"/>
              </a:rPr>
              <a:t>NON E'</a:t>
            </a:r>
          </a:p>
        </p:txBody>
      </p:sp>
      <p:sp>
        <p:nvSpPr>
          <p:cNvPr id="8" name="TextBox 7"/>
          <p:cNvSpPr txBox="1"/>
          <p:nvPr/>
        </p:nvSpPr>
        <p:spPr>
          <a:xfrm>
            <a:off x="1097280" y="4217670"/>
            <a:ext cx="7680960" cy="1748790"/>
          </a:xfrm>
          <a:prstGeom prst="rect">
            <a:avLst/>
          </a:prstGeom>
          <a:noFill/>
        </p:spPr>
        <p:txBody>
          <a:bodyPr wrap="square">
            <a:spAutoFit/>
          </a:bodyPr>
          <a:lstStyle/>
          <a:p>
            <a:pPr algn="l"/>
            <a:r>
              <a:rPr b="0" i="0" sz="1100">
                <a:solidFill>
                  <a:srgbClr val="3D3833"/>
                </a:solidFill>
                <a:latin typeface="Arial"/>
              </a:rPr>
              <a:t>x  Contare menzioni o follower</a:t>
            </a:r>
          </a:p>
          <a:p>
            <a:pPr algn="l"/>
            <a:r>
              <a:rPr b="0" i="0" sz="1100">
                <a:solidFill>
                  <a:srgbClr val="3D3833"/>
                </a:solidFill>
                <a:latin typeface="Arial"/>
              </a:rPr>
              <a:t>x  Il sentiment automatico come verita — non capisce ironia e contesto culturale</a:t>
            </a:r>
          </a:p>
          <a:p>
            <a:pPr algn="l"/>
            <a:r>
              <a:rPr b="0" i="0" sz="1100">
                <a:solidFill>
                  <a:srgbClr val="3D3833"/>
                </a:solidFill>
                <a:latin typeface="Arial"/>
              </a:rPr>
              <a:t>x  Share of voice come fine ultimo   x  La dashboard mensile come deliverable</a:t>
            </a:r>
          </a:p>
          <a:p>
            <a:pPr algn="l"/>
            <a:r>
              <a:rPr b="1" i="0" sz="1100">
                <a:solidFill>
                  <a:srgbClr val="B8523A"/>
                </a:solidFill>
                <a:latin typeface="Arial"/>
              </a:rPr>
              <a:t>x  IL TOOL (il tool abilita l'ascolto — non produce da solo la comprensione)</a:t>
            </a:r>
          </a:p>
        </p:txBody>
      </p:sp>
      <p:sp>
        <p:nvSpPr>
          <p:cNvPr id="9" name="Rectangle 8"/>
          <p:cNvSpPr/>
          <p:nvPr/>
        </p:nvSpPr>
        <p:spPr>
          <a:xfrm>
            <a:off x="9509760" y="3497580"/>
            <a:ext cx="7680960" cy="61722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0" y="3497580"/>
            <a:ext cx="7680960" cy="617220"/>
          </a:xfrm>
          <a:prstGeom prst="rect">
            <a:avLst/>
          </a:prstGeom>
          <a:noFill/>
        </p:spPr>
        <p:txBody>
          <a:bodyPr wrap="square">
            <a:spAutoFit/>
          </a:bodyPr>
          <a:lstStyle/>
          <a:p>
            <a:pPr algn="ctr"/>
            <a:r>
              <a:rPr b="1" i="0" sz="1100">
                <a:solidFill>
                  <a:srgbClr val="F3EDE1"/>
                </a:solidFill>
                <a:latin typeface="Courier New"/>
              </a:rPr>
              <a:t>E'</a:t>
            </a:r>
          </a:p>
        </p:txBody>
      </p:sp>
      <p:sp>
        <p:nvSpPr>
          <p:cNvPr id="11" name="TextBox 10"/>
          <p:cNvSpPr txBox="1"/>
          <p:nvPr/>
        </p:nvSpPr>
        <p:spPr>
          <a:xfrm>
            <a:off x="9509760" y="4217670"/>
            <a:ext cx="7680960" cy="1748790"/>
          </a:xfrm>
          <a:prstGeom prst="rect">
            <a:avLst/>
          </a:prstGeom>
          <a:noFill/>
        </p:spPr>
        <p:txBody>
          <a:bodyPr wrap="square">
            <a:spAutoFit/>
          </a:bodyPr>
          <a:lstStyle/>
          <a:p>
            <a:pPr algn="l"/>
            <a:r>
              <a:rPr b="0" i="0" sz="1100">
                <a:solidFill>
                  <a:srgbClr val="3D3833"/>
                </a:solidFill>
                <a:latin typeface="Arial"/>
              </a:rPr>
              <a:t>+  Un sistema di intelligence strategica</a:t>
            </a:r>
          </a:p>
          <a:p>
            <a:pPr algn="l"/>
            <a:r>
              <a:rPr b="0" i="0" sz="1100">
                <a:solidFill>
                  <a:srgbClr val="3D3833"/>
                </a:solidFill>
                <a:latin typeface="Arial"/>
              </a:rPr>
              <a:t>+  La voce spontanea del mercato — bisogni latenti, barriere non dichiarate, segnali deboli</a:t>
            </a:r>
          </a:p>
          <a:p>
            <a:pPr algn="l"/>
            <a:r>
              <a:rPr b="0" i="0" sz="1100">
                <a:solidFill>
                  <a:srgbClr val="3D3833"/>
                </a:solidFill>
                <a:latin typeface="Arial"/>
              </a:rPr>
              <a:t>+  Il framework che orienta le decisioni prima che vengano prese</a:t>
            </a:r>
          </a:p>
          <a:p>
            <a:pPr algn="l"/>
            <a:r>
              <a:rPr b="1" i="0" sz="1100">
                <a:solidFill>
                  <a:srgbClr val="B8523A"/>
                </a:solidFill>
                <a:latin typeface="Arial"/>
              </a:rPr>
              <a:t>+  IL METODO che precede il tool e ne determina il valore</a:t>
            </a:r>
          </a:p>
        </p:txBody>
      </p:sp>
      <p:cxnSp>
        <p:nvCxnSpPr>
          <p:cNvPr id="12" name="Connector 11"/>
          <p:cNvCxnSpPr/>
          <p:nvPr/>
        </p:nvCxnSpPr>
        <p:spPr>
          <a:xfrm>
            <a:off x="1097280" y="6172200"/>
            <a:ext cx="16093440" cy="0"/>
          </a:xfrm>
          <a:prstGeom prst="line">
            <a:avLst/>
          </a:prstGeom>
          <a:ln w="19050">
            <a:solidFill>
              <a:srgbClr val="EBE4D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97280" y="6275070"/>
            <a:ext cx="16093440" cy="514350"/>
          </a:xfrm>
          <a:prstGeom prst="rect">
            <a:avLst/>
          </a:prstGeom>
          <a:noFill/>
        </p:spPr>
        <p:txBody>
          <a:bodyPr wrap="square">
            <a:spAutoFit/>
          </a:bodyPr>
          <a:lstStyle/>
          <a:p>
            <a:pPr algn="l"/>
            <a:r>
              <a:rPr b="1" i="0" sz="1000">
                <a:solidFill>
                  <a:srgbClr val="8A8175"/>
                </a:solidFill>
                <a:latin typeface="Courier New"/>
              </a:rPr>
              <a:t>LE TRE CONFUSIONI PIU COMUNI</a:t>
            </a:r>
          </a:p>
        </p:txBody>
      </p:sp>
      <p:sp>
        <p:nvSpPr>
          <p:cNvPr id="14" name="Rectangle 13"/>
          <p:cNvSpPr/>
          <p:nvPr/>
        </p:nvSpPr>
        <p:spPr>
          <a:xfrm>
            <a:off x="1097280" y="6892290"/>
            <a:ext cx="5120640" cy="288036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7098029"/>
            <a:ext cx="4754880" cy="822960"/>
          </a:xfrm>
          <a:prstGeom prst="rect">
            <a:avLst/>
          </a:prstGeom>
          <a:noFill/>
        </p:spPr>
        <p:txBody>
          <a:bodyPr wrap="square">
            <a:spAutoFit/>
          </a:bodyPr>
          <a:lstStyle/>
          <a:p>
            <a:pPr algn="l"/>
            <a:r>
              <a:rPr b="1" i="0" sz="1100">
                <a:solidFill>
                  <a:srgbClr val="3D3833"/>
                </a:solidFill>
                <a:latin typeface="Arial"/>
              </a:rPr>
              <a:t>Social Listening= Community Management?</a:t>
            </a:r>
          </a:p>
        </p:txBody>
      </p:sp>
      <p:sp>
        <p:nvSpPr>
          <p:cNvPr id="16" name="TextBox 15"/>
          <p:cNvSpPr txBox="1"/>
          <p:nvPr/>
        </p:nvSpPr>
        <p:spPr>
          <a:xfrm>
            <a:off x="1234440" y="7920990"/>
            <a:ext cx="4754880" cy="822960"/>
          </a:xfrm>
          <a:prstGeom prst="rect">
            <a:avLst/>
          </a:prstGeom>
          <a:noFill/>
        </p:spPr>
        <p:txBody>
          <a:bodyPr wrap="square">
            <a:spAutoFit/>
          </a:bodyPr>
          <a:lstStyle/>
          <a:p>
            <a:pPr algn="l"/>
            <a:r>
              <a:rPr b="0" i="1" sz="1000">
                <a:solidFill>
                  <a:srgbClr val="3D3833"/>
                </a:solidFill>
                <a:latin typeface="Arial"/>
              </a:rPr>
              <a:t>Confusione di orientamento: 'cosa rispondiamo?' vs 'cosa sta succedendo nel mercato?'</a:t>
            </a:r>
          </a:p>
        </p:txBody>
      </p:sp>
      <p:sp>
        <p:nvSpPr>
          <p:cNvPr id="17" name="TextBox 16"/>
          <p:cNvSpPr txBox="1"/>
          <p:nvPr/>
        </p:nvSpPr>
        <p:spPr>
          <a:xfrm>
            <a:off x="1234440" y="8641080"/>
            <a:ext cx="4754880" cy="925830"/>
          </a:xfrm>
          <a:prstGeom prst="rect">
            <a:avLst/>
          </a:prstGeom>
          <a:noFill/>
        </p:spPr>
        <p:txBody>
          <a:bodyPr wrap="square">
            <a:spAutoFit/>
          </a:bodyPr>
          <a:lstStyle/>
          <a:p>
            <a:pPr algn="l"/>
            <a:r>
              <a:rPr b="0" i="0" sz="1000">
                <a:solidFill>
                  <a:srgbClr val="8A8175"/>
                </a:solidFill>
                <a:latin typeface="Arial"/>
              </a:rPr>
              <a:t>Il CM parla con l'utente. Il SL legge il mercato. Coesistono — non sono la stessa cosa.</a:t>
            </a:r>
          </a:p>
        </p:txBody>
      </p:sp>
      <p:sp>
        <p:nvSpPr>
          <p:cNvPr id="18" name="Rectangle 17"/>
          <p:cNvSpPr/>
          <p:nvPr/>
        </p:nvSpPr>
        <p:spPr>
          <a:xfrm>
            <a:off x="6766560" y="6892290"/>
            <a:ext cx="5120640" cy="288036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03720" y="7098029"/>
            <a:ext cx="4754880" cy="822960"/>
          </a:xfrm>
          <a:prstGeom prst="rect">
            <a:avLst/>
          </a:prstGeom>
          <a:noFill/>
        </p:spPr>
        <p:txBody>
          <a:bodyPr wrap="square">
            <a:spAutoFit/>
          </a:bodyPr>
          <a:lstStyle/>
          <a:p>
            <a:pPr algn="l"/>
            <a:r>
              <a:rPr b="1" i="0" sz="1100">
                <a:solidFill>
                  <a:srgbClr val="3D3833"/>
                </a:solidFill>
                <a:latin typeface="Arial"/>
              </a:rPr>
              <a:t>Social Listening= Social Media Management?</a:t>
            </a:r>
          </a:p>
        </p:txBody>
      </p:sp>
      <p:sp>
        <p:nvSpPr>
          <p:cNvPr id="20" name="TextBox 19"/>
          <p:cNvSpPr txBox="1"/>
          <p:nvPr/>
        </p:nvSpPr>
        <p:spPr>
          <a:xfrm>
            <a:off x="6903720" y="7920990"/>
            <a:ext cx="4754880" cy="822960"/>
          </a:xfrm>
          <a:prstGeom prst="rect">
            <a:avLst/>
          </a:prstGeom>
          <a:noFill/>
        </p:spPr>
        <p:txBody>
          <a:bodyPr wrap="square">
            <a:spAutoFit/>
          </a:bodyPr>
          <a:lstStyle/>
          <a:p>
            <a:pPr algn="l"/>
            <a:r>
              <a:rPr b="0" i="1" sz="1000">
                <a:solidFill>
                  <a:srgbClr val="3D3833"/>
                </a:solidFill>
                <a:latin typeface="Arial"/>
              </a:rPr>
              <a:t>Misurare le performance dei contenuti vs leggere il segnale del mercato dietro ai contenuti.</a:t>
            </a:r>
          </a:p>
        </p:txBody>
      </p:sp>
      <p:sp>
        <p:nvSpPr>
          <p:cNvPr id="21" name="TextBox 20"/>
          <p:cNvSpPr txBox="1"/>
          <p:nvPr/>
        </p:nvSpPr>
        <p:spPr>
          <a:xfrm>
            <a:off x="6903720" y="8641080"/>
            <a:ext cx="4754880" cy="925830"/>
          </a:xfrm>
          <a:prstGeom prst="rect">
            <a:avLst/>
          </a:prstGeom>
          <a:noFill/>
        </p:spPr>
        <p:txBody>
          <a:bodyPr wrap="square">
            <a:spAutoFit/>
          </a:bodyPr>
          <a:lstStyle/>
          <a:p>
            <a:pPr algn="l"/>
            <a:r>
              <a:rPr b="0" i="0" sz="1000">
                <a:solidFill>
                  <a:srgbClr val="8A8175"/>
                </a:solidFill>
                <a:latin typeface="Arial"/>
              </a:rPr>
              <a:t>Due vettori paralleli. Non sovrapponibili. Ognuno ha il suo framework, le sue metriche.</a:t>
            </a:r>
          </a:p>
        </p:txBody>
      </p:sp>
      <p:sp>
        <p:nvSpPr>
          <p:cNvPr id="22" name="Rectangle 21"/>
          <p:cNvSpPr/>
          <p:nvPr/>
        </p:nvSpPr>
        <p:spPr>
          <a:xfrm>
            <a:off x="12435840" y="6892290"/>
            <a:ext cx="5120640" cy="288036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573000" y="7098029"/>
            <a:ext cx="4754880" cy="822960"/>
          </a:xfrm>
          <a:prstGeom prst="rect">
            <a:avLst/>
          </a:prstGeom>
          <a:noFill/>
        </p:spPr>
        <p:txBody>
          <a:bodyPr wrap="square">
            <a:spAutoFit/>
          </a:bodyPr>
          <a:lstStyle/>
          <a:p>
            <a:pPr algn="l"/>
            <a:r>
              <a:rPr b="1" i="0" sz="1100">
                <a:solidFill>
                  <a:srgbClr val="3D3833"/>
                </a:solidFill>
                <a:latin typeface="Arial"/>
              </a:rPr>
              <a:t>Social Listening= Tool Operator?</a:t>
            </a:r>
          </a:p>
        </p:txBody>
      </p:sp>
      <p:sp>
        <p:nvSpPr>
          <p:cNvPr id="24" name="TextBox 23"/>
          <p:cNvSpPr txBox="1"/>
          <p:nvPr/>
        </p:nvSpPr>
        <p:spPr>
          <a:xfrm>
            <a:off x="12573000" y="7920990"/>
            <a:ext cx="4754880" cy="822960"/>
          </a:xfrm>
          <a:prstGeom prst="rect">
            <a:avLst/>
          </a:prstGeom>
          <a:noFill/>
        </p:spPr>
        <p:txBody>
          <a:bodyPr wrap="square">
            <a:spAutoFit/>
          </a:bodyPr>
          <a:lstStyle/>
          <a:p>
            <a:pPr algn="l"/>
            <a:r>
              <a:rPr b="0" i="1" sz="1000">
                <a:solidFill>
                  <a:srgbClr val="3D3833"/>
                </a:solidFill>
                <a:latin typeface="Arial"/>
              </a:rPr>
              <a:t>Il cliente pensa di acquistare competenza quando acquista una licenza.</a:t>
            </a:r>
          </a:p>
        </p:txBody>
      </p:sp>
      <p:sp>
        <p:nvSpPr>
          <p:cNvPr id="25" name="TextBox 24"/>
          <p:cNvSpPr txBox="1"/>
          <p:nvPr/>
        </p:nvSpPr>
        <p:spPr>
          <a:xfrm>
            <a:off x="12573000" y="8641080"/>
            <a:ext cx="4754880" cy="925830"/>
          </a:xfrm>
          <a:prstGeom prst="rect">
            <a:avLst/>
          </a:prstGeom>
          <a:noFill/>
        </p:spPr>
        <p:txBody>
          <a:bodyPr wrap="square">
            <a:spAutoFit/>
          </a:bodyPr>
          <a:lstStyle/>
          <a:p>
            <a:pPr algn="l"/>
            <a:r>
              <a:rPr b="0" i="0" sz="1000">
                <a:solidFill>
                  <a:srgbClr val="8A8175"/>
                </a:solidFill>
                <a:latin typeface="Arial"/>
              </a:rPr>
              <a:t>Brandwatch e straordinario — ma senza la domanda giusta, produce rumore. La competenza e nel framework.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714"/>
        </a:solidFill>
        <a:effectLst/>
      </p:bgPr>
    </p:bg>
    <p:spTree>
      <p:nvGrpSpPr>
        <p:cNvPr id="1" name=""/>
        <p:cNvGrpSpPr/>
        <p:nvPr/>
      </p:nvGrpSpPr>
      <p:grpSpPr/>
      <p:sp>
        <p:nvSpPr>
          <p:cNvPr id="2" name="TextBox 1"/>
          <p:cNvSpPr txBox="1"/>
          <p:nvPr/>
        </p:nvSpPr>
        <p:spPr>
          <a:xfrm>
            <a:off x="1097280" y="514350"/>
            <a:ext cx="16733520" cy="320040"/>
          </a:xfrm>
          <a:prstGeom prst="rect">
            <a:avLst/>
          </a:prstGeom>
          <a:noFill/>
        </p:spPr>
        <p:txBody>
          <a:bodyPr wrap="square">
            <a:spAutoFit/>
          </a:bodyPr>
          <a:lstStyle/>
          <a:p>
            <a:pPr algn="l"/>
            <a:r>
              <a:rPr b="1" i="0" sz="1000">
                <a:solidFill>
                  <a:srgbClr val="B8523A"/>
                </a:solidFill>
                <a:latin typeface="Courier New"/>
              </a:rPr>
              <a:t>●  CAPITOLO 3 — IDENTITA DELLA DISCIPLINA</a:t>
            </a:r>
          </a:p>
        </p:txBody>
      </p:sp>
      <p:sp>
        <p:nvSpPr>
          <p:cNvPr id="3" name="TextBox 2"/>
          <p:cNvSpPr txBox="1"/>
          <p:nvPr/>
        </p:nvSpPr>
        <p:spPr>
          <a:xfrm>
            <a:off x="1097280" y="1234440"/>
            <a:ext cx="16093440" cy="1028700"/>
          </a:xfrm>
          <a:prstGeom prst="rect">
            <a:avLst/>
          </a:prstGeom>
          <a:noFill/>
        </p:spPr>
        <p:txBody>
          <a:bodyPr wrap="square">
            <a:spAutoFit/>
          </a:bodyPr>
          <a:lstStyle/>
          <a:p>
            <a:pPr algn="l"/>
            <a:r>
              <a:rPr b="1" i="0" sz="3000">
                <a:solidFill>
                  <a:srgbClr val="F3EDE1"/>
                </a:solidFill>
                <a:latin typeface="Georgia"/>
              </a:rPr>
              <a:t>Non e un tuo fallimento.</a:t>
            </a:r>
          </a:p>
        </p:txBody>
      </p:sp>
      <p:sp>
        <p:nvSpPr>
          <p:cNvPr id="4" name="TextBox 3"/>
          <p:cNvSpPr txBox="1"/>
          <p:nvPr/>
        </p:nvSpPr>
        <p:spPr>
          <a:xfrm>
            <a:off x="1097280" y="2160270"/>
            <a:ext cx="16093440" cy="1028700"/>
          </a:xfrm>
          <a:prstGeom prst="rect">
            <a:avLst/>
          </a:prstGeom>
          <a:noFill/>
        </p:spPr>
        <p:txBody>
          <a:bodyPr wrap="square">
            <a:spAutoFit/>
          </a:bodyPr>
          <a:lstStyle/>
          <a:p>
            <a:pPr algn="l"/>
            <a:r>
              <a:rPr b="1" i="0" sz="3000">
                <a:solidFill>
                  <a:srgbClr val="B8523A"/>
                </a:solidFill>
                <a:latin typeface="Georgia"/>
              </a:rPr>
              <a:t>E un fallimento della disciplina.</a:t>
            </a:r>
          </a:p>
        </p:txBody>
      </p:sp>
      <p:sp>
        <p:nvSpPr>
          <p:cNvPr id="5" name="TextBox 4"/>
          <p:cNvSpPr txBox="1"/>
          <p:nvPr/>
        </p:nvSpPr>
        <p:spPr>
          <a:xfrm>
            <a:off x="1097280" y="3291840"/>
            <a:ext cx="16093440" cy="822960"/>
          </a:xfrm>
          <a:prstGeom prst="rect">
            <a:avLst/>
          </a:prstGeom>
          <a:noFill/>
        </p:spPr>
        <p:txBody>
          <a:bodyPr wrap="square">
            <a:spAutoFit/>
          </a:bodyPr>
          <a:lstStyle/>
          <a:p>
            <a:pPr algn="l"/>
            <a:r>
              <a:rPr b="0" i="0" sz="1200">
                <a:solidFill>
                  <a:srgbClr val="8A8175"/>
                </a:solidFill>
                <a:latin typeface="Arial"/>
              </a:rPr>
              <a:t>La stessa competenza viene chiamata in undici modi diversi a seconda della stanza in cui entra.</a:t>
            </a:r>
          </a:p>
          <a:p>
            <a:pPr algn="l"/>
            <a:r>
              <a:rPr b="0" i="0" sz="1200">
                <a:solidFill>
                  <a:srgbClr val="8A8175"/>
                </a:solidFill>
                <a:latin typeface="Arial"/>
              </a:rPr>
              <a:t>Quando un mestiere non ha un nome chiaro, fatica ad avere seniority, budget, carriera, spazio decisionale.</a:t>
            </a:r>
          </a:p>
        </p:txBody>
      </p:sp>
      <p:sp>
        <p:nvSpPr>
          <p:cNvPr id="6" name="Rectangle 5"/>
          <p:cNvSpPr/>
          <p:nvPr/>
        </p:nvSpPr>
        <p:spPr>
          <a:xfrm>
            <a:off x="1097280" y="4320540"/>
            <a:ext cx="5120640" cy="4423410"/>
          </a:xfrm>
          <a:prstGeom prst="rect">
            <a:avLst/>
          </a:prstGeom>
          <a:solidFill>
            <a:srgbClr val="2A2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4526280"/>
            <a:ext cx="1097280" cy="720090"/>
          </a:xfrm>
          <a:prstGeom prst="rect">
            <a:avLst/>
          </a:prstGeom>
          <a:noFill/>
        </p:spPr>
        <p:txBody>
          <a:bodyPr wrap="square">
            <a:spAutoFit/>
          </a:bodyPr>
          <a:lstStyle/>
          <a:p>
            <a:pPr algn="l"/>
            <a:r>
              <a:rPr b="1" i="0" sz="1100">
                <a:solidFill>
                  <a:srgbClr val="B8523A"/>
                </a:solidFill>
                <a:latin typeface="Courier New"/>
              </a:rPr>
              <a:t>01</a:t>
            </a:r>
          </a:p>
        </p:txBody>
      </p:sp>
      <p:sp>
        <p:nvSpPr>
          <p:cNvPr id="8" name="TextBox 7"/>
          <p:cNvSpPr txBox="1"/>
          <p:nvPr/>
        </p:nvSpPr>
        <p:spPr>
          <a:xfrm>
            <a:off x="1280160" y="5246370"/>
            <a:ext cx="4572000" cy="822960"/>
          </a:xfrm>
          <a:prstGeom prst="rect">
            <a:avLst/>
          </a:prstGeom>
          <a:noFill/>
        </p:spPr>
        <p:txBody>
          <a:bodyPr wrap="square">
            <a:spAutoFit/>
          </a:bodyPr>
          <a:lstStyle/>
          <a:p>
            <a:pPr algn="l"/>
            <a:r>
              <a:rPr b="1" i="0" sz="1200">
                <a:solidFill>
                  <a:srgbClr val="F3EDE1"/>
                </a:solidFill>
                <a:latin typeface="Arial"/>
              </a:rPr>
              <a:t>ISOLAMENTO DEL PRATICANTE</a:t>
            </a:r>
          </a:p>
        </p:txBody>
      </p:sp>
      <p:sp>
        <p:nvSpPr>
          <p:cNvPr id="9" name="TextBox 8"/>
          <p:cNvSpPr txBox="1"/>
          <p:nvPr/>
        </p:nvSpPr>
        <p:spPr>
          <a:xfrm>
            <a:off x="1280160" y="6172200"/>
            <a:ext cx="4572000" cy="2263140"/>
          </a:xfrm>
          <a:prstGeom prst="rect">
            <a:avLst/>
          </a:prstGeom>
          <a:noFill/>
        </p:spPr>
        <p:txBody>
          <a:bodyPr wrap="square">
            <a:spAutoFit/>
          </a:bodyPr>
          <a:lstStyle/>
          <a:p>
            <a:pPr algn="l"/>
            <a:r>
              <a:rPr b="0" i="0" sz="1000">
                <a:solidFill>
                  <a:srgbClr val="8A8175"/>
                </a:solidFill>
                <a:latin typeface="Arial"/>
              </a:rPr>
              <a:t>Chi fa social listening spesso lavora senza colleghi che condividano il mestiere. Lo spiega da capo ogni volta che entra in una stanza nuova. Quello che ha costruito — metodologia, sistema, punto di vista — esiste dentro quella struttura. Se cambia contesto, ricomincia da zero.</a:t>
            </a:r>
          </a:p>
        </p:txBody>
      </p:sp>
      <p:sp>
        <p:nvSpPr>
          <p:cNvPr id="10" name="Rectangle 9"/>
          <p:cNvSpPr/>
          <p:nvPr/>
        </p:nvSpPr>
        <p:spPr>
          <a:xfrm>
            <a:off x="6766560" y="4320540"/>
            <a:ext cx="5120640" cy="4423410"/>
          </a:xfrm>
          <a:prstGeom prst="rect">
            <a:avLst/>
          </a:prstGeom>
          <a:solidFill>
            <a:srgbClr val="2A2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4526280"/>
            <a:ext cx="1097280" cy="720090"/>
          </a:xfrm>
          <a:prstGeom prst="rect">
            <a:avLst/>
          </a:prstGeom>
          <a:noFill/>
        </p:spPr>
        <p:txBody>
          <a:bodyPr wrap="square">
            <a:spAutoFit/>
          </a:bodyPr>
          <a:lstStyle/>
          <a:p>
            <a:pPr algn="l"/>
            <a:r>
              <a:rPr b="1" i="0" sz="1100">
                <a:solidFill>
                  <a:srgbClr val="B8523A"/>
                </a:solidFill>
                <a:latin typeface="Courier New"/>
              </a:rPr>
              <a:t>02</a:t>
            </a:r>
          </a:p>
        </p:txBody>
      </p:sp>
      <p:sp>
        <p:nvSpPr>
          <p:cNvPr id="12" name="TextBox 11"/>
          <p:cNvSpPr txBox="1"/>
          <p:nvPr/>
        </p:nvSpPr>
        <p:spPr>
          <a:xfrm>
            <a:off x="6949440" y="5246370"/>
            <a:ext cx="4572000" cy="822960"/>
          </a:xfrm>
          <a:prstGeom prst="rect">
            <a:avLst/>
          </a:prstGeom>
          <a:noFill/>
        </p:spPr>
        <p:txBody>
          <a:bodyPr wrap="square">
            <a:spAutoFit/>
          </a:bodyPr>
          <a:lstStyle/>
          <a:p>
            <a:pPr algn="l"/>
            <a:r>
              <a:rPr b="1" i="0" sz="1200">
                <a:solidFill>
                  <a:srgbClr val="F3EDE1"/>
                </a:solidFill>
                <a:latin typeface="Arial"/>
              </a:rPr>
              <a:t>ASSENZA DI STANDARD</a:t>
            </a:r>
          </a:p>
        </p:txBody>
      </p:sp>
      <p:sp>
        <p:nvSpPr>
          <p:cNvPr id="13" name="TextBox 12"/>
          <p:cNvSpPr txBox="1"/>
          <p:nvPr/>
        </p:nvSpPr>
        <p:spPr>
          <a:xfrm>
            <a:off x="6949440" y="6172200"/>
            <a:ext cx="4572000" cy="2263140"/>
          </a:xfrm>
          <a:prstGeom prst="rect">
            <a:avLst/>
          </a:prstGeom>
          <a:noFill/>
        </p:spPr>
        <p:txBody>
          <a:bodyPr wrap="square">
            <a:spAutoFit/>
          </a:bodyPr>
          <a:lstStyle/>
          <a:p>
            <a:pPr algn="l"/>
            <a:r>
              <a:rPr b="0" i="0" sz="1000">
                <a:solidFill>
                  <a:srgbClr val="8A8175"/>
                </a:solidFill>
                <a:latin typeface="Arial"/>
              </a:rPr>
              <a:t>Nessuna tassonomia condivisa. Nessuna definizione di cosa significa 'fare bene' questo lavoro. Ogni team reinventa il metodo. Il cliente non puo valutare la qualita perche non esistono parametri di riferimento difendibili a livello di disciplina.</a:t>
            </a:r>
          </a:p>
        </p:txBody>
      </p:sp>
      <p:sp>
        <p:nvSpPr>
          <p:cNvPr id="14" name="Rectangle 13"/>
          <p:cNvSpPr/>
          <p:nvPr/>
        </p:nvSpPr>
        <p:spPr>
          <a:xfrm>
            <a:off x="12435840" y="4320540"/>
            <a:ext cx="5120640" cy="4423410"/>
          </a:xfrm>
          <a:prstGeom prst="rect">
            <a:avLst/>
          </a:prstGeom>
          <a:solidFill>
            <a:srgbClr val="2A2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618720" y="4526280"/>
            <a:ext cx="1097280" cy="720090"/>
          </a:xfrm>
          <a:prstGeom prst="rect">
            <a:avLst/>
          </a:prstGeom>
          <a:noFill/>
        </p:spPr>
        <p:txBody>
          <a:bodyPr wrap="square">
            <a:spAutoFit/>
          </a:bodyPr>
          <a:lstStyle/>
          <a:p>
            <a:pPr algn="l"/>
            <a:r>
              <a:rPr b="1" i="0" sz="1100">
                <a:solidFill>
                  <a:srgbClr val="B8523A"/>
                </a:solidFill>
                <a:latin typeface="Courier New"/>
              </a:rPr>
              <a:t>03</a:t>
            </a:r>
          </a:p>
        </p:txBody>
      </p:sp>
      <p:sp>
        <p:nvSpPr>
          <p:cNvPr id="16" name="TextBox 15"/>
          <p:cNvSpPr txBox="1"/>
          <p:nvPr/>
        </p:nvSpPr>
        <p:spPr>
          <a:xfrm>
            <a:off x="12618720" y="5246370"/>
            <a:ext cx="4572000" cy="822960"/>
          </a:xfrm>
          <a:prstGeom prst="rect">
            <a:avLst/>
          </a:prstGeom>
          <a:noFill/>
        </p:spPr>
        <p:txBody>
          <a:bodyPr wrap="square">
            <a:spAutoFit/>
          </a:bodyPr>
          <a:lstStyle/>
          <a:p>
            <a:pPr algn="l"/>
            <a:r>
              <a:rPr b="1" i="0" sz="1200">
                <a:solidFill>
                  <a:srgbClr val="F3EDE1"/>
                </a:solidFill>
                <a:latin typeface="Arial"/>
              </a:rPr>
              <a:t>EXPERTISE INVISIBILE</a:t>
            </a:r>
          </a:p>
        </p:txBody>
      </p:sp>
      <p:sp>
        <p:nvSpPr>
          <p:cNvPr id="17" name="TextBox 16"/>
          <p:cNvSpPr txBox="1"/>
          <p:nvPr/>
        </p:nvSpPr>
        <p:spPr>
          <a:xfrm>
            <a:off x="12618720" y="6172200"/>
            <a:ext cx="4572000" cy="2263140"/>
          </a:xfrm>
          <a:prstGeom prst="rect">
            <a:avLst/>
          </a:prstGeom>
          <a:noFill/>
        </p:spPr>
        <p:txBody>
          <a:bodyPr wrap="square">
            <a:spAutoFit/>
          </a:bodyPr>
          <a:lstStyle/>
          <a:p>
            <a:pPr algn="l"/>
            <a:r>
              <a:rPr b="0" i="0" sz="1000">
                <a:solidFill>
                  <a:srgbClr val="8A8175"/>
                </a:solidFill>
                <a:latin typeface="Arial"/>
              </a:rPr>
              <a:t>Il manager capisce il lavoro ma non abbastanza da difenderlo in un board. Non c'e credenziale che viaggi fuori dall'azienda. Non c'e scala di carriera riconosciuta. L'expertise e reale — ma non e leggibile fuori dal proprio contesto immediato.</a:t>
            </a:r>
          </a:p>
        </p:txBody>
      </p:sp>
      <p:cxnSp>
        <p:nvCxnSpPr>
          <p:cNvPr id="18" name="Connector 17"/>
          <p:cNvCxnSpPr/>
          <p:nvPr/>
        </p:nvCxnSpPr>
        <p:spPr>
          <a:xfrm>
            <a:off x="1097280" y="905256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97280" y="9258300"/>
            <a:ext cx="16093440" cy="822960"/>
          </a:xfrm>
          <a:prstGeom prst="rect">
            <a:avLst/>
          </a:prstGeom>
          <a:noFill/>
        </p:spPr>
        <p:txBody>
          <a:bodyPr wrap="square">
            <a:spAutoFit/>
          </a:bodyPr>
          <a:lstStyle/>
          <a:p>
            <a:pPr algn="ctr"/>
            <a:r>
              <a:rPr b="0" i="1" sz="1100">
                <a:solidFill>
                  <a:srgbClr val="F3EDE1"/>
                </a:solidFill>
                <a:latin typeface="Arial"/>
              </a:rPr>
              <a:t>"Il problema non e che il listening venga sottovalutato. E che viene riconosciuto solo quando produce una dashboard — non quando cambia una decisione."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spAutoFit/>
          </a:bodyPr>
          <a:lstStyle/>
          <a:p>
            <a:pPr algn="l"/>
            <a:r>
              <a:rPr b="1" i="0" sz="1000">
                <a:solidFill>
                  <a:srgbClr val="B8523A"/>
                </a:solidFill>
                <a:latin typeface="Courier New"/>
              </a:rPr>
              <a:t>●  CAPITOLO 4 — IL MERCATO ITALIANO</a:t>
            </a:r>
          </a:p>
        </p:txBody>
      </p:sp>
      <p:sp>
        <p:nvSpPr>
          <p:cNvPr id="3" name="TextBox 2"/>
          <p:cNvSpPr txBox="1"/>
          <p:nvPr/>
        </p:nvSpPr>
        <p:spPr>
          <a:xfrm>
            <a:off x="1097280" y="1337310"/>
            <a:ext cx="16093440" cy="1028700"/>
          </a:xfrm>
          <a:prstGeom prst="rect">
            <a:avLst/>
          </a:prstGeom>
          <a:noFill/>
        </p:spPr>
        <p:txBody>
          <a:bodyPr wrap="square">
            <a:spAutoFit/>
          </a:bodyPr>
          <a:lstStyle/>
          <a:p>
            <a:pPr algn="l"/>
            <a:r>
              <a:rPr b="1" i="0" sz="3000">
                <a:solidFill>
                  <a:srgbClr val="3D3833"/>
                </a:solidFill>
                <a:latin typeface="Georgia"/>
              </a:rPr>
              <a:t>In Italia il problema e piu profondo.</a:t>
            </a:r>
          </a:p>
        </p:txBody>
      </p:sp>
      <p:sp>
        <p:nvSpPr>
          <p:cNvPr id="4" name="TextBox 3"/>
          <p:cNvSpPr txBox="1"/>
          <p:nvPr/>
        </p:nvSpPr>
        <p:spPr>
          <a:xfrm>
            <a:off x="1097280" y="2571750"/>
            <a:ext cx="16093440" cy="617220"/>
          </a:xfrm>
          <a:prstGeom prst="rect">
            <a:avLst/>
          </a:prstGeom>
          <a:noFill/>
        </p:spPr>
        <p:txBody>
          <a:bodyPr wrap="square">
            <a:spAutoFit/>
          </a:bodyPr>
          <a:lstStyle/>
          <a:p>
            <a:pPr algn="l"/>
            <a:r>
              <a:rPr b="0" i="0" sz="1200">
                <a:solidFill>
                  <a:srgbClr val="8A8175"/>
                </a:solidFill>
                <a:latin typeface="Arial"/>
              </a:rPr>
              <a:t>Non e un problema tecnologico. Gli strumenti ci sono. I dati ci sono. Quello che manca e il posizionamento strategico del ruolo.</a:t>
            </a:r>
          </a:p>
        </p:txBody>
      </p:sp>
      <p:cxnSp>
        <p:nvCxnSpPr>
          <p:cNvPr id="5" name="Connector 4"/>
          <p:cNvCxnSpPr/>
          <p:nvPr/>
        </p:nvCxnSpPr>
        <p:spPr>
          <a:xfrm>
            <a:off x="1097280" y="339471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806190"/>
            <a:ext cx="7680960" cy="72009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806190"/>
            <a:ext cx="7680960" cy="720090"/>
          </a:xfrm>
          <a:prstGeom prst="rect">
            <a:avLst/>
          </a:prstGeom>
          <a:noFill/>
        </p:spPr>
        <p:txBody>
          <a:bodyPr wrap="square">
            <a:spAutoFit/>
          </a:bodyPr>
          <a:lstStyle/>
          <a:p>
            <a:pPr algn="ctr"/>
            <a:r>
              <a:rPr b="1" i="0" sz="1100">
                <a:solidFill>
                  <a:srgbClr val="3D3833"/>
                </a:solidFill>
                <a:latin typeface="Courier New"/>
              </a:rPr>
              <a:t>ITALIA — PRATICA IMPLICITA</a:t>
            </a:r>
          </a:p>
        </p:txBody>
      </p:sp>
      <p:sp>
        <p:nvSpPr>
          <p:cNvPr id="8" name="TextBox 7"/>
          <p:cNvSpPr txBox="1"/>
          <p:nvPr/>
        </p:nvSpPr>
        <p:spPr>
          <a:xfrm>
            <a:off x="1280160" y="4629150"/>
            <a:ext cx="7315200" cy="4937760"/>
          </a:xfrm>
          <a:prstGeom prst="rect">
            <a:avLst/>
          </a:prstGeom>
          <a:noFill/>
        </p:spPr>
        <p:txBody>
          <a:bodyPr wrap="square">
            <a:spAutoFit/>
          </a:bodyPr>
          <a:lstStyle/>
          <a:p>
            <a:pPr algn="l"/>
            <a:r>
              <a:rPr b="0" i="0" sz="1200">
                <a:solidFill>
                  <a:srgbClr val="3D3833"/>
                </a:solidFill>
                <a:latin typeface="Arial"/>
              </a:rPr>
              <a:t>~ Strumenti presenti, metodo assente</a:t>
            </a:r>
          </a:p>
          <a:p>
            <a:pPr algn="l"/>
            <a:r>
              <a:rPr b="0" i="0" sz="1200">
                <a:solidFill>
                  <a:srgbClr val="3D3833"/>
                </a:solidFill>
                <a:latin typeface="Arial"/>
              </a:rPr>
              <a:t>~ Sensibilita su reputazione e crisi, ma reattiva</a:t>
            </a:r>
          </a:p>
          <a:p>
            <a:pPr algn="l"/>
            <a:r>
              <a:rPr b="0" i="0" sz="1200">
                <a:solidFill>
                  <a:srgbClr val="3D3833"/>
                </a:solidFill>
                <a:latin typeface="Arial"/>
              </a:rPr>
              <a:t>~ Ruolo raramente nominato come autonomo</a:t>
            </a:r>
          </a:p>
          <a:p>
            <a:pPr algn="l"/>
            <a:r>
              <a:rPr b="0" i="0" sz="1200">
                <a:solidFill>
                  <a:srgbClr val="3D3833"/>
                </a:solidFill>
                <a:latin typeface="Arial"/>
              </a:rPr>
              <a:t>~ Formazione quasi sempre autodidatta</a:t>
            </a:r>
          </a:p>
          <a:p>
            <a:pPr algn="l"/>
            <a:r>
              <a:rPr b="0" i="0" sz="1200">
                <a:solidFill>
                  <a:srgbClr val="3D3833"/>
                </a:solidFill>
                <a:latin typeface="Arial"/>
              </a:rPr>
              <a:t>~ Ownership contesa tra social, PR, insight, agenzie</a:t>
            </a:r>
          </a:p>
          <a:p>
            <a:pPr algn="l"/>
            <a:r>
              <a:rPr b="0" i="0" sz="1200">
                <a:solidFill>
                  <a:srgbClr val="3D3833"/>
                </a:solidFill>
                <a:latin typeface="Arial"/>
              </a:rPr>
              <a:t>~ Competenza reale ma non portabile fuori dall'org.</a:t>
            </a:r>
          </a:p>
          <a:p>
            <a:pPr algn="l"/>
            <a:r>
              <a:t/>
            </a:r>
          </a:p>
          <a:p>
            <a:pPr algn="l"/>
            <a:r>
              <a:rPr b="0" i="0" sz="1100">
                <a:solidFill>
                  <a:srgbClr val="8A8175"/>
                </a:solidFill>
                <a:latin typeface="Arial"/>
              </a:rPr>
              <a:t>Se cambi contesto, ricomincia da capo.</a:t>
            </a:r>
          </a:p>
        </p:txBody>
      </p:sp>
      <p:sp>
        <p:nvSpPr>
          <p:cNvPr id="9" name="Rectangle 8"/>
          <p:cNvSpPr/>
          <p:nvPr/>
        </p:nvSpPr>
        <p:spPr>
          <a:xfrm>
            <a:off x="9509760" y="3806190"/>
            <a:ext cx="7680960" cy="72009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0" y="3806190"/>
            <a:ext cx="7680960" cy="720090"/>
          </a:xfrm>
          <a:prstGeom prst="rect">
            <a:avLst/>
          </a:prstGeom>
          <a:noFill/>
        </p:spPr>
        <p:txBody>
          <a:bodyPr wrap="square">
            <a:spAutoFit/>
          </a:bodyPr>
          <a:lstStyle/>
          <a:p>
            <a:pPr algn="ctr"/>
            <a:r>
              <a:rPr b="1" i="0" sz="1100">
                <a:solidFill>
                  <a:srgbClr val="F3EDE1"/>
                </a:solidFill>
                <a:latin typeface="Courier New"/>
              </a:rPr>
              <a:t>ESTERO — INFRASTRUTTURA STRUTTURATA</a:t>
            </a:r>
          </a:p>
        </p:txBody>
      </p:sp>
      <p:sp>
        <p:nvSpPr>
          <p:cNvPr id="11" name="TextBox 10"/>
          <p:cNvSpPr txBox="1"/>
          <p:nvPr/>
        </p:nvSpPr>
        <p:spPr>
          <a:xfrm>
            <a:off x="9692640" y="4629150"/>
            <a:ext cx="7315200" cy="4937760"/>
          </a:xfrm>
          <a:prstGeom prst="rect">
            <a:avLst/>
          </a:prstGeom>
          <a:noFill/>
        </p:spPr>
        <p:txBody>
          <a:bodyPr wrap="square">
            <a:spAutoFit/>
          </a:bodyPr>
          <a:lstStyle/>
          <a:p>
            <a:pPr algn="l"/>
            <a:r>
              <a:rPr b="0" i="0" sz="1200">
                <a:solidFill>
                  <a:srgbClr val="3D3833"/>
                </a:solidFill>
                <a:latin typeface="Arial"/>
              </a:rPr>
              <a:t>+ Comunita di pratica verticali e attive</a:t>
            </a:r>
          </a:p>
          <a:p>
            <a:pPr algn="l"/>
            <a:r>
              <a:rPr b="0" i="0" sz="1200">
                <a:solidFill>
                  <a:srgbClr val="3D3833"/>
                </a:solidFill>
                <a:latin typeface="Arial"/>
              </a:rPr>
              <a:t>+ Percorsi di carriera espliciti e riconoscibili</a:t>
            </a:r>
          </a:p>
          <a:p>
            <a:pPr algn="l"/>
            <a:r>
              <a:rPr b="0" i="0" sz="1200">
                <a:solidFill>
                  <a:srgbClr val="3D3833"/>
                </a:solidFill>
                <a:latin typeface="Arial"/>
              </a:rPr>
              <a:t>+ Definizione condivisa del 'fare bene il lavoro'</a:t>
            </a:r>
          </a:p>
          <a:p>
            <a:pPr algn="l"/>
            <a:r>
              <a:rPr b="0" i="0" sz="1200">
                <a:solidFill>
                  <a:srgbClr val="3D3833"/>
                </a:solidFill>
                <a:latin typeface="Arial"/>
              </a:rPr>
              <a:t>+ Credenziali leggibili fuori dal contesto</a:t>
            </a:r>
          </a:p>
          <a:p>
            <a:pPr algn="l"/>
            <a:r>
              <a:rPr b="0" i="0" sz="1200">
                <a:solidFill>
                  <a:srgbClr val="3D3833"/>
                </a:solidFill>
                <a:latin typeface="Arial"/>
              </a:rPr>
              <a:t>+ Standard metodologici difendibili</a:t>
            </a:r>
          </a:p>
          <a:p>
            <a:pPr algn="l"/>
            <a:r>
              <a:rPr b="0" i="0" sz="1200">
                <a:solidFill>
                  <a:srgbClr val="3D3833"/>
                </a:solidFill>
                <a:latin typeface="Arial"/>
              </a:rPr>
              <a:t>+ Ruolo con ownership e spazio decisionale chiaro</a:t>
            </a:r>
          </a:p>
          <a:p>
            <a:pPr algn="l"/>
            <a:r>
              <a:t/>
            </a:r>
          </a:p>
          <a:p>
            <a:pPr algn="l"/>
            <a:r>
              <a:rPr b="0" i="0" sz="1100">
                <a:solidFill>
                  <a:srgbClr val="8A8175"/>
                </a:solidFill>
                <a:latin typeface="Arial"/>
              </a:rPr>
              <a:t>La competenza e visibile, portabile, difendibile.</a:t>
            </a:r>
          </a:p>
        </p:txBody>
      </p:sp>
      <p:sp>
        <p:nvSpPr>
          <p:cNvPr id="12" name="Rectangle 11"/>
          <p:cNvSpPr/>
          <p:nvPr/>
        </p:nvSpPr>
        <p:spPr>
          <a:xfrm>
            <a:off x="1097280" y="9464040"/>
            <a:ext cx="16093440" cy="61722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9566910"/>
            <a:ext cx="15361920" cy="514350"/>
          </a:xfrm>
          <a:prstGeom prst="rect">
            <a:avLst/>
          </a:prstGeom>
          <a:noFill/>
        </p:spPr>
        <p:txBody>
          <a:bodyPr wrap="square">
            <a:spAutoFit/>
          </a:bodyPr>
          <a:lstStyle/>
          <a:p>
            <a:pPr algn="ctr"/>
            <a:r>
              <a:rPr b="1" i="0" sz="1300">
                <a:solidFill>
                  <a:srgbClr val="F3EDE1"/>
                </a:solidFill>
                <a:latin typeface="Arial"/>
              </a:rPr>
              <a:t>Il divario non e di dati. E di infrastruttura professionale.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spAutoFit/>
          </a:bodyPr>
          <a:lstStyle/>
          <a:p>
            <a:pPr algn="l"/>
            <a:r>
              <a:rPr b="1" i="0" sz="1000">
                <a:solidFill>
                  <a:srgbClr val="B8523A"/>
                </a:solidFill>
                <a:latin typeface="Courier New"/>
              </a:rPr>
              <a:t>●  IL MERCATO — IL SALTO CHE MANCA</a:t>
            </a:r>
          </a:p>
        </p:txBody>
      </p:sp>
      <p:sp>
        <p:nvSpPr>
          <p:cNvPr id="3" name="TextBox 2"/>
          <p:cNvSpPr txBox="1"/>
          <p:nvPr/>
        </p:nvSpPr>
        <p:spPr>
          <a:xfrm>
            <a:off x="1097280" y="1337310"/>
            <a:ext cx="16093440" cy="1028700"/>
          </a:xfrm>
          <a:prstGeom prst="rect">
            <a:avLst/>
          </a:prstGeom>
          <a:noFill/>
        </p:spPr>
        <p:txBody>
          <a:bodyPr wrap="square">
            <a:spAutoFit/>
          </a:bodyPr>
          <a:lstStyle/>
          <a:p>
            <a:pPr algn="l"/>
            <a:r>
              <a:rPr b="1" i="0" sz="3000">
                <a:solidFill>
                  <a:srgbClr val="3D3833"/>
                </a:solidFill>
                <a:latin typeface="Georgia"/>
              </a:rPr>
              <a:t>Il salto che cambia tutto.</a:t>
            </a:r>
          </a:p>
        </p:txBody>
      </p:sp>
      <p:sp>
        <p:nvSpPr>
          <p:cNvPr id="4" name="TextBox 3"/>
          <p:cNvSpPr txBox="1"/>
          <p:nvPr/>
        </p:nvSpPr>
        <p:spPr>
          <a:xfrm>
            <a:off x="1097280" y="2571750"/>
            <a:ext cx="16093440" cy="617220"/>
          </a:xfrm>
          <a:prstGeom prst="rect">
            <a:avLst/>
          </a:prstGeom>
          <a:noFill/>
        </p:spPr>
        <p:txBody>
          <a:bodyPr wrap="square">
            <a:spAutoFit/>
          </a:bodyPr>
          <a:lstStyle/>
          <a:p>
            <a:pPr algn="l"/>
            <a:r>
              <a:rPr b="0" i="0" sz="1200">
                <a:solidFill>
                  <a:srgbClr val="8A8175"/>
                </a:solidFill>
                <a:latin typeface="Arial"/>
              </a:rPr>
              <a:t>Non e un salto tecnologico. E un salto di posizionamento — e richiede che chi fa questo lavoro sappia portare il proprio valore dove le decisioni vengono prese davvero.</a:t>
            </a:r>
          </a:p>
        </p:txBody>
      </p:sp>
      <p:cxnSp>
        <p:nvCxnSpPr>
          <p:cNvPr id="5" name="Connector 4"/>
          <p:cNvCxnSpPr/>
          <p:nvPr/>
        </p:nvCxnSpPr>
        <p:spPr>
          <a:xfrm>
            <a:off x="1097280" y="339471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806190"/>
            <a:ext cx="7315200" cy="534924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4011930"/>
            <a:ext cx="6949440" cy="617220"/>
          </a:xfrm>
          <a:prstGeom prst="rect">
            <a:avLst/>
          </a:prstGeom>
          <a:noFill/>
        </p:spPr>
        <p:txBody>
          <a:bodyPr wrap="square">
            <a:spAutoFit/>
          </a:bodyPr>
          <a:lstStyle/>
          <a:p>
            <a:pPr algn="l"/>
            <a:r>
              <a:rPr b="1" i="0" sz="1200">
                <a:solidFill>
                  <a:srgbClr val="8A8175"/>
                </a:solidFill>
                <a:latin typeface="Courier New"/>
              </a:rPr>
              <a:t>STATO REATTIVO</a:t>
            </a:r>
          </a:p>
        </p:txBody>
      </p:sp>
      <p:sp>
        <p:nvSpPr>
          <p:cNvPr id="8" name="TextBox 7"/>
          <p:cNvSpPr txBox="1"/>
          <p:nvPr/>
        </p:nvSpPr>
        <p:spPr>
          <a:xfrm>
            <a:off x="1280160" y="4732020"/>
            <a:ext cx="6949440" cy="4114800"/>
          </a:xfrm>
          <a:prstGeom prst="rect">
            <a:avLst/>
          </a:prstGeom>
          <a:noFill/>
        </p:spPr>
        <p:txBody>
          <a:bodyPr wrap="square">
            <a:spAutoFit/>
          </a:bodyPr>
          <a:lstStyle/>
          <a:p>
            <a:pPr algn="l"/>
            <a:r>
              <a:rPr b="1" i="0" sz="1400">
                <a:solidFill>
                  <a:srgbClr val="3D3833"/>
                </a:solidFill>
                <a:latin typeface="Arial"/>
              </a:rPr>
              <a:t>Il listening entra dopo.</a:t>
            </a:r>
          </a:p>
          <a:p>
            <a:pPr algn="l"/>
            <a:r>
              <a:t/>
            </a:r>
          </a:p>
          <a:p>
            <a:pPr algn="l"/>
            <a:r>
              <a:rPr b="0" i="0" sz="1200">
                <a:solidFill>
                  <a:srgbClr val="3D3833"/>
                </a:solidFill>
                <a:latin typeface="Arial"/>
              </a:rPr>
              <a:t>Misura quello che e successo.</a:t>
            </a:r>
          </a:p>
          <a:p>
            <a:pPr algn="l"/>
            <a:r>
              <a:rPr b="0" i="0" sz="1200">
                <a:solidFill>
                  <a:srgbClr val="3D3833"/>
                </a:solidFill>
                <a:latin typeface="Arial"/>
              </a:rPr>
              <a:t>Segue la crisi quando e gia esplosa.</a:t>
            </a:r>
          </a:p>
          <a:p>
            <a:pPr algn="l"/>
            <a:r>
              <a:rPr b="0" i="0" sz="1200">
                <a:solidFill>
                  <a:srgbClr val="3D3833"/>
                </a:solidFill>
                <a:latin typeface="Arial"/>
              </a:rPr>
              <a:t>Conferma il brief gia scritto.</a:t>
            </a:r>
          </a:p>
          <a:p>
            <a:pPr algn="l"/>
            <a:r>
              <a:rPr b="0" i="0" sz="1200">
                <a:solidFill>
                  <a:srgbClr val="3D3833"/>
                </a:solidFill>
                <a:latin typeface="Arial"/>
              </a:rPr>
              <a:t>Il dato commenta — non orienta.</a:t>
            </a:r>
          </a:p>
          <a:p>
            <a:pPr algn="l"/>
            <a:r>
              <a:t/>
            </a:r>
          </a:p>
          <a:p>
            <a:pPr algn="l"/>
            <a:r>
              <a:rPr b="0" i="0" sz="1100">
                <a:solidFill>
                  <a:srgbClr val="8A8175"/>
                </a:solidFill>
                <a:latin typeface="Arial"/>
              </a:rPr>
              <a:t>Dove si trova la maggior parte</a:t>
            </a:r>
          </a:p>
          <a:p>
            <a:pPr algn="l"/>
            <a:r>
              <a:rPr b="0" i="0" sz="1100">
                <a:solidFill>
                  <a:srgbClr val="8A8175"/>
                </a:solidFill>
                <a:latin typeface="Arial"/>
              </a:rPr>
              <a:t>delle organizzazioni italiane oggi.</a:t>
            </a:r>
          </a:p>
        </p:txBody>
      </p:sp>
      <p:sp>
        <p:nvSpPr>
          <p:cNvPr id="9" name="TextBox 8"/>
          <p:cNvSpPr txBox="1"/>
          <p:nvPr/>
        </p:nvSpPr>
        <p:spPr>
          <a:xfrm>
            <a:off x="8412480" y="5760720"/>
            <a:ext cx="1463040" cy="1028700"/>
          </a:xfrm>
          <a:prstGeom prst="rect">
            <a:avLst/>
          </a:prstGeom>
          <a:noFill/>
        </p:spPr>
        <p:txBody>
          <a:bodyPr wrap="square">
            <a:spAutoFit/>
          </a:bodyPr>
          <a:lstStyle/>
          <a:p>
            <a:pPr algn="ctr"/>
            <a:r>
              <a:rPr b="1" i="0" sz="3600">
                <a:solidFill>
                  <a:srgbClr val="B8523A"/>
                </a:solidFill>
                <a:latin typeface="Arial"/>
              </a:rPr>
              <a:t>→</a:t>
            </a:r>
          </a:p>
        </p:txBody>
      </p:sp>
      <p:sp>
        <p:nvSpPr>
          <p:cNvPr id="10" name="Rectangle 9"/>
          <p:cNvSpPr/>
          <p:nvPr/>
        </p:nvSpPr>
        <p:spPr>
          <a:xfrm>
            <a:off x="9692640" y="3806190"/>
            <a:ext cx="7315200" cy="534924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0" y="4011930"/>
            <a:ext cx="6949440" cy="617220"/>
          </a:xfrm>
          <a:prstGeom prst="rect">
            <a:avLst/>
          </a:prstGeom>
          <a:noFill/>
        </p:spPr>
        <p:txBody>
          <a:bodyPr wrap="square">
            <a:spAutoFit/>
          </a:bodyPr>
          <a:lstStyle/>
          <a:p>
            <a:pPr algn="l"/>
            <a:r>
              <a:rPr b="1" i="0" sz="1200">
                <a:solidFill>
                  <a:srgbClr val="B8523A"/>
                </a:solidFill>
                <a:latin typeface="Courier New"/>
              </a:rPr>
              <a:t>STATO GENERATIVO</a:t>
            </a:r>
          </a:p>
        </p:txBody>
      </p:sp>
      <p:sp>
        <p:nvSpPr>
          <p:cNvPr id="12" name="TextBox 11"/>
          <p:cNvSpPr txBox="1"/>
          <p:nvPr/>
        </p:nvSpPr>
        <p:spPr>
          <a:xfrm>
            <a:off x="9875520" y="4732020"/>
            <a:ext cx="6949440" cy="4114800"/>
          </a:xfrm>
          <a:prstGeom prst="rect">
            <a:avLst/>
          </a:prstGeom>
          <a:noFill/>
        </p:spPr>
        <p:txBody>
          <a:bodyPr wrap="square">
            <a:spAutoFit/>
          </a:bodyPr>
          <a:lstStyle/>
          <a:p>
            <a:pPr algn="l"/>
            <a:r>
              <a:rPr b="1" i="0" sz="1400">
                <a:solidFill>
                  <a:srgbClr val="F3EDE1"/>
                </a:solidFill>
                <a:latin typeface="Arial"/>
              </a:rPr>
              <a:t>Il listening entra prima.</a:t>
            </a:r>
          </a:p>
          <a:p>
            <a:pPr algn="l"/>
            <a:r>
              <a:t/>
            </a:r>
          </a:p>
          <a:p>
            <a:pPr algn="l"/>
            <a:r>
              <a:rPr b="0" i="0" sz="1200">
                <a:solidFill>
                  <a:srgbClr val="F3EDE1"/>
                </a:solidFill>
                <a:latin typeface="Arial"/>
              </a:rPr>
              <a:t>Prima del brief — per formulare ipotesi.</a:t>
            </a:r>
          </a:p>
          <a:p>
            <a:pPr algn="l"/>
            <a:r>
              <a:rPr b="0" i="0" sz="1200">
                <a:solidFill>
                  <a:srgbClr val="F3EDE1"/>
                </a:solidFill>
                <a:latin typeface="Arial"/>
              </a:rPr>
              <a:t>Prima del lancio — per intercettare barriere.</a:t>
            </a:r>
          </a:p>
          <a:p>
            <a:pPr algn="l"/>
            <a:r>
              <a:rPr b="0" i="0" sz="1200">
                <a:solidFill>
                  <a:srgbClr val="F3EDE1"/>
                </a:solidFill>
                <a:latin typeface="Arial"/>
              </a:rPr>
              <a:t>Prima della crisi — per leggere i segnali deboli.</a:t>
            </a:r>
          </a:p>
          <a:p>
            <a:pPr algn="l"/>
            <a:r>
              <a:rPr b="0" i="0" sz="1200">
                <a:solidFill>
                  <a:srgbClr val="F3EDE1"/>
                </a:solidFill>
                <a:latin typeface="Arial"/>
              </a:rPr>
              <a:t>Il dato orienta — non commenta.</a:t>
            </a:r>
          </a:p>
          <a:p>
            <a:pPr algn="l"/>
            <a:r>
              <a:t/>
            </a:r>
          </a:p>
          <a:p>
            <a:pPr algn="l"/>
            <a:r>
              <a:rPr b="0" i="0" sz="1100">
                <a:solidFill>
                  <a:srgbClr val="B8523A"/>
                </a:solidFill>
                <a:latin typeface="Arial"/>
              </a:rPr>
              <a:t>Dove dobbiamo andare.</a:t>
            </a:r>
          </a:p>
        </p:txBody>
      </p:sp>
      <p:sp>
        <p:nvSpPr>
          <p:cNvPr id="13" name="Rectangle 12"/>
          <p:cNvSpPr/>
          <p:nvPr/>
        </p:nvSpPr>
        <p:spPr>
          <a:xfrm>
            <a:off x="1097280" y="9361170"/>
            <a:ext cx="16093440" cy="72009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63040" y="9464040"/>
            <a:ext cx="15361920" cy="617220"/>
          </a:xfrm>
          <a:prstGeom prst="rect">
            <a:avLst/>
          </a:prstGeom>
          <a:noFill/>
        </p:spPr>
        <p:txBody>
          <a:bodyPr wrap="square">
            <a:spAutoFit/>
          </a:bodyPr>
          <a:lstStyle/>
          <a:p>
            <a:pPr algn="ctr"/>
            <a:r>
              <a:rPr b="0" i="1" sz="1100">
                <a:solidFill>
                  <a:srgbClr val="3D3833"/>
                </a:solidFill>
                <a:latin typeface="Arial"/>
              </a:rPr>
              <a:t>"Il social listening viene spesso invitato alla riunione in cui si valida una strategia gia decisa — non a quella in cui la strategia viene costruita."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514350"/>
            <a:ext cx="16733520" cy="320040"/>
          </a:xfrm>
          <a:prstGeom prst="rect">
            <a:avLst/>
          </a:prstGeom>
          <a:noFill/>
        </p:spPr>
        <p:txBody>
          <a:bodyPr wrap="square">
            <a:spAutoFit/>
          </a:bodyPr>
          <a:lstStyle/>
          <a:p>
            <a:pPr algn="l"/>
            <a:r>
              <a:rPr b="1" i="0" sz="1000">
                <a:solidFill>
                  <a:srgbClr val="B8523A"/>
                </a:solidFill>
                <a:latin typeface="Courier New"/>
              </a:rPr>
              <a:t>●  CAPITOLO 5 — DAL DATO ALL'INSIGHT</a:t>
            </a:r>
          </a:p>
        </p:txBody>
      </p:sp>
      <p:sp>
        <p:nvSpPr>
          <p:cNvPr id="3" name="TextBox 2"/>
          <p:cNvSpPr txBox="1"/>
          <p:nvPr/>
        </p:nvSpPr>
        <p:spPr>
          <a:xfrm>
            <a:off x="1097280" y="1131570"/>
            <a:ext cx="16093440" cy="1028700"/>
          </a:xfrm>
          <a:prstGeom prst="rect">
            <a:avLst/>
          </a:prstGeom>
          <a:noFill/>
        </p:spPr>
        <p:txBody>
          <a:bodyPr wrap="square">
            <a:spAutoFit/>
          </a:bodyPr>
          <a:lstStyle/>
          <a:p>
            <a:pPr algn="l"/>
            <a:r>
              <a:rPr b="1" i="0" sz="2600">
                <a:solidFill>
                  <a:srgbClr val="3D3833"/>
                </a:solidFill>
                <a:latin typeface="Georgia"/>
              </a:rPr>
              <a:t>La differenza non e nel dato. E nella domanda.</a:t>
            </a:r>
          </a:p>
        </p:txBody>
      </p:sp>
      <p:cxnSp>
        <p:nvCxnSpPr>
          <p:cNvPr id="4" name="Connector 3"/>
          <p:cNvCxnSpPr/>
          <p:nvPr/>
        </p:nvCxnSpPr>
        <p:spPr>
          <a:xfrm>
            <a:off x="1097280" y="236601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097280" y="2674620"/>
            <a:ext cx="7680960" cy="61722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674620"/>
            <a:ext cx="7680960" cy="617220"/>
          </a:xfrm>
          <a:prstGeom prst="rect">
            <a:avLst/>
          </a:prstGeom>
          <a:noFill/>
        </p:spPr>
        <p:txBody>
          <a:bodyPr wrap="square">
            <a:spAutoFit/>
          </a:bodyPr>
          <a:lstStyle/>
          <a:p>
            <a:pPr algn="ctr"/>
            <a:r>
              <a:rPr b="1" i="0" sz="1100">
                <a:solidFill>
                  <a:srgbClr val="8A8175"/>
                </a:solidFill>
                <a:latin typeface="Courier New"/>
              </a:rPr>
              <a:t>REPORT — descrive</a:t>
            </a:r>
          </a:p>
        </p:txBody>
      </p:sp>
      <p:sp>
        <p:nvSpPr>
          <p:cNvPr id="7" name="TextBox 6"/>
          <p:cNvSpPr txBox="1"/>
          <p:nvPr/>
        </p:nvSpPr>
        <p:spPr>
          <a:xfrm>
            <a:off x="1097280" y="3394710"/>
            <a:ext cx="7680960" cy="1645920"/>
          </a:xfrm>
          <a:prstGeom prst="rect">
            <a:avLst/>
          </a:prstGeom>
          <a:noFill/>
        </p:spPr>
        <p:txBody>
          <a:bodyPr wrap="square">
            <a:spAutoFit/>
          </a:bodyPr>
          <a:lstStyle/>
          <a:p>
            <a:pPr algn="l"/>
            <a:r>
              <a:rPr b="1" i="0" sz="1200">
                <a:solidFill>
                  <a:srgbClr val="3D3833"/>
                </a:solidFill>
                <a:latin typeface="Arial"/>
              </a:rPr>
              <a:t>"Le menzioni sono cresciute del +40% nell'ultimo mese."</a:t>
            </a:r>
          </a:p>
          <a:p>
            <a:pPr algn="l"/>
            <a:r>
              <a:rPr b="0" i="0" sz="1100">
                <a:solidFill>
                  <a:srgbClr val="8A8175"/>
                </a:solidFill>
                <a:latin typeface="Arial"/>
              </a:rPr>
              <a:t>Il report allarma. Genera reazione, non orientamento.</a:t>
            </a:r>
          </a:p>
          <a:p>
            <a:pPr algn="l"/>
            <a:r>
              <a:rPr b="0" i="0" sz="1100">
                <a:solidFill>
                  <a:srgbClr val="8A8175"/>
                </a:solidFill>
                <a:latin typeface="Arial"/>
              </a:rPr>
              <a:t>Arriva dopo che le decisioni sono gia state prese.</a:t>
            </a:r>
          </a:p>
        </p:txBody>
      </p:sp>
      <p:sp>
        <p:nvSpPr>
          <p:cNvPr id="8" name="Rectangle 7"/>
          <p:cNvSpPr/>
          <p:nvPr/>
        </p:nvSpPr>
        <p:spPr>
          <a:xfrm>
            <a:off x="9509760" y="2674620"/>
            <a:ext cx="7680960" cy="61722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0" y="2674620"/>
            <a:ext cx="7680960" cy="617220"/>
          </a:xfrm>
          <a:prstGeom prst="rect">
            <a:avLst/>
          </a:prstGeom>
          <a:noFill/>
        </p:spPr>
        <p:txBody>
          <a:bodyPr wrap="square">
            <a:spAutoFit/>
          </a:bodyPr>
          <a:lstStyle/>
          <a:p>
            <a:pPr algn="ctr"/>
            <a:r>
              <a:rPr b="1" i="0" sz="1100">
                <a:solidFill>
                  <a:srgbClr val="B8523A"/>
                </a:solidFill>
                <a:latin typeface="Courier New"/>
              </a:rPr>
              <a:t>INSIGHT — interpreta</a:t>
            </a:r>
          </a:p>
        </p:txBody>
      </p:sp>
      <p:sp>
        <p:nvSpPr>
          <p:cNvPr id="10" name="TextBox 9"/>
          <p:cNvSpPr txBox="1"/>
          <p:nvPr/>
        </p:nvSpPr>
        <p:spPr>
          <a:xfrm>
            <a:off x="9509760" y="3394710"/>
            <a:ext cx="7680960" cy="1645920"/>
          </a:xfrm>
          <a:prstGeom prst="rect">
            <a:avLst/>
          </a:prstGeom>
          <a:noFill/>
        </p:spPr>
        <p:txBody>
          <a:bodyPr wrap="square">
            <a:spAutoFit/>
          </a:bodyPr>
          <a:lstStyle/>
          <a:p>
            <a:pPr algn="l"/>
            <a:r>
              <a:rPr b="1" i="0" sz="1200">
                <a:solidFill>
                  <a:srgbClr val="F3EDE1"/>
                </a:solidFill>
                <a:latin typeface="Arial"/>
              </a:rPr>
              <a:t>"Il brand viene associato a una tensione emergente sul servizio clienti che sta scalando — se non si interviene entro due settimane, diventa crisi."</a:t>
            </a:r>
          </a:p>
          <a:p>
            <a:pPr algn="l"/>
            <a:r>
              <a:rPr b="0" i="0" sz="1100">
                <a:solidFill>
                  <a:srgbClr val="8A8175"/>
                </a:solidFill>
                <a:latin typeface="Arial"/>
              </a:rPr>
              <a:t>L'insight orienta. Abilita una decisione precisa nel momento giusto.</a:t>
            </a:r>
          </a:p>
        </p:txBody>
      </p:sp>
      <p:cxnSp>
        <p:nvCxnSpPr>
          <p:cNvPr id="11" name="Connector 10"/>
          <p:cNvCxnSpPr/>
          <p:nvPr/>
        </p:nvCxnSpPr>
        <p:spPr>
          <a:xfrm>
            <a:off x="1097280" y="5246370"/>
            <a:ext cx="16093440" cy="0"/>
          </a:xfrm>
          <a:prstGeom prst="line">
            <a:avLst/>
          </a:prstGeom>
          <a:ln w="19050">
            <a:solidFill>
              <a:srgbClr val="EBE4D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97280" y="5452110"/>
            <a:ext cx="16093440" cy="514350"/>
          </a:xfrm>
          <a:prstGeom prst="rect">
            <a:avLst/>
          </a:prstGeom>
          <a:noFill/>
        </p:spPr>
        <p:txBody>
          <a:bodyPr wrap="square">
            <a:spAutoFit/>
          </a:bodyPr>
          <a:lstStyle/>
          <a:p>
            <a:pPr algn="l"/>
            <a:r>
              <a:rPr b="1" i="0" sz="1000">
                <a:solidFill>
                  <a:srgbClr val="B8523A"/>
                </a:solidFill>
                <a:latin typeface="Courier New"/>
              </a:rPr>
              <a:t>LO STANDARD CHE FINORA NON ESISTEVA — TASSONOMIA A TRE CERCHI</a:t>
            </a:r>
          </a:p>
        </p:txBody>
      </p:sp>
      <p:sp>
        <p:nvSpPr>
          <p:cNvPr id="13" name="TextBox 12"/>
          <p:cNvSpPr txBox="1"/>
          <p:nvPr/>
        </p:nvSpPr>
        <p:spPr>
          <a:xfrm>
            <a:off x="1097280" y="5966460"/>
            <a:ext cx="16093440" cy="514350"/>
          </a:xfrm>
          <a:prstGeom prst="rect">
            <a:avLst/>
          </a:prstGeom>
          <a:noFill/>
        </p:spPr>
        <p:txBody>
          <a:bodyPr wrap="square">
            <a:spAutoFit/>
          </a:bodyPr>
          <a:lstStyle/>
          <a:p>
            <a:pPr algn="l"/>
            <a:r>
              <a:rPr b="0" i="0" sz="1100">
                <a:solidFill>
                  <a:srgbClr val="8A8175"/>
                </a:solidFill>
                <a:latin typeface="Arial"/>
              </a:rPr>
              <a:t>Non e solo un metodo di analisi — e uno strumento per difendere le scelte metodologiche di fronte a chi non fa questo lavoro.</a:t>
            </a:r>
          </a:p>
        </p:txBody>
      </p:sp>
      <p:sp>
        <p:nvSpPr>
          <p:cNvPr id="14" name="Rectangle 13"/>
          <p:cNvSpPr/>
          <p:nvPr/>
        </p:nvSpPr>
        <p:spPr>
          <a:xfrm>
            <a:off x="1097280" y="6583680"/>
            <a:ext cx="5120640" cy="30861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6686550"/>
            <a:ext cx="4754880" cy="514350"/>
          </a:xfrm>
          <a:prstGeom prst="rect">
            <a:avLst/>
          </a:prstGeom>
          <a:noFill/>
        </p:spPr>
        <p:txBody>
          <a:bodyPr wrap="square">
            <a:spAutoFit/>
          </a:bodyPr>
          <a:lstStyle/>
          <a:p>
            <a:pPr algn="l"/>
            <a:r>
              <a:rPr b="1" i="0" sz="900">
                <a:solidFill>
                  <a:srgbClr val="B8523A"/>
                </a:solidFill>
                <a:latin typeface="Courier New"/>
              </a:rPr>
              <a:t>Cerchio 1</a:t>
            </a:r>
          </a:p>
        </p:txBody>
      </p:sp>
      <p:sp>
        <p:nvSpPr>
          <p:cNvPr id="16" name="TextBox 15"/>
          <p:cNvSpPr txBox="1"/>
          <p:nvPr/>
        </p:nvSpPr>
        <p:spPr>
          <a:xfrm>
            <a:off x="1234440" y="7200900"/>
            <a:ext cx="4754880" cy="720090"/>
          </a:xfrm>
          <a:prstGeom prst="rect">
            <a:avLst/>
          </a:prstGeom>
          <a:noFill/>
        </p:spPr>
        <p:txBody>
          <a:bodyPr wrap="square">
            <a:spAutoFit/>
          </a:bodyPr>
          <a:lstStyle/>
          <a:p>
            <a:pPr algn="l"/>
            <a:r>
              <a:rPr b="1" i="0" sz="1200">
                <a:solidFill>
                  <a:srgbClr val="3D3833"/>
                </a:solidFill>
                <a:latin typeface="Arial"/>
              </a:rPr>
              <a:t>CONTESTO CULTURALE</a:t>
            </a:r>
          </a:p>
        </p:txBody>
      </p:sp>
      <p:sp>
        <p:nvSpPr>
          <p:cNvPr id="17" name="TextBox 16"/>
          <p:cNvSpPr txBox="1"/>
          <p:nvPr/>
        </p:nvSpPr>
        <p:spPr>
          <a:xfrm>
            <a:off x="1234440" y="7920990"/>
            <a:ext cx="4754880" cy="925830"/>
          </a:xfrm>
          <a:prstGeom prst="rect">
            <a:avLst/>
          </a:prstGeom>
          <a:noFill/>
        </p:spPr>
        <p:txBody>
          <a:bodyPr wrap="square">
            <a:spAutoFit/>
          </a:bodyPr>
          <a:lstStyle/>
          <a:p>
            <a:pPr algn="l"/>
            <a:r>
              <a:rPr b="0" i="0" sz="1000">
                <a:solidFill>
                  <a:srgbClr val="8A8175"/>
                </a:solidFill>
                <a:latin typeface="Arial"/>
              </a:rPr>
              <a:t>Pop culture, economia, politica, generazioni, tensioni sociali, linguaggi emergenti.</a:t>
            </a:r>
          </a:p>
        </p:txBody>
      </p:sp>
      <p:sp>
        <p:nvSpPr>
          <p:cNvPr id="18" name="TextBox 17"/>
          <p:cNvSpPr txBox="1"/>
          <p:nvPr/>
        </p:nvSpPr>
        <p:spPr>
          <a:xfrm>
            <a:off x="1234440" y="8846820"/>
            <a:ext cx="4754880" cy="720090"/>
          </a:xfrm>
          <a:prstGeom prst="rect">
            <a:avLst/>
          </a:prstGeom>
          <a:noFill/>
        </p:spPr>
        <p:txBody>
          <a:bodyPr wrap="square">
            <a:spAutoFit/>
          </a:bodyPr>
          <a:lstStyle/>
          <a:p>
            <a:pPr algn="l"/>
            <a:r>
              <a:rPr b="0" i="1" sz="1000">
                <a:solidFill>
                  <a:srgbClr val="3D3833"/>
                </a:solidFill>
                <a:latin typeface="Arial"/>
              </a:rPr>
              <a:t>Perche il mercato si muove in questo momento?</a:t>
            </a:r>
          </a:p>
        </p:txBody>
      </p:sp>
      <p:sp>
        <p:nvSpPr>
          <p:cNvPr id="19" name="Rectangle 18"/>
          <p:cNvSpPr/>
          <p:nvPr/>
        </p:nvSpPr>
        <p:spPr>
          <a:xfrm>
            <a:off x="6766560" y="6583680"/>
            <a:ext cx="5120640" cy="30861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03720" y="6686550"/>
            <a:ext cx="4754880" cy="514350"/>
          </a:xfrm>
          <a:prstGeom prst="rect">
            <a:avLst/>
          </a:prstGeom>
          <a:noFill/>
        </p:spPr>
        <p:txBody>
          <a:bodyPr wrap="square">
            <a:spAutoFit/>
          </a:bodyPr>
          <a:lstStyle/>
          <a:p>
            <a:pPr algn="l"/>
            <a:r>
              <a:rPr b="1" i="0" sz="900">
                <a:solidFill>
                  <a:srgbClr val="B8523A"/>
                </a:solidFill>
                <a:latin typeface="Courier New"/>
              </a:rPr>
              <a:t>Cerchio 2</a:t>
            </a:r>
          </a:p>
        </p:txBody>
      </p:sp>
      <p:sp>
        <p:nvSpPr>
          <p:cNvPr id="21" name="TextBox 20"/>
          <p:cNvSpPr txBox="1"/>
          <p:nvPr/>
        </p:nvSpPr>
        <p:spPr>
          <a:xfrm>
            <a:off x="6903720" y="7200900"/>
            <a:ext cx="4754880" cy="720090"/>
          </a:xfrm>
          <a:prstGeom prst="rect">
            <a:avLst/>
          </a:prstGeom>
          <a:noFill/>
        </p:spPr>
        <p:txBody>
          <a:bodyPr wrap="square">
            <a:spAutoFit/>
          </a:bodyPr>
          <a:lstStyle/>
          <a:p>
            <a:pPr algn="l"/>
            <a:r>
              <a:rPr b="1" i="0" sz="1200">
                <a:solidFill>
                  <a:srgbClr val="3D3833"/>
                </a:solidFill>
                <a:latin typeface="Arial"/>
              </a:rPr>
              <a:t>INDUSTRY &amp; CATEGORY</a:t>
            </a:r>
          </a:p>
        </p:txBody>
      </p:sp>
      <p:sp>
        <p:nvSpPr>
          <p:cNvPr id="22" name="TextBox 21"/>
          <p:cNvSpPr txBox="1"/>
          <p:nvPr/>
        </p:nvSpPr>
        <p:spPr>
          <a:xfrm>
            <a:off x="6903720" y="7920990"/>
            <a:ext cx="4754880" cy="925830"/>
          </a:xfrm>
          <a:prstGeom prst="rect">
            <a:avLst/>
          </a:prstGeom>
          <a:noFill/>
        </p:spPr>
        <p:txBody>
          <a:bodyPr wrap="square">
            <a:spAutoFit/>
          </a:bodyPr>
          <a:lstStyle/>
          <a:p>
            <a:pPr algn="l"/>
            <a:r>
              <a:rPr b="0" i="0" sz="1000">
                <a:solidFill>
                  <a:srgbClr val="8A8175"/>
                </a:solidFill>
                <a:latin typeface="Arial"/>
              </a:rPr>
              <a:t>Competitor, occasioni d'uso, barriere, driver, posizionamento di category.</a:t>
            </a:r>
          </a:p>
        </p:txBody>
      </p:sp>
      <p:sp>
        <p:nvSpPr>
          <p:cNvPr id="23" name="TextBox 22"/>
          <p:cNvSpPr txBox="1"/>
          <p:nvPr/>
        </p:nvSpPr>
        <p:spPr>
          <a:xfrm>
            <a:off x="6903720" y="8846820"/>
            <a:ext cx="4754880" cy="720090"/>
          </a:xfrm>
          <a:prstGeom prst="rect">
            <a:avLst/>
          </a:prstGeom>
          <a:noFill/>
        </p:spPr>
        <p:txBody>
          <a:bodyPr wrap="square">
            <a:spAutoFit/>
          </a:bodyPr>
          <a:lstStyle/>
          <a:p>
            <a:pPr algn="l"/>
            <a:r>
              <a:rPr b="0" i="1" sz="1000">
                <a:solidFill>
                  <a:srgbClr val="3D3833"/>
                </a:solidFill>
                <a:latin typeface="Arial"/>
              </a:rPr>
              <a:t>Come si comporta il mercato in questa categoria?</a:t>
            </a:r>
          </a:p>
        </p:txBody>
      </p:sp>
      <p:sp>
        <p:nvSpPr>
          <p:cNvPr id="24" name="Rectangle 23"/>
          <p:cNvSpPr/>
          <p:nvPr/>
        </p:nvSpPr>
        <p:spPr>
          <a:xfrm>
            <a:off x="12435840" y="6583680"/>
            <a:ext cx="5120640" cy="30861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573000" y="6686550"/>
            <a:ext cx="4754880" cy="514350"/>
          </a:xfrm>
          <a:prstGeom prst="rect">
            <a:avLst/>
          </a:prstGeom>
          <a:noFill/>
        </p:spPr>
        <p:txBody>
          <a:bodyPr wrap="square">
            <a:spAutoFit/>
          </a:bodyPr>
          <a:lstStyle/>
          <a:p>
            <a:pPr algn="l"/>
            <a:r>
              <a:rPr b="1" i="0" sz="900">
                <a:solidFill>
                  <a:srgbClr val="B8523A"/>
                </a:solidFill>
                <a:latin typeface="Courier New"/>
              </a:rPr>
              <a:t>Cerchio 3</a:t>
            </a:r>
          </a:p>
        </p:txBody>
      </p:sp>
      <p:sp>
        <p:nvSpPr>
          <p:cNvPr id="26" name="TextBox 25"/>
          <p:cNvSpPr txBox="1"/>
          <p:nvPr/>
        </p:nvSpPr>
        <p:spPr>
          <a:xfrm>
            <a:off x="12573000" y="7200900"/>
            <a:ext cx="4754880" cy="720090"/>
          </a:xfrm>
          <a:prstGeom prst="rect">
            <a:avLst/>
          </a:prstGeom>
          <a:noFill/>
        </p:spPr>
        <p:txBody>
          <a:bodyPr wrap="square">
            <a:spAutoFit/>
          </a:bodyPr>
          <a:lstStyle/>
          <a:p>
            <a:pPr algn="l"/>
            <a:r>
              <a:rPr b="1" i="0" sz="1200">
                <a:solidFill>
                  <a:srgbClr val="3D3833"/>
                </a:solidFill>
                <a:latin typeface="Arial"/>
              </a:rPr>
              <a:t>BRAND</a:t>
            </a:r>
          </a:p>
        </p:txBody>
      </p:sp>
      <p:sp>
        <p:nvSpPr>
          <p:cNvPr id="27" name="TextBox 26"/>
          <p:cNvSpPr txBox="1"/>
          <p:nvPr/>
        </p:nvSpPr>
        <p:spPr>
          <a:xfrm>
            <a:off x="12573000" y="7920990"/>
            <a:ext cx="4754880" cy="925830"/>
          </a:xfrm>
          <a:prstGeom prst="rect">
            <a:avLst/>
          </a:prstGeom>
          <a:noFill/>
        </p:spPr>
        <p:txBody>
          <a:bodyPr wrap="square">
            <a:spAutoFit/>
          </a:bodyPr>
          <a:lstStyle/>
          <a:p>
            <a:pPr algn="l"/>
            <a:r>
              <a:rPr b="0" i="0" sz="1000">
                <a:solidFill>
                  <a:srgbClr val="8A8175"/>
                </a:solidFill>
                <a:latin typeface="Arial"/>
              </a:rPr>
              <a:t>Menzioni, campagna, customer experience, reputazione, conversazioni spontanee.</a:t>
            </a:r>
          </a:p>
        </p:txBody>
      </p:sp>
      <p:sp>
        <p:nvSpPr>
          <p:cNvPr id="28" name="TextBox 27"/>
          <p:cNvSpPr txBox="1"/>
          <p:nvPr/>
        </p:nvSpPr>
        <p:spPr>
          <a:xfrm>
            <a:off x="12573000" y="8846820"/>
            <a:ext cx="4754880" cy="720090"/>
          </a:xfrm>
          <a:prstGeom prst="rect">
            <a:avLst/>
          </a:prstGeom>
          <a:noFill/>
        </p:spPr>
        <p:txBody>
          <a:bodyPr wrap="square">
            <a:spAutoFit/>
          </a:bodyPr>
          <a:lstStyle/>
          <a:p>
            <a:pPr algn="l"/>
            <a:r>
              <a:rPr b="0" i="1" sz="1000">
                <a:solidFill>
                  <a:srgbClr val="3D3833"/>
                </a:solidFill>
                <a:latin typeface="Arial"/>
              </a:rPr>
              <a:t>Cosa dice il mercato di questo brand?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spAutoFit/>
          </a:bodyPr>
          <a:lstStyle/>
          <a:p>
            <a:pPr algn="l"/>
            <a:r>
              <a:rPr b="1" i="0" sz="1000">
                <a:solidFill>
                  <a:srgbClr val="B8523A"/>
                </a:solidFill>
                <a:latin typeface="Courier New"/>
              </a:rPr>
              <a:t>●  DAL DATO ALL'INSIGHT — I TRE ATTRITI</a:t>
            </a:r>
          </a:p>
        </p:txBody>
      </p:sp>
      <p:sp>
        <p:nvSpPr>
          <p:cNvPr id="3" name="TextBox 2"/>
          <p:cNvSpPr txBox="1"/>
          <p:nvPr/>
        </p:nvSpPr>
        <p:spPr>
          <a:xfrm>
            <a:off x="1097280" y="1337310"/>
            <a:ext cx="16093440" cy="1028700"/>
          </a:xfrm>
          <a:prstGeom prst="rect">
            <a:avLst/>
          </a:prstGeom>
          <a:noFill/>
        </p:spPr>
        <p:txBody>
          <a:bodyPr wrap="square">
            <a:spAutoFit/>
          </a:bodyPr>
          <a:lstStyle/>
          <a:p>
            <a:pPr algn="l"/>
            <a:r>
              <a:rPr b="1" i="0" sz="2800">
                <a:solidFill>
                  <a:srgbClr val="3D3833"/>
                </a:solidFill>
                <a:latin typeface="Georgia"/>
              </a:rPr>
              <a:t>I segnali che nessuna dashboard mostra.</a:t>
            </a:r>
          </a:p>
        </p:txBody>
      </p:sp>
      <p:sp>
        <p:nvSpPr>
          <p:cNvPr id="4" name="TextBox 3"/>
          <p:cNvSpPr txBox="1"/>
          <p:nvPr/>
        </p:nvSpPr>
        <p:spPr>
          <a:xfrm>
            <a:off x="1097280" y="2571750"/>
            <a:ext cx="16093440" cy="617220"/>
          </a:xfrm>
          <a:prstGeom prst="rect">
            <a:avLst/>
          </a:prstGeom>
          <a:noFill/>
        </p:spPr>
        <p:txBody>
          <a:bodyPr wrap="square">
            <a:spAutoFit/>
          </a:bodyPr>
          <a:lstStyle/>
          <a:p>
            <a:pPr algn="l"/>
            <a:r>
              <a:rPr b="0" i="1" sz="1200">
                <a:solidFill>
                  <a:srgbClr val="8A8175"/>
                </a:solidFill>
                <a:latin typeface="Arial"/>
              </a:rPr>
              <a:t>Formalizzati dopo centinaia di dataset. In ogni nuovo progetto li cerco per primi — sono la firma di un problema reale.</a:t>
            </a:r>
          </a:p>
        </p:txBody>
      </p:sp>
      <p:cxnSp>
        <p:nvCxnSpPr>
          <p:cNvPr id="5" name="Connector 4"/>
          <p:cNvCxnSpPr/>
          <p:nvPr/>
        </p:nvCxnSpPr>
        <p:spPr>
          <a:xfrm>
            <a:off x="1097280" y="339471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806190"/>
            <a:ext cx="5120640" cy="5863589"/>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4011930"/>
            <a:ext cx="1097280" cy="720090"/>
          </a:xfrm>
          <a:prstGeom prst="rect">
            <a:avLst/>
          </a:prstGeom>
          <a:noFill/>
        </p:spPr>
        <p:txBody>
          <a:bodyPr wrap="square">
            <a:spAutoFit/>
          </a:bodyPr>
          <a:lstStyle/>
          <a:p>
            <a:pPr algn="l"/>
            <a:r>
              <a:rPr b="1" i="0" sz="1400">
                <a:solidFill>
                  <a:srgbClr val="B8523A"/>
                </a:solidFill>
                <a:latin typeface="Georgia"/>
              </a:rPr>
              <a:t>01</a:t>
            </a:r>
          </a:p>
        </p:txBody>
      </p:sp>
      <p:sp>
        <p:nvSpPr>
          <p:cNvPr id="8" name="TextBox 7"/>
          <p:cNvSpPr txBox="1"/>
          <p:nvPr/>
        </p:nvSpPr>
        <p:spPr>
          <a:xfrm>
            <a:off x="1280160" y="4834890"/>
            <a:ext cx="4572000" cy="822960"/>
          </a:xfrm>
          <a:prstGeom prst="rect">
            <a:avLst/>
          </a:prstGeom>
          <a:noFill/>
        </p:spPr>
        <p:txBody>
          <a:bodyPr wrap="square">
            <a:spAutoFit/>
          </a:bodyPr>
          <a:lstStyle/>
          <a:p>
            <a:pPr algn="l"/>
            <a:r>
              <a:rPr b="1" i="0" sz="1200">
                <a:solidFill>
                  <a:srgbClr val="3D3833"/>
                </a:solidFill>
                <a:latin typeface="Arial"/>
              </a:rPr>
              <a:t>INTENTION–INTERFACE GAP</a:t>
            </a:r>
          </a:p>
        </p:txBody>
      </p:sp>
      <p:sp>
        <p:nvSpPr>
          <p:cNvPr id="9" name="TextBox 8"/>
          <p:cNvSpPr txBox="1"/>
          <p:nvPr/>
        </p:nvSpPr>
        <p:spPr>
          <a:xfrm>
            <a:off x="1280160" y="5657850"/>
            <a:ext cx="4572000" cy="720090"/>
          </a:xfrm>
          <a:prstGeom prst="rect">
            <a:avLst/>
          </a:prstGeom>
          <a:noFill/>
        </p:spPr>
        <p:txBody>
          <a:bodyPr wrap="square">
            <a:spAutoFit/>
          </a:bodyPr>
          <a:lstStyle/>
          <a:p>
            <a:pPr algn="l"/>
            <a:r>
              <a:rPr b="0" i="1" sz="1000">
                <a:solidFill>
                  <a:srgbClr val="B8523A"/>
                </a:solidFill>
                <a:latin typeface="Arial"/>
              </a:rPr>
              <a:t>Dove: Q&amp;A, recensioni, customer care, forum di supporto.</a:t>
            </a:r>
          </a:p>
        </p:txBody>
      </p:sp>
      <p:sp>
        <p:nvSpPr>
          <p:cNvPr id="10" name="TextBox 9"/>
          <p:cNvSpPr txBox="1"/>
          <p:nvPr/>
        </p:nvSpPr>
        <p:spPr>
          <a:xfrm>
            <a:off x="1280160" y="6377940"/>
            <a:ext cx="4572000" cy="1440180"/>
          </a:xfrm>
          <a:prstGeom prst="rect">
            <a:avLst/>
          </a:prstGeom>
          <a:noFill/>
        </p:spPr>
        <p:txBody>
          <a:bodyPr wrap="square">
            <a:spAutoFit/>
          </a:bodyPr>
          <a:lstStyle/>
          <a:p>
            <a:pPr algn="l"/>
            <a:r>
              <a:rPr b="0" i="0" sz="1000">
                <a:solidFill>
                  <a:srgbClr val="3D3833"/>
                </a:solidFill>
                <a:latin typeface="Arial"/>
              </a:rPr>
              <a:t>L'utente vuole fare qualcosa ma non riesce — trova un ostacolo nell'interfaccia, nel processo, nella value proposition.</a:t>
            </a:r>
          </a:p>
        </p:txBody>
      </p:sp>
      <p:sp>
        <p:nvSpPr>
          <p:cNvPr id="11" name="TextBox 10"/>
          <p:cNvSpPr txBox="1"/>
          <p:nvPr/>
        </p:nvSpPr>
        <p:spPr>
          <a:xfrm>
            <a:off x="1280160" y="7818120"/>
            <a:ext cx="4572000" cy="1645920"/>
          </a:xfrm>
          <a:prstGeom prst="rect">
            <a:avLst/>
          </a:prstGeom>
          <a:noFill/>
        </p:spPr>
        <p:txBody>
          <a:bodyPr wrap="square">
            <a:spAutoFit/>
          </a:bodyPr>
          <a:lstStyle/>
          <a:p>
            <a:pPr algn="l"/>
            <a:r>
              <a:rPr b="0" i="1" sz="1000">
                <a:solidFill>
                  <a:srgbClr val="8A8175"/>
                </a:solidFill>
                <a:latin typeface="Arial"/>
              </a:rPr>
              <a:t>Segnale: frustrazione ricorrente su un punto specifico del journey. Indica dove il prodotto perde l'utente prima della conversione.</a:t>
            </a:r>
          </a:p>
        </p:txBody>
      </p:sp>
      <p:sp>
        <p:nvSpPr>
          <p:cNvPr id="12" name="Rectangle 11"/>
          <p:cNvSpPr/>
          <p:nvPr/>
        </p:nvSpPr>
        <p:spPr>
          <a:xfrm>
            <a:off x="6766560" y="3806190"/>
            <a:ext cx="5120640" cy="5863589"/>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4011930"/>
            <a:ext cx="1097280" cy="720090"/>
          </a:xfrm>
          <a:prstGeom prst="rect">
            <a:avLst/>
          </a:prstGeom>
          <a:noFill/>
        </p:spPr>
        <p:txBody>
          <a:bodyPr wrap="square">
            <a:spAutoFit/>
          </a:bodyPr>
          <a:lstStyle/>
          <a:p>
            <a:pPr algn="l"/>
            <a:r>
              <a:rPr b="1" i="0" sz="1400">
                <a:solidFill>
                  <a:srgbClr val="B8523A"/>
                </a:solidFill>
                <a:latin typeface="Georgia"/>
              </a:rPr>
              <a:t>02</a:t>
            </a:r>
          </a:p>
        </p:txBody>
      </p:sp>
      <p:sp>
        <p:nvSpPr>
          <p:cNvPr id="14" name="TextBox 13"/>
          <p:cNvSpPr txBox="1"/>
          <p:nvPr/>
        </p:nvSpPr>
        <p:spPr>
          <a:xfrm>
            <a:off x="6949440" y="4834890"/>
            <a:ext cx="4572000" cy="822960"/>
          </a:xfrm>
          <a:prstGeom prst="rect">
            <a:avLst/>
          </a:prstGeom>
          <a:noFill/>
        </p:spPr>
        <p:txBody>
          <a:bodyPr wrap="square">
            <a:spAutoFit/>
          </a:bodyPr>
          <a:lstStyle/>
          <a:p>
            <a:pPr algn="l"/>
            <a:r>
              <a:rPr b="1" i="0" sz="1200">
                <a:solidFill>
                  <a:srgbClr val="3D3833"/>
                </a:solidFill>
                <a:latin typeface="Arial"/>
              </a:rPr>
              <a:t>TRUST GAP</a:t>
            </a:r>
          </a:p>
        </p:txBody>
      </p:sp>
      <p:sp>
        <p:nvSpPr>
          <p:cNvPr id="15" name="TextBox 14"/>
          <p:cNvSpPr txBox="1"/>
          <p:nvPr/>
        </p:nvSpPr>
        <p:spPr>
          <a:xfrm>
            <a:off x="6949440" y="5657850"/>
            <a:ext cx="4572000" cy="720090"/>
          </a:xfrm>
          <a:prstGeom prst="rect">
            <a:avLst/>
          </a:prstGeom>
          <a:noFill/>
        </p:spPr>
        <p:txBody>
          <a:bodyPr wrap="square">
            <a:spAutoFit/>
          </a:bodyPr>
          <a:lstStyle/>
          <a:p>
            <a:pPr algn="l"/>
            <a:r>
              <a:rPr b="0" i="1" sz="1000">
                <a:solidFill>
                  <a:srgbClr val="B8523A"/>
                </a:solidFill>
                <a:latin typeface="Arial"/>
              </a:rPr>
              <a:t>Dove: community di settore, comparatori, review spontanee.</a:t>
            </a:r>
          </a:p>
        </p:txBody>
      </p:sp>
      <p:sp>
        <p:nvSpPr>
          <p:cNvPr id="16" name="TextBox 15"/>
          <p:cNvSpPr txBox="1"/>
          <p:nvPr/>
        </p:nvSpPr>
        <p:spPr>
          <a:xfrm>
            <a:off x="6949440" y="6377940"/>
            <a:ext cx="4572000" cy="1440180"/>
          </a:xfrm>
          <a:prstGeom prst="rect">
            <a:avLst/>
          </a:prstGeom>
          <a:noFill/>
        </p:spPr>
        <p:txBody>
          <a:bodyPr wrap="square">
            <a:spAutoFit/>
          </a:bodyPr>
          <a:lstStyle/>
          <a:p>
            <a:pPr algn="l"/>
            <a:r>
              <a:rPr b="0" i="0" sz="1000">
                <a:solidFill>
                  <a:srgbClr val="3D3833"/>
                </a:solidFill>
                <a:latin typeface="Arial"/>
              </a:rPr>
              <a:t>L'utente esita a fidarsi — del brand, della promessa, del prezzo, della trasparenza. Arriva prima che la crisi diventi visibile.</a:t>
            </a:r>
          </a:p>
        </p:txBody>
      </p:sp>
      <p:sp>
        <p:nvSpPr>
          <p:cNvPr id="17" name="TextBox 16"/>
          <p:cNvSpPr txBox="1"/>
          <p:nvPr/>
        </p:nvSpPr>
        <p:spPr>
          <a:xfrm>
            <a:off x="6949440" y="7818120"/>
            <a:ext cx="4572000" cy="1645920"/>
          </a:xfrm>
          <a:prstGeom prst="rect">
            <a:avLst/>
          </a:prstGeom>
          <a:noFill/>
        </p:spPr>
        <p:txBody>
          <a:bodyPr wrap="square">
            <a:spAutoFit/>
          </a:bodyPr>
          <a:lstStyle/>
          <a:p>
            <a:pPr algn="l"/>
            <a:r>
              <a:rPr b="0" i="1" sz="1000">
                <a:solidFill>
                  <a:srgbClr val="8A8175"/>
                </a:solidFill>
                <a:latin typeface="Arial"/>
              </a:rPr>
              <a:t>Segnale: esitazione sistematica prima dell'acquisto. Se lo vedi in anticipo, puoi intervenire sulla narrativa prima che diventi problema.</a:t>
            </a:r>
          </a:p>
        </p:txBody>
      </p:sp>
      <p:sp>
        <p:nvSpPr>
          <p:cNvPr id="18" name="Rectangle 17"/>
          <p:cNvSpPr/>
          <p:nvPr/>
        </p:nvSpPr>
        <p:spPr>
          <a:xfrm>
            <a:off x="12435840" y="3806190"/>
            <a:ext cx="5120640" cy="5863589"/>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618720" y="4011930"/>
            <a:ext cx="1097280" cy="720090"/>
          </a:xfrm>
          <a:prstGeom prst="rect">
            <a:avLst/>
          </a:prstGeom>
          <a:noFill/>
        </p:spPr>
        <p:txBody>
          <a:bodyPr wrap="square">
            <a:spAutoFit/>
          </a:bodyPr>
          <a:lstStyle/>
          <a:p>
            <a:pPr algn="l"/>
            <a:r>
              <a:rPr b="1" i="0" sz="1400">
                <a:solidFill>
                  <a:srgbClr val="B8523A"/>
                </a:solidFill>
                <a:latin typeface="Georgia"/>
              </a:rPr>
              <a:t>03</a:t>
            </a:r>
          </a:p>
        </p:txBody>
      </p:sp>
      <p:sp>
        <p:nvSpPr>
          <p:cNvPr id="20" name="TextBox 19"/>
          <p:cNvSpPr txBox="1"/>
          <p:nvPr/>
        </p:nvSpPr>
        <p:spPr>
          <a:xfrm>
            <a:off x="12618720" y="4834890"/>
            <a:ext cx="4572000" cy="822960"/>
          </a:xfrm>
          <a:prstGeom prst="rect">
            <a:avLst/>
          </a:prstGeom>
          <a:noFill/>
        </p:spPr>
        <p:txBody>
          <a:bodyPr wrap="square">
            <a:spAutoFit/>
          </a:bodyPr>
          <a:lstStyle/>
          <a:p>
            <a:pPr algn="l"/>
            <a:r>
              <a:rPr b="1" i="0" sz="1200">
                <a:solidFill>
                  <a:srgbClr val="3D3833"/>
                </a:solidFill>
                <a:latin typeface="Arial"/>
              </a:rPr>
              <a:t>USAGE GAP</a:t>
            </a:r>
          </a:p>
        </p:txBody>
      </p:sp>
      <p:sp>
        <p:nvSpPr>
          <p:cNvPr id="21" name="TextBox 20"/>
          <p:cNvSpPr txBox="1"/>
          <p:nvPr/>
        </p:nvSpPr>
        <p:spPr>
          <a:xfrm>
            <a:off x="12618720" y="5657850"/>
            <a:ext cx="4572000" cy="720090"/>
          </a:xfrm>
          <a:prstGeom prst="rect">
            <a:avLst/>
          </a:prstGeom>
          <a:noFill/>
        </p:spPr>
        <p:txBody>
          <a:bodyPr wrap="square">
            <a:spAutoFit/>
          </a:bodyPr>
          <a:lstStyle/>
          <a:p>
            <a:pPr algn="l"/>
            <a:r>
              <a:rPr b="0" i="1" sz="1000">
                <a:solidFill>
                  <a:srgbClr val="B8523A"/>
                </a:solidFill>
                <a:latin typeface="Arial"/>
              </a:rPr>
              <a:t>Dove: tutorial spontanei, micro-community, Reddit, gruppi chiusi.</a:t>
            </a:r>
          </a:p>
        </p:txBody>
      </p:sp>
      <p:sp>
        <p:nvSpPr>
          <p:cNvPr id="22" name="TextBox 21"/>
          <p:cNvSpPr txBox="1"/>
          <p:nvPr/>
        </p:nvSpPr>
        <p:spPr>
          <a:xfrm>
            <a:off x="12618720" y="6377940"/>
            <a:ext cx="4572000" cy="1440180"/>
          </a:xfrm>
          <a:prstGeom prst="rect">
            <a:avLst/>
          </a:prstGeom>
          <a:noFill/>
        </p:spPr>
        <p:txBody>
          <a:bodyPr wrap="square">
            <a:spAutoFit/>
          </a:bodyPr>
          <a:lstStyle/>
          <a:p>
            <a:pPr algn="l"/>
            <a:r>
              <a:rPr b="0" i="0" sz="1000">
                <a:solidFill>
                  <a:srgbClr val="3D3833"/>
                </a:solidFill>
                <a:latin typeface="Arial"/>
              </a:rPr>
              <a:t>L'utente usa il prodotto in modi non previsti — workaround, rituali, micro-community che reinventano l'esperienza.</a:t>
            </a:r>
          </a:p>
        </p:txBody>
      </p:sp>
      <p:sp>
        <p:nvSpPr>
          <p:cNvPr id="23" name="TextBox 22"/>
          <p:cNvSpPr txBox="1"/>
          <p:nvPr/>
        </p:nvSpPr>
        <p:spPr>
          <a:xfrm>
            <a:off x="12618720" y="7818120"/>
            <a:ext cx="4572000" cy="1645920"/>
          </a:xfrm>
          <a:prstGeom prst="rect">
            <a:avLst/>
          </a:prstGeom>
          <a:noFill/>
        </p:spPr>
        <p:txBody>
          <a:bodyPr wrap="square">
            <a:spAutoFit/>
          </a:bodyPr>
          <a:lstStyle/>
          <a:p>
            <a:pPr algn="l"/>
            <a:r>
              <a:rPr b="0" i="1" sz="1000">
                <a:solidFill>
                  <a:srgbClr val="8A8175"/>
                </a:solidFill>
                <a:latin typeface="Arial"/>
              </a:rPr>
              <a:t>Segnale: usi creativi non previsti. Qui si nascondono le opportunita piu interessanti per roadmap e innovazione di prodotto.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spAutoFit/>
          </a:bodyPr>
          <a:lstStyle/>
          <a:p>
            <a:pPr algn="l"/>
            <a:r>
              <a:rPr b="1" i="0" sz="1000">
                <a:solidFill>
                  <a:srgbClr val="B8523A"/>
                </a:solidFill>
                <a:latin typeface="Courier New"/>
              </a:rPr>
              <a:t>●  CAPITOLO 6 — LE TRE ERE DEL SOCIAL LISTENING</a:t>
            </a:r>
          </a:p>
        </p:txBody>
      </p:sp>
      <p:sp>
        <p:nvSpPr>
          <p:cNvPr id="3" name="TextBox 2"/>
          <p:cNvSpPr txBox="1"/>
          <p:nvPr/>
        </p:nvSpPr>
        <p:spPr>
          <a:xfrm>
            <a:off x="1097280" y="1337310"/>
            <a:ext cx="16093440" cy="1028700"/>
          </a:xfrm>
          <a:prstGeom prst="rect">
            <a:avLst/>
          </a:prstGeom>
          <a:noFill/>
        </p:spPr>
        <p:txBody>
          <a:bodyPr wrap="square">
            <a:spAutoFit/>
          </a:bodyPr>
          <a:lstStyle/>
          <a:p>
            <a:pPr algn="l"/>
            <a:r>
              <a:rPr b="1" i="0" sz="3000">
                <a:solidFill>
                  <a:srgbClr val="3D3833"/>
                </a:solidFill>
                <a:latin typeface="Georgia"/>
              </a:rPr>
              <a:t>Siamo al terzo atto.</a:t>
            </a:r>
          </a:p>
        </p:txBody>
      </p:sp>
      <p:sp>
        <p:nvSpPr>
          <p:cNvPr id="4" name="TextBox 3"/>
          <p:cNvSpPr txBox="1"/>
          <p:nvPr/>
        </p:nvSpPr>
        <p:spPr>
          <a:xfrm>
            <a:off x="1097280" y="2571750"/>
            <a:ext cx="16093440" cy="617220"/>
          </a:xfrm>
          <a:prstGeom prst="rect">
            <a:avLst/>
          </a:prstGeom>
          <a:noFill/>
        </p:spPr>
        <p:txBody>
          <a:bodyPr wrap="square">
            <a:spAutoFit/>
          </a:bodyPr>
          <a:lstStyle/>
          <a:p>
            <a:pPr algn="l"/>
            <a:r>
              <a:rPr b="0" i="0" sz="1200">
                <a:solidFill>
                  <a:srgbClr val="8A8175"/>
                </a:solidFill>
                <a:latin typeface="Arial"/>
              </a:rPr>
              <a:t>Non siamo al punto zero. Il social listening ha attraversato tre ere — e capire dove siamo richiede di vedere le due che vengono prima.</a:t>
            </a:r>
          </a:p>
        </p:txBody>
      </p:sp>
      <p:cxnSp>
        <p:nvCxnSpPr>
          <p:cNvPr id="5" name="Connector 4"/>
          <p:cNvCxnSpPr/>
          <p:nvPr/>
        </p:nvCxnSpPr>
        <p:spPr>
          <a:xfrm>
            <a:off x="1097280" y="339471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806190"/>
            <a:ext cx="5120640" cy="51435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4011930"/>
            <a:ext cx="4754880" cy="514350"/>
          </a:xfrm>
          <a:prstGeom prst="rect">
            <a:avLst/>
          </a:prstGeom>
          <a:noFill/>
        </p:spPr>
        <p:txBody>
          <a:bodyPr wrap="square">
            <a:spAutoFit/>
          </a:bodyPr>
          <a:lstStyle/>
          <a:p>
            <a:pPr algn="l"/>
            <a:r>
              <a:rPr b="1" i="0" sz="1000">
                <a:solidFill>
                  <a:srgbClr val="B8523A"/>
                </a:solidFill>
                <a:latin typeface="Courier New"/>
              </a:rPr>
              <a:t>2008–2014</a:t>
            </a:r>
          </a:p>
        </p:txBody>
      </p:sp>
      <p:sp>
        <p:nvSpPr>
          <p:cNvPr id="8" name="TextBox 7"/>
          <p:cNvSpPr txBox="1"/>
          <p:nvPr/>
        </p:nvSpPr>
        <p:spPr>
          <a:xfrm>
            <a:off x="1280160" y="4629150"/>
            <a:ext cx="4754880" cy="720090"/>
          </a:xfrm>
          <a:prstGeom prst="rect">
            <a:avLst/>
          </a:prstGeom>
          <a:noFill/>
        </p:spPr>
        <p:txBody>
          <a:bodyPr wrap="square">
            <a:spAutoFit/>
          </a:bodyPr>
          <a:lstStyle/>
          <a:p>
            <a:pPr algn="l"/>
            <a:r>
              <a:rPr b="1" i="0" sz="1300">
                <a:solidFill>
                  <a:srgbClr val="3D3833"/>
                </a:solidFill>
                <a:latin typeface="Arial"/>
              </a:rPr>
              <a:t>ERA DEL VOLUME</a:t>
            </a:r>
          </a:p>
        </p:txBody>
      </p:sp>
      <p:sp>
        <p:nvSpPr>
          <p:cNvPr id="9" name="TextBox 8"/>
          <p:cNvSpPr txBox="1"/>
          <p:nvPr/>
        </p:nvSpPr>
        <p:spPr>
          <a:xfrm>
            <a:off x="1280160" y="5452110"/>
            <a:ext cx="4754880" cy="720090"/>
          </a:xfrm>
          <a:prstGeom prst="rect">
            <a:avLst/>
          </a:prstGeom>
          <a:noFill/>
        </p:spPr>
        <p:txBody>
          <a:bodyPr wrap="square">
            <a:spAutoFit/>
          </a:bodyPr>
          <a:lstStyle/>
          <a:p>
            <a:pPr algn="l"/>
            <a:r>
              <a:rPr b="0" i="1" sz="1100">
                <a:solidFill>
                  <a:srgbClr val="B8523A"/>
                </a:solidFill>
                <a:latin typeface="Arial"/>
              </a:rPr>
              <a:t>Quante volte mi nominano?</a:t>
            </a:r>
          </a:p>
        </p:txBody>
      </p:sp>
      <p:sp>
        <p:nvSpPr>
          <p:cNvPr id="10" name="TextBox 9"/>
          <p:cNvSpPr txBox="1"/>
          <p:nvPr/>
        </p:nvSpPr>
        <p:spPr>
          <a:xfrm>
            <a:off x="1280160" y="6275070"/>
            <a:ext cx="4754880" cy="1337310"/>
          </a:xfrm>
          <a:prstGeom prst="rect">
            <a:avLst/>
          </a:prstGeom>
          <a:noFill/>
        </p:spPr>
        <p:txBody>
          <a:bodyPr wrap="square">
            <a:spAutoFit/>
          </a:bodyPr>
          <a:lstStyle/>
          <a:p>
            <a:pPr algn="l"/>
            <a:r>
              <a:rPr b="0" i="0" sz="1000">
                <a:solidFill>
                  <a:srgbClr val="8A8175"/>
                </a:solidFill>
                <a:latin typeface="Arial"/>
              </a:rPr>
              <a:t>Mention, share of voice, reach potenziale. Descrizione retrospettiva. Output: report di volume.</a:t>
            </a:r>
          </a:p>
        </p:txBody>
      </p:sp>
      <p:sp>
        <p:nvSpPr>
          <p:cNvPr id="11" name="TextBox 10"/>
          <p:cNvSpPr txBox="1"/>
          <p:nvPr/>
        </p:nvSpPr>
        <p:spPr>
          <a:xfrm>
            <a:off x="1280160" y="7612380"/>
            <a:ext cx="4754880" cy="1234440"/>
          </a:xfrm>
          <a:prstGeom prst="rect">
            <a:avLst/>
          </a:prstGeom>
          <a:noFill/>
        </p:spPr>
        <p:txBody>
          <a:bodyPr wrap="square">
            <a:spAutoFit/>
          </a:bodyPr>
          <a:lstStyle/>
          <a:p>
            <a:pPr algn="l"/>
            <a:r>
              <a:rPr b="0" i="1" sz="1000">
                <a:solidFill>
                  <a:srgbClr val="8A8175"/>
                </a:solidFill>
                <a:latin typeface="Arial"/>
              </a:rPr>
              <a:t>Ho fatto questi report nel 2012. Utili per avere una prima visibilita. Limitati a cio che era gia successo.</a:t>
            </a:r>
          </a:p>
        </p:txBody>
      </p:sp>
      <p:sp>
        <p:nvSpPr>
          <p:cNvPr id="12" name="Rectangle 11"/>
          <p:cNvSpPr/>
          <p:nvPr/>
        </p:nvSpPr>
        <p:spPr>
          <a:xfrm>
            <a:off x="6766560" y="3806190"/>
            <a:ext cx="5120640" cy="51435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4011930"/>
            <a:ext cx="4754880" cy="514350"/>
          </a:xfrm>
          <a:prstGeom prst="rect">
            <a:avLst/>
          </a:prstGeom>
          <a:noFill/>
        </p:spPr>
        <p:txBody>
          <a:bodyPr wrap="square">
            <a:spAutoFit/>
          </a:bodyPr>
          <a:lstStyle/>
          <a:p>
            <a:pPr algn="l"/>
            <a:r>
              <a:rPr b="1" i="0" sz="1000">
                <a:solidFill>
                  <a:srgbClr val="B8523A"/>
                </a:solidFill>
                <a:latin typeface="Courier New"/>
              </a:rPr>
              <a:t>2015–2023</a:t>
            </a:r>
          </a:p>
        </p:txBody>
      </p:sp>
      <p:sp>
        <p:nvSpPr>
          <p:cNvPr id="14" name="TextBox 13"/>
          <p:cNvSpPr txBox="1"/>
          <p:nvPr/>
        </p:nvSpPr>
        <p:spPr>
          <a:xfrm>
            <a:off x="6949440" y="4629150"/>
            <a:ext cx="4754880" cy="720090"/>
          </a:xfrm>
          <a:prstGeom prst="rect">
            <a:avLst/>
          </a:prstGeom>
          <a:noFill/>
        </p:spPr>
        <p:txBody>
          <a:bodyPr wrap="square">
            <a:spAutoFit/>
          </a:bodyPr>
          <a:lstStyle/>
          <a:p>
            <a:pPr algn="l"/>
            <a:r>
              <a:rPr b="1" i="0" sz="1300">
                <a:solidFill>
                  <a:srgbClr val="3D3833"/>
                </a:solidFill>
                <a:latin typeface="Arial"/>
              </a:rPr>
              <a:t>ERA DEL CONTESTO</a:t>
            </a:r>
          </a:p>
        </p:txBody>
      </p:sp>
      <p:sp>
        <p:nvSpPr>
          <p:cNvPr id="15" name="TextBox 14"/>
          <p:cNvSpPr txBox="1"/>
          <p:nvPr/>
        </p:nvSpPr>
        <p:spPr>
          <a:xfrm>
            <a:off x="6949440" y="5452110"/>
            <a:ext cx="4754880" cy="720090"/>
          </a:xfrm>
          <a:prstGeom prst="rect">
            <a:avLst/>
          </a:prstGeom>
          <a:noFill/>
        </p:spPr>
        <p:txBody>
          <a:bodyPr wrap="square">
            <a:spAutoFit/>
          </a:bodyPr>
          <a:lstStyle/>
          <a:p>
            <a:pPr algn="l"/>
            <a:r>
              <a:rPr b="0" i="1" sz="1100">
                <a:solidFill>
                  <a:srgbClr val="B8523A"/>
                </a:solidFill>
                <a:latin typeface="Arial"/>
              </a:rPr>
              <a:t>Cosa sta succedendo e perche?</a:t>
            </a:r>
          </a:p>
        </p:txBody>
      </p:sp>
      <p:sp>
        <p:nvSpPr>
          <p:cNvPr id="16" name="TextBox 15"/>
          <p:cNvSpPr txBox="1"/>
          <p:nvPr/>
        </p:nvSpPr>
        <p:spPr>
          <a:xfrm>
            <a:off x="6949440" y="6275070"/>
            <a:ext cx="4754880" cy="1337310"/>
          </a:xfrm>
          <a:prstGeom prst="rect">
            <a:avLst/>
          </a:prstGeom>
          <a:noFill/>
        </p:spPr>
        <p:txBody>
          <a:bodyPr wrap="square">
            <a:spAutoFit/>
          </a:bodyPr>
          <a:lstStyle/>
          <a:p>
            <a:pPr algn="l"/>
            <a:r>
              <a:rPr b="0" i="0" sz="1000">
                <a:solidFill>
                  <a:srgbClr val="8A8175"/>
                </a:solidFill>
                <a:latin typeface="Arial"/>
              </a:rPr>
              <a:t>Topic modeling, sentiment driver, community mapping, crisi, reputazione. Il listening inizia a spiegare.</a:t>
            </a:r>
          </a:p>
        </p:txBody>
      </p:sp>
      <p:sp>
        <p:nvSpPr>
          <p:cNvPr id="17" name="TextBox 16"/>
          <p:cNvSpPr txBox="1"/>
          <p:nvPr/>
        </p:nvSpPr>
        <p:spPr>
          <a:xfrm>
            <a:off x="6949440" y="7612380"/>
            <a:ext cx="4754880" cy="1234440"/>
          </a:xfrm>
          <a:prstGeom prst="rect">
            <a:avLst/>
          </a:prstGeom>
          <a:noFill/>
        </p:spPr>
        <p:txBody>
          <a:bodyPr wrap="square">
            <a:spAutoFit/>
          </a:bodyPr>
          <a:lstStyle/>
          <a:p>
            <a:pPr algn="l"/>
            <a:r>
              <a:rPr b="0" i="1" sz="1000">
                <a:solidFill>
                  <a:srgbClr val="8A8175"/>
                </a:solidFill>
                <a:latin typeface="Arial"/>
              </a:rPr>
              <a:t>Ho vissuto questo passaggio. Cambia il tipo di conversazioni con i clienti: dal 'cosa e successo' al 'perche'.</a:t>
            </a:r>
          </a:p>
        </p:txBody>
      </p:sp>
      <p:sp>
        <p:nvSpPr>
          <p:cNvPr id="18" name="Rectangle 17"/>
          <p:cNvSpPr/>
          <p:nvPr/>
        </p:nvSpPr>
        <p:spPr>
          <a:xfrm>
            <a:off x="12435840" y="3806190"/>
            <a:ext cx="5120640" cy="514350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618720" y="4011930"/>
            <a:ext cx="4754880" cy="514350"/>
          </a:xfrm>
          <a:prstGeom prst="rect">
            <a:avLst/>
          </a:prstGeom>
          <a:noFill/>
        </p:spPr>
        <p:txBody>
          <a:bodyPr wrap="square">
            <a:spAutoFit/>
          </a:bodyPr>
          <a:lstStyle/>
          <a:p>
            <a:pPr algn="l"/>
            <a:r>
              <a:rPr b="1" i="0" sz="1000">
                <a:solidFill>
                  <a:srgbClr val="B8523A"/>
                </a:solidFill>
                <a:latin typeface="Courier New"/>
              </a:rPr>
              <a:t>2024 →</a:t>
            </a:r>
          </a:p>
        </p:txBody>
      </p:sp>
      <p:sp>
        <p:nvSpPr>
          <p:cNvPr id="20" name="TextBox 19"/>
          <p:cNvSpPr txBox="1"/>
          <p:nvPr/>
        </p:nvSpPr>
        <p:spPr>
          <a:xfrm>
            <a:off x="12618720" y="4629150"/>
            <a:ext cx="4754880" cy="720090"/>
          </a:xfrm>
          <a:prstGeom prst="rect">
            <a:avLst/>
          </a:prstGeom>
          <a:noFill/>
        </p:spPr>
        <p:txBody>
          <a:bodyPr wrap="square">
            <a:spAutoFit/>
          </a:bodyPr>
          <a:lstStyle/>
          <a:p>
            <a:pPr algn="l"/>
            <a:r>
              <a:rPr b="1" i="0" sz="1300">
                <a:solidFill>
                  <a:srgbClr val="F3EDE1"/>
                </a:solidFill>
                <a:latin typeface="Arial"/>
              </a:rPr>
              <a:t>ERA DEL SEGNALE</a:t>
            </a:r>
          </a:p>
        </p:txBody>
      </p:sp>
      <p:sp>
        <p:nvSpPr>
          <p:cNvPr id="21" name="TextBox 20"/>
          <p:cNvSpPr txBox="1"/>
          <p:nvPr/>
        </p:nvSpPr>
        <p:spPr>
          <a:xfrm>
            <a:off x="12618720" y="5452110"/>
            <a:ext cx="4754880" cy="720090"/>
          </a:xfrm>
          <a:prstGeom prst="rect">
            <a:avLst/>
          </a:prstGeom>
          <a:noFill/>
        </p:spPr>
        <p:txBody>
          <a:bodyPr wrap="square">
            <a:spAutoFit/>
          </a:bodyPr>
          <a:lstStyle/>
          <a:p>
            <a:pPr algn="l"/>
            <a:r>
              <a:rPr b="0" i="1" sz="1100">
                <a:solidFill>
                  <a:srgbClr val="B8523A"/>
                </a:solidFill>
                <a:latin typeface="Arial"/>
              </a:rPr>
              <a:t>Quale segnale debole anticipa la prossima decisione?</a:t>
            </a:r>
          </a:p>
        </p:txBody>
      </p:sp>
      <p:sp>
        <p:nvSpPr>
          <p:cNvPr id="22" name="TextBox 21"/>
          <p:cNvSpPr txBox="1"/>
          <p:nvPr/>
        </p:nvSpPr>
        <p:spPr>
          <a:xfrm>
            <a:off x="12618720" y="6275070"/>
            <a:ext cx="4754880" cy="1337310"/>
          </a:xfrm>
          <a:prstGeom prst="rect">
            <a:avLst/>
          </a:prstGeom>
          <a:noFill/>
        </p:spPr>
        <p:txBody>
          <a:bodyPr wrap="square">
            <a:spAutoFit/>
          </a:bodyPr>
          <a:lstStyle/>
          <a:p>
            <a:pPr algn="l"/>
            <a:r>
              <a:rPr b="0" i="0" sz="1000">
                <a:solidFill>
                  <a:srgbClr val="8A8175"/>
                </a:solidFill>
                <a:latin typeface="Arial"/>
              </a:rPr>
              <a:t>Frizioni, pattern emergenti, micro-cluster, comportamenti rari, rischi latenti, opportunita pre-mainstream.</a:t>
            </a:r>
          </a:p>
        </p:txBody>
      </p:sp>
      <p:sp>
        <p:nvSpPr>
          <p:cNvPr id="23" name="TextBox 22"/>
          <p:cNvSpPr txBox="1"/>
          <p:nvPr/>
        </p:nvSpPr>
        <p:spPr>
          <a:xfrm>
            <a:off x="12618720" y="7612380"/>
            <a:ext cx="4754880" cy="1234440"/>
          </a:xfrm>
          <a:prstGeom prst="rect">
            <a:avLst/>
          </a:prstGeom>
          <a:noFill/>
        </p:spPr>
        <p:txBody>
          <a:bodyPr wrap="square">
            <a:spAutoFit/>
          </a:bodyPr>
          <a:lstStyle/>
          <a:p>
            <a:pPr algn="l"/>
            <a:r>
              <a:rPr b="0" i="1" sz="1000">
                <a:solidFill>
                  <a:srgbClr val="F3EDE1"/>
                </a:solidFill>
                <a:latin typeface="Arial"/>
              </a:rPr>
              <a:t>L'AI riduce il costo della sintesi. Quando questo costo scende, il centro di gravita si sposta: l'interpretazione diventa il vero valore.</a:t>
            </a:r>
          </a:p>
        </p:txBody>
      </p:sp>
      <p:sp>
        <p:nvSpPr>
          <p:cNvPr id="24" name="Rectangle 23"/>
          <p:cNvSpPr/>
          <p:nvPr/>
        </p:nvSpPr>
        <p:spPr>
          <a:xfrm>
            <a:off x="1097280" y="9155430"/>
            <a:ext cx="16093440" cy="92583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63040" y="9361170"/>
            <a:ext cx="15361920" cy="617220"/>
          </a:xfrm>
          <a:prstGeom prst="rect">
            <a:avLst/>
          </a:prstGeom>
          <a:noFill/>
        </p:spPr>
        <p:txBody>
          <a:bodyPr wrap="square">
            <a:spAutoFit/>
          </a:bodyPr>
          <a:lstStyle/>
          <a:p>
            <a:pPr algn="ctr"/>
            <a:r>
              <a:rPr b="0" i="1" sz="1200">
                <a:solidFill>
                  <a:srgbClr val="3D3833"/>
                </a:solidFill>
                <a:latin typeface="Arial"/>
              </a:rPr>
              <a:t>"Il volume racconta dove guardano tutti. La forma del rumore racconta dove si nasconde il vantaggio."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714"/>
        </a:solidFill>
        <a:effectLst/>
      </p:bgPr>
    </p:bg>
    <p:spTree>
      <p:nvGrpSpPr>
        <p:cNvPr id="1" name=""/>
        <p:cNvGrpSpPr/>
        <p:nvPr/>
      </p:nvGrpSpPr>
      <p:grpSpPr/>
      <p:sp>
        <p:nvSpPr>
          <p:cNvPr id="2" name="Rectangle 1"/>
          <p:cNvSpPr/>
          <p:nvPr/>
        </p:nvSpPr>
        <p:spPr>
          <a:xfrm>
            <a:off x="0" y="0"/>
            <a:ext cx="7680960" cy="10287000"/>
          </a:xfrm>
          <a:prstGeom prst="rect">
            <a:avLst/>
          </a:prstGeom>
          <a:solidFill>
            <a:srgbClr val="221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086100"/>
            <a:ext cx="5852160" cy="4114800"/>
          </a:xfrm>
          <a:prstGeom prst="rect">
            <a:avLst/>
          </a:prstGeom>
          <a:noFill/>
        </p:spPr>
        <p:txBody>
          <a:bodyPr wrap="square">
            <a:spAutoFit/>
          </a:bodyPr>
          <a:lstStyle/>
          <a:p>
            <a:pPr algn="ctr"/>
            <a:r>
              <a:rPr b="0" i="0" sz="1600">
                <a:solidFill>
                  <a:srgbClr val="8A8175"/>
                </a:solidFill>
                <a:latin typeface="Arial"/>
              </a:rPr>
              <a:t>[FOTO
CRUYFF]</a:t>
            </a:r>
          </a:p>
        </p:txBody>
      </p:sp>
      <p:sp>
        <p:nvSpPr>
          <p:cNvPr id="4" name="Rectangle 3"/>
          <p:cNvSpPr/>
          <p:nvPr/>
        </p:nvSpPr>
        <p:spPr>
          <a:xfrm>
            <a:off x="7680960" y="1851660"/>
            <a:ext cx="548640" cy="658368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2263140"/>
            <a:ext cx="8412480" cy="1234440"/>
          </a:xfrm>
          <a:prstGeom prst="rect">
            <a:avLst/>
          </a:prstGeom>
          <a:noFill/>
        </p:spPr>
        <p:txBody>
          <a:bodyPr wrap="square">
            <a:spAutoFit/>
          </a:bodyPr>
          <a:lstStyle/>
          <a:p>
            <a:pPr algn="l"/>
            <a:r>
              <a:rPr b="1" i="1" sz="2600">
                <a:solidFill>
                  <a:srgbClr val="F3EDE1"/>
                </a:solidFill>
                <a:latin typeface="Georgia"/>
              </a:rPr>
              <a:t>“Il calcio e semplice.</a:t>
            </a:r>
          </a:p>
        </p:txBody>
      </p:sp>
      <p:sp>
        <p:nvSpPr>
          <p:cNvPr id="6" name="TextBox 5"/>
          <p:cNvSpPr txBox="1"/>
          <p:nvPr/>
        </p:nvSpPr>
        <p:spPr>
          <a:xfrm>
            <a:off x="8778240" y="3394710"/>
            <a:ext cx="8412480" cy="1028700"/>
          </a:xfrm>
          <a:prstGeom prst="rect">
            <a:avLst/>
          </a:prstGeom>
          <a:noFill/>
        </p:spPr>
        <p:txBody>
          <a:bodyPr wrap="square">
            <a:spAutoFit/>
          </a:bodyPr>
          <a:lstStyle/>
          <a:p>
            <a:pPr algn="l"/>
            <a:r>
              <a:rPr b="1" i="1" sz="2600">
                <a:solidFill>
                  <a:srgbClr val="F3EDE1"/>
                </a:solidFill>
                <a:latin typeface="Georgia"/>
              </a:rPr>
              <a:t>Ma giocare a calcio</a:t>
            </a:r>
          </a:p>
        </p:txBody>
      </p:sp>
      <p:sp>
        <p:nvSpPr>
          <p:cNvPr id="7" name="TextBox 6"/>
          <p:cNvSpPr txBox="1"/>
          <p:nvPr/>
        </p:nvSpPr>
        <p:spPr>
          <a:xfrm>
            <a:off x="8778240" y="4320540"/>
            <a:ext cx="8412480" cy="1028700"/>
          </a:xfrm>
          <a:prstGeom prst="rect">
            <a:avLst/>
          </a:prstGeom>
          <a:noFill/>
        </p:spPr>
        <p:txBody>
          <a:bodyPr wrap="square">
            <a:spAutoFit/>
          </a:bodyPr>
          <a:lstStyle/>
          <a:p>
            <a:pPr algn="l"/>
            <a:r>
              <a:rPr b="1" i="1" sz="2600">
                <a:solidFill>
                  <a:srgbClr val="F3EDE1"/>
                </a:solidFill>
                <a:latin typeface="Georgia"/>
              </a:rPr>
              <a:t>in modo semplice</a:t>
            </a:r>
          </a:p>
        </p:txBody>
      </p:sp>
      <p:sp>
        <p:nvSpPr>
          <p:cNvPr id="8" name="TextBox 7"/>
          <p:cNvSpPr txBox="1"/>
          <p:nvPr/>
        </p:nvSpPr>
        <p:spPr>
          <a:xfrm>
            <a:off x="8778240" y="5246370"/>
            <a:ext cx="8412480" cy="1028700"/>
          </a:xfrm>
          <a:prstGeom prst="rect">
            <a:avLst/>
          </a:prstGeom>
          <a:noFill/>
        </p:spPr>
        <p:txBody>
          <a:bodyPr wrap="square">
            <a:spAutoFit/>
          </a:bodyPr>
          <a:lstStyle/>
          <a:p>
            <a:pPr algn="l"/>
            <a:r>
              <a:rPr b="1" i="1" sz="2600">
                <a:solidFill>
                  <a:srgbClr val="B8523A"/>
                </a:solidFill>
                <a:latin typeface="Georgia"/>
              </a:rPr>
              <a:t>e la cosa piu difficile</a:t>
            </a:r>
          </a:p>
        </p:txBody>
      </p:sp>
      <p:sp>
        <p:nvSpPr>
          <p:cNvPr id="9" name="TextBox 8"/>
          <p:cNvSpPr txBox="1"/>
          <p:nvPr/>
        </p:nvSpPr>
        <p:spPr>
          <a:xfrm>
            <a:off x="8778240" y="6172200"/>
            <a:ext cx="8412480" cy="1028700"/>
          </a:xfrm>
          <a:prstGeom prst="rect">
            <a:avLst/>
          </a:prstGeom>
          <a:noFill/>
        </p:spPr>
        <p:txBody>
          <a:bodyPr wrap="square">
            <a:spAutoFit/>
          </a:bodyPr>
          <a:lstStyle/>
          <a:p>
            <a:pPr algn="l"/>
            <a:r>
              <a:rPr b="1" i="1" sz="2600">
                <a:solidFill>
                  <a:srgbClr val="B8523A"/>
                </a:solidFill>
                <a:latin typeface="Georgia"/>
              </a:rPr>
              <a:t>che esista.”</a:t>
            </a:r>
          </a:p>
        </p:txBody>
      </p:sp>
      <p:sp>
        <p:nvSpPr>
          <p:cNvPr id="10" name="TextBox 9"/>
          <p:cNvSpPr txBox="1"/>
          <p:nvPr/>
        </p:nvSpPr>
        <p:spPr>
          <a:xfrm>
            <a:off x="8778240" y="7509510"/>
            <a:ext cx="8412480" cy="720090"/>
          </a:xfrm>
          <a:prstGeom prst="rect">
            <a:avLst/>
          </a:prstGeom>
          <a:noFill/>
        </p:spPr>
        <p:txBody>
          <a:bodyPr wrap="square">
            <a:spAutoFit/>
          </a:bodyPr>
          <a:lstStyle/>
          <a:p>
            <a:pPr algn="l"/>
            <a:r>
              <a:rPr b="0" i="0" sz="1400">
                <a:solidFill>
                  <a:srgbClr val="8A8175"/>
                </a:solidFill>
                <a:latin typeface="Courier New"/>
              </a:rPr>
              <a:t>— Johan Cruyff</a:t>
            </a:r>
          </a:p>
        </p:txBody>
      </p:sp>
      <p:cxnSp>
        <p:nvCxnSpPr>
          <p:cNvPr id="11" name="Connector 10"/>
          <p:cNvCxnSpPr/>
          <p:nvPr/>
        </p:nvCxnSpPr>
        <p:spPr>
          <a:xfrm>
            <a:off x="8778240" y="8435340"/>
            <a:ext cx="804672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778240" y="8743950"/>
            <a:ext cx="8412480" cy="720090"/>
          </a:xfrm>
          <a:prstGeom prst="rect">
            <a:avLst/>
          </a:prstGeom>
          <a:noFill/>
        </p:spPr>
        <p:txBody>
          <a:bodyPr wrap="square">
            <a:spAutoFit/>
          </a:bodyPr>
          <a:lstStyle/>
          <a:p>
            <a:pPr algn="l"/>
            <a:r>
              <a:rPr b="0" i="0" sz="1300">
                <a:solidFill>
                  <a:srgbClr val="8A8175"/>
                </a:solidFill>
                <a:latin typeface="Arial"/>
              </a:rPr>
              <a:t>Il nostro mestiere. L'AI non lo cambia — lo amplifica.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spAutoFit/>
          </a:bodyPr>
          <a:lstStyle/>
          <a:p>
            <a:pPr algn="l"/>
            <a:r>
              <a:rPr b="1" i="0" sz="1000">
                <a:solidFill>
                  <a:srgbClr val="B8523A"/>
                </a:solidFill>
                <a:latin typeface="Courier New"/>
              </a:rPr>
              <a:t>●  CAPITOLO 7 — AI E L'ANALISTA</a:t>
            </a:r>
          </a:p>
        </p:txBody>
      </p:sp>
      <p:sp>
        <p:nvSpPr>
          <p:cNvPr id="3" name="TextBox 2"/>
          <p:cNvSpPr txBox="1"/>
          <p:nvPr/>
        </p:nvSpPr>
        <p:spPr>
          <a:xfrm>
            <a:off x="1097280" y="1337310"/>
            <a:ext cx="16093440" cy="925830"/>
          </a:xfrm>
          <a:prstGeom prst="rect">
            <a:avLst/>
          </a:prstGeom>
          <a:noFill/>
        </p:spPr>
        <p:txBody>
          <a:bodyPr wrap="square">
            <a:spAutoFit/>
          </a:bodyPr>
          <a:lstStyle/>
          <a:p>
            <a:pPr algn="l"/>
            <a:r>
              <a:rPr b="1" i="0" sz="2800">
                <a:solidFill>
                  <a:srgbClr val="3D3833"/>
                </a:solidFill>
                <a:latin typeface="Georgia"/>
              </a:rPr>
              <a:t>L'AI non fa il tuo lavoro.</a:t>
            </a:r>
          </a:p>
        </p:txBody>
      </p:sp>
      <p:sp>
        <p:nvSpPr>
          <p:cNvPr id="4" name="TextBox 3"/>
          <p:cNvSpPr txBox="1"/>
          <p:nvPr/>
        </p:nvSpPr>
        <p:spPr>
          <a:xfrm>
            <a:off x="1097280" y="2160270"/>
            <a:ext cx="16093440" cy="925830"/>
          </a:xfrm>
          <a:prstGeom prst="rect">
            <a:avLst/>
          </a:prstGeom>
          <a:noFill/>
        </p:spPr>
        <p:txBody>
          <a:bodyPr wrap="square">
            <a:spAutoFit/>
          </a:bodyPr>
          <a:lstStyle/>
          <a:p>
            <a:pPr algn="l"/>
            <a:r>
              <a:rPr b="1" i="0" sz="2800">
                <a:solidFill>
                  <a:srgbClr val="B8523A"/>
                </a:solidFill>
                <a:latin typeface="Georgia"/>
              </a:rPr>
              <a:t>Fa il lavoro che ti impediva di farlo.</a:t>
            </a:r>
          </a:p>
        </p:txBody>
      </p:sp>
      <p:sp>
        <p:nvSpPr>
          <p:cNvPr id="5" name="TextBox 4"/>
          <p:cNvSpPr txBox="1"/>
          <p:nvPr/>
        </p:nvSpPr>
        <p:spPr>
          <a:xfrm>
            <a:off x="1097280" y="3188970"/>
            <a:ext cx="16093440" cy="617220"/>
          </a:xfrm>
          <a:prstGeom prst="rect">
            <a:avLst/>
          </a:prstGeom>
          <a:noFill/>
        </p:spPr>
        <p:txBody>
          <a:bodyPr wrap="square">
            <a:spAutoFit/>
          </a:bodyPr>
          <a:lstStyle/>
          <a:p>
            <a:pPr algn="l"/>
            <a:r>
              <a:rPr b="0" i="0" sz="1200">
                <a:solidFill>
                  <a:srgbClr val="8A8175"/>
                </a:solidFill>
                <a:latin typeface="Arial"/>
              </a:rPr>
              <a:t>La domanda sbagliata: 'L'AI mi sostituira?'   |   La domanda giusta: 'Cosa posso fare adesso che prima non potevo?'</a:t>
            </a:r>
          </a:p>
        </p:txBody>
      </p:sp>
      <p:cxnSp>
        <p:nvCxnSpPr>
          <p:cNvPr id="6" name="Connector 5"/>
          <p:cNvCxnSpPr/>
          <p:nvPr/>
        </p:nvCxnSpPr>
        <p:spPr>
          <a:xfrm>
            <a:off x="1097280" y="401193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1097280" y="4320540"/>
            <a:ext cx="7315200" cy="524637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4526280"/>
            <a:ext cx="6949440" cy="617220"/>
          </a:xfrm>
          <a:prstGeom prst="rect">
            <a:avLst/>
          </a:prstGeom>
          <a:noFill/>
        </p:spPr>
        <p:txBody>
          <a:bodyPr wrap="square">
            <a:spAutoFit/>
          </a:bodyPr>
          <a:lstStyle/>
          <a:p>
            <a:pPr algn="l"/>
            <a:r>
              <a:rPr b="1" i="0" sz="1000">
                <a:solidFill>
                  <a:srgbClr val="B8523A"/>
                </a:solidFill>
                <a:latin typeface="Courier New"/>
              </a:rPr>
              <a:t>TASK LAYER — COSA ACCELERA L'AI</a:t>
            </a:r>
          </a:p>
        </p:txBody>
      </p:sp>
      <p:sp>
        <p:nvSpPr>
          <p:cNvPr id="9" name="TextBox 8"/>
          <p:cNvSpPr txBox="1"/>
          <p:nvPr/>
        </p:nvSpPr>
        <p:spPr>
          <a:xfrm>
            <a:off x="1280160" y="5246370"/>
            <a:ext cx="6949440" cy="4011930"/>
          </a:xfrm>
          <a:prstGeom prst="rect">
            <a:avLst/>
          </a:prstGeom>
          <a:noFill/>
        </p:spPr>
        <p:txBody>
          <a:bodyPr wrap="square">
            <a:spAutoFit/>
          </a:bodyPr>
          <a:lstStyle/>
          <a:p>
            <a:pPr algn="l"/>
            <a:r>
              <a:rPr b="0" i="0" sz="1200">
                <a:solidFill>
                  <a:srgbClr val="3D3833"/>
                </a:solidFill>
                <a:latin typeface="Arial"/>
              </a:rPr>
              <a:t>Un collaboratore che non dorme, non si stanca,</a:t>
            </a:r>
          </a:p>
          <a:p>
            <a:pPr algn="l"/>
            <a:r>
              <a:rPr b="0" i="0" sz="1200">
                <a:solidFill>
                  <a:srgbClr val="3D3833"/>
                </a:solidFill>
                <a:latin typeface="Arial"/>
              </a:rPr>
              <a:t>legge un milione di conversazioni in un'ora.</a:t>
            </a:r>
          </a:p>
          <a:p>
            <a:pPr algn="l"/>
            <a:r>
              <a:t/>
            </a:r>
          </a:p>
          <a:p>
            <a:pPr algn="l"/>
            <a:r>
              <a:rPr b="0" i="0" sz="1100">
                <a:solidFill>
                  <a:srgbClr val="3D3833"/>
                </a:solidFill>
                <a:latin typeface="Arial"/>
              </a:rPr>
              <a:t>+  Sintesi di volumi enormi di conversazioni</a:t>
            </a:r>
          </a:p>
          <a:p>
            <a:pPr algn="l"/>
            <a:r>
              <a:rPr b="0" i="0" sz="1100">
                <a:solidFill>
                  <a:srgbClr val="3D3833"/>
                </a:solidFill>
                <a:latin typeface="Arial"/>
              </a:rPr>
              <a:t>+  Clustering e tagging preliminare</a:t>
            </a:r>
          </a:p>
          <a:p>
            <a:pPr algn="l"/>
            <a:r>
              <a:rPr b="0" i="0" sz="1100">
                <a:solidFill>
                  <a:srgbClr val="3D3833"/>
                </a:solidFill>
                <a:latin typeface="Arial"/>
              </a:rPr>
              <a:t>+  Classificazione topic e sentiment a scala</a:t>
            </a:r>
          </a:p>
          <a:p>
            <a:pPr algn="l"/>
            <a:r>
              <a:rPr b="0" i="0" sz="1100">
                <a:solidFill>
                  <a:srgbClr val="3D3833"/>
                </a:solidFill>
                <a:latin typeface="Arial"/>
              </a:rPr>
              <a:t>+  Riconoscimento pattern e correlazioni non ovvie</a:t>
            </a:r>
          </a:p>
          <a:p>
            <a:pPr algn="l"/>
            <a:r>
              <a:rPr b="0" i="0" sz="1100">
                <a:solidFill>
                  <a:srgbClr val="3D3833"/>
                </a:solidFill>
                <a:latin typeface="Arial"/>
              </a:rPr>
              <a:t>+  Generazione bozze, esplorazione rapida ipotesi</a:t>
            </a:r>
          </a:p>
          <a:p>
            <a:pPr algn="l"/>
            <a:r>
              <a:t/>
            </a:r>
          </a:p>
          <a:p>
            <a:pPr algn="l"/>
            <a:r>
              <a:rPr b="1" i="0" sz="1100">
                <a:solidFill>
                  <a:srgbClr val="8A8175"/>
                </a:solidFill>
                <a:latin typeface="Arial"/>
              </a:rPr>
              <a:t>Straordinario. Gia disponibile.</a:t>
            </a:r>
          </a:p>
          <a:p>
            <a:pPr algn="l"/>
            <a:r>
              <a:rPr b="1" i="0" sz="1100">
                <a:solidFill>
                  <a:srgbClr val="8A8175"/>
                </a:solidFill>
                <a:latin typeface="Arial"/>
              </a:rPr>
              <a:t>Ma non sa PERCHE sta facendo quello che fa.</a:t>
            </a:r>
          </a:p>
        </p:txBody>
      </p:sp>
      <p:sp>
        <p:nvSpPr>
          <p:cNvPr id="10" name="Rectangle 9"/>
          <p:cNvSpPr/>
          <p:nvPr/>
        </p:nvSpPr>
        <p:spPr>
          <a:xfrm>
            <a:off x="9509760" y="4320540"/>
            <a:ext cx="7315200" cy="524637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0" y="4526280"/>
            <a:ext cx="6949440" cy="617220"/>
          </a:xfrm>
          <a:prstGeom prst="rect">
            <a:avLst/>
          </a:prstGeom>
          <a:noFill/>
        </p:spPr>
        <p:txBody>
          <a:bodyPr wrap="square">
            <a:spAutoFit/>
          </a:bodyPr>
          <a:lstStyle/>
          <a:p>
            <a:pPr algn="l"/>
            <a:r>
              <a:rPr b="1" i="0" sz="1000">
                <a:solidFill>
                  <a:srgbClr val="B8523A"/>
                </a:solidFill>
                <a:latin typeface="Courier New"/>
              </a:rPr>
              <a:t>JUDGEMENT LAYER — COSA RESTA UMANO</a:t>
            </a:r>
          </a:p>
        </p:txBody>
      </p:sp>
      <p:sp>
        <p:nvSpPr>
          <p:cNvPr id="12" name="TextBox 11"/>
          <p:cNvSpPr txBox="1"/>
          <p:nvPr/>
        </p:nvSpPr>
        <p:spPr>
          <a:xfrm>
            <a:off x="9692640" y="5246370"/>
            <a:ext cx="6949440" cy="4011930"/>
          </a:xfrm>
          <a:prstGeom prst="rect">
            <a:avLst/>
          </a:prstGeom>
          <a:noFill/>
        </p:spPr>
        <p:txBody>
          <a:bodyPr wrap="square">
            <a:spAutoFit/>
          </a:bodyPr>
          <a:lstStyle/>
          <a:p>
            <a:pPr algn="l"/>
            <a:r>
              <a:rPr b="0" i="0" sz="1200">
                <a:solidFill>
                  <a:srgbClr val="F3EDE1"/>
                </a:solidFill>
                <a:latin typeface="Arial"/>
              </a:rPr>
              <a:t>Queste non sono attivita di contorno.</a:t>
            </a:r>
          </a:p>
          <a:p>
            <a:pPr algn="l"/>
            <a:r>
              <a:rPr b="1" i="0" sz="1200">
                <a:solidFill>
                  <a:srgbClr val="B8523A"/>
                </a:solidFill>
                <a:latin typeface="Arial"/>
              </a:rPr>
              <a:t>Sono il mestiere.</a:t>
            </a:r>
          </a:p>
          <a:p>
            <a:pPr algn="l"/>
            <a:r>
              <a:t/>
            </a:r>
          </a:p>
          <a:p>
            <a:pPr algn="l"/>
            <a:r>
              <a:rPr b="0" i="0" sz="1100">
                <a:solidFill>
                  <a:srgbClr val="F3EDE1"/>
                </a:solidFill>
                <a:latin typeface="Arial"/>
              </a:rPr>
              <a:t>+  Formulare la domanda di business giusta</a:t>
            </a:r>
          </a:p>
          <a:p>
            <a:pPr algn="l"/>
            <a:r>
              <a:rPr b="0" i="0" sz="1100">
                <a:solidFill>
                  <a:srgbClr val="F3EDE1"/>
                </a:solidFill>
                <a:latin typeface="Arial"/>
              </a:rPr>
              <a:t>+  Validare l'affidabilita del dato</a:t>
            </a:r>
          </a:p>
          <a:p>
            <a:pPr algn="l"/>
            <a:r>
              <a:rPr b="0" i="0" sz="1000">
                <a:solidFill>
                  <a:srgbClr val="8A8175"/>
                </a:solidFill>
                <a:latin typeface="Arial"/>
              </a:rPr>
              <a:t>   (spike coordinati vs conversazione organica)</a:t>
            </a:r>
          </a:p>
          <a:p>
            <a:pPr algn="l"/>
            <a:r>
              <a:rPr b="0" i="0" sz="1100">
                <a:solidFill>
                  <a:srgbClr val="F3EDE1"/>
                </a:solidFill>
                <a:latin typeface="Arial"/>
              </a:rPr>
              <a:t>+  Riconoscere bias e contesto culturale</a:t>
            </a:r>
          </a:p>
          <a:p>
            <a:pPr algn="l"/>
            <a:r>
              <a:rPr b="0" i="0" sz="1000">
                <a:solidFill>
                  <a:srgbClr val="8A8175"/>
                </a:solidFill>
                <a:latin typeface="Arial"/>
              </a:rPr>
              <a:t>   (l'ironia italiana, il codice di community)</a:t>
            </a:r>
          </a:p>
          <a:p>
            <a:pPr algn="l"/>
            <a:r>
              <a:rPr b="0" i="0" sz="1100">
                <a:solidFill>
                  <a:srgbClr val="F3EDE1"/>
                </a:solidFill>
                <a:latin typeface="Arial"/>
              </a:rPr>
              <a:t>+  Collegare l'insight alla decisione giusta</a:t>
            </a:r>
          </a:p>
          <a:p>
            <a:pPr algn="l"/>
            <a:r>
              <a:rPr b="0" i="0" sz="1100">
                <a:solidFill>
                  <a:srgbClr val="F3EDE1"/>
                </a:solidFill>
                <a:latin typeface="Arial"/>
              </a:rPr>
              <a:t>+  Portare una verita scomoda nella stanza giusta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spAutoFit/>
          </a:bodyPr>
          <a:lstStyle/>
          <a:p>
            <a:pPr algn="l"/>
            <a:r>
              <a:rPr b="1" i="0" sz="1000">
                <a:solidFill>
                  <a:srgbClr val="B8523A"/>
                </a:solidFill>
                <a:latin typeface="Courier New"/>
              </a:rPr>
              <a:t>●  AI E L'ANALISTA — IL NUOVO WORKFLOW</a:t>
            </a:r>
          </a:p>
        </p:txBody>
      </p:sp>
      <p:sp>
        <p:nvSpPr>
          <p:cNvPr id="3" name="TextBox 2"/>
          <p:cNvSpPr txBox="1"/>
          <p:nvPr/>
        </p:nvSpPr>
        <p:spPr>
          <a:xfrm>
            <a:off x="1097280" y="1337310"/>
            <a:ext cx="16093440" cy="925830"/>
          </a:xfrm>
          <a:prstGeom prst="rect">
            <a:avLst/>
          </a:prstGeom>
          <a:noFill/>
        </p:spPr>
        <p:txBody>
          <a:bodyPr wrap="square">
            <a:spAutoFit/>
          </a:bodyPr>
          <a:lstStyle/>
          <a:p>
            <a:pPr algn="l"/>
            <a:r>
              <a:rPr b="1" i="0" sz="2800">
                <a:solidFill>
                  <a:srgbClr val="3D3833"/>
                </a:solidFill>
                <a:latin typeface="Georgia"/>
              </a:rPr>
              <a:t>Ecco come cambia il metodo.</a:t>
            </a:r>
          </a:p>
        </p:txBody>
      </p:sp>
      <p:sp>
        <p:nvSpPr>
          <p:cNvPr id="4" name="TextBox 3"/>
          <p:cNvSpPr txBox="1"/>
          <p:nvPr/>
        </p:nvSpPr>
        <p:spPr>
          <a:xfrm>
            <a:off x="1097280" y="2468880"/>
            <a:ext cx="16093440" cy="617220"/>
          </a:xfrm>
          <a:prstGeom prst="rect">
            <a:avLst/>
          </a:prstGeom>
          <a:noFill/>
        </p:spPr>
        <p:txBody>
          <a:bodyPr wrap="square">
            <a:spAutoFit/>
          </a:bodyPr>
          <a:lstStyle/>
          <a:p>
            <a:pPr algn="l"/>
            <a:r>
              <a:rPr b="0" i="0" sz="1200">
                <a:solidFill>
                  <a:srgbClr val="8A8175"/>
                </a:solidFill>
                <a:latin typeface="Arial"/>
              </a:rPr>
              <a:t>Il vecchio: apri il tool, digita il brand, leggi, scrivi il report. Il nuovo: parti dalla decisione che devi supportare.</a:t>
            </a:r>
          </a:p>
        </p:txBody>
      </p:sp>
      <p:cxnSp>
        <p:nvCxnSpPr>
          <p:cNvPr id="5" name="Connector 4"/>
          <p:cNvCxnSpPr/>
          <p:nvPr/>
        </p:nvCxnSpPr>
        <p:spPr>
          <a:xfrm>
            <a:off x="1097280" y="329184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806190"/>
            <a:ext cx="3017520" cy="576072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011930"/>
            <a:ext cx="3017520" cy="617220"/>
          </a:xfrm>
          <a:prstGeom prst="rect">
            <a:avLst/>
          </a:prstGeom>
          <a:noFill/>
        </p:spPr>
        <p:txBody>
          <a:bodyPr wrap="square">
            <a:spAutoFit/>
          </a:bodyPr>
          <a:lstStyle/>
          <a:p>
            <a:pPr algn="l"/>
            <a:r>
              <a:rPr b="1" i="0" sz="1000">
                <a:solidFill>
                  <a:srgbClr val="B8523A"/>
                </a:solidFill>
                <a:latin typeface="Courier New"/>
              </a:rPr>
              <a:t>01</a:t>
            </a:r>
          </a:p>
        </p:txBody>
      </p:sp>
      <p:sp>
        <p:nvSpPr>
          <p:cNvPr id="8" name="TextBox 7"/>
          <p:cNvSpPr txBox="1"/>
          <p:nvPr/>
        </p:nvSpPr>
        <p:spPr>
          <a:xfrm>
            <a:off x="1188720" y="4732020"/>
            <a:ext cx="2926080" cy="925830"/>
          </a:xfrm>
          <a:prstGeom prst="rect">
            <a:avLst/>
          </a:prstGeom>
          <a:noFill/>
        </p:spPr>
        <p:txBody>
          <a:bodyPr wrap="square">
            <a:spAutoFit/>
          </a:bodyPr>
          <a:lstStyle/>
          <a:p>
            <a:pPr algn="l"/>
            <a:r>
              <a:rPr b="1" i="0" sz="1200">
                <a:solidFill>
                  <a:srgbClr val="3D3833"/>
                </a:solidFill>
                <a:latin typeface="Arial"/>
              </a:rPr>
              <a:t>DOMANDA
DI BUSINESS</a:t>
            </a:r>
          </a:p>
        </p:txBody>
      </p:sp>
      <p:sp>
        <p:nvSpPr>
          <p:cNvPr id="9" name="TextBox 8"/>
          <p:cNvSpPr txBox="1"/>
          <p:nvPr/>
        </p:nvSpPr>
        <p:spPr>
          <a:xfrm>
            <a:off x="1188720" y="5863589"/>
            <a:ext cx="2926080" cy="2263140"/>
          </a:xfrm>
          <a:prstGeom prst="rect">
            <a:avLst/>
          </a:prstGeom>
          <a:noFill/>
        </p:spPr>
        <p:txBody>
          <a:bodyPr wrap="square">
            <a:spAutoFit/>
          </a:bodyPr>
          <a:lstStyle/>
          <a:p>
            <a:pPr algn="l"/>
            <a:r>
              <a:rPr b="0" i="0" sz="1000">
                <a:solidFill>
                  <a:srgbClr val="8A8175"/>
                </a:solidFill>
                <a:latin typeface="Arial"/>
              </a:rPr>
              <a:t>Non 'cosa succede sul brand?' ma 'perche i nuovi clienti non convertono?' La domanda precede e determina tutto.</a:t>
            </a:r>
          </a:p>
        </p:txBody>
      </p:sp>
      <p:sp>
        <p:nvSpPr>
          <p:cNvPr id="10" name="TextBox 9"/>
          <p:cNvSpPr txBox="1"/>
          <p:nvPr/>
        </p:nvSpPr>
        <p:spPr>
          <a:xfrm>
            <a:off x="1188720" y="8229600"/>
            <a:ext cx="2926080" cy="822960"/>
          </a:xfrm>
          <a:prstGeom prst="rect">
            <a:avLst/>
          </a:prstGeom>
          <a:noFill/>
        </p:spPr>
        <p:txBody>
          <a:bodyPr wrap="square">
            <a:spAutoFit/>
          </a:bodyPr>
          <a:lstStyle/>
          <a:p>
            <a:pPr algn="l"/>
            <a:r>
              <a:rPr b="0" i="0" sz="900">
                <a:solidFill>
                  <a:srgbClr val="B8523A"/>
                </a:solidFill>
                <a:latin typeface="Courier New"/>
              </a:rPr>
              <a:t>[Brief]  [Board]</a:t>
            </a:r>
          </a:p>
        </p:txBody>
      </p:sp>
      <p:sp>
        <p:nvSpPr>
          <p:cNvPr id="11" name="Rectangle 10"/>
          <p:cNvSpPr/>
          <p:nvPr/>
        </p:nvSpPr>
        <p:spPr>
          <a:xfrm>
            <a:off x="4206240" y="3806190"/>
            <a:ext cx="3017520" cy="576072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4011930"/>
            <a:ext cx="3017520" cy="617220"/>
          </a:xfrm>
          <a:prstGeom prst="rect">
            <a:avLst/>
          </a:prstGeom>
          <a:noFill/>
        </p:spPr>
        <p:txBody>
          <a:bodyPr wrap="square">
            <a:spAutoFit/>
          </a:bodyPr>
          <a:lstStyle/>
          <a:p>
            <a:pPr algn="l"/>
            <a:r>
              <a:rPr b="1" i="0" sz="1000">
                <a:solidFill>
                  <a:srgbClr val="B8523A"/>
                </a:solidFill>
                <a:latin typeface="Courier New"/>
              </a:rPr>
              <a:t>02</a:t>
            </a:r>
          </a:p>
        </p:txBody>
      </p:sp>
      <p:sp>
        <p:nvSpPr>
          <p:cNvPr id="13" name="TextBox 12"/>
          <p:cNvSpPr txBox="1"/>
          <p:nvPr/>
        </p:nvSpPr>
        <p:spPr>
          <a:xfrm>
            <a:off x="4297680" y="4732020"/>
            <a:ext cx="2926080" cy="925830"/>
          </a:xfrm>
          <a:prstGeom prst="rect">
            <a:avLst/>
          </a:prstGeom>
          <a:noFill/>
        </p:spPr>
        <p:txBody>
          <a:bodyPr wrap="square">
            <a:spAutoFit/>
          </a:bodyPr>
          <a:lstStyle/>
          <a:p>
            <a:pPr algn="l"/>
            <a:r>
              <a:rPr b="1" i="0" sz="1200">
                <a:solidFill>
                  <a:srgbClr val="3D3833"/>
                </a:solidFill>
                <a:latin typeface="Arial"/>
              </a:rPr>
              <a:t>FONTI
GIUSTE</a:t>
            </a:r>
          </a:p>
        </p:txBody>
      </p:sp>
      <p:sp>
        <p:nvSpPr>
          <p:cNvPr id="14" name="TextBox 13"/>
          <p:cNvSpPr txBox="1"/>
          <p:nvPr/>
        </p:nvSpPr>
        <p:spPr>
          <a:xfrm>
            <a:off x="4297680" y="5863589"/>
            <a:ext cx="2926080" cy="2263140"/>
          </a:xfrm>
          <a:prstGeom prst="rect">
            <a:avLst/>
          </a:prstGeom>
          <a:noFill/>
        </p:spPr>
        <p:txBody>
          <a:bodyPr wrap="square">
            <a:spAutoFit/>
          </a:bodyPr>
          <a:lstStyle/>
          <a:p>
            <a:pPr algn="l"/>
            <a:r>
              <a:rPr b="0" i="0" sz="1000">
                <a:solidFill>
                  <a:srgbClr val="8A8175"/>
                </a:solidFill>
                <a:latin typeface="Arial"/>
              </a:rPr>
              <a:t>Non una fonte — le fonti giuste per quella domanda. Ogni fonte e una finestra con un angolo unico sul mercato.</a:t>
            </a:r>
          </a:p>
        </p:txBody>
      </p:sp>
      <p:sp>
        <p:nvSpPr>
          <p:cNvPr id="15" name="TextBox 14"/>
          <p:cNvSpPr txBox="1"/>
          <p:nvPr/>
        </p:nvSpPr>
        <p:spPr>
          <a:xfrm>
            <a:off x="4297680" y="8229600"/>
            <a:ext cx="2926080" cy="822960"/>
          </a:xfrm>
          <a:prstGeom prst="rect">
            <a:avLst/>
          </a:prstGeom>
          <a:noFill/>
        </p:spPr>
        <p:txBody>
          <a:bodyPr wrap="square">
            <a:spAutoFit/>
          </a:bodyPr>
          <a:lstStyle/>
          <a:p>
            <a:pPr algn="l"/>
            <a:r>
              <a:rPr b="0" i="0" sz="900">
                <a:solidFill>
                  <a:srgbClr val="B8523A"/>
                </a:solidFill>
                <a:latin typeface="Courier New"/>
              </a:rPr>
              <a:t>[SL]  [Search]  [CRM]</a:t>
            </a:r>
          </a:p>
        </p:txBody>
      </p:sp>
      <p:sp>
        <p:nvSpPr>
          <p:cNvPr id="16" name="Rectangle 15"/>
          <p:cNvSpPr/>
          <p:nvPr/>
        </p:nvSpPr>
        <p:spPr>
          <a:xfrm>
            <a:off x="7315200" y="3806190"/>
            <a:ext cx="3017520" cy="576072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4011930"/>
            <a:ext cx="3017520" cy="617220"/>
          </a:xfrm>
          <a:prstGeom prst="rect">
            <a:avLst/>
          </a:prstGeom>
          <a:noFill/>
        </p:spPr>
        <p:txBody>
          <a:bodyPr wrap="square">
            <a:spAutoFit/>
          </a:bodyPr>
          <a:lstStyle/>
          <a:p>
            <a:pPr algn="l"/>
            <a:r>
              <a:rPr b="1" i="0" sz="1000">
                <a:solidFill>
                  <a:srgbClr val="B8523A"/>
                </a:solidFill>
                <a:latin typeface="Courier New"/>
              </a:rPr>
              <a:t>03</a:t>
            </a:r>
          </a:p>
        </p:txBody>
      </p:sp>
      <p:sp>
        <p:nvSpPr>
          <p:cNvPr id="18" name="TextBox 17"/>
          <p:cNvSpPr txBox="1"/>
          <p:nvPr/>
        </p:nvSpPr>
        <p:spPr>
          <a:xfrm>
            <a:off x="7406640" y="4732020"/>
            <a:ext cx="2926080" cy="925830"/>
          </a:xfrm>
          <a:prstGeom prst="rect">
            <a:avLst/>
          </a:prstGeom>
          <a:noFill/>
        </p:spPr>
        <p:txBody>
          <a:bodyPr wrap="square">
            <a:spAutoFit/>
          </a:bodyPr>
          <a:lstStyle/>
          <a:p>
            <a:pPr algn="l"/>
            <a:r>
              <a:rPr b="1" i="0" sz="1200">
                <a:solidFill>
                  <a:srgbClr val="3D3833"/>
                </a:solidFill>
                <a:latin typeface="Arial"/>
              </a:rPr>
              <a:t>SINTESI
AI</a:t>
            </a:r>
          </a:p>
        </p:txBody>
      </p:sp>
      <p:sp>
        <p:nvSpPr>
          <p:cNvPr id="19" name="TextBox 18"/>
          <p:cNvSpPr txBox="1"/>
          <p:nvPr/>
        </p:nvSpPr>
        <p:spPr>
          <a:xfrm>
            <a:off x="7406640" y="5863589"/>
            <a:ext cx="2926080" cy="2263140"/>
          </a:xfrm>
          <a:prstGeom prst="rect">
            <a:avLst/>
          </a:prstGeom>
          <a:noFill/>
        </p:spPr>
        <p:txBody>
          <a:bodyPr wrap="square">
            <a:spAutoFit/>
          </a:bodyPr>
          <a:lstStyle/>
          <a:p>
            <a:pPr algn="l"/>
            <a:r>
              <a:rPr b="0" i="0" sz="1000">
                <a:solidFill>
                  <a:srgbClr val="8A8175"/>
                </a:solidFill>
                <a:latin typeface="Arial"/>
              </a:rPr>
              <a:t>L'AI sintetizza, raggruppa, identifica pattern a scala. Veloce, instancabile. Task Layer in azione.</a:t>
            </a:r>
          </a:p>
        </p:txBody>
      </p:sp>
      <p:sp>
        <p:nvSpPr>
          <p:cNvPr id="20" name="TextBox 19"/>
          <p:cNvSpPr txBox="1"/>
          <p:nvPr/>
        </p:nvSpPr>
        <p:spPr>
          <a:xfrm>
            <a:off x="7406640" y="8229600"/>
            <a:ext cx="2926080" cy="822960"/>
          </a:xfrm>
          <a:prstGeom prst="rect">
            <a:avLst/>
          </a:prstGeom>
          <a:noFill/>
        </p:spPr>
        <p:txBody>
          <a:bodyPr wrap="square">
            <a:spAutoFit/>
          </a:bodyPr>
          <a:lstStyle/>
          <a:p>
            <a:pPr algn="l"/>
            <a:r>
              <a:rPr b="0" i="0" sz="900">
                <a:solidFill>
                  <a:srgbClr val="B8523A"/>
                </a:solidFill>
                <a:latin typeface="Courier New"/>
              </a:rPr>
              <a:t>[GPT]  [Claude]</a:t>
            </a:r>
          </a:p>
        </p:txBody>
      </p:sp>
      <p:sp>
        <p:nvSpPr>
          <p:cNvPr id="21" name="Rectangle 20"/>
          <p:cNvSpPr/>
          <p:nvPr/>
        </p:nvSpPr>
        <p:spPr>
          <a:xfrm>
            <a:off x="10424160" y="3806190"/>
            <a:ext cx="3017520" cy="576072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0" y="4011930"/>
            <a:ext cx="3017520" cy="617220"/>
          </a:xfrm>
          <a:prstGeom prst="rect">
            <a:avLst/>
          </a:prstGeom>
          <a:noFill/>
        </p:spPr>
        <p:txBody>
          <a:bodyPr wrap="square">
            <a:spAutoFit/>
          </a:bodyPr>
          <a:lstStyle/>
          <a:p>
            <a:pPr algn="l"/>
            <a:r>
              <a:rPr b="1" i="0" sz="1000">
                <a:solidFill>
                  <a:srgbClr val="B8523A"/>
                </a:solidFill>
                <a:latin typeface="Courier New"/>
              </a:rPr>
              <a:t>04</a:t>
            </a:r>
          </a:p>
        </p:txBody>
      </p:sp>
      <p:sp>
        <p:nvSpPr>
          <p:cNvPr id="23" name="TextBox 22"/>
          <p:cNvSpPr txBox="1"/>
          <p:nvPr/>
        </p:nvSpPr>
        <p:spPr>
          <a:xfrm>
            <a:off x="10515600" y="4732020"/>
            <a:ext cx="2926080" cy="925830"/>
          </a:xfrm>
          <a:prstGeom prst="rect">
            <a:avLst/>
          </a:prstGeom>
          <a:noFill/>
        </p:spPr>
        <p:txBody>
          <a:bodyPr wrap="square">
            <a:spAutoFit/>
          </a:bodyPr>
          <a:lstStyle/>
          <a:p>
            <a:pPr algn="l"/>
            <a:r>
              <a:rPr b="1" i="0" sz="1200">
                <a:solidFill>
                  <a:srgbClr val="3D3833"/>
                </a:solidFill>
                <a:latin typeface="Arial"/>
              </a:rPr>
              <a:t>VALIDAZIONE
UMANA</a:t>
            </a:r>
          </a:p>
        </p:txBody>
      </p:sp>
      <p:sp>
        <p:nvSpPr>
          <p:cNvPr id="24" name="TextBox 23"/>
          <p:cNvSpPr txBox="1"/>
          <p:nvPr/>
        </p:nvSpPr>
        <p:spPr>
          <a:xfrm>
            <a:off x="10515600" y="5863589"/>
            <a:ext cx="2926080" cy="2263140"/>
          </a:xfrm>
          <a:prstGeom prst="rect">
            <a:avLst/>
          </a:prstGeom>
          <a:noFill/>
        </p:spPr>
        <p:txBody>
          <a:bodyPr wrap="square">
            <a:spAutoFit/>
          </a:bodyPr>
          <a:lstStyle/>
          <a:p>
            <a:pPr algn="l"/>
            <a:r>
              <a:rPr b="0" i="0" sz="1000">
                <a:solidFill>
                  <a:srgbClr val="8A8175"/>
                </a:solidFill>
                <a:latin typeface="Arial"/>
              </a:rPr>
              <a:t>L'analista valida, interpreta, riconosce bias, contesto culturale, la verita scomoda. Judgement Layer.</a:t>
            </a:r>
          </a:p>
        </p:txBody>
      </p:sp>
      <p:sp>
        <p:nvSpPr>
          <p:cNvPr id="25" name="TextBox 24"/>
          <p:cNvSpPr txBox="1"/>
          <p:nvPr/>
        </p:nvSpPr>
        <p:spPr>
          <a:xfrm>
            <a:off x="10515600" y="8229600"/>
            <a:ext cx="2926080" cy="822960"/>
          </a:xfrm>
          <a:prstGeom prst="rect">
            <a:avLst/>
          </a:prstGeom>
          <a:noFill/>
        </p:spPr>
        <p:txBody>
          <a:bodyPr wrap="square">
            <a:spAutoFit/>
          </a:bodyPr>
          <a:lstStyle/>
          <a:p>
            <a:pPr algn="l"/>
            <a:r>
              <a:rPr b="0" i="0" sz="900">
                <a:solidFill>
                  <a:srgbClr val="B8523A"/>
                </a:solidFill>
                <a:latin typeface="Courier New"/>
              </a:rPr>
              <a:t>[Context]  [Bias]</a:t>
            </a:r>
          </a:p>
        </p:txBody>
      </p:sp>
      <p:sp>
        <p:nvSpPr>
          <p:cNvPr id="26" name="Rectangle 25"/>
          <p:cNvSpPr/>
          <p:nvPr/>
        </p:nvSpPr>
        <p:spPr>
          <a:xfrm>
            <a:off x="13533120" y="3806190"/>
            <a:ext cx="3017520" cy="576072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624560" y="4011930"/>
            <a:ext cx="3017520" cy="617220"/>
          </a:xfrm>
          <a:prstGeom prst="rect">
            <a:avLst/>
          </a:prstGeom>
          <a:noFill/>
        </p:spPr>
        <p:txBody>
          <a:bodyPr wrap="square">
            <a:spAutoFit/>
          </a:bodyPr>
          <a:lstStyle/>
          <a:p>
            <a:pPr algn="l"/>
            <a:r>
              <a:rPr b="1" i="0" sz="1000">
                <a:solidFill>
                  <a:srgbClr val="B8523A"/>
                </a:solidFill>
                <a:latin typeface="Courier New"/>
              </a:rPr>
              <a:t>05</a:t>
            </a:r>
          </a:p>
        </p:txBody>
      </p:sp>
      <p:sp>
        <p:nvSpPr>
          <p:cNvPr id="28" name="TextBox 27"/>
          <p:cNvSpPr txBox="1"/>
          <p:nvPr/>
        </p:nvSpPr>
        <p:spPr>
          <a:xfrm>
            <a:off x="13624560" y="4732020"/>
            <a:ext cx="2926080" cy="925830"/>
          </a:xfrm>
          <a:prstGeom prst="rect">
            <a:avLst/>
          </a:prstGeom>
          <a:noFill/>
        </p:spPr>
        <p:txBody>
          <a:bodyPr wrap="square">
            <a:spAutoFit/>
          </a:bodyPr>
          <a:lstStyle/>
          <a:p>
            <a:pPr algn="l"/>
            <a:r>
              <a:rPr b="1" i="0" sz="1200">
                <a:solidFill>
                  <a:srgbClr val="3D3833"/>
                </a:solidFill>
                <a:latin typeface="Arial"/>
              </a:rPr>
              <a:t>INSIGHT
E AZIONE</a:t>
            </a:r>
          </a:p>
        </p:txBody>
      </p:sp>
      <p:sp>
        <p:nvSpPr>
          <p:cNvPr id="29" name="TextBox 28"/>
          <p:cNvSpPr txBox="1"/>
          <p:nvPr/>
        </p:nvSpPr>
        <p:spPr>
          <a:xfrm>
            <a:off x="13624560" y="5863589"/>
            <a:ext cx="2926080" cy="2263140"/>
          </a:xfrm>
          <a:prstGeom prst="rect">
            <a:avLst/>
          </a:prstGeom>
          <a:noFill/>
        </p:spPr>
        <p:txBody>
          <a:bodyPr wrap="square">
            <a:spAutoFit/>
          </a:bodyPr>
          <a:lstStyle/>
          <a:p>
            <a:pPr algn="l"/>
            <a:r>
              <a:rPr b="0" i="0" sz="1000">
                <a:solidFill>
                  <a:srgbClr val="8A8175"/>
                </a:solidFill>
                <a:latin typeface="Arial"/>
              </a:rPr>
              <a:t>L'insight portato alla persona giusta, nel momento giusto, nel linguaggio giusto. Orientamento, non commento.</a:t>
            </a:r>
          </a:p>
        </p:txBody>
      </p:sp>
      <p:sp>
        <p:nvSpPr>
          <p:cNvPr id="30" name="TextBox 29"/>
          <p:cNvSpPr txBox="1"/>
          <p:nvPr/>
        </p:nvSpPr>
        <p:spPr>
          <a:xfrm>
            <a:off x="13624560" y="8229600"/>
            <a:ext cx="2926080" cy="822960"/>
          </a:xfrm>
          <a:prstGeom prst="rect">
            <a:avLst/>
          </a:prstGeom>
          <a:noFill/>
        </p:spPr>
        <p:txBody>
          <a:bodyPr wrap="square">
            <a:spAutoFit/>
          </a:bodyPr>
          <a:lstStyle/>
          <a:p>
            <a:pPr algn="l"/>
            <a:r>
              <a:rPr b="0" i="0" sz="900">
                <a:solidFill>
                  <a:srgbClr val="B8523A"/>
                </a:solidFill>
                <a:latin typeface="Courier New"/>
              </a:rPr>
              <a:t>[Decision]  [Action]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514350"/>
            <a:ext cx="16733520" cy="320040"/>
          </a:xfrm>
          <a:prstGeom prst="rect">
            <a:avLst/>
          </a:prstGeom>
          <a:noFill/>
        </p:spPr>
        <p:txBody>
          <a:bodyPr wrap="square">
            <a:spAutoFit/>
          </a:bodyPr>
          <a:lstStyle/>
          <a:p>
            <a:pPr algn="l"/>
            <a:r>
              <a:rPr b="1" i="0" sz="1000">
                <a:solidFill>
                  <a:srgbClr val="B8523A"/>
                </a:solidFill>
                <a:latin typeface="Courier New"/>
              </a:rPr>
              <a:t>●  AI E L'ANALISTA — L'ECOSISTEMA DELLE FONTI</a:t>
            </a:r>
          </a:p>
        </p:txBody>
      </p:sp>
      <p:sp>
        <p:nvSpPr>
          <p:cNvPr id="3" name="TextBox 2"/>
          <p:cNvSpPr txBox="1"/>
          <p:nvPr/>
        </p:nvSpPr>
        <p:spPr>
          <a:xfrm>
            <a:off x="1097280" y="1131570"/>
            <a:ext cx="16093440" cy="925830"/>
          </a:xfrm>
          <a:prstGeom prst="rect">
            <a:avLst/>
          </a:prstGeom>
          <a:noFill/>
        </p:spPr>
        <p:txBody>
          <a:bodyPr wrap="square">
            <a:spAutoFit/>
          </a:bodyPr>
          <a:lstStyle/>
          <a:p>
            <a:pPr algn="l"/>
            <a:r>
              <a:rPr b="1" i="0" sz="2600">
                <a:solidFill>
                  <a:srgbClr val="3D3833"/>
                </a:solidFill>
                <a:latin typeface="Georgia"/>
              </a:rPr>
              <a:t>L'orchestratore conosce tutte le finestre.</a:t>
            </a:r>
          </a:p>
        </p:txBody>
      </p:sp>
      <p:sp>
        <p:nvSpPr>
          <p:cNvPr id="4" name="Rectangle 3"/>
          <p:cNvSpPr/>
          <p:nvPr/>
        </p:nvSpPr>
        <p:spPr>
          <a:xfrm>
            <a:off x="1097280" y="2160270"/>
            <a:ext cx="16093440" cy="92583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263140"/>
            <a:ext cx="15361920" cy="411480"/>
          </a:xfrm>
          <a:prstGeom prst="rect">
            <a:avLst/>
          </a:prstGeom>
          <a:noFill/>
        </p:spPr>
        <p:txBody>
          <a:bodyPr wrap="square">
            <a:spAutoFit/>
          </a:bodyPr>
          <a:lstStyle/>
          <a:p>
            <a:pPr algn="l"/>
            <a:r>
              <a:rPr b="0" i="1" sz="1100">
                <a:solidFill>
                  <a:srgbClr val="3D3833"/>
                </a:solidFill>
                <a:latin typeface="Arial"/>
              </a:rPr>
              <a:t>Dialogare con tutte le fonti non e una novita — e quello che avremmo sempre dovuto fare.</a:t>
            </a:r>
          </a:p>
        </p:txBody>
      </p:sp>
      <p:sp>
        <p:nvSpPr>
          <p:cNvPr id="6" name="TextBox 5"/>
          <p:cNvSpPr txBox="1"/>
          <p:nvPr/>
        </p:nvSpPr>
        <p:spPr>
          <a:xfrm>
            <a:off x="1463040" y="2674620"/>
            <a:ext cx="15361920" cy="411480"/>
          </a:xfrm>
          <a:prstGeom prst="rect">
            <a:avLst/>
          </a:prstGeom>
          <a:noFill/>
        </p:spPr>
        <p:txBody>
          <a:bodyPr wrap="square">
            <a:spAutoFit/>
          </a:bodyPr>
          <a:lstStyle/>
          <a:p>
            <a:pPr algn="l"/>
            <a:r>
              <a:rPr b="0" i="1" sz="1100">
                <a:solidFill>
                  <a:srgbClr val="B8523A"/>
                </a:solidFill>
                <a:latin typeface="Arial"/>
              </a:rPr>
              <a:t>L'AI adesso lo rende possibile a una scala, velocita e profondita prima irraggiungibili.</a:t>
            </a:r>
          </a:p>
        </p:txBody>
      </p:sp>
      <p:sp>
        <p:nvSpPr>
          <p:cNvPr id="7" name="Rectangle 6"/>
          <p:cNvSpPr/>
          <p:nvPr/>
        </p:nvSpPr>
        <p:spPr>
          <a:xfrm>
            <a:off x="1097280" y="329184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374136"/>
            <a:ext cx="3639312" cy="308610"/>
          </a:xfrm>
          <a:prstGeom prst="rect">
            <a:avLst/>
          </a:prstGeom>
          <a:noFill/>
        </p:spPr>
        <p:txBody>
          <a:bodyPr wrap="square">
            <a:spAutoFit/>
          </a:bodyPr>
          <a:lstStyle/>
          <a:p>
            <a:pPr algn="l"/>
            <a:r>
              <a:rPr b="1" i="0" sz="1000">
                <a:solidFill>
                  <a:srgbClr val="3D3833"/>
                </a:solidFill>
                <a:latin typeface="Arial"/>
              </a:rPr>
              <a:t>Social Listening</a:t>
            </a:r>
          </a:p>
        </p:txBody>
      </p:sp>
      <p:sp>
        <p:nvSpPr>
          <p:cNvPr id="9" name="TextBox 8"/>
          <p:cNvSpPr txBox="1"/>
          <p:nvPr/>
        </p:nvSpPr>
        <p:spPr>
          <a:xfrm>
            <a:off x="1188720" y="3682746"/>
            <a:ext cx="3639312" cy="411480"/>
          </a:xfrm>
          <a:prstGeom prst="rect">
            <a:avLst/>
          </a:prstGeom>
          <a:noFill/>
        </p:spPr>
        <p:txBody>
          <a:bodyPr wrap="square">
            <a:spAutoFit/>
          </a:bodyPr>
          <a:lstStyle/>
          <a:p>
            <a:pPr algn="l"/>
            <a:r>
              <a:rPr b="0" i="0" sz="900">
                <a:solidFill>
                  <a:srgbClr val="8A8175"/>
                </a:solidFill>
                <a:latin typeface="Arial"/>
              </a:rPr>
              <a:t>Voce spontanea — cosa dicono senza sapere di essere osservati</a:t>
            </a:r>
          </a:p>
        </p:txBody>
      </p:sp>
      <p:sp>
        <p:nvSpPr>
          <p:cNvPr id="10" name="TextBox 9"/>
          <p:cNvSpPr txBox="1"/>
          <p:nvPr/>
        </p:nvSpPr>
        <p:spPr>
          <a:xfrm>
            <a:off x="1188720" y="4073652"/>
            <a:ext cx="3639312" cy="226314"/>
          </a:xfrm>
          <a:prstGeom prst="rect">
            <a:avLst/>
          </a:prstGeom>
          <a:noFill/>
        </p:spPr>
        <p:txBody>
          <a:bodyPr wrap="square">
            <a:spAutoFit/>
          </a:bodyPr>
          <a:lstStyle/>
          <a:p>
            <a:pPr algn="l"/>
            <a:r>
              <a:rPr b="0" i="0" sz="800">
                <a:solidFill>
                  <a:srgbClr val="B8523A"/>
                </a:solidFill>
                <a:latin typeface="Courier New"/>
              </a:rPr>
              <a:t>[AI: sintesi real-time]</a:t>
            </a:r>
          </a:p>
        </p:txBody>
      </p:sp>
      <p:sp>
        <p:nvSpPr>
          <p:cNvPr id="11" name="Rectangle 10"/>
          <p:cNvSpPr/>
          <p:nvPr/>
        </p:nvSpPr>
        <p:spPr>
          <a:xfrm>
            <a:off x="5029200" y="329184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3374136"/>
            <a:ext cx="3639312" cy="308610"/>
          </a:xfrm>
          <a:prstGeom prst="rect">
            <a:avLst/>
          </a:prstGeom>
          <a:noFill/>
        </p:spPr>
        <p:txBody>
          <a:bodyPr wrap="square">
            <a:spAutoFit/>
          </a:bodyPr>
          <a:lstStyle/>
          <a:p>
            <a:pPr algn="l"/>
            <a:r>
              <a:rPr b="1" i="0" sz="1000">
                <a:solidFill>
                  <a:srgbClr val="3D3833"/>
                </a:solidFill>
                <a:latin typeface="Arial"/>
              </a:rPr>
              <a:t>Search Intent</a:t>
            </a:r>
          </a:p>
        </p:txBody>
      </p:sp>
      <p:sp>
        <p:nvSpPr>
          <p:cNvPr id="13" name="TextBox 12"/>
          <p:cNvSpPr txBox="1"/>
          <p:nvPr/>
        </p:nvSpPr>
        <p:spPr>
          <a:xfrm>
            <a:off x="5120640" y="3682746"/>
            <a:ext cx="3639312" cy="411480"/>
          </a:xfrm>
          <a:prstGeom prst="rect">
            <a:avLst/>
          </a:prstGeom>
          <a:noFill/>
        </p:spPr>
        <p:txBody>
          <a:bodyPr wrap="square">
            <a:spAutoFit/>
          </a:bodyPr>
          <a:lstStyle/>
          <a:p>
            <a:pPr algn="l"/>
            <a:r>
              <a:rPr b="0" i="0" sz="900">
                <a:solidFill>
                  <a:srgbClr val="8A8175"/>
                </a:solidFill>
                <a:latin typeface="Arial"/>
              </a:rPr>
              <a:t>Intenzione pre-decisione — il bisogno non ancora dichiarato</a:t>
            </a:r>
          </a:p>
        </p:txBody>
      </p:sp>
      <p:sp>
        <p:nvSpPr>
          <p:cNvPr id="14" name="TextBox 13"/>
          <p:cNvSpPr txBox="1"/>
          <p:nvPr/>
        </p:nvSpPr>
        <p:spPr>
          <a:xfrm>
            <a:off x="5120640" y="4073652"/>
            <a:ext cx="3639312" cy="226314"/>
          </a:xfrm>
          <a:prstGeom prst="rect">
            <a:avLst/>
          </a:prstGeom>
          <a:noFill/>
        </p:spPr>
        <p:txBody>
          <a:bodyPr wrap="square">
            <a:spAutoFit/>
          </a:bodyPr>
          <a:lstStyle/>
          <a:p>
            <a:pPr algn="l"/>
            <a:r>
              <a:rPr b="0" i="0" sz="800">
                <a:solidFill>
                  <a:srgbClr val="B8523A"/>
                </a:solidFill>
                <a:latin typeface="Courier New"/>
              </a:rPr>
              <a:t>[AI: clustering intent]</a:t>
            </a:r>
          </a:p>
        </p:txBody>
      </p:sp>
      <p:sp>
        <p:nvSpPr>
          <p:cNvPr id="15" name="Rectangle 14"/>
          <p:cNvSpPr/>
          <p:nvPr/>
        </p:nvSpPr>
        <p:spPr>
          <a:xfrm>
            <a:off x="8961120" y="329184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3374136"/>
            <a:ext cx="3639312" cy="308610"/>
          </a:xfrm>
          <a:prstGeom prst="rect">
            <a:avLst/>
          </a:prstGeom>
          <a:noFill/>
        </p:spPr>
        <p:txBody>
          <a:bodyPr wrap="square">
            <a:spAutoFit/>
          </a:bodyPr>
          <a:lstStyle/>
          <a:p>
            <a:pPr algn="l"/>
            <a:r>
              <a:rPr b="1" i="0" sz="1000">
                <a:solidFill>
                  <a:srgbClr val="3D3833"/>
                </a:solidFill>
                <a:latin typeface="Arial"/>
              </a:rPr>
              <a:t>Survey CAWI</a:t>
            </a:r>
          </a:p>
        </p:txBody>
      </p:sp>
      <p:sp>
        <p:nvSpPr>
          <p:cNvPr id="17" name="TextBox 16"/>
          <p:cNvSpPr txBox="1"/>
          <p:nvPr/>
        </p:nvSpPr>
        <p:spPr>
          <a:xfrm>
            <a:off x="9052560" y="3682746"/>
            <a:ext cx="3639312" cy="411480"/>
          </a:xfrm>
          <a:prstGeom prst="rect">
            <a:avLst/>
          </a:prstGeom>
          <a:noFill/>
        </p:spPr>
        <p:txBody>
          <a:bodyPr wrap="square">
            <a:spAutoFit/>
          </a:bodyPr>
          <a:lstStyle/>
          <a:p>
            <a:pPr algn="l"/>
            <a:r>
              <a:rPr b="0" i="0" sz="900">
                <a:solidFill>
                  <a:srgbClr val="8A8175"/>
                </a:solidFill>
                <a:latin typeface="Arial"/>
              </a:rPr>
              <a:t>Voce sollecitata — strutturata, quantificabile, filtrata</a:t>
            </a:r>
          </a:p>
        </p:txBody>
      </p:sp>
      <p:sp>
        <p:nvSpPr>
          <p:cNvPr id="18" name="TextBox 17"/>
          <p:cNvSpPr txBox="1"/>
          <p:nvPr/>
        </p:nvSpPr>
        <p:spPr>
          <a:xfrm>
            <a:off x="9052560" y="4073652"/>
            <a:ext cx="3639312" cy="226314"/>
          </a:xfrm>
          <a:prstGeom prst="rect">
            <a:avLst/>
          </a:prstGeom>
          <a:noFill/>
        </p:spPr>
        <p:txBody>
          <a:bodyPr wrap="square">
            <a:spAutoFit/>
          </a:bodyPr>
          <a:lstStyle/>
          <a:p>
            <a:pPr algn="l"/>
            <a:r>
              <a:rPr b="0" i="0" sz="800">
                <a:solidFill>
                  <a:srgbClr val="B8523A"/>
                </a:solidFill>
                <a:latin typeface="Courier New"/>
              </a:rPr>
              <a:t>[AI: analisi testuale]</a:t>
            </a:r>
          </a:p>
        </p:txBody>
      </p:sp>
      <p:sp>
        <p:nvSpPr>
          <p:cNvPr id="19" name="Rectangle 18"/>
          <p:cNvSpPr/>
          <p:nvPr/>
        </p:nvSpPr>
        <p:spPr>
          <a:xfrm>
            <a:off x="12893040" y="329184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984480" y="3374136"/>
            <a:ext cx="3639312" cy="308610"/>
          </a:xfrm>
          <a:prstGeom prst="rect">
            <a:avLst/>
          </a:prstGeom>
          <a:noFill/>
        </p:spPr>
        <p:txBody>
          <a:bodyPr wrap="square">
            <a:spAutoFit/>
          </a:bodyPr>
          <a:lstStyle/>
          <a:p>
            <a:pPr algn="l"/>
            <a:r>
              <a:rPr b="1" i="0" sz="1000">
                <a:solidFill>
                  <a:srgbClr val="3D3833"/>
                </a:solidFill>
                <a:latin typeface="Arial"/>
              </a:rPr>
              <a:t>CRM &amp; First-party</a:t>
            </a:r>
          </a:p>
        </p:txBody>
      </p:sp>
      <p:sp>
        <p:nvSpPr>
          <p:cNvPr id="21" name="TextBox 20"/>
          <p:cNvSpPr txBox="1"/>
          <p:nvPr/>
        </p:nvSpPr>
        <p:spPr>
          <a:xfrm>
            <a:off x="12984480" y="3682746"/>
            <a:ext cx="3639312" cy="411480"/>
          </a:xfrm>
          <a:prstGeom prst="rect">
            <a:avLst/>
          </a:prstGeom>
          <a:noFill/>
        </p:spPr>
        <p:txBody>
          <a:bodyPr wrap="square">
            <a:spAutoFit/>
          </a:bodyPr>
          <a:lstStyle/>
          <a:p>
            <a:pPr algn="l"/>
            <a:r>
              <a:rPr b="0" i="0" sz="900">
                <a:solidFill>
                  <a:srgbClr val="8A8175"/>
                </a:solidFill>
                <a:latin typeface="Arial"/>
              </a:rPr>
              <a:t>Customer base reale — comportamenti verificati, non percepiti</a:t>
            </a:r>
          </a:p>
        </p:txBody>
      </p:sp>
      <p:sp>
        <p:nvSpPr>
          <p:cNvPr id="22" name="TextBox 21"/>
          <p:cNvSpPr txBox="1"/>
          <p:nvPr/>
        </p:nvSpPr>
        <p:spPr>
          <a:xfrm>
            <a:off x="12984480" y="4073652"/>
            <a:ext cx="3639312" cy="226314"/>
          </a:xfrm>
          <a:prstGeom prst="rect">
            <a:avLst/>
          </a:prstGeom>
          <a:noFill/>
        </p:spPr>
        <p:txBody>
          <a:bodyPr wrap="square">
            <a:spAutoFit/>
          </a:bodyPr>
          <a:lstStyle/>
          <a:p>
            <a:pPr algn="l"/>
            <a:r>
              <a:rPr b="0" i="0" sz="800">
                <a:solidFill>
                  <a:srgbClr val="B8523A"/>
                </a:solidFill>
                <a:latin typeface="Courier New"/>
              </a:rPr>
              <a:t>[AI: pattern predittivi]</a:t>
            </a:r>
          </a:p>
        </p:txBody>
      </p:sp>
      <p:sp>
        <p:nvSpPr>
          <p:cNvPr id="23" name="Rectangle 22"/>
          <p:cNvSpPr/>
          <p:nvPr/>
        </p:nvSpPr>
        <p:spPr>
          <a:xfrm>
            <a:off x="1097280" y="442341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4505706"/>
            <a:ext cx="3639312" cy="308610"/>
          </a:xfrm>
          <a:prstGeom prst="rect">
            <a:avLst/>
          </a:prstGeom>
          <a:noFill/>
        </p:spPr>
        <p:txBody>
          <a:bodyPr wrap="square">
            <a:spAutoFit/>
          </a:bodyPr>
          <a:lstStyle/>
          <a:p>
            <a:pPr algn="l"/>
            <a:r>
              <a:rPr b="1" i="0" sz="1000">
                <a:solidFill>
                  <a:srgbClr val="3D3833"/>
                </a:solidFill>
                <a:latin typeface="Arial"/>
              </a:rPr>
              <a:t>Review &amp; Rating</a:t>
            </a:r>
          </a:p>
        </p:txBody>
      </p:sp>
      <p:sp>
        <p:nvSpPr>
          <p:cNvPr id="25" name="TextBox 24"/>
          <p:cNvSpPr txBox="1"/>
          <p:nvPr/>
        </p:nvSpPr>
        <p:spPr>
          <a:xfrm>
            <a:off x="1188720" y="4814316"/>
            <a:ext cx="3639312" cy="411480"/>
          </a:xfrm>
          <a:prstGeom prst="rect">
            <a:avLst/>
          </a:prstGeom>
          <a:noFill/>
        </p:spPr>
        <p:txBody>
          <a:bodyPr wrap="square">
            <a:spAutoFit/>
          </a:bodyPr>
          <a:lstStyle/>
          <a:p>
            <a:pPr algn="l"/>
            <a:r>
              <a:rPr b="0" i="0" sz="900">
                <a:solidFill>
                  <a:srgbClr val="8A8175"/>
                </a:solidFill>
                <a:latin typeface="Arial"/>
              </a:rPr>
              <a:t>Esperienza vissuta post-acquisto — frustrazione e delizia reali</a:t>
            </a:r>
          </a:p>
        </p:txBody>
      </p:sp>
      <p:sp>
        <p:nvSpPr>
          <p:cNvPr id="26" name="TextBox 25"/>
          <p:cNvSpPr txBox="1"/>
          <p:nvPr/>
        </p:nvSpPr>
        <p:spPr>
          <a:xfrm>
            <a:off x="1188720" y="5205222"/>
            <a:ext cx="3639312" cy="226314"/>
          </a:xfrm>
          <a:prstGeom prst="rect">
            <a:avLst/>
          </a:prstGeom>
          <a:noFill/>
        </p:spPr>
        <p:txBody>
          <a:bodyPr wrap="square">
            <a:spAutoFit/>
          </a:bodyPr>
          <a:lstStyle/>
          <a:p>
            <a:pPr algn="l"/>
            <a:r>
              <a:rPr b="0" i="0" sz="800">
                <a:solidFill>
                  <a:srgbClr val="B8523A"/>
                </a:solidFill>
                <a:latin typeface="Courier New"/>
              </a:rPr>
              <a:t>[AI: sentiment granulare]</a:t>
            </a:r>
          </a:p>
        </p:txBody>
      </p:sp>
      <p:sp>
        <p:nvSpPr>
          <p:cNvPr id="27" name="Rectangle 26"/>
          <p:cNvSpPr/>
          <p:nvPr/>
        </p:nvSpPr>
        <p:spPr>
          <a:xfrm>
            <a:off x="5029200" y="442341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0" y="4505706"/>
            <a:ext cx="3639312" cy="308610"/>
          </a:xfrm>
          <a:prstGeom prst="rect">
            <a:avLst/>
          </a:prstGeom>
          <a:noFill/>
        </p:spPr>
        <p:txBody>
          <a:bodyPr wrap="square">
            <a:spAutoFit/>
          </a:bodyPr>
          <a:lstStyle/>
          <a:p>
            <a:pPr algn="l"/>
            <a:r>
              <a:rPr b="1" i="0" sz="1000">
                <a:solidFill>
                  <a:srgbClr val="3D3833"/>
                </a:solidFill>
                <a:latin typeface="Arial"/>
              </a:rPr>
              <a:t>Forum &amp; Community</a:t>
            </a:r>
          </a:p>
        </p:txBody>
      </p:sp>
      <p:sp>
        <p:nvSpPr>
          <p:cNvPr id="29" name="TextBox 28"/>
          <p:cNvSpPr txBox="1"/>
          <p:nvPr/>
        </p:nvSpPr>
        <p:spPr>
          <a:xfrm>
            <a:off x="5120640" y="4814316"/>
            <a:ext cx="3639312" cy="411480"/>
          </a:xfrm>
          <a:prstGeom prst="rect">
            <a:avLst/>
          </a:prstGeom>
          <a:noFill/>
        </p:spPr>
        <p:txBody>
          <a:bodyPr wrap="square">
            <a:spAutoFit/>
          </a:bodyPr>
          <a:lstStyle/>
          <a:p>
            <a:pPr algn="l"/>
            <a:r>
              <a:rPr b="0" i="0" sz="900">
                <a:solidFill>
                  <a:srgbClr val="8A8175"/>
                </a:solidFill>
                <a:latin typeface="Arial"/>
              </a:rPr>
              <a:t>Codice di nicchia — conversazioni non filtrate di community</a:t>
            </a:r>
          </a:p>
        </p:txBody>
      </p:sp>
      <p:sp>
        <p:nvSpPr>
          <p:cNvPr id="30" name="TextBox 29"/>
          <p:cNvSpPr txBox="1"/>
          <p:nvPr/>
        </p:nvSpPr>
        <p:spPr>
          <a:xfrm>
            <a:off x="5120640" y="5205222"/>
            <a:ext cx="3639312" cy="226314"/>
          </a:xfrm>
          <a:prstGeom prst="rect">
            <a:avLst/>
          </a:prstGeom>
          <a:noFill/>
        </p:spPr>
        <p:txBody>
          <a:bodyPr wrap="square">
            <a:spAutoFit/>
          </a:bodyPr>
          <a:lstStyle/>
          <a:p>
            <a:pPr algn="l"/>
            <a:r>
              <a:rPr b="0" i="0" sz="800">
                <a:solidFill>
                  <a:srgbClr val="B8523A"/>
                </a:solidFill>
                <a:latin typeface="Courier New"/>
              </a:rPr>
              <a:t>[AI: pattern di nicchia]</a:t>
            </a:r>
          </a:p>
        </p:txBody>
      </p:sp>
      <p:sp>
        <p:nvSpPr>
          <p:cNvPr id="31" name="Rectangle 30"/>
          <p:cNvSpPr/>
          <p:nvPr/>
        </p:nvSpPr>
        <p:spPr>
          <a:xfrm>
            <a:off x="8961120" y="442341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0" y="4505706"/>
            <a:ext cx="3639312" cy="308610"/>
          </a:xfrm>
          <a:prstGeom prst="rect">
            <a:avLst/>
          </a:prstGeom>
          <a:noFill/>
        </p:spPr>
        <p:txBody>
          <a:bodyPr wrap="square">
            <a:spAutoFit/>
          </a:bodyPr>
          <a:lstStyle/>
          <a:p>
            <a:pPr algn="l"/>
            <a:r>
              <a:rPr b="1" i="0" sz="1000">
                <a:solidFill>
                  <a:srgbClr val="3D3833"/>
                </a:solidFill>
                <a:latin typeface="Arial"/>
              </a:rPr>
              <a:t>News &amp; Media</a:t>
            </a:r>
          </a:p>
        </p:txBody>
      </p:sp>
      <p:sp>
        <p:nvSpPr>
          <p:cNvPr id="33" name="TextBox 32"/>
          <p:cNvSpPr txBox="1"/>
          <p:nvPr/>
        </p:nvSpPr>
        <p:spPr>
          <a:xfrm>
            <a:off x="9052560" y="4814316"/>
            <a:ext cx="3639312" cy="411480"/>
          </a:xfrm>
          <a:prstGeom prst="rect">
            <a:avLst/>
          </a:prstGeom>
          <a:noFill/>
        </p:spPr>
        <p:txBody>
          <a:bodyPr wrap="square">
            <a:spAutoFit/>
          </a:bodyPr>
          <a:lstStyle/>
          <a:p>
            <a:pPr algn="l"/>
            <a:r>
              <a:rPr b="0" i="0" sz="900">
                <a:solidFill>
                  <a:srgbClr val="8A8175"/>
                </a:solidFill>
                <a:latin typeface="Arial"/>
              </a:rPr>
              <a:t>Narrativa pubblica e agenda setting — il frame esterno al brand</a:t>
            </a:r>
          </a:p>
        </p:txBody>
      </p:sp>
      <p:sp>
        <p:nvSpPr>
          <p:cNvPr id="34" name="TextBox 33"/>
          <p:cNvSpPr txBox="1"/>
          <p:nvPr/>
        </p:nvSpPr>
        <p:spPr>
          <a:xfrm>
            <a:off x="9052560" y="5205222"/>
            <a:ext cx="3639312" cy="226314"/>
          </a:xfrm>
          <a:prstGeom prst="rect">
            <a:avLst/>
          </a:prstGeom>
          <a:noFill/>
        </p:spPr>
        <p:txBody>
          <a:bodyPr wrap="square">
            <a:spAutoFit/>
          </a:bodyPr>
          <a:lstStyle/>
          <a:p>
            <a:pPr algn="l"/>
            <a:r>
              <a:rPr b="0" i="0" sz="800">
                <a:solidFill>
                  <a:srgbClr val="B8523A"/>
                </a:solidFill>
                <a:latin typeface="Courier New"/>
              </a:rPr>
              <a:t>[AI: agenda tracking]</a:t>
            </a:r>
          </a:p>
        </p:txBody>
      </p:sp>
      <p:sp>
        <p:nvSpPr>
          <p:cNvPr id="35" name="Rectangle 34"/>
          <p:cNvSpPr/>
          <p:nvPr/>
        </p:nvSpPr>
        <p:spPr>
          <a:xfrm>
            <a:off x="12893040" y="442341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984480" y="4505706"/>
            <a:ext cx="3639312" cy="308610"/>
          </a:xfrm>
          <a:prstGeom prst="rect">
            <a:avLst/>
          </a:prstGeom>
          <a:noFill/>
        </p:spPr>
        <p:txBody>
          <a:bodyPr wrap="square">
            <a:spAutoFit/>
          </a:bodyPr>
          <a:lstStyle/>
          <a:p>
            <a:pPr algn="l"/>
            <a:r>
              <a:rPr b="1" i="0" sz="1000">
                <a:solidFill>
                  <a:srgbClr val="3D3833"/>
                </a:solidFill>
                <a:latin typeface="Arial"/>
              </a:rPr>
              <a:t>Trend &amp; Culture</a:t>
            </a:r>
          </a:p>
        </p:txBody>
      </p:sp>
      <p:sp>
        <p:nvSpPr>
          <p:cNvPr id="37" name="TextBox 36"/>
          <p:cNvSpPr txBox="1"/>
          <p:nvPr/>
        </p:nvSpPr>
        <p:spPr>
          <a:xfrm>
            <a:off x="12984480" y="4814316"/>
            <a:ext cx="3639312" cy="411480"/>
          </a:xfrm>
          <a:prstGeom prst="rect">
            <a:avLst/>
          </a:prstGeom>
          <a:noFill/>
        </p:spPr>
        <p:txBody>
          <a:bodyPr wrap="square">
            <a:spAutoFit/>
          </a:bodyPr>
          <a:lstStyle/>
          <a:p>
            <a:pPr algn="l"/>
            <a:r>
              <a:rPr b="0" i="0" sz="900">
                <a:solidFill>
                  <a:srgbClr val="8A8175"/>
                </a:solidFill>
                <a:latin typeface="Arial"/>
              </a:rPr>
              <a:t>Segnali pre-mainstream — dove il mercato sta andando</a:t>
            </a:r>
          </a:p>
        </p:txBody>
      </p:sp>
      <p:sp>
        <p:nvSpPr>
          <p:cNvPr id="38" name="TextBox 37"/>
          <p:cNvSpPr txBox="1"/>
          <p:nvPr/>
        </p:nvSpPr>
        <p:spPr>
          <a:xfrm>
            <a:off x="12984480" y="5205222"/>
            <a:ext cx="3639312" cy="226314"/>
          </a:xfrm>
          <a:prstGeom prst="rect">
            <a:avLst/>
          </a:prstGeom>
          <a:noFill/>
        </p:spPr>
        <p:txBody>
          <a:bodyPr wrap="square">
            <a:spAutoFit/>
          </a:bodyPr>
          <a:lstStyle/>
          <a:p>
            <a:pPr algn="l"/>
            <a:r>
              <a:rPr b="0" i="0" sz="800">
                <a:solidFill>
                  <a:srgbClr val="B8523A"/>
                </a:solidFill>
                <a:latin typeface="Courier New"/>
              </a:rPr>
              <a:t>[AI: segnali deboli]</a:t>
            </a:r>
          </a:p>
        </p:txBody>
      </p:sp>
      <p:sp>
        <p:nvSpPr>
          <p:cNvPr id="39" name="Rectangle 38"/>
          <p:cNvSpPr/>
          <p:nvPr/>
        </p:nvSpPr>
        <p:spPr>
          <a:xfrm>
            <a:off x="1097280" y="555498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88720" y="5637276"/>
            <a:ext cx="3639312" cy="308610"/>
          </a:xfrm>
          <a:prstGeom prst="rect">
            <a:avLst/>
          </a:prstGeom>
          <a:noFill/>
        </p:spPr>
        <p:txBody>
          <a:bodyPr wrap="square">
            <a:spAutoFit/>
          </a:bodyPr>
          <a:lstStyle/>
          <a:p>
            <a:pPr algn="l"/>
            <a:r>
              <a:rPr b="1" i="0" sz="1000">
                <a:solidFill>
                  <a:srgbClr val="3D3833"/>
                </a:solidFill>
                <a:latin typeface="Arial"/>
              </a:rPr>
              <a:t>Influencer &amp; Creator</a:t>
            </a:r>
          </a:p>
        </p:txBody>
      </p:sp>
      <p:sp>
        <p:nvSpPr>
          <p:cNvPr id="41" name="TextBox 40"/>
          <p:cNvSpPr txBox="1"/>
          <p:nvPr/>
        </p:nvSpPr>
        <p:spPr>
          <a:xfrm>
            <a:off x="1188720" y="5945886"/>
            <a:ext cx="3639312" cy="411480"/>
          </a:xfrm>
          <a:prstGeom prst="rect">
            <a:avLst/>
          </a:prstGeom>
          <a:noFill/>
        </p:spPr>
        <p:txBody>
          <a:bodyPr wrap="square">
            <a:spAutoFit/>
          </a:bodyPr>
          <a:lstStyle/>
          <a:p>
            <a:pPr algn="l"/>
            <a:r>
              <a:rPr b="0" i="0" sz="900">
                <a:solidFill>
                  <a:srgbClr val="8A8175"/>
                </a:solidFill>
                <a:latin typeface="Arial"/>
              </a:rPr>
              <a:t>Amplificatori culturali — bridge tra brand e audience</a:t>
            </a:r>
          </a:p>
        </p:txBody>
      </p:sp>
      <p:sp>
        <p:nvSpPr>
          <p:cNvPr id="42" name="TextBox 41"/>
          <p:cNvSpPr txBox="1"/>
          <p:nvPr/>
        </p:nvSpPr>
        <p:spPr>
          <a:xfrm>
            <a:off x="1188720" y="6336792"/>
            <a:ext cx="3639312" cy="226314"/>
          </a:xfrm>
          <a:prstGeom prst="rect">
            <a:avLst/>
          </a:prstGeom>
          <a:noFill/>
        </p:spPr>
        <p:txBody>
          <a:bodyPr wrap="square">
            <a:spAutoFit/>
          </a:bodyPr>
          <a:lstStyle/>
          <a:p>
            <a:pPr algn="l"/>
            <a:r>
              <a:rPr b="0" i="0" sz="800">
                <a:solidFill>
                  <a:srgbClr val="B8523A"/>
                </a:solidFill>
                <a:latin typeface="Courier New"/>
              </a:rPr>
              <a:t>[AI: reach e tono]</a:t>
            </a:r>
          </a:p>
        </p:txBody>
      </p:sp>
      <p:sp>
        <p:nvSpPr>
          <p:cNvPr id="43" name="Rectangle 42"/>
          <p:cNvSpPr/>
          <p:nvPr/>
        </p:nvSpPr>
        <p:spPr>
          <a:xfrm>
            <a:off x="5029200" y="555498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20640" y="5637276"/>
            <a:ext cx="3639312" cy="308610"/>
          </a:xfrm>
          <a:prstGeom prst="rect">
            <a:avLst/>
          </a:prstGeom>
          <a:noFill/>
        </p:spPr>
        <p:txBody>
          <a:bodyPr wrap="square">
            <a:spAutoFit/>
          </a:bodyPr>
          <a:lstStyle/>
          <a:p>
            <a:pPr algn="l"/>
            <a:r>
              <a:rPr b="1" i="0" sz="1000">
                <a:solidFill>
                  <a:srgbClr val="3D3833"/>
                </a:solidFill>
                <a:latin typeface="Arial"/>
              </a:rPr>
              <a:t>Competitor Intel</a:t>
            </a:r>
          </a:p>
        </p:txBody>
      </p:sp>
      <p:sp>
        <p:nvSpPr>
          <p:cNvPr id="45" name="TextBox 44"/>
          <p:cNvSpPr txBox="1"/>
          <p:nvPr/>
        </p:nvSpPr>
        <p:spPr>
          <a:xfrm>
            <a:off x="5120640" y="5945886"/>
            <a:ext cx="3639312" cy="411480"/>
          </a:xfrm>
          <a:prstGeom prst="rect">
            <a:avLst/>
          </a:prstGeom>
          <a:noFill/>
        </p:spPr>
        <p:txBody>
          <a:bodyPr wrap="square">
            <a:spAutoFit/>
          </a:bodyPr>
          <a:lstStyle/>
          <a:p>
            <a:pPr algn="l"/>
            <a:r>
              <a:rPr b="0" i="0" sz="900">
                <a:solidFill>
                  <a:srgbClr val="8A8175"/>
                </a:solidFill>
                <a:latin typeface="Arial"/>
              </a:rPr>
              <a:t>Gap di posizionamento — il mercato visto in prospettiva</a:t>
            </a:r>
          </a:p>
        </p:txBody>
      </p:sp>
      <p:sp>
        <p:nvSpPr>
          <p:cNvPr id="46" name="TextBox 45"/>
          <p:cNvSpPr txBox="1"/>
          <p:nvPr/>
        </p:nvSpPr>
        <p:spPr>
          <a:xfrm>
            <a:off x="5120640" y="6336792"/>
            <a:ext cx="3639312" cy="226314"/>
          </a:xfrm>
          <a:prstGeom prst="rect">
            <a:avLst/>
          </a:prstGeom>
          <a:noFill/>
        </p:spPr>
        <p:txBody>
          <a:bodyPr wrap="square">
            <a:spAutoFit/>
          </a:bodyPr>
          <a:lstStyle/>
          <a:p>
            <a:pPr algn="l"/>
            <a:r>
              <a:rPr b="0" i="0" sz="800">
                <a:solidFill>
                  <a:srgbClr val="B8523A"/>
                </a:solidFill>
                <a:latin typeface="Courier New"/>
              </a:rPr>
              <a:t>[AI: gap mapping]</a:t>
            </a:r>
          </a:p>
        </p:txBody>
      </p:sp>
      <p:sp>
        <p:nvSpPr>
          <p:cNvPr id="47" name="Rectangle 46"/>
          <p:cNvSpPr/>
          <p:nvPr/>
        </p:nvSpPr>
        <p:spPr>
          <a:xfrm>
            <a:off x="8961120" y="555498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0" y="5637276"/>
            <a:ext cx="3639312" cy="308610"/>
          </a:xfrm>
          <a:prstGeom prst="rect">
            <a:avLst/>
          </a:prstGeom>
          <a:noFill/>
        </p:spPr>
        <p:txBody>
          <a:bodyPr wrap="square">
            <a:spAutoFit/>
          </a:bodyPr>
          <a:lstStyle/>
          <a:p>
            <a:pPr algn="l"/>
            <a:r>
              <a:rPr b="1" i="0" sz="1000">
                <a:solidFill>
                  <a:srgbClr val="3D3833"/>
                </a:solidFill>
                <a:latin typeface="Arial"/>
              </a:rPr>
              <a:t>CX &amp; Support</a:t>
            </a:r>
          </a:p>
        </p:txBody>
      </p:sp>
      <p:sp>
        <p:nvSpPr>
          <p:cNvPr id="49" name="TextBox 48"/>
          <p:cNvSpPr txBox="1"/>
          <p:nvPr/>
        </p:nvSpPr>
        <p:spPr>
          <a:xfrm>
            <a:off x="9052560" y="5945886"/>
            <a:ext cx="3639312" cy="411480"/>
          </a:xfrm>
          <a:prstGeom prst="rect">
            <a:avLst/>
          </a:prstGeom>
          <a:noFill/>
        </p:spPr>
        <p:txBody>
          <a:bodyPr wrap="square">
            <a:spAutoFit/>
          </a:bodyPr>
          <a:lstStyle/>
          <a:p>
            <a:pPr algn="l"/>
            <a:r>
              <a:rPr b="0" i="0" sz="900">
                <a:solidFill>
                  <a:srgbClr val="8A8175"/>
                </a:solidFill>
                <a:latin typeface="Arial"/>
              </a:rPr>
              <a:t>Frizione nel journey — l'Intention-Interface Gap in prima persona</a:t>
            </a:r>
          </a:p>
        </p:txBody>
      </p:sp>
      <p:sp>
        <p:nvSpPr>
          <p:cNvPr id="50" name="TextBox 49"/>
          <p:cNvSpPr txBox="1"/>
          <p:nvPr/>
        </p:nvSpPr>
        <p:spPr>
          <a:xfrm>
            <a:off x="9052560" y="6336792"/>
            <a:ext cx="3639312" cy="226314"/>
          </a:xfrm>
          <a:prstGeom prst="rect">
            <a:avLst/>
          </a:prstGeom>
          <a:noFill/>
        </p:spPr>
        <p:txBody>
          <a:bodyPr wrap="square">
            <a:spAutoFit/>
          </a:bodyPr>
          <a:lstStyle/>
          <a:p>
            <a:pPr algn="l"/>
            <a:r>
              <a:rPr b="0" i="0" sz="800">
                <a:solidFill>
                  <a:srgbClr val="B8523A"/>
                </a:solidFill>
                <a:latin typeface="Courier New"/>
              </a:rPr>
              <a:t>[AI: friction detection]</a:t>
            </a:r>
          </a:p>
        </p:txBody>
      </p:sp>
      <p:sp>
        <p:nvSpPr>
          <p:cNvPr id="51" name="Rectangle 50"/>
          <p:cNvSpPr/>
          <p:nvPr/>
        </p:nvSpPr>
        <p:spPr>
          <a:xfrm>
            <a:off x="12893040" y="555498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984480" y="5637276"/>
            <a:ext cx="3639312" cy="308610"/>
          </a:xfrm>
          <a:prstGeom prst="rect">
            <a:avLst/>
          </a:prstGeom>
          <a:noFill/>
        </p:spPr>
        <p:txBody>
          <a:bodyPr wrap="square">
            <a:spAutoFit/>
          </a:bodyPr>
          <a:lstStyle/>
          <a:p>
            <a:pPr algn="l"/>
            <a:r>
              <a:rPr b="1" i="0" sz="1000">
                <a:solidFill>
                  <a:srgbClr val="3D3833"/>
                </a:solidFill>
                <a:latin typeface="Arial"/>
              </a:rPr>
              <a:t>Patent &amp; R&amp;D</a:t>
            </a:r>
          </a:p>
        </p:txBody>
      </p:sp>
      <p:sp>
        <p:nvSpPr>
          <p:cNvPr id="53" name="TextBox 52"/>
          <p:cNvSpPr txBox="1"/>
          <p:nvPr/>
        </p:nvSpPr>
        <p:spPr>
          <a:xfrm>
            <a:off x="12984480" y="5945886"/>
            <a:ext cx="3639312" cy="411480"/>
          </a:xfrm>
          <a:prstGeom prst="rect">
            <a:avLst/>
          </a:prstGeom>
          <a:noFill/>
        </p:spPr>
        <p:txBody>
          <a:bodyPr wrap="square">
            <a:spAutoFit/>
          </a:bodyPr>
          <a:lstStyle/>
          <a:p>
            <a:pPr algn="l"/>
            <a:r>
              <a:rPr b="0" i="0" sz="900">
                <a:solidFill>
                  <a:srgbClr val="8A8175"/>
                </a:solidFill>
                <a:latin typeface="Arial"/>
              </a:rPr>
              <a:t>Innovazione in preparazione — il futuro che si annuncia</a:t>
            </a:r>
          </a:p>
        </p:txBody>
      </p:sp>
      <p:sp>
        <p:nvSpPr>
          <p:cNvPr id="54" name="TextBox 53"/>
          <p:cNvSpPr txBox="1"/>
          <p:nvPr/>
        </p:nvSpPr>
        <p:spPr>
          <a:xfrm>
            <a:off x="12984480" y="6336792"/>
            <a:ext cx="3639312" cy="226314"/>
          </a:xfrm>
          <a:prstGeom prst="rect">
            <a:avLst/>
          </a:prstGeom>
          <a:noFill/>
        </p:spPr>
        <p:txBody>
          <a:bodyPr wrap="square">
            <a:spAutoFit/>
          </a:bodyPr>
          <a:lstStyle/>
          <a:p>
            <a:pPr algn="l"/>
            <a:r>
              <a:rPr b="0" i="0" sz="800">
                <a:solidFill>
                  <a:srgbClr val="B8523A"/>
                </a:solidFill>
                <a:latin typeface="Courier New"/>
              </a:rPr>
              <a:t>[AI: innovation signals]</a:t>
            </a:r>
          </a:p>
        </p:txBody>
      </p:sp>
      <p:sp>
        <p:nvSpPr>
          <p:cNvPr id="55" name="Rectangle 54"/>
          <p:cNvSpPr/>
          <p:nvPr/>
        </p:nvSpPr>
        <p:spPr>
          <a:xfrm>
            <a:off x="1097280" y="668655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188720" y="6768846"/>
            <a:ext cx="3639312" cy="308610"/>
          </a:xfrm>
          <a:prstGeom prst="rect">
            <a:avLst/>
          </a:prstGeom>
          <a:noFill/>
        </p:spPr>
        <p:txBody>
          <a:bodyPr wrap="square">
            <a:spAutoFit/>
          </a:bodyPr>
          <a:lstStyle/>
          <a:p>
            <a:pPr algn="l"/>
            <a:r>
              <a:rPr b="1" i="0" sz="1000">
                <a:solidFill>
                  <a:srgbClr val="3D3833"/>
                </a:solidFill>
                <a:latin typeface="Arial"/>
              </a:rPr>
              <a:t>Retail &amp; Sales</a:t>
            </a:r>
          </a:p>
        </p:txBody>
      </p:sp>
      <p:sp>
        <p:nvSpPr>
          <p:cNvPr id="57" name="TextBox 56"/>
          <p:cNvSpPr txBox="1"/>
          <p:nvPr/>
        </p:nvSpPr>
        <p:spPr>
          <a:xfrm>
            <a:off x="1188720" y="7077456"/>
            <a:ext cx="3639312" cy="411480"/>
          </a:xfrm>
          <a:prstGeom prst="rect">
            <a:avLst/>
          </a:prstGeom>
          <a:noFill/>
        </p:spPr>
        <p:txBody>
          <a:bodyPr wrap="square">
            <a:spAutoFit/>
          </a:bodyPr>
          <a:lstStyle/>
          <a:p>
            <a:pPr algn="l"/>
            <a:r>
              <a:rPr b="0" i="0" sz="900">
                <a:solidFill>
                  <a:srgbClr val="8A8175"/>
                </a:solidFill>
                <a:latin typeface="Arial"/>
              </a:rPr>
              <a:t>Gap dichiarato/reale — comportamento d'acquisto effettivo</a:t>
            </a:r>
          </a:p>
        </p:txBody>
      </p:sp>
      <p:sp>
        <p:nvSpPr>
          <p:cNvPr id="58" name="TextBox 57"/>
          <p:cNvSpPr txBox="1"/>
          <p:nvPr/>
        </p:nvSpPr>
        <p:spPr>
          <a:xfrm>
            <a:off x="1188720" y="7468362"/>
            <a:ext cx="3639312" cy="226314"/>
          </a:xfrm>
          <a:prstGeom prst="rect">
            <a:avLst/>
          </a:prstGeom>
          <a:noFill/>
        </p:spPr>
        <p:txBody>
          <a:bodyPr wrap="square">
            <a:spAutoFit/>
          </a:bodyPr>
          <a:lstStyle/>
          <a:p>
            <a:pPr algn="l"/>
            <a:r>
              <a:rPr b="0" i="0" sz="800">
                <a:solidFill>
                  <a:srgbClr val="B8523A"/>
                </a:solidFill>
                <a:latin typeface="Courier New"/>
              </a:rPr>
              <a:t>[AI: behavioral gap]</a:t>
            </a:r>
          </a:p>
        </p:txBody>
      </p:sp>
      <p:sp>
        <p:nvSpPr>
          <p:cNvPr id="59" name="Rectangle 58"/>
          <p:cNvSpPr/>
          <p:nvPr/>
        </p:nvSpPr>
        <p:spPr>
          <a:xfrm>
            <a:off x="5029200" y="668655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120640" y="6768846"/>
            <a:ext cx="3639312" cy="308610"/>
          </a:xfrm>
          <a:prstGeom prst="rect">
            <a:avLst/>
          </a:prstGeom>
          <a:noFill/>
        </p:spPr>
        <p:txBody>
          <a:bodyPr wrap="square">
            <a:spAutoFit/>
          </a:bodyPr>
          <a:lstStyle/>
          <a:p>
            <a:pPr algn="l"/>
            <a:r>
              <a:rPr b="1" i="0" sz="1000">
                <a:solidFill>
                  <a:srgbClr val="3D3833"/>
                </a:solidFill>
                <a:latin typeface="Arial"/>
              </a:rPr>
              <a:t>Earned Media</a:t>
            </a:r>
          </a:p>
        </p:txBody>
      </p:sp>
      <p:sp>
        <p:nvSpPr>
          <p:cNvPr id="61" name="TextBox 60"/>
          <p:cNvSpPr txBox="1"/>
          <p:nvPr/>
        </p:nvSpPr>
        <p:spPr>
          <a:xfrm>
            <a:off x="5120640" y="7077456"/>
            <a:ext cx="3639312" cy="411480"/>
          </a:xfrm>
          <a:prstGeom prst="rect">
            <a:avLst/>
          </a:prstGeom>
          <a:noFill/>
        </p:spPr>
        <p:txBody>
          <a:bodyPr wrap="square">
            <a:spAutoFit/>
          </a:bodyPr>
          <a:lstStyle/>
          <a:p>
            <a:pPr algn="l"/>
            <a:r>
              <a:rPr b="0" i="0" sz="900">
                <a:solidFill>
                  <a:srgbClr val="8A8175"/>
                </a:solidFill>
                <a:latin typeface="Arial"/>
              </a:rPr>
              <a:t>Reputazione editoriale — menzioni in contesto giornalistico</a:t>
            </a:r>
          </a:p>
        </p:txBody>
      </p:sp>
      <p:sp>
        <p:nvSpPr>
          <p:cNvPr id="62" name="TextBox 61"/>
          <p:cNvSpPr txBox="1"/>
          <p:nvPr/>
        </p:nvSpPr>
        <p:spPr>
          <a:xfrm>
            <a:off x="5120640" y="7468362"/>
            <a:ext cx="3639312" cy="226314"/>
          </a:xfrm>
          <a:prstGeom prst="rect">
            <a:avLst/>
          </a:prstGeom>
          <a:noFill/>
        </p:spPr>
        <p:txBody>
          <a:bodyPr wrap="square">
            <a:spAutoFit/>
          </a:bodyPr>
          <a:lstStyle/>
          <a:p>
            <a:pPr algn="l"/>
            <a:r>
              <a:rPr b="0" i="0" sz="800">
                <a:solidFill>
                  <a:srgbClr val="B8523A"/>
                </a:solidFill>
                <a:latin typeface="Courier New"/>
              </a:rPr>
              <a:t>[AI: reputazione contestuale]</a:t>
            </a:r>
          </a:p>
        </p:txBody>
      </p:sp>
      <p:sp>
        <p:nvSpPr>
          <p:cNvPr id="63" name="Rectangle 62"/>
          <p:cNvSpPr/>
          <p:nvPr/>
        </p:nvSpPr>
        <p:spPr>
          <a:xfrm>
            <a:off x="8961120" y="668655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052560" y="6768846"/>
            <a:ext cx="3639312" cy="308610"/>
          </a:xfrm>
          <a:prstGeom prst="rect">
            <a:avLst/>
          </a:prstGeom>
          <a:noFill/>
        </p:spPr>
        <p:txBody>
          <a:bodyPr wrap="square">
            <a:spAutoFit/>
          </a:bodyPr>
          <a:lstStyle/>
          <a:p>
            <a:pPr algn="l"/>
            <a:r>
              <a:rPr b="1" i="0" sz="1000">
                <a:solidFill>
                  <a:srgbClr val="3D3833"/>
                </a:solidFill>
                <a:latin typeface="Arial"/>
              </a:rPr>
              <a:t>Dark Social</a:t>
            </a:r>
          </a:p>
        </p:txBody>
      </p:sp>
      <p:sp>
        <p:nvSpPr>
          <p:cNvPr id="65" name="TextBox 64"/>
          <p:cNvSpPr txBox="1"/>
          <p:nvPr/>
        </p:nvSpPr>
        <p:spPr>
          <a:xfrm>
            <a:off x="9052560" y="7077456"/>
            <a:ext cx="3639312" cy="411480"/>
          </a:xfrm>
          <a:prstGeom prst="rect">
            <a:avLst/>
          </a:prstGeom>
          <a:noFill/>
        </p:spPr>
        <p:txBody>
          <a:bodyPr wrap="square">
            <a:spAutoFit/>
          </a:bodyPr>
          <a:lstStyle/>
          <a:p>
            <a:pPr algn="l"/>
            <a:r>
              <a:rPr b="0" i="0" sz="900">
                <a:solidFill>
                  <a:srgbClr val="8A8175"/>
                </a:solidFill>
                <a:latin typeface="Arial"/>
              </a:rPr>
              <a:t>Conversazione invisibile — messaggistica privata, gruppi chiusi</a:t>
            </a:r>
          </a:p>
        </p:txBody>
      </p:sp>
      <p:sp>
        <p:nvSpPr>
          <p:cNvPr id="66" name="TextBox 65"/>
          <p:cNvSpPr txBox="1"/>
          <p:nvPr/>
        </p:nvSpPr>
        <p:spPr>
          <a:xfrm>
            <a:off x="9052560" y="7468362"/>
            <a:ext cx="3639312" cy="226314"/>
          </a:xfrm>
          <a:prstGeom prst="rect">
            <a:avLst/>
          </a:prstGeom>
          <a:noFill/>
        </p:spPr>
        <p:txBody>
          <a:bodyPr wrap="square">
            <a:spAutoFit/>
          </a:bodyPr>
          <a:lstStyle/>
          <a:p>
            <a:pPr algn="l"/>
            <a:r>
              <a:rPr b="0" i="0" sz="800">
                <a:solidFill>
                  <a:srgbClr val="B8523A"/>
                </a:solidFill>
                <a:latin typeface="Courier New"/>
              </a:rPr>
              <a:t>[AI: pattern inferiti]</a:t>
            </a:r>
          </a:p>
        </p:txBody>
      </p:sp>
      <p:sp>
        <p:nvSpPr>
          <p:cNvPr id="67" name="Rectangle 66"/>
          <p:cNvSpPr/>
          <p:nvPr/>
        </p:nvSpPr>
        <p:spPr>
          <a:xfrm>
            <a:off x="12893040" y="6686550"/>
            <a:ext cx="3749040" cy="1049274"/>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2984480" y="6768846"/>
            <a:ext cx="3639312" cy="308610"/>
          </a:xfrm>
          <a:prstGeom prst="rect">
            <a:avLst/>
          </a:prstGeom>
          <a:noFill/>
        </p:spPr>
        <p:txBody>
          <a:bodyPr wrap="square">
            <a:spAutoFit/>
          </a:bodyPr>
          <a:lstStyle/>
          <a:p>
            <a:pPr algn="l"/>
            <a:r>
              <a:rPr b="1" i="0" sz="1000">
                <a:solidFill>
                  <a:srgbClr val="3D3833"/>
                </a:solidFill>
                <a:latin typeface="Arial"/>
              </a:rPr>
              <a:t>Geo &amp; Location</a:t>
            </a:r>
          </a:p>
        </p:txBody>
      </p:sp>
      <p:sp>
        <p:nvSpPr>
          <p:cNvPr id="69" name="TextBox 68"/>
          <p:cNvSpPr txBox="1"/>
          <p:nvPr/>
        </p:nvSpPr>
        <p:spPr>
          <a:xfrm>
            <a:off x="12984480" y="7077456"/>
            <a:ext cx="3639312" cy="411480"/>
          </a:xfrm>
          <a:prstGeom prst="rect">
            <a:avLst/>
          </a:prstGeom>
          <a:noFill/>
        </p:spPr>
        <p:txBody>
          <a:bodyPr wrap="square">
            <a:spAutoFit/>
          </a:bodyPr>
          <a:lstStyle/>
          <a:p>
            <a:pPr algn="l"/>
            <a:r>
              <a:rPr b="0" i="0" sz="900">
                <a:solidFill>
                  <a:srgbClr val="8A8175"/>
                </a:solidFill>
                <a:latin typeface="Arial"/>
              </a:rPr>
              <a:t>Movimenti reali, cluster geografici, presenza fisica vs digitale</a:t>
            </a:r>
          </a:p>
        </p:txBody>
      </p:sp>
      <p:sp>
        <p:nvSpPr>
          <p:cNvPr id="70" name="TextBox 69"/>
          <p:cNvSpPr txBox="1"/>
          <p:nvPr/>
        </p:nvSpPr>
        <p:spPr>
          <a:xfrm>
            <a:off x="12984480" y="7468362"/>
            <a:ext cx="3639312" cy="226314"/>
          </a:xfrm>
          <a:prstGeom prst="rect">
            <a:avLst/>
          </a:prstGeom>
          <a:noFill/>
        </p:spPr>
        <p:txBody>
          <a:bodyPr wrap="square">
            <a:spAutoFit/>
          </a:bodyPr>
          <a:lstStyle/>
          <a:p>
            <a:pPr algn="l"/>
            <a:r>
              <a:rPr b="0" i="0" sz="800">
                <a:solidFill>
                  <a:srgbClr val="B8523A"/>
                </a:solidFill>
                <a:latin typeface="Courier New"/>
              </a:rPr>
              <a:t>[AI: geo-clustering]</a:t>
            </a:r>
          </a:p>
        </p:txBody>
      </p:sp>
      <p:sp>
        <p:nvSpPr>
          <p:cNvPr id="71" name="Rectangle 70"/>
          <p:cNvSpPr/>
          <p:nvPr/>
        </p:nvSpPr>
        <p:spPr>
          <a:xfrm>
            <a:off x="1097280" y="9258300"/>
            <a:ext cx="16093440" cy="82296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463040" y="9464040"/>
            <a:ext cx="15361920" cy="514350"/>
          </a:xfrm>
          <a:prstGeom prst="rect">
            <a:avLst/>
          </a:prstGeom>
          <a:noFill/>
        </p:spPr>
        <p:txBody>
          <a:bodyPr wrap="square">
            <a:spAutoFit/>
          </a:bodyPr>
          <a:lstStyle/>
          <a:p>
            <a:pPr algn="ctr"/>
            <a:r>
              <a:rPr b="0" i="1" sz="1100">
                <a:solidFill>
                  <a:srgbClr val="F3EDE1"/>
                </a:solidFill>
                <a:latin typeface="Arial"/>
              </a:rPr>
              <a:t>"Il professionista maturo non difende la sua fonte. Sa quale aprire per la domanda giusta — e l'AI le fa dialogare tutte insieme."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spAutoFit/>
          </a:bodyPr>
          <a:lstStyle/>
          <a:p>
            <a:pPr algn="l"/>
            <a:r>
              <a:rPr b="1" i="0" sz="1000">
                <a:solidFill>
                  <a:srgbClr val="B8523A"/>
                </a:solidFill>
                <a:latin typeface="Courier New"/>
              </a:rPr>
              <a:t>●  AI E L'ANALISTA — L'EVOLUZIONE DEL RUOLO</a:t>
            </a:r>
          </a:p>
        </p:txBody>
      </p:sp>
      <p:sp>
        <p:nvSpPr>
          <p:cNvPr id="3" name="TextBox 2"/>
          <p:cNvSpPr txBox="1"/>
          <p:nvPr/>
        </p:nvSpPr>
        <p:spPr>
          <a:xfrm>
            <a:off x="1097280" y="1337310"/>
            <a:ext cx="16093440" cy="1028700"/>
          </a:xfrm>
          <a:prstGeom prst="rect">
            <a:avLst/>
          </a:prstGeom>
          <a:noFill/>
        </p:spPr>
        <p:txBody>
          <a:bodyPr wrap="square">
            <a:spAutoFit/>
          </a:bodyPr>
          <a:lstStyle/>
          <a:p>
            <a:pPr algn="l"/>
            <a:r>
              <a:rPr b="1" i="0" sz="3000">
                <a:solidFill>
                  <a:srgbClr val="3D3833"/>
                </a:solidFill>
                <a:latin typeface="Georgia"/>
              </a:rPr>
              <a:t>Il tuo ruolo non sparisce. Sale.</a:t>
            </a:r>
          </a:p>
        </p:txBody>
      </p:sp>
      <p:sp>
        <p:nvSpPr>
          <p:cNvPr id="4" name="TextBox 3"/>
          <p:cNvSpPr txBox="1"/>
          <p:nvPr/>
        </p:nvSpPr>
        <p:spPr>
          <a:xfrm>
            <a:off x="1097280" y="2571750"/>
            <a:ext cx="16093440" cy="617220"/>
          </a:xfrm>
          <a:prstGeom prst="rect">
            <a:avLst/>
          </a:prstGeom>
          <a:noFill/>
        </p:spPr>
        <p:txBody>
          <a:bodyPr wrap="square">
            <a:spAutoFit/>
          </a:bodyPr>
          <a:lstStyle/>
          <a:p>
            <a:pPr algn="l"/>
            <a:r>
              <a:rPr b="0" i="0" sz="1200">
                <a:solidFill>
                  <a:srgbClr val="8A8175"/>
                </a:solidFill>
                <a:latin typeface="Arial"/>
              </a:rPr>
              <a:t>Ogni generazione ha risposto a una domanda piu utile della precedente. L'AI accelera il passaggio — non lo interrompe.</a:t>
            </a:r>
          </a:p>
        </p:txBody>
      </p:sp>
      <p:cxnSp>
        <p:nvCxnSpPr>
          <p:cNvPr id="5" name="Connector 4"/>
          <p:cNvCxnSpPr/>
          <p:nvPr/>
        </p:nvCxnSpPr>
        <p:spPr>
          <a:xfrm>
            <a:off x="1097280" y="339471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806190"/>
            <a:ext cx="5120640" cy="5863589"/>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4011930"/>
            <a:ext cx="1097280" cy="720090"/>
          </a:xfrm>
          <a:prstGeom prst="rect">
            <a:avLst/>
          </a:prstGeom>
          <a:noFill/>
        </p:spPr>
        <p:txBody>
          <a:bodyPr wrap="square">
            <a:spAutoFit/>
          </a:bodyPr>
          <a:lstStyle/>
          <a:p>
            <a:pPr algn="l"/>
            <a:r>
              <a:rPr b="1" i="0" sz="2200">
                <a:solidFill>
                  <a:srgbClr val="B8523A"/>
                </a:solidFill>
                <a:latin typeface="Georgia"/>
              </a:rPr>
              <a:t>1.0</a:t>
            </a:r>
          </a:p>
        </p:txBody>
      </p:sp>
      <p:sp>
        <p:nvSpPr>
          <p:cNvPr id="8" name="TextBox 7"/>
          <p:cNvSpPr txBox="1"/>
          <p:nvPr/>
        </p:nvSpPr>
        <p:spPr>
          <a:xfrm>
            <a:off x="1280160" y="4937760"/>
            <a:ext cx="4572000" cy="925830"/>
          </a:xfrm>
          <a:prstGeom prst="rect">
            <a:avLst/>
          </a:prstGeom>
          <a:noFill/>
        </p:spPr>
        <p:txBody>
          <a:bodyPr wrap="square">
            <a:spAutoFit/>
          </a:bodyPr>
          <a:lstStyle/>
          <a:p>
            <a:pPr algn="l"/>
            <a:r>
              <a:rPr b="1" i="0" sz="1200">
                <a:solidFill>
                  <a:srgbClr val="3D3833"/>
                </a:solidFill>
                <a:latin typeface="Arial"/>
              </a:rPr>
              <a:t>ANALYST
MONITOR</a:t>
            </a:r>
          </a:p>
        </p:txBody>
      </p:sp>
      <p:sp>
        <p:nvSpPr>
          <p:cNvPr id="9" name="TextBox 8"/>
          <p:cNvSpPr txBox="1"/>
          <p:nvPr/>
        </p:nvSpPr>
        <p:spPr>
          <a:xfrm>
            <a:off x="1280160" y="5863589"/>
            <a:ext cx="4572000" cy="617220"/>
          </a:xfrm>
          <a:prstGeom prst="rect">
            <a:avLst/>
          </a:prstGeom>
          <a:noFill/>
        </p:spPr>
        <p:txBody>
          <a:bodyPr wrap="square">
            <a:spAutoFit/>
          </a:bodyPr>
          <a:lstStyle/>
          <a:p>
            <a:pPr algn="l"/>
            <a:r>
              <a:rPr b="0" i="1" sz="1100">
                <a:solidFill>
                  <a:srgbClr val="B8523A"/>
                </a:solidFill>
                <a:latin typeface="Arial"/>
              </a:rPr>
              <a:t>Cosa e successo?</a:t>
            </a:r>
          </a:p>
        </p:txBody>
      </p:sp>
      <p:sp>
        <p:nvSpPr>
          <p:cNvPr id="10" name="TextBox 9"/>
          <p:cNvSpPr txBox="1"/>
          <p:nvPr/>
        </p:nvSpPr>
        <p:spPr>
          <a:xfrm>
            <a:off x="1280160" y="6583680"/>
            <a:ext cx="4572000" cy="617220"/>
          </a:xfrm>
          <a:prstGeom prst="rect">
            <a:avLst/>
          </a:prstGeom>
          <a:noFill/>
        </p:spPr>
        <p:txBody>
          <a:bodyPr wrap="square">
            <a:spAutoFit/>
          </a:bodyPr>
          <a:lstStyle/>
          <a:p>
            <a:pPr algn="l"/>
            <a:r>
              <a:rPr b="0" i="0" sz="1000">
                <a:solidFill>
                  <a:srgbClr val="8A8175"/>
                </a:solidFill>
                <a:latin typeface="Arial"/>
              </a:rPr>
              <a:t>Dashboard, report, riepilogo menzioni</a:t>
            </a:r>
          </a:p>
        </p:txBody>
      </p:sp>
      <p:sp>
        <p:nvSpPr>
          <p:cNvPr id="11" name="TextBox 10"/>
          <p:cNvSpPr txBox="1"/>
          <p:nvPr/>
        </p:nvSpPr>
        <p:spPr>
          <a:xfrm>
            <a:off x="1280160" y="7303770"/>
            <a:ext cx="4572000" cy="1234440"/>
          </a:xfrm>
          <a:prstGeom prst="rect">
            <a:avLst/>
          </a:prstGeom>
          <a:noFill/>
        </p:spPr>
        <p:txBody>
          <a:bodyPr wrap="square">
            <a:spAutoFit/>
          </a:bodyPr>
          <a:lstStyle/>
          <a:p>
            <a:pPr algn="l"/>
            <a:r>
              <a:rPr b="0" i="1" sz="1000">
                <a:solidFill>
                  <a:srgbClr val="8A8175"/>
                </a:solidFill>
                <a:latin typeface="Arial"/>
              </a:rPr>
              <a:t>Nel 2012 facevo questi report. Utili per chi non aveva visibilita — limitati per chi doveva decidere.</a:t>
            </a:r>
          </a:p>
        </p:txBody>
      </p:sp>
      <p:sp>
        <p:nvSpPr>
          <p:cNvPr id="12" name="TextBox 11"/>
          <p:cNvSpPr txBox="1"/>
          <p:nvPr/>
        </p:nvSpPr>
        <p:spPr>
          <a:xfrm>
            <a:off x="1280160" y="8641080"/>
            <a:ext cx="4572000" cy="822960"/>
          </a:xfrm>
          <a:prstGeom prst="rect">
            <a:avLst/>
          </a:prstGeom>
          <a:noFill/>
        </p:spPr>
        <p:txBody>
          <a:bodyPr wrap="square">
            <a:spAutoFit/>
          </a:bodyPr>
          <a:lstStyle/>
          <a:p>
            <a:pPr algn="l"/>
            <a:r>
              <a:rPr b="0" i="0" sz="900">
                <a:solidFill>
                  <a:srgbClr val="B8523A"/>
                </a:solidFill>
                <a:latin typeface="Arial"/>
              </a:rPr>
              <a:t>L'AI automatizza l'80% di questo livello.</a:t>
            </a:r>
          </a:p>
        </p:txBody>
      </p:sp>
      <p:sp>
        <p:nvSpPr>
          <p:cNvPr id="13" name="Rectangle 12"/>
          <p:cNvSpPr/>
          <p:nvPr/>
        </p:nvSpPr>
        <p:spPr>
          <a:xfrm>
            <a:off x="6766560" y="3806190"/>
            <a:ext cx="5120640" cy="5863589"/>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0" y="4011930"/>
            <a:ext cx="1097280" cy="720090"/>
          </a:xfrm>
          <a:prstGeom prst="rect">
            <a:avLst/>
          </a:prstGeom>
          <a:noFill/>
        </p:spPr>
        <p:txBody>
          <a:bodyPr wrap="square">
            <a:spAutoFit/>
          </a:bodyPr>
          <a:lstStyle/>
          <a:p>
            <a:pPr algn="l"/>
            <a:r>
              <a:rPr b="1" i="0" sz="2200">
                <a:solidFill>
                  <a:srgbClr val="B8523A"/>
                </a:solidFill>
                <a:latin typeface="Georgia"/>
              </a:rPr>
              <a:t>2.0</a:t>
            </a:r>
          </a:p>
        </p:txBody>
      </p:sp>
      <p:sp>
        <p:nvSpPr>
          <p:cNvPr id="15" name="TextBox 14"/>
          <p:cNvSpPr txBox="1"/>
          <p:nvPr/>
        </p:nvSpPr>
        <p:spPr>
          <a:xfrm>
            <a:off x="6949440" y="4937760"/>
            <a:ext cx="4572000" cy="925830"/>
          </a:xfrm>
          <a:prstGeom prst="rect">
            <a:avLst/>
          </a:prstGeom>
          <a:noFill/>
        </p:spPr>
        <p:txBody>
          <a:bodyPr wrap="square">
            <a:spAutoFit/>
          </a:bodyPr>
          <a:lstStyle/>
          <a:p>
            <a:pPr algn="l"/>
            <a:r>
              <a:rPr b="1" i="0" sz="1200">
                <a:solidFill>
                  <a:srgbClr val="3D3833"/>
                </a:solidFill>
                <a:latin typeface="Arial"/>
              </a:rPr>
              <a:t>ANALYST
INTERPRETER</a:t>
            </a:r>
          </a:p>
        </p:txBody>
      </p:sp>
      <p:sp>
        <p:nvSpPr>
          <p:cNvPr id="16" name="TextBox 15"/>
          <p:cNvSpPr txBox="1"/>
          <p:nvPr/>
        </p:nvSpPr>
        <p:spPr>
          <a:xfrm>
            <a:off x="6949440" y="5863589"/>
            <a:ext cx="4572000" cy="617220"/>
          </a:xfrm>
          <a:prstGeom prst="rect">
            <a:avLst/>
          </a:prstGeom>
          <a:noFill/>
        </p:spPr>
        <p:txBody>
          <a:bodyPr wrap="square">
            <a:spAutoFit/>
          </a:bodyPr>
          <a:lstStyle/>
          <a:p>
            <a:pPr algn="l"/>
            <a:r>
              <a:rPr b="0" i="1" sz="1100">
                <a:solidFill>
                  <a:srgbClr val="B8523A"/>
                </a:solidFill>
                <a:latin typeface="Arial"/>
              </a:rPr>
              <a:t>Perche e successo?</a:t>
            </a:r>
          </a:p>
        </p:txBody>
      </p:sp>
      <p:sp>
        <p:nvSpPr>
          <p:cNvPr id="17" name="TextBox 16"/>
          <p:cNvSpPr txBox="1"/>
          <p:nvPr/>
        </p:nvSpPr>
        <p:spPr>
          <a:xfrm>
            <a:off x="6949440" y="6583680"/>
            <a:ext cx="4572000" cy="617220"/>
          </a:xfrm>
          <a:prstGeom prst="rect">
            <a:avLst/>
          </a:prstGeom>
          <a:noFill/>
        </p:spPr>
        <p:txBody>
          <a:bodyPr wrap="square">
            <a:spAutoFit/>
          </a:bodyPr>
          <a:lstStyle/>
          <a:p>
            <a:pPr algn="l"/>
            <a:r>
              <a:rPr b="0" i="0" sz="1000">
                <a:solidFill>
                  <a:srgbClr val="8A8175"/>
                </a:solidFill>
                <a:latin typeface="Arial"/>
              </a:rPr>
              <a:t>Analisi dei driver, ipotesi causali, insight contestuali</a:t>
            </a:r>
          </a:p>
        </p:txBody>
      </p:sp>
      <p:sp>
        <p:nvSpPr>
          <p:cNvPr id="18" name="TextBox 17"/>
          <p:cNvSpPr txBox="1"/>
          <p:nvPr/>
        </p:nvSpPr>
        <p:spPr>
          <a:xfrm>
            <a:off x="6949440" y="7303770"/>
            <a:ext cx="4572000" cy="1234440"/>
          </a:xfrm>
          <a:prstGeom prst="rect">
            <a:avLst/>
          </a:prstGeom>
          <a:noFill/>
        </p:spPr>
        <p:txBody>
          <a:bodyPr wrap="square">
            <a:spAutoFit/>
          </a:bodyPr>
          <a:lstStyle/>
          <a:p>
            <a:pPr algn="l"/>
            <a:r>
              <a:rPr b="0" i="1" sz="1000">
                <a:solidFill>
                  <a:srgbClr val="8A8175"/>
                </a:solidFill>
                <a:latin typeface="Arial"/>
              </a:rPr>
              <a:t>Il salto che cambia le conversazioni con i clienti. Il tuo lavoro entra nelle riunioni strategiche.</a:t>
            </a:r>
          </a:p>
        </p:txBody>
      </p:sp>
      <p:sp>
        <p:nvSpPr>
          <p:cNvPr id="19" name="TextBox 18"/>
          <p:cNvSpPr txBox="1"/>
          <p:nvPr/>
        </p:nvSpPr>
        <p:spPr>
          <a:xfrm>
            <a:off x="6949440" y="8641080"/>
            <a:ext cx="4572000" cy="822960"/>
          </a:xfrm>
          <a:prstGeom prst="rect">
            <a:avLst/>
          </a:prstGeom>
          <a:noFill/>
        </p:spPr>
        <p:txBody>
          <a:bodyPr wrap="square">
            <a:spAutoFit/>
          </a:bodyPr>
          <a:lstStyle/>
          <a:p>
            <a:pPr algn="l"/>
            <a:r>
              <a:rPr b="0" i="0" sz="900">
                <a:solidFill>
                  <a:srgbClr val="B8523A"/>
                </a:solidFill>
                <a:latin typeface="Arial"/>
              </a:rPr>
              <a:t>L'AI accelera l'esplorazione: 10 ipotesi in un'ora invece che in una settimana.</a:t>
            </a:r>
          </a:p>
        </p:txBody>
      </p:sp>
      <p:sp>
        <p:nvSpPr>
          <p:cNvPr id="20" name="Rectangle 19"/>
          <p:cNvSpPr/>
          <p:nvPr/>
        </p:nvSpPr>
        <p:spPr>
          <a:xfrm>
            <a:off x="12435840" y="3806190"/>
            <a:ext cx="5120640" cy="5863589"/>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618720" y="4011930"/>
            <a:ext cx="1097280" cy="720090"/>
          </a:xfrm>
          <a:prstGeom prst="rect">
            <a:avLst/>
          </a:prstGeom>
          <a:noFill/>
        </p:spPr>
        <p:txBody>
          <a:bodyPr wrap="square">
            <a:spAutoFit/>
          </a:bodyPr>
          <a:lstStyle/>
          <a:p>
            <a:pPr algn="l"/>
            <a:r>
              <a:rPr b="1" i="0" sz="2200">
                <a:solidFill>
                  <a:srgbClr val="B8523A"/>
                </a:solidFill>
                <a:latin typeface="Georgia"/>
              </a:rPr>
              <a:t>3.0</a:t>
            </a:r>
          </a:p>
        </p:txBody>
      </p:sp>
      <p:sp>
        <p:nvSpPr>
          <p:cNvPr id="22" name="TextBox 21"/>
          <p:cNvSpPr txBox="1"/>
          <p:nvPr/>
        </p:nvSpPr>
        <p:spPr>
          <a:xfrm>
            <a:off x="12618720" y="4937760"/>
            <a:ext cx="4572000" cy="925830"/>
          </a:xfrm>
          <a:prstGeom prst="rect">
            <a:avLst/>
          </a:prstGeom>
          <a:noFill/>
        </p:spPr>
        <p:txBody>
          <a:bodyPr wrap="square">
            <a:spAutoFit/>
          </a:bodyPr>
          <a:lstStyle/>
          <a:p>
            <a:pPr algn="l"/>
            <a:r>
              <a:rPr b="1" i="0" sz="1200">
                <a:solidFill>
                  <a:srgbClr val="F3EDE1"/>
                </a:solidFill>
                <a:latin typeface="Arial"/>
              </a:rPr>
              <a:t>ANALYST
ORCHESTRATOR</a:t>
            </a:r>
          </a:p>
        </p:txBody>
      </p:sp>
      <p:sp>
        <p:nvSpPr>
          <p:cNvPr id="23" name="TextBox 22"/>
          <p:cNvSpPr txBox="1"/>
          <p:nvPr/>
        </p:nvSpPr>
        <p:spPr>
          <a:xfrm>
            <a:off x="12618720" y="5863589"/>
            <a:ext cx="4572000" cy="617220"/>
          </a:xfrm>
          <a:prstGeom prst="rect">
            <a:avLst/>
          </a:prstGeom>
          <a:noFill/>
        </p:spPr>
        <p:txBody>
          <a:bodyPr wrap="square">
            <a:spAutoFit/>
          </a:bodyPr>
          <a:lstStyle/>
          <a:p>
            <a:pPr algn="l"/>
            <a:r>
              <a:rPr b="0" i="1" sz="1100">
                <a:solidFill>
                  <a:srgbClr val="B8523A"/>
                </a:solidFill>
                <a:latin typeface="Arial"/>
              </a:rPr>
              <a:t>Cosa dovremmo fare?</a:t>
            </a:r>
          </a:p>
        </p:txBody>
      </p:sp>
      <p:sp>
        <p:nvSpPr>
          <p:cNvPr id="24" name="TextBox 23"/>
          <p:cNvSpPr txBox="1"/>
          <p:nvPr/>
        </p:nvSpPr>
        <p:spPr>
          <a:xfrm>
            <a:off x="12618720" y="6583680"/>
            <a:ext cx="4572000" cy="617220"/>
          </a:xfrm>
          <a:prstGeom prst="rect">
            <a:avLst/>
          </a:prstGeom>
          <a:noFill/>
        </p:spPr>
        <p:txBody>
          <a:bodyPr wrap="square">
            <a:spAutoFit/>
          </a:bodyPr>
          <a:lstStyle/>
          <a:p>
            <a:pPr algn="l"/>
            <a:r>
              <a:rPr b="0" i="0" sz="1000">
                <a:solidFill>
                  <a:srgbClr val="8A8175"/>
                </a:solidFill>
                <a:latin typeface="Arial"/>
              </a:rPr>
              <a:t>Intelligence strategica, ecosistema di fonti, decisioni orientate</a:t>
            </a:r>
          </a:p>
        </p:txBody>
      </p:sp>
      <p:sp>
        <p:nvSpPr>
          <p:cNvPr id="25" name="TextBox 24"/>
          <p:cNvSpPr txBox="1"/>
          <p:nvPr/>
        </p:nvSpPr>
        <p:spPr>
          <a:xfrm>
            <a:off x="12618720" y="7303770"/>
            <a:ext cx="4572000" cy="1234440"/>
          </a:xfrm>
          <a:prstGeom prst="rect">
            <a:avLst/>
          </a:prstGeom>
          <a:noFill/>
        </p:spPr>
        <p:txBody>
          <a:bodyPr wrap="square">
            <a:spAutoFit/>
          </a:bodyPr>
          <a:lstStyle/>
          <a:p>
            <a:pPr algn="l"/>
            <a:r>
              <a:rPr b="0" i="1" sz="1000">
                <a:solidFill>
                  <a:srgbClr val="F3EDE1"/>
                </a:solidFill>
                <a:latin typeface="Arial"/>
              </a:rPr>
              <a:t>Combina fonti, usa l'AI per sintetizzare a scala, valida con giudizio umano, porta l'insight dove serve.</a:t>
            </a:r>
          </a:p>
        </p:txBody>
      </p:sp>
      <p:sp>
        <p:nvSpPr>
          <p:cNvPr id="26" name="TextBox 25"/>
          <p:cNvSpPr txBox="1"/>
          <p:nvPr/>
        </p:nvSpPr>
        <p:spPr>
          <a:xfrm>
            <a:off x="12618720" y="8641080"/>
            <a:ext cx="4572000" cy="822960"/>
          </a:xfrm>
          <a:prstGeom prst="rect">
            <a:avLst/>
          </a:prstGeom>
          <a:noFill/>
        </p:spPr>
        <p:txBody>
          <a:bodyPr wrap="square">
            <a:spAutoFit/>
          </a:bodyPr>
          <a:lstStyle/>
          <a:p>
            <a:pPr algn="l"/>
            <a:r>
              <a:rPr b="0" i="0" sz="900">
                <a:solidFill>
                  <a:srgbClr val="B8523A"/>
                </a:solidFill>
                <a:latin typeface="Arial"/>
              </a:rPr>
              <a:t>L'AI e il motore che rende il 3.0 concretamente raggiungibile.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spAutoFit/>
          </a:bodyPr>
          <a:lstStyle/>
          <a:p>
            <a:pPr algn="l"/>
            <a:r>
              <a:rPr b="1" i="0" sz="1000">
                <a:solidFill>
                  <a:srgbClr val="B8523A"/>
                </a:solidFill>
                <a:latin typeface="Courier New"/>
              </a:rPr>
              <a:t>●  AI E L'ANALISTA — I SEI AMPLIFICATORI</a:t>
            </a:r>
          </a:p>
        </p:txBody>
      </p:sp>
      <p:sp>
        <p:nvSpPr>
          <p:cNvPr id="3" name="TextBox 2"/>
          <p:cNvSpPr txBox="1"/>
          <p:nvPr/>
        </p:nvSpPr>
        <p:spPr>
          <a:xfrm>
            <a:off x="1097280" y="1337310"/>
            <a:ext cx="10058400" cy="925830"/>
          </a:xfrm>
          <a:prstGeom prst="rect">
            <a:avLst/>
          </a:prstGeom>
          <a:noFill/>
        </p:spPr>
        <p:txBody>
          <a:bodyPr wrap="square">
            <a:spAutoFit/>
          </a:bodyPr>
          <a:lstStyle/>
          <a:p>
            <a:pPr algn="l"/>
            <a:r>
              <a:rPr b="1" i="0" sz="2800">
                <a:solidFill>
                  <a:srgbClr val="3D3833"/>
                </a:solidFill>
                <a:latin typeface="Georgia"/>
              </a:rPr>
              <a:t>Sei amplificatori. Tutti gia tuoi.</a:t>
            </a:r>
          </a:p>
        </p:txBody>
      </p:sp>
      <p:sp>
        <p:nvSpPr>
          <p:cNvPr id="4" name="TextBox 3"/>
          <p:cNvSpPr txBox="1"/>
          <p:nvPr/>
        </p:nvSpPr>
        <p:spPr>
          <a:xfrm>
            <a:off x="1097280" y="2366010"/>
            <a:ext cx="16093440" cy="617220"/>
          </a:xfrm>
          <a:prstGeom prst="rect">
            <a:avLst/>
          </a:prstGeom>
          <a:noFill/>
        </p:spPr>
        <p:txBody>
          <a:bodyPr wrap="square">
            <a:spAutoFit/>
          </a:bodyPr>
          <a:lstStyle/>
          <a:p>
            <a:pPr algn="l"/>
            <a:r>
              <a:rPr b="0" i="0" sz="1200">
                <a:solidFill>
                  <a:srgbClr val="8A8175"/>
                </a:solidFill>
                <a:latin typeface="Arial"/>
              </a:rPr>
              <a:t>Non sono feature dell'AI. Sono amplificatori delle competenze che gia avete.</a:t>
            </a:r>
          </a:p>
        </p:txBody>
      </p:sp>
      <p:cxnSp>
        <p:nvCxnSpPr>
          <p:cNvPr id="5" name="Connector 4"/>
          <p:cNvCxnSpPr/>
          <p:nvPr/>
        </p:nvCxnSpPr>
        <p:spPr>
          <a:xfrm>
            <a:off x="1097280" y="318897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600450"/>
            <a:ext cx="5212080" cy="15430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723894"/>
            <a:ext cx="1828800" cy="411480"/>
          </a:xfrm>
          <a:prstGeom prst="rect">
            <a:avLst/>
          </a:prstGeom>
          <a:noFill/>
        </p:spPr>
        <p:txBody>
          <a:bodyPr wrap="square">
            <a:spAutoFit/>
          </a:bodyPr>
          <a:lstStyle/>
          <a:p>
            <a:pPr algn="l"/>
            <a:r>
              <a:rPr b="1" i="0" sz="1200">
                <a:solidFill>
                  <a:srgbClr val="B8523A"/>
                </a:solidFill>
                <a:latin typeface="Courier New"/>
              </a:rPr>
              <a:t>SCALE</a:t>
            </a:r>
          </a:p>
        </p:txBody>
      </p:sp>
      <p:sp>
        <p:nvSpPr>
          <p:cNvPr id="8" name="TextBox 7"/>
          <p:cNvSpPr txBox="1"/>
          <p:nvPr/>
        </p:nvSpPr>
        <p:spPr>
          <a:xfrm>
            <a:off x="1234440" y="4166235"/>
            <a:ext cx="5029200" cy="390906"/>
          </a:xfrm>
          <a:prstGeom prst="rect">
            <a:avLst/>
          </a:prstGeom>
          <a:noFill/>
        </p:spPr>
        <p:txBody>
          <a:bodyPr wrap="square">
            <a:spAutoFit/>
          </a:bodyPr>
          <a:lstStyle/>
          <a:p>
            <a:pPr algn="l"/>
            <a:r>
              <a:rPr b="0" i="1" sz="1000">
                <a:solidFill>
                  <a:srgbClr val="3D3833"/>
                </a:solidFill>
                <a:latin typeface="Arial"/>
              </a:rPr>
              <a:t>Gia leggete le conversazioni del mercato.</a:t>
            </a:r>
          </a:p>
        </p:txBody>
      </p:sp>
      <p:sp>
        <p:nvSpPr>
          <p:cNvPr id="9" name="TextBox 8"/>
          <p:cNvSpPr txBox="1"/>
          <p:nvPr/>
        </p:nvSpPr>
        <p:spPr>
          <a:xfrm>
            <a:off x="1234440" y="4557141"/>
            <a:ext cx="5029200" cy="514350"/>
          </a:xfrm>
          <a:prstGeom prst="rect">
            <a:avLst/>
          </a:prstGeom>
          <a:noFill/>
        </p:spPr>
        <p:txBody>
          <a:bodyPr wrap="square">
            <a:spAutoFit/>
          </a:bodyPr>
          <a:lstStyle/>
          <a:p>
            <a:pPr algn="l"/>
            <a:r>
              <a:rPr b="0" i="0" sz="1000">
                <a:solidFill>
                  <a:srgbClr val="8A8175"/>
                </a:solidFill>
                <a:latin typeface="Arial"/>
              </a:rPr>
              <a:t>L'AI vi permette di farlo su milioni in parallelo, su mercati diversi, in tempo reale.</a:t>
            </a:r>
          </a:p>
        </p:txBody>
      </p:sp>
      <p:sp>
        <p:nvSpPr>
          <p:cNvPr id="10" name="Rectangle 9"/>
          <p:cNvSpPr/>
          <p:nvPr/>
        </p:nvSpPr>
        <p:spPr>
          <a:xfrm>
            <a:off x="6373368" y="3600450"/>
            <a:ext cx="5212080" cy="15430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3723894"/>
            <a:ext cx="1828800" cy="411480"/>
          </a:xfrm>
          <a:prstGeom prst="rect">
            <a:avLst/>
          </a:prstGeom>
          <a:noFill/>
        </p:spPr>
        <p:txBody>
          <a:bodyPr wrap="square">
            <a:spAutoFit/>
          </a:bodyPr>
          <a:lstStyle/>
          <a:p>
            <a:pPr algn="l"/>
            <a:r>
              <a:rPr b="1" i="0" sz="1200">
                <a:solidFill>
                  <a:srgbClr val="B8523A"/>
                </a:solidFill>
                <a:latin typeface="Courier New"/>
              </a:rPr>
              <a:t>SPEED</a:t>
            </a:r>
          </a:p>
        </p:txBody>
      </p:sp>
      <p:sp>
        <p:nvSpPr>
          <p:cNvPr id="12" name="TextBox 11"/>
          <p:cNvSpPr txBox="1"/>
          <p:nvPr/>
        </p:nvSpPr>
        <p:spPr>
          <a:xfrm>
            <a:off x="6510528" y="4166235"/>
            <a:ext cx="5029200" cy="390906"/>
          </a:xfrm>
          <a:prstGeom prst="rect">
            <a:avLst/>
          </a:prstGeom>
          <a:noFill/>
        </p:spPr>
        <p:txBody>
          <a:bodyPr wrap="square">
            <a:spAutoFit/>
          </a:bodyPr>
          <a:lstStyle/>
          <a:p>
            <a:pPr algn="l"/>
            <a:r>
              <a:rPr b="0" i="1" sz="1000">
                <a:solidFill>
                  <a:srgbClr val="3D3833"/>
                </a:solidFill>
                <a:latin typeface="Arial"/>
              </a:rPr>
              <a:t>Gia formulate ipotesi analitiche.</a:t>
            </a:r>
          </a:p>
        </p:txBody>
      </p:sp>
      <p:sp>
        <p:nvSpPr>
          <p:cNvPr id="13" name="TextBox 12"/>
          <p:cNvSpPr txBox="1"/>
          <p:nvPr/>
        </p:nvSpPr>
        <p:spPr>
          <a:xfrm>
            <a:off x="6510528" y="4557141"/>
            <a:ext cx="5029200" cy="514350"/>
          </a:xfrm>
          <a:prstGeom prst="rect">
            <a:avLst/>
          </a:prstGeom>
          <a:noFill/>
        </p:spPr>
        <p:txBody>
          <a:bodyPr wrap="square">
            <a:spAutoFit/>
          </a:bodyPr>
          <a:lstStyle/>
          <a:p>
            <a:pPr algn="l"/>
            <a:r>
              <a:rPr b="0" i="0" sz="1000">
                <a:solidFill>
                  <a:srgbClr val="8A8175"/>
                </a:solidFill>
                <a:latin typeface="Arial"/>
              </a:rPr>
              <a:t>L'AI vi permette di generarne e testarne dieci in un'ora invece che in una settimana.</a:t>
            </a:r>
          </a:p>
        </p:txBody>
      </p:sp>
      <p:sp>
        <p:nvSpPr>
          <p:cNvPr id="14" name="Rectangle 13"/>
          <p:cNvSpPr/>
          <p:nvPr/>
        </p:nvSpPr>
        <p:spPr>
          <a:xfrm>
            <a:off x="11649456" y="3600450"/>
            <a:ext cx="5212080" cy="15430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86616" y="3723894"/>
            <a:ext cx="1828800" cy="411480"/>
          </a:xfrm>
          <a:prstGeom prst="rect">
            <a:avLst/>
          </a:prstGeom>
          <a:noFill/>
        </p:spPr>
        <p:txBody>
          <a:bodyPr wrap="square">
            <a:spAutoFit/>
          </a:bodyPr>
          <a:lstStyle/>
          <a:p>
            <a:pPr algn="l"/>
            <a:r>
              <a:rPr b="1" i="0" sz="1200">
                <a:solidFill>
                  <a:srgbClr val="B8523A"/>
                </a:solidFill>
                <a:latin typeface="Courier New"/>
              </a:rPr>
              <a:t>COVERAGE</a:t>
            </a:r>
          </a:p>
        </p:txBody>
      </p:sp>
      <p:sp>
        <p:nvSpPr>
          <p:cNvPr id="16" name="TextBox 15"/>
          <p:cNvSpPr txBox="1"/>
          <p:nvPr/>
        </p:nvSpPr>
        <p:spPr>
          <a:xfrm>
            <a:off x="11786616" y="4166235"/>
            <a:ext cx="5029200" cy="390906"/>
          </a:xfrm>
          <a:prstGeom prst="rect">
            <a:avLst/>
          </a:prstGeom>
          <a:noFill/>
        </p:spPr>
        <p:txBody>
          <a:bodyPr wrap="square">
            <a:spAutoFit/>
          </a:bodyPr>
          <a:lstStyle/>
          <a:p>
            <a:pPr algn="l"/>
            <a:r>
              <a:rPr b="0" i="1" sz="1000">
                <a:solidFill>
                  <a:srgbClr val="3D3833"/>
                </a:solidFill>
                <a:latin typeface="Arial"/>
              </a:rPr>
              <a:t>Gia monitorate fonti diverse.</a:t>
            </a:r>
          </a:p>
        </p:txBody>
      </p:sp>
      <p:sp>
        <p:nvSpPr>
          <p:cNvPr id="17" name="TextBox 16"/>
          <p:cNvSpPr txBox="1"/>
          <p:nvPr/>
        </p:nvSpPr>
        <p:spPr>
          <a:xfrm>
            <a:off x="11786616" y="4557141"/>
            <a:ext cx="5029200" cy="514350"/>
          </a:xfrm>
          <a:prstGeom prst="rect">
            <a:avLst/>
          </a:prstGeom>
          <a:noFill/>
        </p:spPr>
        <p:txBody>
          <a:bodyPr wrap="square">
            <a:spAutoFit/>
          </a:bodyPr>
          <a:lstStyle/>
          <a:p>
            <a:pPr algn="l"/>
            <a:r>
              <a:rPr b="0" i="0" sz="1000">
                <a:solidFill>
                  <a:srgbClr val="8A8175"/>
                </a:solidFill>
                <a:latin typeface="Arial"/>
              </a:rPr>
              <a:t>L'AI vi permette di farlo su piu lingue, mercati, canali, simultaneamente.</a:t>
            </a:r>
          </a:p>
        </p:txBody>
      </p:sp>
      <p:sp>
        <p:nvSpPr>
          <p:cNvPr id="18" name="Rectangle 17"/>
          <p:cNvSpPr/>
          <p:nvPr/>
        </p:nvSpPr>
        <p:spPr>
          <a:xfrm>
            <a:off x="1097280" y="5266944"/>
            <a:ext cx="5212080" cy="15430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5390388"/>
            <a:ext cx="1828800" cy="411480"/>
          </a:xfrm>
          <a:prstGeom prst="rect">
            <a:avLst/>
          </a:prstGeom>
          <a:noFill/>
        </p:spPr>
        <p:txBody>
          <a:bodyPr wrap="square">
            <a:spAutoFit/>
          </a:bodyPr>
          <a:lstStyle/>
          <a:p>
            <a:pPr algn="l"/>
            <a:r>
              <a:rPr b="1" i="0" sz="1200">
                <a:solidFill>
                  <a:srgbClr val="B8523A"/>
                </a:solidFill>
                <a:latin typeface="Courier New"/>
              </a:rPr>
              <a:t>MEMORY</a:t>
            </a:r>
          </a:p>
        </p:txBody>
      </p:sp>
      <p:sp>
        <p:nvSpPr>
          <p:cNvPr id="20" name="TextBox 19"/>
          <p:cNvSpPr txBox="1"/>
          <p:nvPr/>
        </p:nvSpPr>
        <p:spPr>
          <a:xfrm>
            <a:off x="1234440" y="5832729"/>
            <a:ext cx="5029200" cy="390906"/>
          </a:xfrm>
          <a:prstGeom prst="rect">
            <a:avLst/>
          </a:prstGeom>
          <a:noFill/>
        </p:spPr>
        <p:txBody>
          <a:bodyPr wrap="square">
            <a:spAutoFit/>
          </a:bodyPr>
          <a:lstStyle/>
          <a:p>
            <a:pPr algn="l"/>
            <a:r>
              <a:rPr b="0" i="1" sz="1000">
                <a:solidFill>
                  <a:srgbClr val="3D3833"/>
                </a:solidFill>
                <a:latin typeface="Arial"/>
              </a:rPr>
              <a:t>Gia costruite trend analysis nel tempo.</a:t>
            </a:r>
          </a:p>
        </p:txBody>
      </p:sp>
      <p:sp>
        <p:nvSpPr>
          <p:cNvPr id="21" name="TextBox 20"/>
          <p:cNvSpPr txBox="1"/>
          <p:nvPr/>
        </p:nvSpPr>
        <p:spPr>
          <a:xfrm>
            <a:off x="1234440" y="6223635"/>
            <a:ext cx="5029200" cy="514350"/>
          </a:xfrm>
          <a:prstGeom prst="rect">
            <a:avLst/>
          </a:prstGeom>
          <a:noFill/>
        </p:spPr>
        <p:txBody>
          <a:bodyPr wrap="square">
            <a:spAutoFit/>
          </a:bodyPr>
          <a:lstStyle/>
          <a:p>
            <a:pPr algn="l"/>
            <a:r>
              <a:rPr b="0" i="0" sz="1000">
                <a:solidFill>
                  <a:srgbClr val="8A8175"/>
                </a:solidFill>
                <a:latin typeface="Arial"/>
              </a:rPr>
              <a:t>L'AI vi permette di interrogare anni di dati storici come se fossero una conversazione.</a:t>
            </a:r>
          </a:p>
        </p:txBody>
      </p:sp>
      <p:sp>
        <p:nvSpPr>
          <p:cNvPr id="22" name="Rectangle 21"/>
          <p:cNvSpPr/>
          <p:nvPr/>
        </p:nvSpPr>
        <p:spPr>
          <a:xfrm>
            <a:off x="6373368" y="5266944"/>
            <a:ext cx="5212080" cy="15430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5390388"/>
            <a:ext cx="1828800" cy="411480"/>
          </a:xfrm>
          <a:prstGeom prst="rect">
            <a:avLst/>
          </a:prstGeom>
          <a:noFill/>
        </p:spPr>
        <p:txBody>
          <a:bodyPr wrap="square">
            <a:spAutoFit/>
          </a:bodyPr>
          <a:lstStyle/>
          <a:p>
            <a:pPr algn="l"/>
            <a:r>
              <a:rPr b="1" i="0" sz="1200">
                <a:solidFill>
                  <a:srgbClr val="B8523A"/>
                </a:solidFill>
                <a:latin typeface="Courier New"/>
              </a:rPr>
              <a:t>DISCOVERY</a:t>
            </a:r>
          </a:p>
        </p:txBody>
      </p:sp>
      <p:sp>
        <p:nvSpPr>
          <p:cNvPr id="24" name="TextBox 23"/>
          <p:cNvSpPr txBox="1"/>
          <p:nvPr/>
        </p:nvSpPr>
        <p:spPr>
          <a:xfrm>
            <a:off x="6510528" y="5832729"/>
            <a:ext cx="5029200" cy="390906"/>
          </a:xfrm>
          <a:prstGeom prst="rect">
            <a:avLst/>
          </a:prstGeom>
          <a:noFill/>
        </p:spPr>
        <p:txBody>
          <a:bodyPr wrap="square">
            <a:spAutoFit/>
          </a:bodyPr>
          <a:lstStyle/>
          <a:p>
            <a:pPr algn="l"/>
            <a:r>
              <a:rPr b="0" i="1" sz="1000">
                <a:solidFill>
                  <a:srgbClr val="3D3833"/>
                </a:solidFill>
                <a:latin typeface="Arial"/>
              </a:rPr>
              <a:t>Gia cercate pattern nascosti.</a:t>
            </a:r>
          </a:p>
        </p:txBody>
      </p:sp>
      <p:sp>
        <p:nvSpPr>
          <p:cNvPr id="25" name="TextBox 24"/>
          <p:cNvSpPr txBox="1"/>
          <p:nvPr/>
        </p:nvSpPr>
        <p:spPr>
          <a:xfrm>
            <a:off x="6510528" y="6223635"/>
            <a:ext cx="5029200" cy="514350"/>
          </a:xfrm>
          <a:prstGeom prst="rect">
            <a:avLst/>
          </a:prstGeom>
          <a:noFill/>
        </p:spPr>
        <p:txBody>
          <a:bodyPr wrap="square">
            <a:spAutoFit/>
          </a:bodyPr>
          <a:lstStyle/>
          <a:p>
            <a:pPr algn="l"/>
            <a:r>
              <a:rPr b="0" i="0" sz="1000">
                <a:solidFill>
                  <a:srgbClr val="8A8175"/>
                </a:solidFill>
                <a:latin typeface="Arial"/>
              </a:rPr>
              <a:t>L'AI identifica correlazioni che l'occhio umano non vedrebbe mai — e ve le porta.</a:t>
            </a:r>
          </a:p>
        </p:txBody>
      </p:sp>
      <p:sp>
        <p:nvSpPr>
          <p:cNvPr id="26" name="Rectangle 25"/>
          <p:cNvSpPr/>
          <p:nvPr/>
        </p:nvSpPr>
        <p:spPr>
          <a:xfrm>
            <a:off x="11649456" y="5266944"/>
            <a:ext cx="5212080" cy="15430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786616" y="5390388"/>
            <a:ext cx="1828800" cy="411480"/>
          </a:xfrm>
          <a:prstGeom prst="rect">
            <a:avLst/>
          </a:prstGeom>
          <a:noFill/>
        </p:spPr>
        <p:txBody>
          <a:bodyPr wrap="square">
            <a:spAutoFit/>
          </a:bodyPr>
          <a:lstStyle/>
          <a:p>
            <a:pPr algn="l"/>
            <a:r>
              <a:rPr b="1" i="0" sz="1200">
                <a:solidFill>
                  <a:srgbClr val="B8523A"/>
                </a:solidFill>
                <a:latin typeface="Courier New"/>
              </a:rPr>
              <a:t>SIMULATION</a:t>
            </a:r>
          </a:p>
        </p:txBody>
      </p:sp>
      <p:sp>
        <p:nvSpPr>
          <p:cNvPr id="28" name="TextBox 27"/>
          <p:cNvSpPr txBox="1"/>
          <p:nvPr/>
        </p:nvSpPr>
        <p:spPr>
          <a:xfrm>
            <a:off x="11786616" y="5832729"/>
            <a:ext cx="5029200" cy="390906"/>
          </a:xfrm>
          <a:prstGeom prst="rect">
            <a:avLst/>
          </a:prstGeom>
          <a:noFill/>
        </p:spPr>
        <p:txBody>
          <a:bodyPr wrap="square">
            <a:spAutoFit/>
          </a:bodyPr>
          <a:lstStyle/>
          <a:p>
            <a:pPr algn="l"/>
            <a:r>
              <a:rPr b="0" i="1" sz="1000">
                <a:solidFill>
                  <a:srgbClr val="3D3833"/>
                </a:solidFill>
                <a:latin typeface="Arial"/>
              </a:rPr>
              <a:t>Gia ragionate per scenari.</a:t>
            </a:r>
          </a:p>
        </p:txBody>
      </p:sp>
      <p:sp>
        <p:nvSpPr>
          <p:cNvPr id="29" name="TextBox 28"/>
          <p:cNvSpPr txBox="1"/>
          <p:nvPr/>
        </p:nvSpPr>
        <p:spPr>
          <a:xfrm>
            <a:off x="11786616" y="6223635"/>
            <a:ext cx="5029200" cy="514350"/>
          </a:xfrm>
          <a:prstGeom prst="rect">
            <a:avLst/>
          </a:prstGeom>
          <a:noFill/>
        </p:spPr>
        <p:txBody>
          <a:bodyPr wrap="square">
            <a:spAutoFit/>
          </a:bodyPr>
          <a:lstStyle/>
          <a:p>
            <a:pPr algn="l"/>
            <a:r>
              <a:rPr b="0" i="0" sz="1000">
                <a:solidFill>
                  <a:srgbClr val="8A8175"/>
                </a:solidFill>
                <a:latin typeface="Arial"/>
              </a:rPr>
              <a:t>L'AI vi permette di simularli. Di testare 'e se?' prima che diventi reale.</a:t>
            </a:r>
          </a:p>
        </p:txBody>
      </p:sp>
      <p:sp>
        <p:nvSpPr>
          <p:cNvPr id="30" name="Rectangle 29"/>
          <p:cNvSpPr/>
          <p:nvPr/>
        </p:nvSpPr>
        <p:spPr>
          <a:xfrm>
            <a:off x="1097280" y="8949690"/>
            <a:ext cx="16093440" cy="102870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63040" y="9258300"/>
            <a:ext cx="15361920" cy="617220"/>
          </a:xfrm>
          <a:prstGeom prst="rect">
            <a:avLst/>
          </a:prstGeom>
          <a:noFill/>
        </p:spPr>
        <p:txBody>
          <a:bodyPr wrap="square">
            <a:spAutoFit/>
          </a:bodyPr>
          <a:lstStyle/>
          <a:p>
            <a:pPr algn="ctr"/>
            <a:r>
              <a:rPr b="0" i="1" sz="1300">
                <a:solidFill>
                  <a:srgbClr val="F3EDE1"/>
                </a:solidFill>
                <a:latin typeface="Georgia"/>
              </a:rPr>
              <a:t>"L'AI non pensa al posto dell'analista. Amplifica cio che l'analista e in grado di vedere."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spAutoFit/>
          </a:bodyPr>
          <a:lstStyle/>
          <a:p>
            <a:pPr algn="l"/>
            <a:r>
              <a:rPr b="1" i="0" sz="1000">
                <a:solidFill>
                  <a:srgbClr val="B8523A"/>
                </a:solidFill>
                <a:latin typeface="Courier New"/>
              </a:rPr>
              <a:t>●  CAPITOLO 8 — APPLICAZIONI CONCRETE</a:t>
            </a:r>
          </a:p>
        </p:txBody>
      </p:sp>
      <p:sp>
        <p:nvSpPr>
          <p:cNvPr id="3" name="TextBox 2"/>
          <p:cNvSpPr txBox="1"/>
          <p:nvPr/>
        </p:nvSpPr>
        <p:spPr>
          <a:xfrm>
            <a:off x="1097280" y="1337310"/>
            <a:ext cx="16093440" cy="925830"/>
          </a:xfrm>
          <a:prstGeom prst="rect">
            <a:avLst/>
          </a:prstGeom>
          <a:noFill/>
        </p:spPr>
        <p:txBody>
          <a:bodyPr wrap="square">
            <a:spAutoFit/>
          </a:bodyPr>
          <a:lstStyle/>
          <a:p>
            <a:pPr algn="l"/>
            <a:r>
              <a:rPr b="1" i="0" sz="2800">
                <a:solidFill>
                  <a:srgbClr val="3D3833"/>
                </a:solidFill>
                <a:latin typeface="Georgia"/>
              </a:rPr>
              <a:t>Dove si vede il valore concreto.</a:t>
            </a:r>
          </a:p>
        </p:txBody>
      </p:sp>
      <p:sp>
        <p:nvSpPr>
          <p:cNvPr id="4" name="TextBox 3"/>
          <p:cNvSpPr txBox="1"/>
          <p:nvPr/>
        </p:nvSpPr>
        <p:spPr>
          <a:xfrm>
            <a:off x="1097280" y="2468880"/>
            <a:ext cx="16093440" cy="617220"/>
          </a:xfrm>
          <a:prstGeom prst="rect">
            <a:avLst/>
          </a:prstGeom>
          <a:noFill/>
        </p:spPr>
        <p:txBody>
          <a:bodyPr wrap="square">
            <a:spAutoFit/>
          </a:bodyPr>
          <a:lstStyle/>
          <a:p>
            <a:pPr algn="l"/>
            <a:r>
              <a:rPr b="0" i="0" sz="1200">
                <a:solidFill>
                  <a:srgbClr val="8A8175"/>
                </a:solidFill>
                <a:latin typeface="Arial"/>
              </a:rPr>
              <a:t>Quattro applicazioni in cui il listening entra prima delle decisioni. Non dopo.</a:t>
            </a:r>
          </a:p>
        </p:txBody>
      </p:sp>
      <p:cxnSp>
        <p:nvCxnSpPr>
          <p:cNvPr id="5" name="Connector 4"/>
          <p:cNvCxnSpPr/>
          <p:nvPr/>
        </p:nvCxnSpPr>
        <p:spPr>
          <a:xfrm>
            <a:off x="1097280" y="329184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703320"/>
            <a:ext cx="7863840" cy="277749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826764"/>
            <a:ext cx="7680960" cy="668655"/>
          </a:xfrm>
          <a:prstGeom prst="rect">
            <a:avLst/>
          </a:prstGeom>
          <a:noFill/>
        </p:spPr>
        <p:txBody>
          <a:bodyPr wrap="square">
            <a:spAutoFit/>
          </a:bodyPr>
          <a:lstStyle/>
          <a:p>
            <a:pPr algn="l"/>
            <a:r>
              <a:rPr b="1" i="0" sz="1200">
                <a:solidFill>
                  <a:srgbClr val="3D3833"/>
                </a:solidFill>
                <a:latin typeface="Arial"/>
              </a:rPr>
              <a:t>REPUTATION
INTELLIGENCE</a:t>
            </a:r>
          </a:p>
        </p:txBody>
      </p:sp>
      <p:sp>
        <p:nvSpPr>
          <p:cNvPr id="8" name="TextBox 7"/>
          <p:cNvSpPr txBox="1"/>
          <p:nvPr/>
        </p:nvSpPr>
        <p:spPr>
          <a:xfrm>
            <a:off x="1234440" y="4505706"/>
            <a:ext cx="7680960" cy="462915"/>
          </a:xfrm>
          <a:prstGeom prst="rect">
            <a:avLst/>
          </a:prstGeom>
          <a:noFill/>
        </p:spPr>
        <p:txBody>
          <a:bodyPr wrap="square">
            <a:spAutoFit/>
          </a:bodyPr>
          <a:lstStyle/>
          <a:p>
            <a:pPr algn="l"/>
            <a:r>
              <a:rPr b="0" i="1" sz="1000">
                <a:solidFill>
                  <a:srgbClr val="B8523A"/>
                </a:solidFill>
                <a:latin typeface="Arial"/>
              </a:rPr>
              <a:t>Non il monitoraggio delle menzioni — l'intelligence reputazionale.</a:t>
            </a:r>
          </a:p>
        </p:txBody>
      </p:sp>
      <p:sp>
        <p:nvSpPr>
          <p:cNvPr id="9" name="TextBox 8"/>
          <p:cNvSpPr txBox="1"/>
          <p:nvPr/>
        </p:nvSpPr>
        <p:spPr>
          <a:xfrm>
            <a:off x="1234440" y="4989195"/>
            <a:ext cx="7680960" cy="349758"/>
          </a:xfrm>
          <a:prstGeom prst="rect">
            <a:avLst/>
          </a:prstGeom>
          <a:noFill/>
        </p:spPr>
        <p:txBody>
          <a:bodyPr wrap="square">
            <a:spAutoFit/>
          </a:bodyPr>
          <a:lstStyle/>
          <a:p>
            <a:pPr algn="l"/>
            <a:r>
              <a:rPr b="0" i="0" sz="900">
                <a:solidFill>
                  <a:srgbClr val="8A8175"/>
                </a:solidFill>
                <a:latin typeface="Arial"/>
              </a:rPr>
              <a:t>- Percezione del brand e driver di fiducia spontanei</a:t>
            </a:r>
          </a:p>
        </p:txBody>
      </p:sp>
      <p:sp>
        <p:nvSpPr>
          <p:cNvPr id="10" name="TextBox 9"/>
          <p:cNvSpPr txBox="1"/>
          <p:nvPr/>
        </p:nvSpPr>
        <p:spPr>
          <a:xfrm>
            <a:off x="1234440" y="5338953"/>
            <a:ext cx="7680960" cy="349758"/>
          </a:xfrm>
          <a:prstGeom prst="rect">
            <a:avLst/>
          </a:prstGeom>
          <a:noFill/>
        </p:spPr>
        <p:txBody>
          <a:bodyPr wrap="square">
            <a:spAutoFit/>
          </a:bodyPr>
          <a:lstStyle/>
          <a:p>
            <a:pPr algn="l"/>
            <a:r>
              <a:rPr b="0" i="0" sz="900">
                <a:solidFill>
                  <a:srgbClr val="8A8175"/>
                </a:solidFill>
                <a:latin typeface="Arial"/>
              </a:rPr>
              <a:t>- Rischi latenti prima che diventino crisi visibili</a:t>
            </a:r>
          </a:p>
        </p:txBody>
      </p:sp>
      <p:sp>
        <p:nvSpPr>
          <p:cNvPr id="11" name="TextBox 10"/>
          <p:cNvSpPr txBox="1"/>
          <p:nvPr/>
        </p:nvSpPr>
        <p:spPr>
          <a:xfrm>
            <a:off x="1234440" y="5688711"/>
            <a:ext cx="7680960" cy="349758"/>
          </a:xfrm>
          <a:prstGeom prst="rect">
            <a:avLst/>
          </a:prstGeom>
          <a:noFill/>
        </p:spPr>
        <p:txBody>
          <a:bodyPr wrap="square">
            <a:spAutoFit/>
          </a:bodyPr>
          <a:lstStyle/>
          <a:p>
            <a:pPr algn="l"/>
            <a:r>
              <a:rPr b="0" i="0" sz="900">
                <a:solidFill>
                  <a:srgbClr val="8A8175"/>
                </a:solidFill>
                <a:latin typeface="Arial"/>
              </a:rPr>
              <a:t>- Alert preventivi, non post-mortem</a:t>
            </a:r>
          </a:p>
        </p:txBody>
      </p:sp>
      <p:sp>
        <p:nvSpPr>
          <p:cNvPr id="12" name="TextBox 11"/>
          <p:cNvSpPr txBox="1"/>
          <p:nvPr/>
        </p:nvSpPr>
        <p:spPr>
          <a:xfrm>
            <a:off x="1234440" y="6038469"/>
            <a:ext cx="7680960" cy="349758"/>
          </a:xfrm>
          <a:prstGeom prst="rect">
            <a:avLst/>
          </a:prstGeom>
          <a:noFill/>
        </p:spPr>
        <p:txBody>
          <a:bodyPr wrap="square">
            <a:spAutoFit/>
          </a:bodyPr>
          <a:lstStyle/>
          <a:p>
            <a:pPr algn="l"/>
            <a:r>
              <a:rPr b="0" i="0" sz="900">
                <a:solidFill>
                  <a:srgbClr val="8A8175"/>
                </a:solidFill>
                <a:latin typeface="Arial"/>
              </a:rPr>
              <a:t>- Il sistema dice non solo cosa — ma perche e dove sta andando</a:t>
            </a:r>
          </a:p>
        </p:txBody>
      </p:sp>
      <p:sp>
        <p:nvSpPr>
          <p:cNvPr id="13" name="Rectangle 12"/>
          <p:cNvSpPr/>
          <p:nvPr/>
        </p:nvSpPr>
        <p:spPr>
          <a:xfrm>
            <a:off x="9509760" y="3703320"/>
            <a:ext cx="7863840" cy="277749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46920" y="3826764"/>
            <a:ext cx="7680960" cy="668655"/>
          </a:xfrm>
          <a:prstGeom prst="rect">
            <a:avLst/>
          </a:prstGeom>
          <a:noFill/>
        </p:spPr>
        <p:txBody>
          <a:bodyPr wrap="square">
            <a:spAutoFit/>
          </a:bodyPr>
          <a:lstStyle/>
          <a:p>
            <a:pPr algn="l"/>
            <a:r>
              <a:rPr b="1" i="0" sz="1200">
                <a:solidFill>
                  <a:srgbClr val="3D3833"/>
                </a:solidFill>
                <a:latin typeface="Arial"/>
              </a:rPr>
              <a:t>CAMPAIGN
INTELLIGENCE</a:t>
            </a:r>
          </a:p>
        </p:txBody>
      </p:sp>
      <p:sp>
        <p:nvSpPr>
          <p:cNvPr id="15" name="TextBox 14"/>
          <p:cNvSpPr txBox="1"/>
          <p:nvPr/>
        </p:nvSpPr>
        <p:spPr>
          <a:xfrm>
            <a:off x="9646920" y="4505706"/>
            <a:ext cx="7680960" cy="462915"/>
          </a:xfrm>
          <a:prstGeom prst="rect">
            <a:avLst/>
          </a:prstGeom>
          <a:noFill/>
        </p:spPr>
        <p:txBody>
          <a:bodyPr wrap="square">
            <a:spAutoFit/>
          </a:bodyPr>
          <a:lstStyle/>
          <a:p>
            <a:pPr algn="l"/>
            <a:r>
              <a:rPr b="0" i="1" sz="1000">
                <a:solidFill>
                  <a:srgbClr val="B8523A"/>
                </a:solidFill>
                <a:latin typeface="Arial"/>
              </a:rPr>
              <a:t>Come viene ricevuta una campagna organicamente, al netto del paid?</a:t>
            </a:r>
          </a:p>
        </p:txBody>
      </p:sp>
      <p:sp>
        <p:nvSpPr>
          <p:cNvPr id="16" name="TextBox 15"/>
          <p:cNvSpPr txBox="1"/>
          <p:nvPr/>
        </p:nvSpPr>
        <p:spPr>
          <a:xfrm>
            <a:off x="9646920" y="4989195"/>
            <a:ext cx="7680960" cy="349758"/>
          </a:xfrm>
          <a:prstGeom prst="rect">
            <a:avLst/>
          </a:prstGeom>
          <a:noFill/>
        </p:spPr>
        <p:txBody>
          <a:bodyPr wrap="square">
            <a:spAutoFit/>
          </a:bodyPr>
          <a:lstStyle/>
          <a:p>
            <a:pPr algn="l"/>
            <a:r>
              <a:rPr b="0" i="0" sz="900">
                <a:solidFill>
                  <a:srgbClr val="8A8175"/>
                </a:solidFill>
                <a:latin typeface="Arial"/>
              </a:rPr>
              <a:t>- Quali messaggi vengono compresi e quali fraintesi?</a:t>
            </a:r>
          </a:p>
        </p:txBody>
      </p:sp>
      <p:sp>
        <p:nvSpPr>
          <p:cNvPr id="17" name="TextBox 16"/>
          <p:cNvSpPr txBox="1"/>
          <p:nvPr/>
        </p:nvSpPr>
        <p:spPr>
          <a:xfrm>
            <a:off x="9646920" y="5338953"/>
            <a:ext cx="7680960" cy="349758"/>
          </a:xfrm>
          <a:prstGeom prst="rect">
            <a:avLst/>
          </a:prstGeom>
          <a:noFill/>
        </p:spPr>
        <p:txBody>
          <a:bodyPr wrap="square">
            <a:spAutoFit/>
          </a:bodyPr>
          <a:lstStyle/>
          <a:p>
            <a:pPr algn="l"/>
            <a:r>
              <a:rPr b="0" i="0" sz="900">
                <a:solidFill>
                  <a:srgbClr val="8A8175"/>
                </a:solidFill>
                <a:latin typeface="Arial"/>
              </a:rPr>
              <a:t>- Quali asset funzionano nei contesti reali di consumo?</a:t>
            </a:r>
          </a:p>
        </p:txBody>
      </p:sp>
      <p:sp>
        <p:nvSpPr>
          <p:cNvPr id="18" name="TextBox 17"/>
          <p:cNvSpPr txBox="1"/>
          <p:nvPr/>
        </p:nvSpPr>
        <p:spPr>
          <a:xfrm>
            <a:off x="9646920" y="5688711"/>
            <a:ext cx="7680960" cy="349758"/>
          </a:xfrm>
          <a:prstGeom prst="rect">
            <a:avLst/>
          </a:prstGeom>
          <a:noFill/>
        </p:spPr>
        <p:txBody>
          <a:bodyPr wrap="square">
            <a:spAutoFit/>
          </a:bodyPr>
          <a:lstStyle/>
          <a:p>
            <a:pPr algn="l"/>
            <a:r>
              <a:rPr b="0" i="0" sz="900">
                <a:solidFill>
                  <a:srgbClr val="8A8175"/>
                </a:solidFill>
                <a:latin typeface="Arial"/>
              </a:rPr>
              <a:t>- Correzioni in itinere — non valutazioni a campagna chiusa</a:t>
            </a:r>
          </a:p>
        </p:txBody>
      </p:sp>
      <p:sp>
        <p:nvSpPr>
          <p:cNvPr id="19" name="TextBox 18"/>
          <p:cNvSpPr txBox="1"/>
          <p:nvPr/>
        </p:nvSpPr>
        <p:spPr>
          <a:xfrm>
            <a:off x="9646920" y="6038469"/>
            <a:ext cx="7680960" cy="349758"/>
          </a:xfrm>
          <a:prstGeom prst="rect">
            <a:avLst/>
          </a:prstGeom>
          <a:noFill/>
        </p:spPr>
        <p:txBody>
          <a:bodyPr wrap="square">
            <a:spAutoFit/>
          </a:bodyPr>
          <a:lstStyle/>
          <a:p>
            <a:pPr algn="l"/>
            <a:r>
              <a:rPr b="0" i="0" sz="900">
                <a:solidFill>
                  <a:srgbClr val="8A8175"/>
                </a:solidFill>
                <a:latin typeface="Arial"/>
              </a:rPr>
              <a:t>- Quando e ancora possibile cambiare qualcosa</a:t>
            </a:r>
          </a:p>
        </p:txBody>
      </p:sp>
      <p:sp>
        <p:nvSpPr>
          <p:cNvPr id="20" name="Rectangle 19"/>
          <p:cNvSpPr/>
          <p:nvPr/>
        </p:nvSpPr>
        <p:spPr>
          <a:xfrm>
            <a:off x="1097280" y="6686550"/>
            <a:ext cx="7863840" cy="277749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6809994"/>
            <a:ext cx="7680960" cy="668655"/>
          </a:xfrm>
          <a:prstGeom prst="rect">
            <a:avLst/>
          </a:prstGeom>
          <a:noFill/>
        </p:spPr>
        <p:txBody>
          <a:bodyPr wrap="square">
            <a:spAutoFit/>
          </a:bodyPr>
          <a:lstStyle/>
          <a:p>
            <a:pPr algn="l"/>
            <a:r>
              <a:rPr b="1" i="0" sz="1200">
                <a:solidFill>
                  <a:srgbClr val="3D3833"/>
                </a:solidFill>
                <a:latin typeface="Arial"/>
              </a:rPr>
              <a:t>PRODUCT
INTELLIGENCE</a:t>
            </a:r>
          </a:p>
        </p:txBody>
      </p:sp>
      <p:sp>
        <p:nvSpPr>
          <p:cNvPr id="22" name="TextBox 21"/>
          <p:cNvSpPr txBox="1"/>
          <p:nvPr/>
        </p:nvSpPr>
        <p:spPr>
          <a:xfrm>
            <a:off x="1234440" y="7488936"/>
            <a:ext cx="7680960" cy="462915"/>
          </a:xfrm>
          <a:prstGeom prst="rect">
            <a:avLst/>
          </a:prstGeom>
          <a:noFill/>
        </p:spPr>
        <p:txBody>
          <a:bodyPr wrap="square">
            <a:spAutoFit/>
          </a:bodyPr>
          <a:lstStyle/>
          <a:p>
            <a:pPr algn="l"/>
            <a:r>
              <a:rPr b="0" i="1" sz="1000">
                <a:solidFill>
                  <a:srgbClr val="B8523A"/>
                </a:solidFill>
                <a:latin typeface="Arial"/>
              </a:rPr>
              <a:t>I bisogni che i clienti non dichiarano in nessuna survey.</a:t>
            </a:r>
          </a:p>
        </p:txBody>
      </p:sp>
      <p:sp>
        <p:nvSpPr>
          <p:cNvPr id="23" name="TextBox 22"/>
          <p:cNvSpPr txBox="1"/>
          <p:nvPr/>
        </p:nvSpPr>
        <p:spPr>
          <a:xfrm>
            <a:off x="1234440" y="7972425"/>
            <a:ext cx="7680960" cy="349758"/>
          </a:xfrm>
          <a:prstGeom prst="rect">
            <a:avLst/>
          </a:prstGeom>
          <a:noFill/>
        </p:spPr>
        <p:txBody>
          <a:bodyPr wrap="square">
            <a:spAutoFit/>
          </a:bodyPr>
          <a:lstStyle/>
          <a:p>
            <a:pPr algn="l"/>
            <a:r>
              <a:rPr b="0" i="0" sz="900">
                <a:solidFill>
                  <a:srgbClr val="8A8175"/>
                </a:solidFill>
                <a:latin typeface="Arial"/>
              </a:rPr>
              <a:t>- Barriere all'adozione non emerse nei focus group</a:t>
            </a:r>
          </a:p>
        </p:txBody>
      </p:sp>
      <p:sp>
        <p:nvSpPr>
          <p:cNvPr id="24" name="TextBox 23"/>
          <p:cNvSpPr txBox="1"/>
          <p:nvPr/>
        </p:nvSpPr>
        <p:spPr>
          <a:xfrm>
            <a:off x="1234440" y="8322183"/>
            <a:ext cx="7680960" cy="349758"/>
          </a:xfrm>
          <a:prstGeom prst="rect">
            <a:avLst/>
          </a:prstGeom>
          <a:noFill/>
        </p:spPr>
        <p:txBody>
          <a:bodyPr wrap="square">
            <a:spAutoFit/>
          </a:bodyPr>
          <a:lstStyle/>
          <a:p>
            <a:pPr algn="l"/>
            <a:r>
              <a:rPr b="0" i="0" sz="900">
                <a:solidFill>
                  <a:srgbClr val="8A8175"/>
                </a:solidFill>
                <a:latin typeface="Arial"/>
              </a:rPr>
              <a:t>- Usi imprevisti: workaround, rituali, micro-community</a:t>
            </a:r>
          </a:p>
        </p:txBody>
      </p:sp>
      <p:sp>
        <p:nvSpPr>
          <p:cNvPr id="25" name="TextBox 24"/>
          <p:cNvSpPr txBox="1"/>
          <p:nvPr/>
        </p:nvSpPr>
        <p:spPr>
          <a:xfrm>
            <a:off x="1234440" y="8671941"/>
            <a:ext cx="7680960" cy="349758"/>
          </a:xfrm>
          <a:prstGeom prst="rect">
            <a:avLst/>
          </a:prstGeom>
          <a:noFill/>
        </p:spPr>
        <p:txBody>
          <a:bodyPr wrap="square">
            <a:spAutoFit/>
          </a:bodyPr>
          <a:lstStyle/>
          <a:p>
            <a:pPr algn="l"/>
            <a:r>
              <a:rPr b="0" i="0" sz="900">
                <a:solidFill>
                  <a:srgbClr val="8A8175"/>
                </a:solidFill>
                <a:latin typeface="Arial"/>
              </a:rPr>
              <a:t>- Segnali che orientano le roadmap verso cio che il mercato vuole</a:t>
            </a:r>
          </a:p>
        </p:txBody>
      </p:sp>
      <p:sp>
        <p:nvSpPr>
          <p:cNvPr id="26" name="TextBox 25"/>
          <p:cNvSpPr txBox="1"/>
          <p:nvPr/>
        </p:nvSpPr>
        <p:spPr>
          <a:xfrm>
            <a:off x="1234440" y="9021699"/>
            <a:ext cx="7680960" cy="349758"/>
          </a:xfrm>
          <a:prstGeom prst="rect">
            <a:avLst/>
          </a:prstGeom>
          <a:noFill/>
        </p:spPr>
        <p:txBody>
          <a:bodyPr wrap="square">
            <a:spAutoFit/>
          </a:bodyPr>
          <a:lstStyle/>
          <a:p>
            <a:pPr algn="l"/>
            <a:r>
              <a:rPr b="0" i="0" sz="900">
                <a:solidFill>
                  <a:srgbClr val="8A8175"/>
                </a:solidFill>
                <a:latin typeface="Arial"/>
              </a:rPr>
              <a:t>- Non quello che dice di volere — quello che fa davvero</a:t>
            </a:r>
          </a:p>
        </p:txBody>
      </p:sp>
      <p:sp>
        <p:nvSpPr>
          <p:cNvPr id="27" name="Rectangle 26"/>
          <p:cNvSpPr/>
          <p:nvPr/>
        </p:nvSpPr>
        <p:spPr>
          <a:xfrm>
            <a:off x="9509760" y="6686550"/>
            <a:ext cx="7863840" cy="277749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46920" y="6809994"/>
            <a:ext cx="7680960" cy="668655"/>
          </a:xfrm>
          <a:prstGeom prst="rect">
            <a:avLst/>
          </a:prstGeom>
          <a:noFill/>
        </p:spPr>
        <p:txBody>
          <a:bodyPr wrap="square">
            <a:spAutoFit/>
          </a:bodyPr>
          <a:lstStyle/>
          <a:p>
            <a:pPr algn="l"/>
            <a:r>
              <a:rPr b="1" i="0" sz="1200">
                <a:solidFill>
                  <a:srgbClr val="3D3833"/>
                </a:solidFill>
                <a:latin typeface="Arial"/>
              </a:rPr>
              <a:t>REAL-TIME
INTELLIGENCE</a:t>
            </a:r>
          </a:p>
        </p:txBody>
      </p:sp>
      <p:sp>
        <p:nvSpPr>
          <p:cNvPr id="29" name="TextBox 28"/>
          <p:cNvSpPr txBox="1"/>
          <p:nvPr/>
        </p:nvSpPr>
        <p:spPr>
          <a:xfrm>
            <a:off x="9646920" y="7488936"/>
            <a:ext cx="7680960" cy="462915"/>
          </a:xfrm>
          <a:prstGeom prst="rect">
            <a:avLst/>
          </a:prstGeom>
          <a:noFill/>
        </p:spPr>
        <p:txBody>
          <a:bodyPr wrap="square">
            <a:spAutoFit/>
          </a:bodyPr>
          <a:lstStyle/>
          <a:p>
            <a:pPr algn="l"/>
            <a:r>
              <a:rPr b="0" i="1" sz="1000">
                <a:solidFill>
                  <a:srgbClr val="B8523A"/>
                </a:solidFill>
                <a:latin typeface="Arial"/>
              </a:rPr>
              <a:t>Lanci, sponsorship, crisi emergenti in tempo reale.</a:t>
            </a:r>
          </a:p>
        </p:txBody>
      </p:sp>
      <p:sp>
        <p:nvSpPr>
          <p:cNvPr id="30" name="TextBox 29"/>
          <p:cNvSpPr txBox="1"/>
          <p:nvPr/>
        </p:nvSpPr>
        <p:spPr>
          <a:xfrm>
            <a:off x="9646920" y="7972425"/>
            <a:ext cx="7680960" cy="349758"/>
          </a:xfrm>
          <a:prstGeom prst="rect">
            <a:avLst/>
          </a:prstGeom>
          <a:noFill/>
        </p:spPr>
        <p:txBody>
          <a:bodyPr wrap="square">
            <a:spAutoFit/>
          </a:bodyPr>
          <a:lstStyle/>
          <a:p>
            <a:pPr algn="l"/>
            <a:r>
              <a:rPr b="0" i="0" sz="900">
                <a:solidFill>
                  <a:srgbClr val="8A8175"/>
                </a:solidFill>
                <a:latin typeface="Arial"/>
              </a:rPr>
              <a:t>- Distinguere: polemica vs rischio reale</a:t>
            </a:r>
          </a:p>
        </p:txBody>
      </p:sp>
      <p:sp>
        <p:nvSpPr>
          <p:cNvPr id="31" name="TextBox 30"/>
          <p:cNvSpPr txBox="1"/>
          <p:nvPr/>
        </p:nvSpPr>
        <p:spPr>
          <a:xfrm>
            <a:off x="9646920" y="8322183"/>
            <a:ext cx="7680960" cy="349758"/>
          </a:xfrm>
          <a:prstGeom prst="rect">
            <a:avLst/>
          </a:prstGeom>
          <a:noFill/>
        </p:spPr>
        <p:txBody>
          <a:bodyPr wrap="square">
            <a:spAutoFit/>
          </a:bodyPr>
          <a:lstStyle/>
          <a:p>
            <a:pPr algn="l"/>
            <a:r>
              <a:rPr b="0" i="0" sz="900">
                <a:solidFill>
                  <a:srgbClr val="8A8175"/>
                </a:solidFill>
                <a:latin typeface="Arial"/>
              </a:rPr>
              <a:t>- Quando un topic diventa rumore vs quando diventa crisi</a:t>
            </a:r>
          </a:p>
        </p:txBody>
      </p:sp>
      <p:sp>
        <p:nvSpPr>
          <p:cNvPr id="32" name="TextBox 31"/>
          <p:cNvSpPr txBox="1"/>
          <p:nvPr/>
        </p:nvSpPr>
        <p:spPr>
          <a:xfrm>
            <a:off x="9646920" y="8671941"/>
            <a:ext cx="7680960" cy="349758"/>
          </a:xfrm>
          <a:prstGeom prst="rect">
            <a:avLst/>
          </a:prstGeom>
          <a:noFill/>
        </p:spPr>
        <p:txBody>
          <a:bodyPr wrap="square">
            <a:spAutoFit/>
          </a:bodyPr>
          <a:lstStyle/>
          <a:p>
            <a:pPr algn="l"/>
            <a:r>
              <a:rPr b="0" i="0" sz="900">
                <a:solidFill>
                  <a:srgbClr val="8A8175"/>
                </a:solidFill>
                <a:latin typeface="Arial"/>
              </a:rPr>
              <a:t>- Decidere: se rispondere, come, quando, con quale tono</a:t>
            </a:r>
          </a:p>
        </p:txBody>
      </p:sp>
      <p:sp>
        <p:nvSpPr>
          <p:cNvPr id="33" name="TextBox 32"/>
          <p:cNvSpPr txBox="1"/>
          <p:nvPr/>
        </p:nvSpPr>
        <p:spPr>
          <a:xfrm>
            <a:off x="9646920" y="9021699"/>
            <a:ext cx="7680960" cy="349758"/>
          </a:xfrm>
          <a:prstGeom prst="rect">
            <a:avLst/>
          </a:prstGeom>
          <a:noFill/>
        </p:spPr>
        <p:txBody>
          <a:bodyPr wrap="square">
            <a:spAutoFit/>
          </a:bodyPr>
          <a:lstStyle/>
          <a:p>
            <a:pPr algn="l"/>
            <a:r>
              <a:rPr b="0" i="0" sz="900">
                <a:solidFill>
                  <a:srgbClr val="8A8175"/>
                </a:solidFill>
                <a:latin typeface="Arial"/>
              </a:rPr>
              <a:t>- Velocita calibrata — non la risposta generica e tardiva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spAutoFit/>
          </a:bodyPr>
          <a:lstStyle/>
          <a:p>
            <a:pPr algn="l"/>
            <a:r>
              <a:rPr b="1" i="0" sz="1000">
                <a:solidFill>
                  <a:srgbClr val="B8523A"/>
                </a:solidFill>
                <a:latin typeface="Courier New"/>
              </a:rPr>
              <a:t>●  CAPITOLO 9 — CHIUSURA</a:t>
            </a:r>
          </a:p>
        </p:txBody>
      </p:sp>
      <p:sp>
        <p:nvSpPr>
          <p:cNvPr id="3" name="TextBox 2"/>
          <p:cNvSpPr txBox="1"/>
          <p:nvPr/>
        </p:nvSpPr>
        <p:spPr>
          <a:xfrm>
            <a:off x="1097280" y="1337310"/>
            <a:ext cx="16093440" cy="1028700"/>
          </a:xfrm>
          <a:prstGeom prst="rect">
            <a:avLst/>
          </a:prstGeom>
          <a:noFill/>
        </p:spPr>
        <p:txBody>
          <a:bodyPr wrap="square">
            <a:spAutoFit/>
          </a:bodyPr>
          <a:lstStyle/>
          <a:p>
            <a:pPr algn="l"/>
            <a:r>
              <a:rPr b="1" i="0" sz="2800">
                <a:solidFill>
                  <a:srgbClr val="3D3833"/>
                </a:solidFill>
                <a:latin typeface="Georgia"/>
              </a:rPr>
              <a:t>Cosa cambia da lunedi mattina.</a:t>
            </a:r>
          </a:p>
        </p:txBody>
      </p:sp>
      <p:sp>
        <p:nvSpPr>
          <p:cNvPr id="4" name="TextBox 3"/>
          <p:cNvSpPr txBox="1"/>
          <p:nvPr/>
        </p:nvSpPr>
        <p:spPr>
          <a:xfrm>
            <a:off x="1097280" y="2571750"/>
            <a:ext cx="16093440" cy="514350"/>
          </a:xfrm>
          <a:prstGeom prst="rect">
            <a:avLst/>
          </a:prstGeom>
          <a:noFill/>
        </p:spPr>
        <p:txBody>
          <a:bodyPr wrap="square">
            <a:spAutoFit/>
          </a:bodyPr>
          <a:lstStyle/>
          <a:p>
            <a:pPr algn="l"/>
            <a:r>
              <a:rPr b="0" i="0" sz="1200">
                <a:solidFill>
                  <a:srgbClr val="8A8175"/>
                </a:solidFill>
                <a:latin typeface="Arial"/>
              </a:rPr>
              <a:t>Quattro principi operativi. Non teoria — azioni immediate.</a:t>
            </a:r>
          </a:p>
        </p:txBody>
      </p:sp>
      <p:cxnSp>
        <p:nvCxnSpPr>
          <p:cNvPr id="5" name="Connector 4"/>
          <p:cNvCxnSpPr/>
          <p:nvPr/>
        </p:nvCxnSpPr>
        <p:spPr>
          <a:xfrm>
            <a:off x="1097280" y="329184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703320"/>
            <a:ext cx="7680960" cy="25717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857625"/>
            <a:ext cx="457200" cy="617220"/>
          </a:xfrm>
          <a:prstGeom prst="rect">
            <a:avLst/>
          </a:prstGeom>
          <a:noFill/>
        </p:spPr>
        <p:txBody>
          <a:bodyPr wrap="square">
            <a:spAutoFit/>
          </a:bodyPr>
          <a:lstStyle/>
          <a:p>
            <a:pPr algn="l"/>
            <a:r>
              <a:rPr b="1" i="0" sz="1800">
                <a:solidFill>
                  <a:srgbClr val="B8523A"/>
                </a:solidFill>
                <a:latin typeface="Georgia"/>
              </a:rPr>
              <a:t>01</a:t>
            </a:r>
          </a:p>
        </p:txBody>
      </p:sp>
      <p:sp>
        <p:nvSpPr>
          <p:cNvPr id="8" name="TextBox 7"/>
          <p:cNvSpPr txBox="1"/>
          <p:nvPr/>
        </p:nvSpPr>
        <p:spPr>
          <a:xfrm>
            <a:off x="1645920" y="3857625"/>
            <a:ext cx="6217920" cy="617220"/>
          </a:xfrm>
          <a:prstGeom prst="rect">
            <a:avLst/>
          </a:prstGeom>
          <a:noFill/>
        </p:spPr>
        <p:txBody>
          <a:bodyPr wrap="square">
            <a:spAutoFit/>
          </a:bodyPr>
          <a:lstStyle/>
          <a:p>
            <a:pPr algn="l"/>
            <a:r>
              <a:rPr b="1" i="0" sz="1200">
                <a:solidFill>
                  <a:srgbClr val="3D3833"/>
                </a:solidFill>
                <a:latin typeface="Arial"/>
              </a:rPr>
              <a:t>DAI UN NOME AL MESTIERE</a:t>
            </a:r>
          </a:p>
        </p:txBody>
      </p:sp>
      <p:sp>
        <p:nvSpPr>
          <p:cNvPr id="9" name="TextBox 8"/>
          <p:cNvSpPr txBox="1"/>
          <p:nvPr/>
        </p:nvSpPr>
        <p:spPr>
          <a:xfrm>
            <a:off x="1234440" y="4680585"/>
            <a:ext cx="7315200" cy="617220"/>
          </a:xfrm>
          <a:prstGeom prst="rect">
            <a:avLst/>
          </a:prstGeom>
          <a:noFill/>
        </p:spPr>
        <p:txBody>
          <a:bodyPr wrap="square">
            <a:spAutoFit/>
          </a:bodyPr>
          <a:lstStyle/>
          <a:p>
            <a:pPr algn="l"/>
            <a:r>
              <a:rPr b="0" i="1" sz="1000">
                <a:solidFill>
                  <a:srgbClr val="3D3833"/>
                </a:solidFill>
                <a:latin typeface="Arial"/>
              </a:rPr>
              <a:t>Se il listening viene confuso con social media management o reporting, non entrera mai nelle decisioni che contano.</a:t>
            </a:r>
          </a:p>
        </p:txBody>
      </p:sp>
      <p:sp>
        <p:nvSpPr>
          <p:cNvPr id="10" name="TextBox 9"/>
          <p:cNvSpPr txBox="1"/>
          <p:nvPr/>
        </p:nvSpPr>
        <p:spPr>
          <a:xfrm>
            <a:off x="1234440" y="5328666"/>
            <a:ext cx="7315200" cy="822960"/>
          </a:xfrm>
          <a:prstGeom prst="rect">
            <a:avLst/>
          </a:prstGeom>
          <a:noFill/>
        </p:spPr>
        <p:txBody>
          <a:bodyPr wrap="square">
            <a:spAutoFit/>
          </a:bodyPr>
          <a:lstStyle/>
          <a:p>
            <a:pPr algn="l"/>
            <a:r>
              <a:rPr b="0" i="0" sz="1000">
                <a:solidFill>
                  <a:srgbClr val="8A8175"/>
                </a:solidFill>
                <a:latin typeface="Arial"/>
              </a:rPr>
              <a:t>Dare un nome chiaro al ruolo e il primo passo per dargli spazio decisionale. Non e un problema semantico — e un problema di potere organizzativo.</a:t>
            </a:r>
          </a:p>
        </p:txBody>
      </p:sp>
      <p:sp>
        <p:nvSpPr>
          <p:cNvPr id="11" name="Rectangle 10"/>
          <p:cNvSpPr/>
          <p:nvPr/>
        </p:nvSpPr>
        <p:spPr>
          <a:xfrm>
            <a:off x="9509760" y="3703320"/>
            <a:ext cx="7680960" cy="25717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46920" y="3857625"/>
            <a:ext cx="457200" cy="617220"/>
          </a:xfrm>
          <a:prstGeom prst="rect">
            <a:avLst/>
          </a:prstGeom>
          <a:noFill/>
        </p:spPr>
        <p:txBody>
          <a:bodyPr wrap="square">
            <a:spAutoFit/>
          </a:bodyPr>
          <a:lstStyle/>
          <a:p>
            <a:pPr algn="l"/>
            <a:r>
              <a:rPr b="1" i="0" sz="1800">
                <a:solidFill>
                  <a:srgbClr val="B8523A"/>
                </a:solidFill>
                <a:latin typeface="Georgia"/>
              </a:rPr>
              <a:t>02</a:t>
            </a:r>
          </a:p>
        </p:txBody>
      </p:sp>
      <p:sp>
        <p:nvSpPr>
          <p:cNvPr id="13" name="TextBox 12"/>
          <p:cNvSpPr txBox="1"/>
          <p:nvPr/>
        </p:nvSpPr>
        <p:spPr>
          <a:xfrm>
            <a:off x="10058400" y="3857625"/>
            <a:ext cx="6217920" cy="617220"/>
          </a:xfrm>
          <a:prstGeom prst="rect">
            <a:avLst/>
          </a:prstGeom>
          <a:noFill/>
        </p:spPr>
        <p:txBody>
          <a:bodyPr wrap="square">
            <a:spAutoFit/>
          </a:bodyPr>
          <a:lstStyle/>
          <a:p>
            <a:pPr algn="l"/>
            <a:r>
              <a:rPr b="1" i="0" sz="1200">
                <a:solidFill>
                  <a:srgbClr val="3D3833"/>
                </a:solidFill>
                <a:latin typeface="Arial"/>
              </a:rPr>
              <a:t>PRIMA DELLA QUERY, LA DECISIONE</a:t>
            </a:r>
          </a:p>
        </p:txBody>
      </p:sp>
      <p:sp>
        <p:nvSpPr>
          <p:cNvPr id="14" name="TextBox 13"/>
          <p:cNvSpPr txBox="1"/>
          <p:nvPr/>
        </p:nvSpPr>
        <p:spPr>
          <a:xfrm>
            <a:off x="9646920" y="4680585"/>
            <a:ext cx="7315200" cy="617220"/>
          </a:xfrm>
          <a:prstGeom prst="rect">
            <a:avLst/>
          </a:prstGeom>
          <a:noFill/>
        </p:spPr>
        <p:txBody>
          <a:bodyPr wrap="square">
            <a:spAutoFit/>
          </a:bodyPr>
          <a:lstStyle/>
          <a:p>
            <a:pPr algn="l"/>
            <a:r>
              <a:rPr b="0" i="1" sz="1000">
                <a:solidFill>
                  <a:srgbClr val="3D3833"/>
                </a:solidFill>
                <a:latin typeface="Arial"/>
              </a:rPr>
              <a:t>Non si apre il tool e si digita il nome del brand. Si parte da: quale decisione devo supportare?</a:t>
            </a:r>
          </a:p>
        </p:txBody>
      </p:sp>
      <p:sp>
        <p:nvSpPr>
          <p:cNvPr id="15" name="TextBox 14"/>
          <p:cNvSpPr txBox="1"/>
          <p:nvPr/>
        </p:nvSpPr>
        <p:spPr>
          <a:xfrm>
            <a:off x="9646920" y="5328666"/>
            <a:ext cx="7315200" cy="822960"/>
          </a:xfrm>
          <a:prstGeom prst="rect">
            <a:avLst/>
          </a:prstGeom>
          <a:noFill/>
        </p:spPr>
        <p:txBody>
          <a:bodyPr wrap="square">
            <a:spAutoFit/>
          </a:bodyPr>
          <a:lstStyle/>
          <a:p>
            <a:pPr algn="l"/>
            <a:r>
              <a:rPr b="0" i="0" sz="1000">
                <a:solidFill>
                  <a:srgbClr val="8A8175"/>
                </a:solidFill>
                <a:latin typeface="Arial"/>
              </a:rPr>
              <a:t>Se la decisione non e chiara, il rischio e produrre monitoraggio — non intelligence. La domanda di business precede qualsiasi query.</a:t>
            </a:r>
          </a:p>
        </p:txBody>
      </p:sp>
      <p:sp>
        <p:nvSpPr>
          <p:cNvPr id="16" name="Rectangle 15"/>
          <p:cNvSpPr/>
          <p:nvPr/>
        </p:nvSpPr>
        <p:spPr>
          <a:xfrm>
            <a:off x="1097280" y="6480810"/>
            <a:ext cx="7680960" cy="25717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6635115"/>
            <a:ext cx="457200" cy="617220"/>
          </a:xfrm>
          <a:prstGeom prst="rect">
            <a:avLst/>
          </a:prstGeom>
          <a:noFill/>
        </p:spPr>
        <p:txBody>
          <a:bodyPr wrap="square">
            <a:spAutoFit/>
          </a:bodyPr>
          <a:lstStyle/>
          <a:p>
            <a:pPr algn="l"/>
            <a:r>
              <a:rPr b="1" i="0" sz="1800">
                <a:solidFill>
                  <a:srgbClr val="B8523A"/>
                </a:solidFill>
                <a:latin typeface="Georgia"/>
              </a:rPr>
              <a:t>03</a:t>
            </a:r>
          </a:p>
        </p:txBody>
      </p:sp>
      <p:sp>
        <p:nvSpPr>
          <p:cNvPr id="18" name="TextBox 17"/>
          <p:cNvSpPr txBox="1"/>
          <p:nvPr/>
        </p:nvSpPr>
        <p:spPr>
          <a:xfrm>
            <a:off x="1645920" y="6635115"/>
            <a:ext cx="6217920" cy="617220"/>
          </a:xfrm>
          <a:prstGeom prst="rect">
            <a:avLst/>
          </a:prstGeom>
          <a:noFill/>
        </p:spPr>
        <p:txBody>
          <a:bodyPr wrap="square">
            <a:spAutoFit/>
          </a:bodyPr>
          <a:lstStyle/>
          <a:p>
            <a:pPr algn="l"/>
            <a:r>
              <a:rPr b="1" i="0" sz="1200">
                <a:solidFill>
                  <a:srgbClr val="3D3833"/>
                </a:solidFill>
                <a:latin typeface="Arial"/>
              </a:rPr>
              <a:t>NON CERCARE VOLUME. CERCA FRIZIONE.</a:t>
            </a:r>
          </a:p>
        </p:txBody>
      </p:sp>
      <p:sp>
        <p:nvSpPr>
          <p:cNvPr id="19" name="TextBox 18"/>
          <p:cNvSpPr txBox="1"/>
          <p:nvPr/>
        </p:nvSpPr>
        <p:spPr>
          <a:xfrm>
            <a:off x="1234440" y="7458075"/>
            <a:ext cx="7315200" cy="617220"/>
          </a:xfrm>
          <a:prstGeom prst="rect">
            <a:avLst/>
          </a:prstGeom>
          <a:noFill/>
        </p:spPr>
        <p:txBody>
          <a:bodyPr wrap="square">
            <a:spAutoFit/>
          </a:bodyPr>
          <a:lstStyle/>
          <a:p>
            <a:pPr algn="l"/>
            <a:r>
              <a:rPr b="0" i="1" sz="1000">
                <a:solidFill>
                  <a:srgbClr val="3D3833"/>
                </a:solidFill>
                <a:latin typeface="Arial"/>
              </a:rPr>
              <a:t>Il segnale piu utile spesso non e il picco piu grande, ma il pattern piu scomodo.</a:t>
            </a:r>
          </a:p>
        </p:txBody>
      </p:sp>
      <p:sp>
        <p:nvSpPr>
          <p:cNvPr id="20" name="TextBox 19"/>
          <p:cNvSpPr txBox="1"/>
          <p:nvPr/>
        </p:nvSpPr>
        <p:spPr>
          <a:xfrm>
            <a:off x="1234440" y="8106156"/>
            <a:ext cx="7315200" cy="822960"/>
          </a:xfrm>
          <a:prstGeom prst="rect">
            <a:avLst/>
          </a:prstGeom>
          <a:noFill/>
        </p:spPr>
        <p:txBody>
          <a:bodyPr wrap="square">
            <a:spAutoFit/>
          </a:bodyPr>
          <a:lstStyle/>
          <a:p>
            <a:pPr algn="l"/>
            <a:r>
              <a:rPr b="0" i="0" sz="1000">
                <a:solidFill>
                  <a:srgbClr val="8A8175"/>
                </a:solidFill>
                <a:latin typeface="Arial"/>
              </a:rPr>
              <a:t>Una sfiducia latente. Un uso imprevisto. Una barriera non dichiarata. Il vantaggio competitivo non si nasconde dove guardano tutti.</a:t>
            </a:r>
          </a:p>
        </p:txBody>
      </p:sp>
      <p:sp>
        <p:nvSpPr>
          <p:cNvPr id="21" name="Rectangle 20"/>
          <p:cNvSpPr/>
          <p:nvPr/>
        </p:nvSpPr>
        <p:spPr>
          <a:xfrm>
            <a:off x="9509760" y="6480810"/>
            <a:ext cx="7680960" cy="25717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46920" y="6635115"/>
            <a:ext cx="457200" cy="617220"/>
          </a:xfrm>
          <a:prstGeom prst="rect">
            <a:avLst/>
          </a:prstGeom>
          <a:noFill/>
        </p:spPr>
        <p:txBody>
          <a:bodyPr wrap="square">
            <a:spAutoFit/>
          </a:bodyPr>
          <a:lstStyle/>
          <a:p>
            <a:pPr algn="l"/>
            <a:r>
              <a:rPr b="1" i="0" sz="1800">
                <a:solidFill>
                  <a:srgbClr val="B8523A"/>
                </a:solidFill>
                <a:latin typeface="Georgia"/>
              </a:rPr>
              <a:t>04</a:t>
            </a:r>
          </a:p>
        </p:txBody>
      </p:sp>
      <p:sp>
        <p:nvSpPr>
          <p:cNvPr id="23" name="TextBox 22"/>
          <p:cNvSpPr txBox="1"/>
          <p:nvPr/>
        </p:nvSpPr>
        <p:spPr>
          <a:xfrm>
            <a:off x="10058400" y="6635115"/>
            <a:ext cx="6217920" cy="617220"/>
          </a:xfrm>
          <a:prstGeom prst="rect">
            <a:avLst/>
          </a:prstGeom>
          <a:noFill/>
        </p:spPr>
        <p:txBody>
          <a:bodyPr wrap="square">
            <a:spAutoFit/>
          </a:bodyPr>
          <a:lstStyle/>
          <a:p>
            <a:pPr algn="l"/>
            <a:r>
              <a:rPr b="1" i="0" sz="1200">
                <a:solidFill>
                  <a:srgbClr val="3D3833"/>
                </a:solidFill>
                <a:latin typeface="Arial"/>
              </a:rPr>
              <a:t>USA L'AI PER ACCELERARE, NON PER DELEGARE</a:t>
            </a:r>
          </a:p>
        </p:txBody>
      </p:sp>
      <p:sp>
        <p:nvSpPr>
          <p:cNvPr id="24" name="TextBox 23"/>
          <p:cNvSpPr txBox="1"/>
          <p:nvPr/>
        </p:nvSpPr>
        <p:spPr>
          <a:xfrm>
            <a:off x="9646920" y="7458075"/>
            <a:ext cx="7315200" cy="617220"/>
          </a:xfrm>
          <a:prstGeom prst="rect">
            <a:avLst/>
          </a:prstGeom>
          <a:noFill/>
        </p:spPr>
        <p:txBody>
          <a:bodyPr wrap="square">
            <a:spAutoFit/>
          </a:bodyPr>
          <a:lstStyle/>
          <a:p>
            <a:pPr algn="l"/>
            <a:r>
              <a:rPr b="0" i="1" sz="1000">
                <a:solidFill>
                  <a:srgbClr val="3D3833"/>
                </a:solidFill>
                <a:latin typeface="Arial"/>
              </a:rPr>
              <a:t>L'AI fa il Task Layer meglio e piu velocemente. Il Judgement Layer resta umano.</a:t>
            </a:r>
          </a:p>
        </p:txBody>
      </p:sp>
      <p:sp>
        <p:nvSpPr>
          <p:cNvPr id="25" name="TextBox 24"/>
          <p:cNvSpPr txBox="1"/>
          <p:nvPr/>
        </p:nvSpPr>
        <p:spPr>
          <a:xfrm>
            <a:off x="9646920" y="8106156"/>
            <a:ext cx="7315200" cy="822960"/>
          </a:xfrm>
          <a:prstGeom prst="rect">
            <a:avLst/>
          </a:prstGeom>
          <a:noFill/>
        </p:spPr>
        <p:txBody>
          <a:bodyPr wrap="square">
            <a:spAutoFit/>
          </a:bodyPr>
          <a:lstStyle/>
          <a:p>
            <a:pPr algn="l"/>
            <a:r>
              <a:rPr b="0" i="0" sz="1000">
                <a:solidFill>
                  <a:srgbClr val="8A8175"/>
                </a:solidFill>
                <a:latin typeface="Arial"/>
              </a:rPr>
              <a:t>Usala per andare piu lontano — non per smettere di pensare. Con l'AI il tuo lavoro vale di piu. Non e un sostituto: e un amplificatore.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714"/>
        </a:solidFill>
        <a:effectLst/>
      </p:bgPr>
    </p:bg>
    <p:spTree>
      <p:nvGrpSpPr>
        <p:cNvPr id="1" name=""/>
        <p:cNvGrpSpPr/>
        <p:nvPr/>
      </p:nvGrpSpPr>
      <p:grpSpPr/>
      <p:sp>
        <p:nvSpPr>
          <p:cNvPr id="2" name="Rectangle 1"/>
          <p:cNvSpPr/>
          <p:nvPr/>
        </p:nvSpPr>
        <p:spPr>
          <a:xfrm>
            <a:off x="0" y="0"/>
            <a:ext cx="1097280" cy="1028700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1851660"/>
            <a:ext cx="14630400" cy="1028700"/>
          </a:xfrm>
          <a:prstGeom prst="rect">
            <a:avLst/>
          </a:prstGeom>
          <a:noFill/>
        </p:spPr>
        <p:txBody>
          <a:bodyPr wrap="square">
            <a:spAutoFit/>
          </a:bodyPr>
          <a:lstStyle/>
          <a:p>
            <a:pPr algn="l"/>
            <a:r>
              <a:rPr b="1" i="1" sz="2400">
                <a:solidFill>
                  <a:srgbClr val="F3EDE1"/>
                </a:solidFill>
                <a:latin typeface="Georgia"/>
              </a:rPr>
              <a:t>“Il futuro del social listening</a:t>
            </a:r>
          </a:p>
        </p:txBody>
      </p:sp>
      <p:sp>
        <p:nvSpPr>
          <p:cNvPr id="4" name="TextBox 3"/>
          <p:cNvSpPr txBox="1"/>
          <p:nvPr/>
        </p:nvSpPr>
        <p:spPr>
          <a:xfrm>
            <a:off x="1828800" y="2777490"/>
            <a:ext cx="14630400" cy="1028700"/>
          </a:xfrm>
          <a:prstGeom prst="rect">
            <a:avLst/>
          </a:prstGeom>
          <a:noFill/>
        </p:spPr>
        <p:txBody>
          <a:bodyPr wrap="square">
            <a:spAutoFit/>
          </a:bodyPr>
          <a:lstStyle/>
          <a:p>
            <a:pPr algn="l"/>
            <a:r>
              <a:rPr b="1" i="1" sz="2400">
                <a:solidFill>
                  <a:srgbClr val="F3EDE1"/>
                </a:solidFill>
                <a:latin typeface="Georgia"/>
              </a:rPr>
              <a:t>non sara deciso da chi possiede il tool migliore.</a:t>
            </a:r>
          </a:p>
        </p:txBody>
      </p:sp>
      <p:sp>
        <p:nvSpPr>
          <p:cNvPr id="5" name="TextBox 4"/>
          <p:cNvSpPr txBox="1"/>
          <p:nvPr/>
        </p:nvSpPr>
        <p:spPr>
          <a:xfrm>
            <a:off x="1828800" y="3806190"/>
            <a:ext cx="14630400" cy="1028700"/>
          </a:xfrm>
          <a:prstGeom prst="rect">
            <a:avLst/>
          </a:prstGeom>
          <a:noFill/>
        </p:spPr>
        <p:txBody>
          <a:bodyPr wrap="square">
            <a:spAutoFit/>
          </a:bodyPr>
          <a:lstStyle/>
          <a:p>
            <a:pPr algn="l"/>
            <a:r>
              <a:rPr b="1" i="1" sz="2400">
                <a:solidFill>
                  <a:srgbClr val="F3EDE1"/>
                </a:solidFill>
                <a:latin typeface="Georgia"/>
              </a:rPr>
              <a:t>Sara deciso da chi sapra fare le domande migliori,</a:t>
            </a:r>
          </a:p>
        </p:txBody>
      </p:sp>
      <p:sp>
        <p:nvSpPr>
          <p:cNvPr id="6" name="TextBox 5"/>
          <p:cNvSpPr txBox="1"/>
          <p:nvPr/>
        </p:nvSpPr>
        <p:spPr>
          <a:xfrm>
            <a:off x="1828800" y="4834890"/>
            <a:ext cx="14630400" cy="1028700"/>
          </a:xfrm>
          <a:prstGeom prst="rect">
            <a:avLst/>
          </a:prstGeom>
          <a:noFill/>
        </p:spPr>
        <p:txBody>
          <a:bodyPr wrap="square">
            <a:spAutoFit/>
          </a:bodyPr>
          <a:lstStyle/>
          <a:p>
            <a:pPr algn="l"/>
            <a:r>
              <a:rPr b="1" i="1" sz="2400">
                <a:solidFill>
                  <a:srgbClr val="B8523A"/>
                </a:solidFill>
                <a:latin typeface="Georgia"/>
              </a:rPr>
              <a:t>difendere il metodo,</a:t>
            </a:r>
          </a:p>
        </p:txBody>
      </p:sp>
      <p:sp>
        <p:nvSpPr>
          <p:cNvPr id="7" name="TextBox 6"/>
          <p:cNvSpPr txBox="1"/>
          <p:nvPr/>
        </p:nvSpPr>
        <p:spPr>
          <a:xfrm>
            <a:off x="1828800" y="5863589"/>
            <a:ext cx="14630400" cy="1028700"/>
          </a:xfrm>
          <a:prstGeom prst="rect">
            <a:avLst/>
          </a:prstGeom>
          <a:noFill/>
        </p:spPr>
        <p:txBody>
          <a:bodyPr wrap="square">
            <a:spAutoFit/>
          </a:bodyPr>
          <a:lstStyle/>
          <a:p>
            <a:pPr algn="l"/>
            <a:r>
              <a:rPr b="1" i="1" sz="2400">
                <a:solidFill>
                  <a:srgbClr val="F3EDE1"/>
                </a:solidFill>
                <a:latin typeface="Georgia"/>
              </a:rPr>
              <a:t>e portare il segnale dove le decisioni vengono prese.”</a:t>
            </a:r>
          </a:p>
        </p:txBody>
      </p:sp>
      <p:cxnSp>
        <p:nvCxnSpPr>
          <p:cNvPr id="8" name="Connector 7"/>
          <p:cNvCxnSpPr/>
          <p:nvPr/>
        </p:nvCxnSpPr>
        <p:spPr>
          <a:xfrm>
            <a:off x="1828800" y="7406640"/>
            <a:ext cx="914400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828800" y="7818120"/>
            <a:ext cx="7315200" cy="1234440"/>
          </a:xfrm>
          <a:prstGeom prst="rect">
            <a:avLst/>
          </a:prstGeom>
          <a:noFill/>
        </p:spPr>
        <p:txBody>
          <a:bodyPr wrap="square">
            <a:spAutoFit/>
          </a:bodyPr>
          <a:lstStyle/>
          <a:p>
            <a:pPr algn="l"/>
            <a:r>
              <a:rPr b="1" i="0" sz="3400">
                <a:solidFill>
                  <a:srgbClr val="B8523A"/>
                </a:solidFill>
                <a:latin typeface="Georgia"/>
              </a:rPr>
              <a:t>GRAZIE</a:t>
            </a:r>
          </a:p>
        </p:txBody>
      </p:sp>
      <p:sp>
        <p:nvSpPr>
          <p:cNvPr id="10" name="TextBox 9"/>
          <p:cNvSpPr txBox="1"/>
          <p:nvPr/>
        </p:nvSpPr>
        <p:spPr>
          <a:xfrm>
            <a:off x="1828800" y="9155430"/>
            <a:ext cx="10972800" cy="720090"/>
          </a:xfrm>
          <a:prstGeom prst="rect">
            <a:avLst/>
          </a:prstGeom>
          <a:noFill/>
        </p:spPr>
        <p:txBody>
          <a:bodyPr wrap="square">
            <a:spAutoFit/>
          </a:bodyPr>
          <a:lstStyle/>
          <a:p>
            <a:pPr algn="l"/>
            <a:r>
              <a:rPr b="0" i="0" sz="1200">
                <a:solidFill>
                  <a:srgbClr val="8A8175"/>
                </a:solidFill>
                <a:latin typeface="Courier New"/>
              </a:rPr>
              <a:t>EY Studio+  x  Brandwatch  x  Trajaan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