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996160" y="0"/>
            <a:ext cx="3291840" cy="15430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94560" y="2057400"/>
            <a:ext cx="14264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3EDE1"/>
                </a:solidFill>
                <a:latin typeface="Georgia"/>
              </a:rPr>
              <a:t>SOCIAL LISTENING IN ITALIA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4320540"/>
            <a:ext cx="10058400" cy="0"/>
          </a:xfrm>
          <a:prstGeom prst="line">
            <a:avLst/>
          </a:prstGeom>
          <a:ln w="508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194560" y="4732020"/>
            <a:ext cx="137160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2400">
                <a:solidFill>
                  <a:srgbClr val="B8523A"/>
                </a:solidFill>
                <a:latin typeface="Georgia"/>
              </a:rPr>
              <a:t>Realta, sfide e opportunita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80810"/>
            <a:ext cx="1280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Courier New"/>
              </a:rPr>
              <a:t>EY Studio+  x  Brandwatch  x  Trajaan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7406640"/>
            <a:ext cx="73152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Courier New"/>
              </a:rPr>
              <a:t>Maggio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0"/>
            <a:ext cx="18288000" cy="123444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94560" y="2263140"/>
            <a:ext cx="1499616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5200">
                <a:solidFill>
                  <a:srgbClr val="F3EDE1"/>
                </a:solidFill>
                <a:latin typeface="Georgia"/>
              </a:rPr>
              <a:t>“Il tuo lavoro sparira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4114800"/>
            <a:ext cx="1499616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5200">
                <a:solidFill>
                  <a:srgbClr val="B8523A"/>
                </a:solidFill>
                <a:latin typeface="Georgia"/>
              </a:rPr>
              <a:t>in meno di due anni.”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94560" y="6480810"/>
            <a:ext cx="7315200" cy="0"/>
          </a:xfrm>
          <a:prstGeom prst="line">
            <a:avLst/>
          </a:prstGeom>
          <a:ln w="25400">
            <a:solidFill>
              <a:srgbClr val="8A81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194560" y="6892290"/>
            <a:ext cx="142646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500">
                <a:solidFill>
                  <a:srgbClr val="8A8175"/>
                </a:solidFill>
                <a:latin typeface="Arial"/>
              </a:rPr>
              <a:t>Qualcuno lo ha detto a una collega a una conferenza.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7612380"/>
            <a:ext cx="142646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500">
                <a:solidFill>
                  <a:srgbClr val="8A8175"/>
                </a:solidFill>
                <a:latin typeface="Arial"/>
              </a:rPr>
              <a:t>Questa presentazione e la risposta.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102870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CHI STA RISPONDENDO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40180"/>
            <a:ext cx="9144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3D3833"/>
                </a:solidFill>
                <a:latin typeface="Georgia"/>
              </a:rPr>
              <a:t>Vincenzo Alberto Marrari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0" y="2777490"/>
            <a:ext cx="84124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0" y="3086100"/>
            <a:ext cx="9144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Analyst &amp; Insight Strategist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4114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EY Studio+ &amp; Trajaan — sistemi di intelligence per le organizzazioni.</a:t>
            </a:r>
          </a:p>
          <a:p>
            <a:pPr algn="l"/>
            <a:r>
              <a:t/>
            </a:r>
          </a:p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12+ anni di social listening, cultural intelligence e ricerca strategica.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Ha visto questo mestiere cambiare forma tre volte. Ha visto strumenti</a:t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diventare obsoleti, approcci rivelarsi insufficienti, e l'AI ridefinire</a:t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dove sta il valore — senza eliminare il mestiere.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Con Francesca Olivieri di Brandwatch, che conosce il mercato italiano</a:t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dall'interno: le domande reali dei brand, gli ostacoli, le aspettative.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8538210"/>
            <a:ext cx="9144000" cy="133731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8743950"/>
            <a:ext cx="87782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F3EDE1"/>
                </a:solidFill>
                <a:latin typeface="Arial"/>
              </a:rPr>
              <a:t>“Il valore dell'AI non sta nel sostituire l'uomo,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9258300"/>
            <a:ext cx="87782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ma nel amplificarne le competenze.”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1440180"/>
            <a:ext cx="5486400" cy="5966460"/>
          </a:xfrm>
          <a:prstGeom prst="rect">
            <a:avLst/>
          </a:prstGeom>
          <a:solidFill>
            <a:srgbClr val="E2D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01193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8A8175"/>
                </a:solidFill>
                <a:latin typeface="Arial"/>
              </a:rPr>
              <a:t>[FOTO]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1 — IL PARADOSSO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800">
                <a:solidFill>
                  <a:srgbClr val="3D3833"/>
                </a:solidFill>
                <a:latin typeface="Georgia"/>
              </a:rPr>
              <a:t>Eppure lo chiedono tutti.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277749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7280" y="3086100"/>
            <a:ext cx="8046720" cy="6480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Il social listening viene citato ovunque:</a:t>
            </a:r>
          </a:p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nei brief di gara, nelle presentazioni strategiche, nei piani media.</a:t>
            </a:r>
          </a:p>
          <a:p>
            <a:pPr algn="l"/>
            <a:r>
              <a:t/>
            </a:r>
          </a:p>
          <a:p>
            <a:pPr algn="l"/>
            <a:r>
              <a:rPr b="1" i="0" sz="1600">
                <a:solidFill>
                  <a:srgbClr val="B8523A"/>
                </a:solidFill>
                <a:latin typeface="Arial"/>
              </a:rPr>
              <a:t>42 milioni di utenti social attivi in Italia.</a:t>
            </a:r>
          </a:p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Conversazioni spontanee su brand, prodotti, competitor ogni secondo.</a:t>
            </a:r>
          </a:p>
          <a:p>
            <a:pPr algn="l"/>
            <a:r>
              <a:t/>
            </a:r>
          </a:p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In dodici anni ho visto lo stesso schema ripetersi: il listening produce</a:t>
            </a:r>
          </a:p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un report mensile che arriva in ritardo rispetto alle decisioni che</a:t>
            </a:r>
          </a:p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avrebbe dovuto supportare.</a:t>
            </a:r>
          </a:p>
          <a:p>
            <a:pPr algn="l"/>
            <a:r>
              <a:t/>
            </a:r>
          </a:p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Il problema non e lo strumento. Non e il dato.</a:t>
            </a:r>
          </a:p>
          <a:p>
            <a:pPr algn="l"/>
            <a:r>
              <a:rPr b="1" i="0" sz="1300">
                <a:solidFill>
                  <a:srgbClr val="B8523A"/>
                </a:solidFill>
                <a:latin typeface="Arial"/>
              </a:rPr>
              <a:t>E il posizionamento — e manca un metodo condiviso.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3086100"/>
            <a:ext cx="694944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0" y="3086100"/>
            <a:ext cx="59436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22992" y="318897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2992" y="4011930"/>
            <a:ext cx="621792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TUTTI LO CHIEDONO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22992" y="4526280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Presente in ogni brief, ogni piano, ogni RFP di agenzia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0" y="5349240"/>
            <a:ext cx="694944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5349240"/>
            <a:ext cx="59436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22992" y="545211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275070"/>
            <a:ext cx="621792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POCHI LO RICONOSCONO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789420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Usato come validazione a posteriori, non come orientamento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0" y="7612380"/>
            <a:ext cx="694944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0" y="7612380"/>
            <a:ext cx="59436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22992" y="771525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8538210"/>
            <a:ext cx="621792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RARO LO STRUTTURANO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2992" y="9052560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Senza metodo condiviso rimane monitoring, non intelligence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2 — IL PERIMETRO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3D3833"/>
                </a:solidFill>
                <a:latin typeface="Georgia"/>
              </a:rPr>
              <a:t>Prima pero, sgombriamo il terreno.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71750"/>
            <a:ext cx="160934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Il social listening e uno di quei mestieri che quasi tutti credono di capire — e quasi nessuno riesce a definire con precisione.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29184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497580"/>
            <a:ext cx="7680960" cy="668655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497580"/>
            <a:ext cx="768096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NON E'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17670"/>
            <a:ext cx="768096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4217670"/>
            <a:ext cx="59436" cy="195453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4320540"/>
            <a:ext cx="7315200" cy="1748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x  Contare menzioni o follower</a:t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x  Sentiment automatico come verita — non capisce ironia e contesto</a:t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x  Share of voice come fine   x  Dashboard mensile come deliverable</a:t>
            </a:r>
          </a:p>
          <a:p>
            <a:pPr algn="l"/>
            <a:r>
              <a:rPr b="1" i="0" sz="1100">
                <a:solidFill>
                  <a:srgbClr val="B8523A"/>
                </a:solidFill>
                <a:latin typeface="Arial"/>
              </a:rPr>
              <a:t>x  IL TOOL (abilita l'ascolto — non produce la comprensione)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3497580"/>
            <a:ext cx="7680960" cy="66865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3497580"/>
            <a:ext cx="768096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E'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4217670"/>
            <a:ext cx="768096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4217670"/>
            <a:ext cx="59436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4352" y="4320540"/>
            <a:ext cx="7315200" cy="1748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+  Un sistema di intelligence strategica</a:t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+  La voce spontanea del mercato — bisogni latenti, segnali deboli</a:t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+  Il framework che orienta le decisioni prima che vengano prese</a:t>
            </a:r>
          </a:p>
          <a:p>
            <a:pPr algn="l"/>
            <a:r>
              <a:rPr b="1" i="0" sz="1100">
                <a:solidFill>
                  <a:srgbClr val="B8523A"/>
                </a:solidFill>
                <a:latin typeface="Arial"/>
              </a:rPr>
              <a:t>+  IL METODO che precede il tool e ne determina il valore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97280" y="6377940"/>
            <a:ext cx="16093440" cy="0"/>
          </a:xfrm>
          <a:prstGeom prst="line">
            <a:avLst/>
          </a:prstGeom>
          <a:ln w="25400">
            <a:solidFill>
              <a:srgbClr val="E2D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97280" y="6480810"/>
            <a:ext cx="1609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8A8175"/>
                </a:solidFill>
                <a:latin typeface="Courier New"/>
              </a:rPr>
              <a:t>LE TRE CONFUSIONI PIU COMUNI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6995160"/>
            <a:ext cx="5120640" cy="28803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" y="6995160"/>
            <a:ext cx="59436" cy="28803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61872" y="709802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3D3833"/>
                </a:solidFill>
                <a:latin typeface="Arial"/>
              </a:rPr>
              <a:t>Social Listening= Community Management?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792099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Confusione di orientamento: 'cosa rispondiamo?' vs 'cosa sta succedendo nel mercato?'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872" y="8743950"/>
            <a:ext cx="475488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Il CM parla con l'utente. Il SL legge il mercato. Coesistono — non sono la stessa cosa.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6995160"/>
            <a:ext cx="5120640" cy="28803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6995160"/>
            <a:ext cx="59436" cy="28803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709802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3D3833"/>
                </a:solidFill>
                <a:latin typeface="Arial"/>
              </a:rPr>
              <a:t>Social Listening= Social Media Management?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792099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Misurare le performance dei contenuti vs leggere il segnale del mercato dietro ai contenuti.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8743950"/>
            <a:ext cx="475488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Due vettori paralleli. Non sovrapponibili.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435840" y="6995160"/>
            <a:ext cx="5120640" cy="28803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435840" y="6995160"/>
            <a:ext cx="59436" cy="28803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600432" y="709802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3D3833"/>
                </a:solidFill>
                <a:latin typeface="Arial"/>
              </a:rPr>
              <a:t>Social Listening= Tool Operator?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600432" y="792099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Il cliente pensa di acquistare competenza quando acquista una licenza.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00432" y="8743950"/>
            <a:ext cx="475488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Senza la domanda giusta, anche il miglior tool produce rumore. La competenza e nel framework.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3 — IDENTITA DELLA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F3EDE1"/>
                </a:solidFill>
                <a:latin typeface="Georgia"/>
              </a:rPr>
              <a:t>Non e un tuo fallimento.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66010"/>
            <a:ext cx="160934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B8523A"/>
                </a:solidFill>
                <a:latin typeface="Georgia"/>
              </a:rPr>
              <a:t>E un fallimento della disciplina.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97580"/>
            <a:ext cx="1609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La stessa competenza viene chiamata in undici modi diversi a seconda della stanza in cui entra.</a:t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Quando un mestiere non ha un nome chiaro, fatica ad avere seniority, budget, carriera, spazio decisionale.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23410"/>
            <a:ext cx="5120640" cy="452628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4423410"/>
            <a:ext cx="59436" cy="452628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4526280"/>
            <a:ext cx="91440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5760720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3EDE1"/>
                </a:solidFill>
                <a:latin typeface="Arial"/>
              </a:rPr>
              <a:t>ISOLAMENTO
DEL PRATICANTE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668655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Chi fa social listening spesso lavora senza colleghi che condividano il mestiere. Lo spiega da capo ogni volta. Quello che ha costruito esiste dentro quella struttura — se cambia contesto, ricomincia da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4423410"/>
            <a:ext cx="5120640" cy="452628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4423410"/>
            <a:ext cx="59436" cy="452628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4526280"/>
            <a:ext cx="91440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1152" y="5760720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3EDE1"/>
                </a:solidFill>
                <a:latin typeface="Arial"/>
              </a:rPr>
              <a:t>ASSENZA
DI STANDARD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668655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Nessuna tassonomia condivisa. Nessuna definizione di cosa significa 'fare bene' questo lavoro. Ogni team reinventa il metodo. Il cliente non puo valutare la qualita.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435840" y="4423410"/>
            <a:ext cx="5120640" cy="452628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435840" y="4423410"/>
            <a:ext cx="59436" cy="452628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600432" y="4526280"/>
            <a:ext cx="91440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00432" y="5760720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3EDE1"/>
                </a:solidFill>
                <a:latin typeface="Arial"/>
              </a:rPr>
              <a:t>EXPERTISE
INVISIBILE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00432" y="668655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Il manager capisce il lavoro ma non abbastanza da difenderlo in un board. Non c'e credenziale che viaggi fuori dall'azienda. L'expertise e reale — ma non e leggibile fuori dal contesto immediato.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9155430"/>
            <a:ext cx="18288000" cy="113157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9361170"/>
            <a:ext cx="1609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F3EDE1"/>
                </a:solidFill>
                <a:latin typeface="Arial"/>
              </a:rPr>
              <a:t>“Il problema non e che il listening venga sottovalutato. E che viene riconosciuto solo quando produce una dashboard — non quando cambia una decisione.”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4 — IL MERCATO ITALIANO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3D3833"/>
                </a:solidFill>
                <a:latin typeface="Georgia"/>
              </a:rPr>
              <a:t>In Italia il problema e piu profondo.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74620"/>
            <a:ext cx="160934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Non e un problema tecnologico. Gli strumenti ci sono. I dati ci sono. Quello che manca e il posizionamento strategico del ruolo.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49758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806190"/>
            <a:ext cx="7680960" cy="668655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806190"/>
            <a:ext cx="768096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ITALIA — PRATICA IMPLICITA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526280"/>
            <a:ext cx="7680960" cy="47320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4526280"/>
            <a:ext cx="59436" cy="473202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4629150"/>
            <a:ext cx="7315200" cy="4423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~ Strumenti presenti, metodo assente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~ Sensibilita su reputazione e crisi, ma reattiva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~ Ruolo raramente nominato come autonomo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~ Formazione quasi sempre autodidatta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~ Ownership contesa tra social, PR, insight, agenzie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~ Competenza reale ma non portabile fuori dall'org.</a:t>
            </a:r>
          </a:p>
          <a:p>
            <a:pPr algn="l"/>
            <a:r>
              <a:t/>
            </a:r>
          </a:p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Se cambi contesto, ricomincia da capo.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3806190"/>
            <a:ext cx="7680960" cy="66865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3806190"/>
            <a:ext cx="768096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ESTERO — INFRASTRUTTURA STRUTTURATA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4526280"/>
            <a:ext cx="7680960" cy="47320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4526280"/>
            <a:ext cx="59436" cy="47320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4352" y="4629150"/>
            <a:ext cx="7315200" cy="4423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Comunita di pratica verticali e attive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Percorsi di carriera espliciti e riconoscibili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Definizione condivisa del 'fare bene il lavoro'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Credenziali leggibili fuori dal contesto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Standard metodologici difendibili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Ruolo con ownership e spazio decisionale chiaro</a:t>
            </a:r>
          </a:p>
          <a:p>
            <a:pPr algn="l"/>
            <a:r>
              <a:t/>
            </a:r>
          </a:p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La competenza e visibile, portabile, difendibile.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9361170"/>
            <a:ext cx="18288000" cy="9258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9566910"/>
            <a:ext cx="160934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500">
                <a:solidFill>
                  <a:srgbClr val="F3EDE1"/>
                </a:solidFill>
                <a:latin typeface="Arial"/>
              </a:rPr>
              <a:t>Il divario non e di dati. E di infrastruttura professionale.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IL MERCATO — IL SALTO CHE MANCA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3D3833"/>
                </a:solidFill>
                <a:latin typeface="Georgia"/>
              </a:rPr>
              <a:t>Il salto che cambia tutto.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74620"/>
            <a:ext cx="160934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Non e un salto tecnologico. E un salto di posizionamento — e richiede che chi fa questo lavoro sappia portare il proprio valore dove le decisioni vengono prese davvero.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49758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806190"/>
            <a:ext cx="7315200" cy="534924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806190"/>
            <a:ext cx="59436" cy="534924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4011930"/>
            <a:ext cx="6583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8A8175"/>
                </a:solidFill>
                <a:latin typeface="Courier New"/>
              </a:rPr>
              <a:t>STATO REATTIVO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473202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3D3833"/>
                </a:solidFill>
                <a:latin typeface="Arial"/>
              </a:rPr>
              <a:t>Il listening entra dopo.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Misura quello che e successo.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Segue la crisi quando e gia esplosa.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Conferma il brief gia scritto.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Il dato commenta — non orienta.</a:t>
            </a:r>
          </a:p>
          <a:p>
            <a:pPr algn="l"/>
            <a:r>
              <a:t/>
            </a:r>
          </a:p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Dove si trova la maggior parte delle</a:t>
            </a:r>
          </a:p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organizzazioni italiane oggi.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5657850"/>
            <a:ext cx="1463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4400">
                <a:solidFill>
                  <a:srgbClr val="B8523A"/>
                </a:solidFill>
                <a:latin typeface="Arial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92640" y="3806190"/>
            <a:ext cx="7315200" cy="534924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92640" y="3806190"/>
            <a:ext cx="59436" cy="534924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57232" y="4011930"/>
            <a:ext cx="6583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STATO GENERATIVO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57232" y="473202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3EDE1"/>
                </a:solidFill>
                <a:latin typeface="Arial"/>
              </a:rPr>
              <a:t>Il listening entra prima.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Prima del brief — per formulare ipotesi.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Prima del lancio — per intercettare barriere.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Prima della crisi — per leggere i segnali deboli.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Il dato orienta — non commenta.</a:t>
            </a:r>
          </a:p>
          <a:p>
            <a:pPr algn="l"/>
            <a:r>
              <a:t/>
            </a:r>
          </a:p>
          <a:p>
            <a:pPr algn="l"/>
            <a:r>
              <a:rPr b="0" i="0" sz="1100">
                <a:solidFill>
                  <a:srgbClr val="B8523A"/>
                </a:solidFill>
                <a:latin typeface="Arial"/>
              </a:rPr>
              <a:t>Dove dobbiamo andare.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9258300"/>
            <a:ext cx="18288000" cy="102870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9464040"/>
            <a:ext cx="16093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F3EDE1"/>
                </a:solidFill>
                <a:latin typeface="Arial"/>
              </a:rPr>
              <a:t>“Il social listening viene spesso invitato alla riunione in cui si valida una strategia gia decisa — non a quella in cui la strategia viene costruita.”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5 — DAL DATO ALL'INSIGHT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3D3833"/>
                </a:solidFill>
                <a:latin typeface="Georgia"/>
              </a:rPr>
              <a:t>La differenza non e nel dato. E nella domanda.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267462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97280" y="2880360"/>
            <a:ext cx="7680960" cy="668655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768096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REPORT — descrive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600450"/>
            <a:ext cx="7680960" cy="17487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600450"/>
            <a:ext cx="59436" cy="174879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3703320"/>
            <a:ext cx="731520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“Le menzioni sono cresciute del +40% nell'ultimo mese.”</a:t>
            </a:r>
          </a:p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Il report allarma. Genera reazione, non orientamento.</a:t>
            </a:r>
          </a:p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Arriva dopo che le decisioni sono gia state prese.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2880360"/>
            <a:ext cx="7680960" cy="66865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2880360"/>
            <a:ext cx="768096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3EDE1"/>
                </a:solidFill>
                <a:latin typeface="Courier New"/>
              </a:rPr>
              <a:t>  INSIGHT — interpreta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3600450"/>
            <a:ext cx="7680960" cy="17487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3600450"/>
            <a:ext cx="59436" cy="17487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74352" y="3703320"/>
            <a:ext cx="731520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“Il brand e associato a una tensione emergente sul servizio clienti che sta scalando — se non si interviene entro due settimane, diventa crisi.”</a:t>
            </a:r>
          </a:p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L'insight orienta. Abilita una decisione precisa nel momento giusto.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5554980"/>
            <a:ext cx="16093440" cy="0"/>
          </a:xfrm>
          <a:prstGeom prst="line">
            <a:avLst/>
          </a:prstGeom>
          <a:ln w="25400">
            <a:solidFill>
              <a:srgbClr val="E2D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0" y="5657850"/>
            <a:ext cx="91440" cy="6172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657850"/>
            <a:ext cx="160934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B8523A"/>
                </a:solidFill>
                <a:latin typeface="Courier New"/>
              </a:rPr>
              <a:t>LO STANDARD CHE FINORA NON ESISTEVA — TASSONOMIA A TRE CERCHI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6172200"/>
            <a:ext cx="160934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8A8175"/>
                </a:solidFill>
                <a:latin typeface="Arial"/>
              </a:rPr>
              <a:t>Non e solo un metodo di analisi — e uno strumento per difendere le scelte metodologiche di fronte a chi non fa questo lavoro.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6789420"/>
            <a:ext cx="5120640" cy="30861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0" y="6789420"/>
            <a:ext cx="59436" cy="30861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6892290"/>
            <a:ext cx="47548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B8523A"/>
                </a:solidFill>
                <a:latin typeface="Courier New"/>
              </a:rPr>
              <a:t>Cerchio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872" y="7406640"/>
            <a:ext cx="47548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CONTESTO CULTURALE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8126730"/>
            <a:ext cx="475488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Pop culture, economia, politica, generazioni, tensioni sociali, linguaggi emergenti.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9052560"/>
            <a:ext cx="47548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Perche il mercato si muove in questo momento?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6789420"/>
            <a:ext cx="5120640" cy="30861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66560" y="6789420"/>
            <a:ext cx="59436" cy="30861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6892290"/>
            <a:ext cx="47548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B8523A"/>
                </a:solidFill>
                <a:latin typeface="Courier New"/>
              </a:rPr>
              <a:t>Cerchio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31152" y="7406640"/>
            <a:ext cx="47548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INDUSTRY &amp; CATEGORY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8126730"/>
            <a:ext cx="475488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Competitor, occasioni d'uso, barriere, driver, posizionamento di category.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9052560"/>
            <a:ext cx="47548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Come si comporta il mercato in questa categoria?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435840" y="6789420"/>
            <a:ext cx="5120640" cy="30861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435840" y="6789420"/>
            <a:ext cx="59436" cy="30861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00432" y="6892290"/>
            <a:ext cx="47548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B8523A"/>
                </a:solidFill>
                <a:latin typeface="Courier New"/>
              </a:rPr>
              <a:t>Cerchio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00432" y="7406640"/>
            <a:ext cx="47548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BRAND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00432" y="8126730"/>
            <a:ext cx="475488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Menzioni, campagna, customer experience, reputazione, conversazioni spontanee.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600432" y="9052560"/>
            <a:ext cx="47548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Cosa dice il mercato di questo brand?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DAL DATO ALL'INSIGHT — I TRE ATTRITI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3D3833"/>
                </a:solidFill>
                <a:latin typeface="Georgia"/>
              </a:rPr>
              <a:t>I segnali che nessuna dashboard mostra.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74620"/>
            <a:ext cx="160934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8A8175"/>
                </a:solidFill>
                <a:latin typeface="Arial"/>
              </a:rPr>
              <a:t>Formalizzati dopo centinaia di dataset. In ogni nuovo progetto li cerco per primi — sono la firma di un problema reale.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39471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806190"/>
            <a:ext cx="5120640" cy="59664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806190"/>
            <a:ext cx="59436" cy="59664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909060"/>
            <a:ext cx="1097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E2DAC8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INTENTION
INTERFACE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606933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Dove: Q&amp;A, recensioni, customer care, forum di supporto.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668655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3D3833"/>
                </a:solidFill>
                <a:latin typeface="Arial"/>
              </a:rPr>
              <a:t>L'utente vuole fare qualcosa ma non riesce — trova un ostacolo nell'interfaccia, nel processo, nella value proposition.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812673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8A8175"/>
                </a:solidFill>
                <a:latin typeface="Arial"/>
              </a:rPr>
              <a:t>Segnale: frustrazione ricorrente su un punto specifico del journey. Indica dove il prodotto perde l'utente prima della conversione.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3806190"/>
            <a:ext cx="5120640" cy="59664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0" y="3806190"/>
            <a:ext cx="59436" cy="59664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09060"/>
            <a:ext cx="1097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E2DAC8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TRUST
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606933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Dove: community di settore, comparatori, review spontanee.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668655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3D3833"/>
                </a:solidFill>
                <a:latin typeface="Arial"/>
              </a:rPr>
              <a:t>L'utente esita a fidarsi — del brand, della promessa, del prezzo, della trasparenza. Arriva prima che la crisi diventi visibile.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812673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8A8175"/>
                </a:solidFill>
                <a:latin typeface="Arial"/>
              </a:rPr>
              <a:t>Segnale: esitazione sistematica prima dell'acquisto. Se lo vedi in anticipo, puoi intervenire sulla narrativa prima che diventi problema.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35840" y="3806190"/>
            <a:ext cx="5120640" cy="59664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435840" y="3806190"/>
            <a:ext cx="59436" cy="59664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600432" y="3909060"/>
            <a:ext cx="1097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E2DAC8"/>
                </a:solidFill>
                <a:latin typeface="Georg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0043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USAGE
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00432" y="606933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Dove: tutorial spontanei, micro-community, Reddit, gruppi chiusi.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00432" y="668655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3D3833"/>
                </a:solidFill>
                <a:latin typeface="Arial"/>
              </a:rPr>
              <a:t>L'utente usa il prodotto in modi non previsti — workaround, rituali, micro-community che reinventano l'esperienza.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00432" y="812673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8A8175"/>
                </a:solidFill>
                <a:latin typeface="Arial"/>
              </a:rPr>
              <a:t>Segnale: usi creativi non previsti. Qui si nascondono le opportunita piu interessanti per roadmap e innovazione.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6 — LE TRE ERE DEL SOCIAL LISTENING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3D3833"/>
                </a:solidFill>
                <a:latin typeface="Georgia"/>
              </a:rPr>
              <a:t>Siamo al terzo atto.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71750"/>
            <a:ext cx="160934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Il social listening ha attraversato tre ere — e capire dove siamo richiede di vedere le due che vengono prima.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29184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703320"/>
            <a:ext cx="5120640" cy="51435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703320"/>
            <a:ext cx="59436" cy="51435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80619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8A8175"/>
                </a:solidFill>
                <a:latin typeface="Courier New"/>
              </a:rPr>
              <a:t>2008–2014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4423410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3D3833"/>
                </a:solidFill>
                <a:latin typeface="Arial"/>
              </a:rPr>
              <a:t>ERA DEL
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534924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Quante volte mi nominano?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6069330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Mention, share of voice, reach potenziale. Descrizione retrospettiva. Output: report di volume.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7509510"/>
            <a:ext cx="457200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8A8175"/>
                </a:solidFill>
                <a:latin typeface="Arial"/>
              </a:rPr>
              <a:t>Ho fatto questi report nel 2012. Utili per avere una prima visibilita. Limitati a cio che era gia successo.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3703320"/>
            <a:ext cx="5120640" cy="51435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0" y="3703320"/>
            <a:ext cx="59436" cy="51435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80619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8A8175"/>
                </a:solidFill>
                <a:latin typeface="Courier New"/>
              </a:rPr>
              <a:t>2015–2023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4423410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3D3833"/>
                </a:solidFill>
                <a:latin typeface="Arial"/>
              </a:rPr>
              <a:t>ERA DEL
CONTESTO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534924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Cosa sta succedendo e perche?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6069330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Topic modeling, sentiment driver, community mapping, crisi, reputazione. Il listening inizia a spiegare.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7509510"/>
            <a:ext cx="457200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8A8175"/>
                </a:solidFill>
                <a:latin typeface="Arial"/>
              </a:rPr>
              <a:t>Ho vissuto questo passaggio. Cambia il tipo di conversazioni con i clienti: dal 'cosa' al 'perche'.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35840" y="3703320"/>
            <a:ext cx="5120640" cy="514350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435840" y="3703320"/>
            <a:ext cx="59436" cy="51435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600432" y="380619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B8523A"/>
                </a:solidFill>
                <a:latin typeface="Courier New"/>
              </a:rPr>
              <a:t>2024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00432" y="4423410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3EDE1"/>
                </a:solidFill>
                <a:latin typeface="Arial"/>
              </a:rPr>
              <a:t>ERA DEL
SEGNALE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00432" y="534924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Quale segnale debole anticipa la prossima decisione?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00432" y="6069330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Frizioni, pattern emergenti, micro-cluster, comportamenti rari, rischi latenti, opportunita pre-mainstream.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00432" y="7509510"/>
            <a:ext cx="457200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F3EDE1"/>
                </a:solidFill>
                <a:latin typeface="Arial"/>
              </a:rPr>
              <a:t>L'AI riduce il costo della sintesi. Il centro di gravita si sposta: l'interpretazione diventa il vero valore.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9052560"/>
            <a:ext cx="18288000" cy="123444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9361170"/>
            <a:ext cx="16093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300">
                <a:solidFill>
                  <a:srgbClr val="F3EDE1"/>
                </a:solidFill>
                <a:latin typeface="Arial"/>
              </a:rPr>
              <a:t>“Il volume racconta dove guardano tutti. La forma del rumore racconta dove si nasconde il vantaggio.”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10287000"/>
          </a:xfrm>
          <a:prstGeom prst="rect">
            <a:avLst/>
          </a:prstGeom>
          <a:solidFill>
            <a:srgbClr val="201B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9144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1440180"/>
            <a:ext cx="5486400" cy="617220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909060"/>
            <a:ext cx="5486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600">
                <a:solidFill>
                  <a:srgbClr val="8A8175"/>
                </a:solidFill>
                <a:latin typeface="Arial"/>
              </a:rPr>
              <a:t>[FOTO
CRUYFF]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851660"/>
            <a:ext cx="8046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000">
                <a:solidFill>
                  <a:srgbClr val="F3EDE1"/>
                </a:solidFill>
                <a:latin typeface="Georgia"/>
              </a:rPr>
              <a:t>“Il calcio e semplice.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98323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000">
                <a:solidFill>
                  <a:srgbClr val="F3EDE1"/>
                </a:solidFill>
                <a:latin typeface="Georgia"/>
              </a:rPr>
              <a:t>Ma giocare a calcio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90906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000">
                <a:solidFill>
                  <a:srgbClr val="F3EDE1"/>
                </a:solidFill>
                <a:latin typeface="Georgia"/>
              </a:rPr>
              <a:t>in modo semplice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83489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000">
                <a:solidFill>
                  <a:srgbClr val="B8523A"/>
                </a:solidFill>
                <a:latin typeface="Georgia"/>
              </a:rPr>
              <a:t>e la cosa piu difficile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576072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000">
                <a:solidFill>
                  <a:srgbClr val="B8523A"/>
                </a:solidFill>
                <a:latin typeface="Georgia"/>
              </a:rPr>
              <a:t>che esista.”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7098029"/>
            <a:ext cx="80467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Courier New"/>
              </a:rPr>
              <a:t>— Johan Cruyff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0" y="8126730"/>
            <a:ext cx="768096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0" y="8538210"/>
            <a:ext cx="80467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Il nostro mestiere. L'AI non lo cambia — lo amplifica.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7 — AI E L'ANALISTA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3D3833"/>
                </a:solidFill>
                <a:latin typeface="Georgia"/>
              </a:rPr>
              <a:t>L'AI non fa il tuo lavoro.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63140"/>
            <a:ext cx="160934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B8523A"/>
                </a:solidFill>
                <a:latin typeface="Georgia"/>
              </a:rPr>
              <a:t>Fa il lavoro che ti impediva di farlo.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94710"/>
            <a:ext cx="160934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Domanda sbagliata: 'L'AI mi sostituira?'   |   Domanda giusta: 'Cosa posso fare adesso che prima non potevo?'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97280" y="421767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097280" y="4526280"/>
            <a:ext cx="7315200" cy="51435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4526280"/>
            <a:ext cx="59436" cy="514350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4732020"/>
            <a:ext cx="6583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B8523A"/>
                </a:solidFill>
                <a:latin typeface="Courier New"/>
              </a:rPr>
              <a:t>TASK LAYER — COSA ACCELERA L'AI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5452110"/>
            <a:ext cx="6583680" cy="3909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Un collaboratore che non dorme, non si stanca,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legge un milione di conversazioni in un'ora.</a:t>
            </a:r>
          </a:p>
          <a:p>
            <a:pPr algn="l"/>
            <a:r>
              <a:t/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+  Sintesi di volumi enormi di conversazioni</a:t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+  Clustering e tagging preliminare</a:t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+  Classificazione topic e sentiment a scala</a:t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+  Riconoscimento pattern e correlazioni non ovvie</a:t>
            </a:r>
          </a:p>
          <a:p>
            <a:pPr algn="l"/>
            <a:r>
              <a:rPr b="0" i="0" sz="1100">
                <a:solidFill>
                  <a:srgbClr val="3D3833"/>
                </a:solidFill>
                <a:latin typeface="Arial"/>
              </a:rPr>
              <a:t>+  Generazione bozze, esplorazione rapida ipotesi</a:t>
            </a:r>
          </a:p>
          <a:p>
            <a:pPr algn="l"/>
            <a:r>
              <a:t/>
            </a:r>
          </a:p>
          <a:p>
            <a:pPr algn="l"/>
            <a:r>
              <a:rPr b="1" i="0" sz="1100">
                <a:solidFill>
                  <a:srgbClr val="8A8175"/>
                </a:solidFill>
                <a:latin typeface="Arial"/>
              </a:rPr>
              <a:t>Straordinario. Gia disponibile.</a:t>
            </a:r>
          </a:p>
          <a:p>
            <a:pPr algn="l"/>
            <a:r>
              <a:rPr b="1" i="0" sz="1100">
                <a:solidFill>
                  <a:srgbClr val="8A8175"/>
                </a:solidFill>
                <a:latin typeface="Arial"/>
              </a:rPr>
              <a:t>Ma non sa PERCHE sta facendo quello che fa.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4526280"/>
            <a:ext cx="7315200" cy="514350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09760" y="4526280"/>
            <a:ext cx="59436" cy="51435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4352" y="4732020"/>
            <a:ext cx="6583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B8523A"/>
                </a:solidFill>
                <a:latin typeface="Courier New"/>
              </a:rPr>
              <a:t>JUDGEMENT LAYER — COSA RESTA UMANO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74352" y="5452110"/>
            <a:ext cx="6583680" cy="3909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Queste non sono attivita di contorno.</a:t>
            </a:r>
          </a:p>
          <a:p>
            <a:pPr algn="l"/>
            <a:r>
              <a:rPr b="1" i="0" sz="1300">
                <a:solidFill>
                  <a:srgbClr val="B8523A"/>
                </a:solidFill>
                <a:latin typeface="Arial"/>
              </a:rPr>
              <a:t>Sono il mestiere.</a:t>
            </a:r>
          </a:p>
          <a:p>
            <a:pPr algn="l"/>
            <a:r>
              <a:t/>
            </a:r>
          </a:p>
          <a:p>
            <a:pPr algn="l"/>
            <a:r>
              <a:rPr b="0" i="0" sz="1100">
                <a:solidFill>
                  <a:srgbClr val="F3EDE1"/>
                </a:solidFill>
                <a:latin typeface="Arial"/>
              </a:rPr>
              <a:t>+  Formulare la domanda di business giusta</a:t>
            </a:r>
          </a:p>
          <a:p>
            <a:pPr algn="l"/>
            <a:r>
              <a:rPr b="0" i="0" sz="1100">
                <a:solidFill>
                  <a:srgbClr val="F3EDE1"/>
                </a:solidFill>
                <a:latin typeface="Arial"/>
              </a:rPr>
              <a:t>+  Validare l'affidabilita del dato</a:t>
            </a:r>
          </a:p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   (spike coordinati vs conversazione organica)</a:t>
            </a:r>
          </a:p>
          <a:p>
            <a:pPr algn="l"/>
            <a:r>
              <a:rPr b="0" i="0" sz="1100">
                <a:solidFill>
                  <a:srgbClr val="F3EDE1"/>
                </a:solidFill>
                <a:latin typeface="Arial"/>
              </a:rPr>
              <a:t>+  Riconoscere bias e contesto culturale</a:t>
            </a:r>
          </a:p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   (l'ironia italiana, il codice di community)</a:t>
            </a:r>
          </a:p>
          <a:p>
            <a:pPr algn="l"/>
            <a:r>
              <a:rPr b="0" i="0" sz="1100">
                <a:solidFill>
                  <a:srgbClr val="F3EDE1"/>
                </a:solidFill>
                <a:latin typeface="Arial"/>
              </a:rPr>
              <a:t>+  Collegare l'insight alla decisione giusta</a:t>
            </a:r>
          </a:p>
          <a:p>
            <a:pPr algn="l"/>
            <a:r>
              <a:rPr b="0" i="0" sz="1100">
                <a:solidFill>
                  <a:srgbClr val="F3EDE1"/>
                </a:solidFill>
                <a:latin typeface="Arial"/>
              </a:rPr>
              <a:t>+  Portare una verita scomoda nella stanza giusta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AI E L'ANALISTA — IL NUOVO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3D3833"/>
                </a:solidFill>
                <a:latin typeface="Georgia"/>
              </a:rPr>
              <a:t>Ecco come cambia il metodo.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71750"/>
            <a:ext cx="160934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Il vecchio: apri il tool, digita il brand, leggi, scrivi il report. Il nuovo: parti dalla decisione che devi supportare.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39471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806190"/>
            <a:ext cx="2962656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806190"/>
            <a:ext cx="59436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909060"/>
            <a:ext cx="2962656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5040630"/>
            <a:ext cx="2779776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DOMANDA
DI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6069330"/>
            <a:ext cx="2779776" cy="226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Non 'cosa succede sul brand?' ma 'perche i nuovi clienti non convertono?' La domanda precede tutto.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8435340"/>
            <a:ext cx="27797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[Brief]  [Board]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2232" y="3806190"/>
            <a:ext cx="2962656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42232" y="3806190"/>
            <a:ext cx="59436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4" y="3909060"/>
            <a:ext cx="2962656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6824" y="5040630"/>
            <a:ext cx="2779776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FONTI
GIUSTE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6824" y="6069330"/>
            <a:ext cx="2779776" cy="226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Non una fonte — le fonti giuste per quella domanda. Ogni fonte e una finestra con angolo unico.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6824" y="8435340"/>
            <a:ext cx="27797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[SL]  [Search]  [CRM]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87184" y="3806190"/>
            <a:ext cx="2962656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87184" y="3806190"/>
            <a:ext cx="59436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6" y="3909060"/>
            <a:ext cx="2962656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6" y="5040630"/>
            <a:ext cx="2779776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SINTESI
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6" y="6069330"/>
            <a:ext cx="2779776" cy="226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L'AI sintetizza, raggruppa, identifica pattern a scala. Veloce, instancabile. Task Layer in azione.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51776" y="8435340"/>
            <a:ext cx="27797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[GPT]  [Claude]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32136" y="3806190"/>
            <a:ext cx="2962656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32136" y="3806190"/>
            <a:ext cx="59436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96728" y="3909060"/>
            <a:ext cx="2962656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96728" y="5040630"/>
            <a:ext cx="2779776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VALIDAZIONE
UMANA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96728" y="6069330"/>
            <a:ext cx="2779776" cy="226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L'analista valida, interpreta, riconosce bias, contesto culturale, la verita scomoda. Judgement Layer.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96728" y="8435340"/>
            <a:ext cx="27797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[Context]  [Bias]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277088" y="3806190"/>
            <a:ext cx="2962656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277088" y="3806190"/>
            <a:ext cx="59436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441680" y="3909060"/>
            <a:ext cx="2962656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441680" y="5040630"/>
            <a:ext cx="2779776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INSIGHT
E 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0" y="6069330"/>
            <a:ext cx="2779776" cy="226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L'insight portato alla persona giusta, nel momento giusto, nel linguaggio giusto. Orientamento, non commento.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41680" y="8435340"/>
            <a:ext cx="27797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B8523A"/>
                </a:solidFill>
                <a:latin typeface="Courier New"/>
              </a:rPr>
              <a:t>[Decision]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AI E L'ANALISTA — L'ECOSISTEMA DELLE FONTI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1609344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3D3833"/>
                </a:solidFill>
                <a:latin typeface="Georgia"/>
              </a:rPr>
              <a:t>L'orchestratore conosce tutte le finestre.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263140"/>
            <a:ext cx="18288000" cy="10287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263140"/>
            <a:ext cx="91440" cy="10287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66010"/>
            <a:ext cx="1609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3D3833"/>
                </a:solidFill>
                <a:latin typeface="Arial"/>
              </a:rPr>
              <a:t>Dialogare con tutte le fonti non e una novita — e quello che avremmo sempre dovuto fare.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77490"/>
            <a:ext cx="1609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B8523A"/>
                </a:solidFill>
                <a:latin typeface="Arial"/>
              </a:rPr>
              <a:t>L'AI adesso lo rende possibile a una scala, velocita e profondita prima irraggiungibili.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9471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339471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47700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Social Listening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78561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Voce spontanea — cosa dicono senza sapere di essere osservati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417652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sintesi real-time]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339471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65776" y="339471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75504" y="347700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Search Intent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378561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Intenzione pre-decisione — il bisogno non ancora dichiarato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417652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clustering intent]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4272" y="339471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34272" y="339471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47700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Survey CAWI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78561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Voce sollecitata — strutturata, quantificabile, filtrata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17652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analisi testuale]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002768" y="339471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002768" y="339471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112496" y="347700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CRM &amp; First-party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12496" y="378561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Customer base reale — comportamenti verificati, non percepiti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112496" y="417652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pattern predittivi]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452628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7280" y="452628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7008" y="460857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Review &amp; Rating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1718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Esperienza vissuta post-acquisto — frustrazione e delizia reali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8" y="530809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sentiment granulare]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65776" y="452628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65776" y="452628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75504" y="460857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Forum &amp; Community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75504" y="491718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Codice di nicchia — conversazioni non filtrate di community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5504" y="530809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pattern di nicchia]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34272" y="452628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34272" y="452628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460857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News &amp; Media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91718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Narrativa pubblica e agenda setting — il frame esterno al brand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0809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agenda tracking]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002768" y="452628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002768" y="452628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112496" y="460857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Trend &amp; Culture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112496" y="491718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Segnali pre-mainstream — dove il mercato sta andando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112496" y="530809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segnali deboli]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7280" y="565785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97280" y="565785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07008" y="574014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Influencer &amp; Creator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07008" y="604875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Amplificatori culturali — bridge tra brand e audience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07008" y="643966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reach e tono]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65776" y="565785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65776" y="565785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75504" y="574014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Competitor Intel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75504" y="604875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Gap di posizionamento — il mercato visto in prospettiva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75504" y="643966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gap mapping]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34272" y="565785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034272" y="565785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0" y="574014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CX &amp; Support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0" y="604875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Frizione nel journey — l'Intention-Interface Gap in prima persona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643966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friction detection]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002768" y="565785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3002768" y="565785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112496" y="574014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Patent &amp; R&amp;D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112496" y="604875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Innovazione in preparazione — il futuro che si annuncia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112496" y="643966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innovation signals]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97280" y="678942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97280" y="678942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07008" y="687171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Retail &amp; Sales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07008" y="718032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Gap dichiarato/reale — comportamento d'acquisto effettivo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07008" y="757123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behavioral gap]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65776" y="678942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065776" y="678942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175504" y="687171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Earned Media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75504" y="718032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Reputazione editoriale — menzioni in contesto giornalistico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75504" y="757123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reputazione contextuale]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34272" y="678942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034272" y="678942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44000" y="687171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Dark Social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0" y="718032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Conversazione invisibile — messaggistica privata, gruppi chiusi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44000" y="757123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pattern inferiti]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002768" y="678942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3002768" y="678942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112496" y="6871716"/>
            <a:ext cx="3666744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D3833"/>
                </a:solidFill>
                <a:latin typeface="Arial"/>
              </a:rPr>
              <a:t>Geo &amp; Location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112496" y="7180326"/>
            <a:ext cx="3666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Movimenti reali, cluster geografici, presenza fisica vs digitale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112496" y="7571232"/>
            <a:ext cx="3666744" cy="2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800">
                <a:solidFill>
                  <a:srgbClr val="B8523A"/>
                </a:solidFill>
                <a:latin typeface="Courier New"/>
              </a:rPr>
              <a:t>[AI: geo-clustering]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9258300"/>
            <a:ext cx="18288000" cy="102870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97280" y="9464040"/>
            <a:ext cx="160934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200">
                <a:solidFill>
                  <a:srgbClr val="F3EDE1"/>
                </a:solidFill>
                <a:latin typeface="Arial"/>
              </a:rPr>
              <a:t>“Il professionista maturo non difende la sua fonte. Sa quale aprire per la domanda giusta — e l'AI le fa dialogare tutte insieme.”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AI E L'ANALISTA — L'EVOLUZIONE DEL RUOLO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3D3833"/>
                </a:solidFill>
                <a:latin typeface="Georgia"/>
              </a:rPr>
              <a:t>Il tuo ruolo non sparisce. Sale.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74620"/>
            <a:ext cx="160934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Ogni generazione ha risposto a una domanda piu utile della precedente. L'AI accelera il passaggio — non lo interrompe.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49758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909060"/>
            <a:ext cx="5120640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909060"/>
            <a:ext cx="59436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4011930"/>
            <a:ext cx="10972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E2DAC8"/>
                </a:solidFill>
                <a:latin typeface="Georgia"/>
              </a:rPr>
              <a:t>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ANALYST
MONITOR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606933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Cosa e successo?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668655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Dashboard, report, riepilogo menzioni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740664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8A8175"/>
                </a:solidFill>
                <a:latin typeface="Arial"/>
              </a:rPr>
              <a:t>Nel 2012 facevo questi report. Utili per chi non aveva visibilita — limitati per chi doveva decidere.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874395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B8523A"/>
                </a:solidFill>
                <a:latin typeface="Arial"/>
              </a:rPr>
              <a:t>L'AI automatizza l'80% di questo livello.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3909060"/>
            <a:ext cx="5120640" cy="57607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6560" y="3909060"/>
            <a:ext cx="59436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1152" y="4011930"/>
            <a:ext cx="10972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E2DAC8"/>
                </a:solidFill>
                <a:latin typeface="Georgia"/>
              </a:rPr>
              <a:t>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ANALYST
INTERPRETER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606933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Perche e successo?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668655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Analisi dei driver, ipotesi causali, insight contestuali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740664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8A8175"/>
                </a:solidFill>
                <a:latin typeface="Arial"/>
              </a:rPr>
              <a:t>Il salto che cambia le conversazioni con i clienti. Il tuo lavoro entra nelle riunioni strategiche.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874395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B8523A"/>
                </a:solidFill>
                <a:latin typeface="Arial"/>
              </a:rPr>
              <a:t>L'AI accelera l'esplorazione: 10 ipotesi in un'ora invece che in una settimana.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435840" y="3909060"/>
            <a:ext cx="5120640" cy="576072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435840" y="3909060"/>
            <a:ext cx="59436" cy="57607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00432" y="4011930"/>
            <a:ext cx="10972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B8523A"/>
                </a:solidFill>
                <a:latin typeface="Georgia"/>
              </a:rPr>
              <a:t>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00432" y="524637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3EDE1"/>
                </a:solidFill>
                <a:latin typeface="Arial"/>
              </a:rPr>
              <a:t>ANALYST
ORCHESTRATOR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00432" y="606933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B8523A"/>
                </a:solidFill>
                <a:latin typeface="Arial"/>
              </a:rPr>
              <a:t>Cosa dovremmo fare?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00432" y="668655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Intelligence strategica, ecosistema di fonti, decisioni orientate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00432" y="740664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F3EDE1"/>
                </a:solidFill>
                <a:latin typeface="Arial"/>
              </a:rPr>
              <a:t>Combina fonti, usa l'AI per sintetizzare a scala, valida con giudizio umano, porta l'insight dove serve.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00432" y="874395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B8523A"/>
                </a:solidFill>
                <a:latin typeface="Arial"/>
              </a:rPr>
              <a:t>L'AI e il motore che rende il 3.0 concretamente raggiungibile.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AI E L'ANALISTA — I SEI AMPLIFICATORI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3D3833"/>
                </a:solidFill>
                <a:latin typeface="Georgia"/>
              </a:rPr>
              <a:t>Sei amplificatori. Tutti gia tuoi.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71750"/>
            <a:ext cx="160934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Non sono feature dell'AI. Sono amplificatori delle competenze che gia avete.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29184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60045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600450"/>
            <a:ext cx="59436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72389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416623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Gia leggete le conversazioni del mercato.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4557141"/>
            <a:ext cx="49834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L'AI vi permette di farlo su milioni in parallelo, su mercati diversi, in tempo reale.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73368" y="360045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3368" y="3600450"/>
            <a:ext cx="59436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372389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416623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Gia formulate ipotesi analitiche.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557141"/>
            <a:ext cx="49834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L'AI vi permette di generarne e testarne dieci in un'ora invece che in una settimana.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49456" y="360045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49456" y="3600450"/>
            <a:ext cx="59436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14048" y="372389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4048" y="416623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Gia monitorate fonti diverse.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4048" y="4557141"/>
            <a:ext cx="49834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L'AI vi permette di farlo su piu lingue, mercati, canali, simultaneamente.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24637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5246370"/>
            <a:ext cx="59436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536981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81215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Gia costruite trend analysis nel tempo.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6203061"/>
            <a:ext cx="49834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L'AI vi permette di interrogare anni di dati storici come se fossero una conversazione.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524637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3368" y="5246370"/>
            <a:ext cx="59436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536981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581215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Gia cercate pattern nascosti.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6203061"/>
            <a:ext cx="49834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L'AI identifica correlazioni che l'occhio umano non vedrebbe mai — e ve le porta.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649456" y="5246370"/>
            <a:ext cx="5212080" cy="1522476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649456" y="5246370"/>
            <a:ext cx="59436" cy="152247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14048" y="536981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SIMULATION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14048" y="581215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Gia ragionate per scenari.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14048" y="6203061"/>
            <a:ext cx="49834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L'AI vi permette di simularli. Di testare 'e se?' prima che diventi reale.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8949690"/>
            <a:ext cx="18288000" cy="133731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9258300"/>
            <a:ext cx="16093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500">
                <a:solidFill>
                  <a:srgbClr val="F3EDE1"/>
                </a:solidFill>
                <a:latin typeface="Georgia"/>
              </a:rPr>
              <a:t>“L'AI non pensa al posto dell'analista. Amplifica cio che l'analista e in grado di vedere.”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8 — APPLICAZIONI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3D3833"/>
                </a:solidFill>
                <a:latin typeface="Georgia"/>
              </a:rPr>
              <a:t>Dove si vede il valore concreto.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71750"/>
            <a:ext cx="160934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Quattro applicazioni in cui il listening entra prima delle decisioni. Non dopo.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29184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703320"/>
            <a:ext cx="786384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703320"/>
            <a:ext cx="59436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826764"/>
            <a:ext cx="763524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REPUTATION
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4526280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Non il monitoraggio delle menzioni — l'intelligence reputazionale.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5040630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Percezione del brand e driver di fiducia spontanei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5380101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Rischi latenti prima che diventino crisi visibili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5719572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Alert preventivi, non post-mortem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6059043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Il sistema dice non solo cosa — ma perche e dove sta andando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3703320"/>
            <a:ext cx="786384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09760" y="3703320"/>
            <a:ext cx="59436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4352" y="3826764"/>
            <a:ext cx="763524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CAMPAIGN
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74352" y="4526280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Come viene ricevuta una campagna organicamente, al netto del paid?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5040630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Quali messaggi vengono compresi e quali fraintesi?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5380101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Quali asset funzionano nei contesti reali di consumo?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74352" y="5719572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Correzioni in itinere — non valutazioni a campagna chiusa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74352" y="6059043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Quando e ancora possibile cambiare qualcosa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6686550"/>
            <a:ext cx="786384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6686550"/>
            <a:ext cx="59436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1872" y="6809994"/>
            <a:ext cx="763524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PRODUCT
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7509510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I bisogni che i clienti non dichiarano in nessuna survey.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8023860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Barriere all'adozione non emerse nei focus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1872" y="8363331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Usi imprevisti: workaround, rituali, micro-community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8702802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Segnali che orientano le roadmap verso cio che il mercato vuole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9042273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Non quello che dice di volere — quello che fa davvero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9760" y="6686550"/>
            <a:ext cx="786384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9760" y="6686550"/>
            <a:ext cx="59436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74352" y="6809994"/>
            <a:ext cx="763524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REAL-TIME
INTELLIGENCE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4352" y="7509510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B8523A"/>
                </a:solidFill>
                <a:latin typeface="Arial"/>
              </a:rPr>
              <a:t>Lanci, sponsorship, crisi emergenti in tempo reale.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8023860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Distinguere: polemica vs rischio reale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8363331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Quando un topic diventa rumore vs quando diventa crisi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74352" y="8702802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Decidere: se rispondere, come, quando, con quale tono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9042273"/>
            <a:ext cx="7635240" cy="33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8A8175"/>
                </a:solidFill>
                <a:latin typeface="Arial"/>
              </a:rPr>
              <a:t>— Velocita calibrata — non la risposta generica e tardiva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90525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6314"/>
            <a:ext cx="1773936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3EDE1"/>
                </a:solidFill>
                <a:latin typeface="Courier New"/>
              </a:rPr>
              <a:t>  CAPITOLO 9 — CHIUSURA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37310"/>
            <a:ext cx="160934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3D3833"/>
                </a:solidFill>
                <a:latin typeface="Georgia"/>
              </a:rPr>
              <a:t>Cosa cambia da lunedi mattina.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71750"/>
            <a:ext cx="1609344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Quattro principi operativi. Non teoria — azioni immediate.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97280" y="3291840"/>
            <a:ext cx="1609344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97280" y="3703320"/>
            <a:ext cx="7680960" cy="25717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703320"/>
            <a:ext cx="59436" cy="25717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826764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6232" y="3826764"/>
            <a:ext cx="58521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DAI UN NOME AL MESTIERE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4711446"/>
            <a:ext cx="73152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Se il listening viene confuso con social media management o reporting, non entrera mai nelle decisioni che contano.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5328666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Non e un problema semantico — e un problema di potere organizzativo. Dare un nome chiaro al ruolo e il primo passo per dargli spazio decisionale.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3703320"/>
            <a:ext cx="7680960" cy="25717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3703320"/>
            <a:ext cx="59436" cy="25717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74352" y="3826764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3826764"/>
            <a:ext cx="58521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PRIMA DELLA QUERY, LA DECISIONE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74352" y="4711446"/>
            <a:ext cx="73152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Non si apre il tool e si digita il nome del brand. Si parte da: quale decisione devo supportare?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74352" y="5328666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Se la decisione non e chiara, il rischio e produrre monitoraggio — non intelligence. La domanda di business precede qualsiasi query.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6480810"/>
            <a:ext cx="7680960" cy="25717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80" y="6480810"/>
            <a:ext cx="59436" cy="25717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61872" y="6604254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56232" y="6604254"/>
            <a:ext cx="58521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NON CERCARE VOLUME. CERCA FRIZIONE.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872" y="7488936"/>
            <a:ext cx="73152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Il segnale piu utile spesso non e il picco piu grande, ma il pattern piu scomodo.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8106156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Una sfiducia latente. Un uso imprevisto. Una barriera non dichiarata. Il vantaggio competitivo non si nasconde dove guardano tutti.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6480810"/>
            <a:ext cx="7680960" cy="257175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6480810"/>
            <a:ext cx="59436" cy="257175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74352" y="6604254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E2DAC8"/>
                </a:solidFill>
                <a:latin typeface="Georgia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8712" y="6604254"/>
            <a:ext cx="58521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3D3833"/>
                </a:solidFill>
                <a:latin typeface="Arial"/>
              </a:rPr>
              <a:t>USA L'AI PER ACCELERARE, NON PER DELEGARE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7488936"/>
            <a:ext cx="73152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3D3833"/>
                </a:solidFill>
                <a:latin typeface="Arial"/>
              </a:rPr>
              <a:t>L'AI fa il Task Layer meglio e piu velocemente. Il Judgement Layer resta umano.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4352" y="8106156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8A8175"/>
                </a:solidFill>
                <a:latin typeface="Arial"/>
              </a:rPr>
              <a:t>Usala per andare piu lontano — non per smettere di pensare. Con l'AI il tuo lavoro vale di piu. Non e un sostituto: e un amplificatore.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0" y="9052560"/>
            <a:ext cx="16824960" cy="1234440"/>
          </a:xfrm>
          <a:prstGeom prst="rect">
            <a:avLst/>
          </a:prstGeom>
          <a:solidFill>
            <a:srgbClr val="2620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94560" y="164592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“Il futuro del social listening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57175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non sara deciso da chi possiede il tool migliore.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360045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Sara deciso da chi sapra fare le domande migliori,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62915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B8523A"/>
                </a:solidFill>
                <a:latin typeface="Georgia"/>
              </a:rPr>
              <a:t>difendere il metodo,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565785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e portare il segnale dove le decisioni vengono prese.”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7200900"/>
            <a:ext cx="10058400" cy="0"/>
          </a:xfrm>
          <a:prstGeom prst="line">
            <a:avLst/>
          </a:prstGeom>
          <a:ln w="508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194560" y="7612380"/>
            <a:ext cx="82296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000">
                <a:solidFill>
                  <a:srgbClr val="B8523A"/>
                </a:solidFill>
                <a:latin typeface="Georgia"/>
              </a:rPr>
              <a:t>GRAZIE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9258300"/>
            <a:ext cx="109728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A8175"/>
                </a:solidFill>
                <a:latin typeface="Courier New"/>
              </a:rPr>
              <a:t>EY Studio+  x  Brandwatch  x  Trajaan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