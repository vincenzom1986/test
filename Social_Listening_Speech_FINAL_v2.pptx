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714"/>
        </a:solidFill>
        <a:effectLst/>
      </p:bgPr>
    </p:bg>
    <p:spTree>
      <p:nvGrpSpPr>
        <p:cNvPr id="1" name=""/>
        <p:cNvGrpSpPr/>
        <p:nvPr/>
      </p:nvGrpSpPr>
      <p:grpSpPr/>
      <p:sp>
        <p:nvSpPr>
          <p:cNvPr id="2" name="Rectangle 1"/>
          <p:cNvSpPr/>
          <p:nvPr/>
        </p:nvSpPr>
        <p:spPr>
          <a:xfrm>
            <a:off x="0" y="0"/>
            <a:ext cx="1097280" cy="10287000"/>
          </a:xfrm>
          <a:prstGeom prst="rect">
            <a:avLst/>
          </a:prstGeom>
          <a:solidFill>
            <a:srgbClr val="B85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263140"/>
            <a:ext cx="14630400" cy="1851660"/>
          </a:xfrm>
          <a:prstGeom prst="rect">
            <a:avLst/>
          </a:prstGeom>
          <a:noFill/>
        </p:spPr>
        <p:txBody>
          <a:bodyPr wrap="square"/>
          <a:lstStyle/>
          <a:p>
            <a:pPr algn="l"/>
            <a:r>
              <a:rPr b="1" i="0" sz="3800">
                <a:solidFill>
                  <a:srgbClr val="F3EDE1"/>
                </a:solidFill>
                <a:latin typeface="Georgia"/>
              </a:rPr>
              <a:t>SOCIAL LISTENING IN ITALIA</a:t>
            </a:r>
          </a:p>
        </p:txBody>
      </p:sp>
      <p:sp>
        <p:nvSpPr>
          <p:cNvPr id="4" name="TextBox 3"/>
          <p:cNvSpPr txBox="1"/>
          <p:nvPr/>
        </p:nvSpPr>
        <p:spPr>
          <a:xfrm>
            <a:off x="1828800" y="4320540"/>
            <a:ext cx="13716000" cy="1028700"/>
          </a:xfrm>
          <a:prstGeom prst="rect">
            <a:avLst/>
          </a:prstGeom>
          <a:noFill/>
        </p:spPr>
        <p:txBody>
          <a:bodyPr wrap="square"/>
          <a:lstStyle/>
          <a:p>
            <a:pPr algn="l"/>
            <a:r>
              <a:rPr b="0" i="1" sz="2200">
                <a:solidFill>
                  <a:srgbClr val="B8523A"/>
                </a:solidFill>
                <a:latin typeface="Georgia"/>
              </a:rPr>
              <a:t>Realta, sfide e opportunita</a:t>
            </a:r>
          </a:p>
        </p:txBody>
      </p:sp>
      <p:cxnSp>
        <p:nvCxnSpPr>
          <p:cNvPr id="5" name="Connector 4"/>
          <p:cNvCxnSpPr/>
          <p:nvPr/>
        </p:nvCxnSpPr>
        <p:spPr>
          <a:xfrm>
            <a:off x="1828800" y="5760720"/>
            <a:ext cx="914400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828800" y="6172200"/>
            <a:ext cx="12801600" cy="822960"/>
          </a:xfrm>
          <a:prstGeom prst="rect">
            <a:avLst/>
          </a:prstGeom>
          <a:noFill/>
        </p:spPr>
        <p:txBody>
          <a:bodyPr wrap="square"/>
          <a:lstStyle/>
          <a:p>
            <a:pPr algn="l"/>
            <a:r>
              <a:rPr b="0" i="0" sz="1300">
                <a:solidFill>
                  <a:srgbClr val="8A8175"/>
                </a:solidFill>
                <a:latin typeface="Courier New"/>
              </a:rPr>
              <a:t>EY Studio+  x  Brandwatch  x  Trajaan</a:t>
            </a:r>
          </a:p>
        </p:txBody>
      </p:sp>
      <p:sp>
        <p:nvSpPr>
          <p:cNvPr id="7" name="TextBox 6"/>
          <p:cNvSpPr txBox="1"/>
          <p:nvPr/>
        </p:nvSpPr>
        <p:spPr>
          <a:xfrm>
            <a:off x="1828800" y="6995160"/>
            <a:ext cx="7315200" cy="720090"/>
          </a:xfrm>
          <a:prstGeom prst="rect">
            <a:avLst/>
          </a:prstGeom>
          <a:noFill/>
        </p:spPr>
        <p:txBody>
          <a:bodyPr wrap="square"/>
          <a:lstStyle/>
          <a:p>
            <a:pPr algn="l"/>
            <a:r>
              <a:rPr b="0" i="0" sz="1200">
                <a:solidFill>
                  <a:srgbClr val="8A8175"/>
                </a:solidFill>
                <a:latin typeface="Courier New"/>
              </a:rPr>
              <a:t>Maggio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EDE1"/>
        </a:solidFill>
        <a:effectLst/>
      </p:bgPr>
    </p:bg>
    <p:spTree>
      <p:nvGrpSpPr>
        <p:cNvPr id="1" name=""/>
        <p:cNvGrpSpPr/>
        <p:nvPr/>
      </p:nvGrpSpPr>
      <p:grpSpPr/>
      <p:sp>
        <p:nvSpPr>
          <p:cNvPr id="2" name="Rectangle 1"/>
          <p:cNvSpPr/>
          <p:nvPr/>
        </p:nvSpPr>
        <p:spPr>
          <a:xfrm>
            <a:off x="0" y="0"/>
            <a:ext cx="7680960" cy="1028700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46720" y="1028700"/>
            <a:ext cx="9784080" cy="320040"/>
          </a:xfrm>
          <a:prstGeom prst="rect">
            <a:avLst/>
          </a:prstGeom>
          <a:noFill/>
        </p:spPr>
        <p:txBody>
          <a:bodyPr wrap="square"/>
          <a:lstStyle/>
          <a:p>
            <a:pPr algn="l"/>
            <a:r>
              <a:rPr b="1" i="0" sz="1000">
                <a:solidFill>
                  <a:srgbClr val="B8523A"/>
                </a:solidFill>
                <a:latin typeface="Courier New"/>
              </a:rPr>
              <a:t>●  CHI PARLA OGGI</a:t>
            </a:r>
          </a:p>
        </p:txBody>
      </p:sp>
      <p:sp>
        <p:nvSpPr>
          <p:cNvPr id="4" name="TextBox 3"/>
          <p:cNvSpPr txBox="1"/>
          <p:nvPr/>
        </p:nvSpPr>
        <p:spPr>
          <a:xfrm>
            <a:off x="8046720" y="1851660"/>
            <a:ext cx="9509760" cy="1234440"/>
          </a:xfrm>
          <a:prstGeom prst="rect">
            <a:avLst/>
          </a:prstGeom>
          <a:noFill/>
        </p:spPr>
        <p:txBody>
          <a:bodyPr wrap="square"/>
          <a:lstStyle/>
          <a:p>
            <a:pPr algn="l"/>
            <a:r>
              <a:rPr b="1" i="0" sz="2600">
                <a:solidFill>
                  <a:srgbClr val="3D3833"/>
                </a:solidFill>
                <a:latin typeface="Georgia"/>
              </a:rPr>
              <a:t>Vincenzo Alberto Marrari</a:t>
            </a:r>
          </a:p>
        </p:txBody>
      </p:sp>
      <p:sp>
        <p:nvSpPr>
          <p:cNvPr id="5" name="TextBox 4"/>
          <p:cNvSpPr txBox="1"/>
          <p:nvPr/>
        </p:nvSpPr>
        <p:spPr>
          <a:xfrm>
            <a:off x="8046720" y="3086100"/>
            <a:ext cx="9509760" cy="822960"/>
          </a:xfrm>
          <a:prstGeom prst="rect">
            <a:avLst/>
          </a:prstGeom>
          <a:noFill/>
        </p:spPr>
        <p:txBody>
          <a:bodyPr wrap="square"/>
          <a:lstStyle/>
          <a:p>
            <a:pPr algn="l"/>
            <a:r>
              <a:rPr b="1" i="0" sz="1400">
                <a:solidFill>
                  <a:srgbClr val="B8523A"/>
                </a:solidFill>
                <a:latin typeface="Courier New"/>
              </a:rPr>
              <a:t>Analyst &amp; Insight Strategist Manager</a:t>
            </a:r>
          </a:p>
        </p:txBody>
      </p:sp>
      <p:sp>
        <p:nvSpPr>
          <p:cNvPr id="6" name="TextBox 5"/>
          <p:cNvSpPr txBox="1"/>
          <p:nvPr/>
        </p:nvSpPr>
        <p:spPr>
          <a:xfrm>
            <a:off x="8046720" y="4114800"/>
            <a:ext cx="9509760" cy="3909060"/>
          </a:xfrm>
          <a:prstGeom prst="rect">
            <a:avLst/>
          </a:prstGeom>
          <a:noFill/>
        </p:spPr>
        <p:txBody>
          <a:bodyPr wrap="square">
            <a:spAutoFit/>
          </a:bodyPr>
          <a:lstStyle/>
          <a:p>
            <a:pPr algn="l"/>
            <a:r>
              <a:rPr b="0" i="0" sz="1300">
                <a:solidFill>
                  <a:srgbClr val="3D3833"/>
                </a:solidFill>
                <a:latin typeface="Arial"/>
              </a:rPr>
              <a:t>EY Studio+ &amp; Trajaan — sistemi di intelligence per le organizzazioni.</a:t>
            </a:r>
          </a:p>
          <a:p>
            <a:pPr algn="l"/>
            <a:r>
              <a:t/>
            </a:r>
          </a:p>
          <a:p>
            <a:pPr algn="l"/>
            <a:r>
              <a:rPr b="0" i="0" sz="1300">
                <a:solidFill>
                  <a:srgbClr val="3D3833"/>
                </a:solidFill>
                <a:latin typeface="Arial"/>
              </a:rPr>
              <a:t>12+ anni di social listening, cultural intelligence e ricerca strategica.</a:t>
            </a:r>
          </a:p>
          <a:p>
            <a:pPr algn="l"/>
            <a:r>
              <a:t/>
            </a:r>
          </a:p>
          <a:p>
            <a:pPr algn="l"/>
            <a:r>
              <a:rPr b="0" i="0" sz="1300">
                <a:solidFill>
                  <a:srgbClr val="8A8175"/>
                </a:solidFill>
                <a:latin typeface="Arial"/>
              </a:rPr>
              <a:t>Ha visto questo mestiere cambiare forma tre volte. Ha visto strumenti diventare</a:t>
            </a:r>
          </a:p>
          <a:p>
            <a:pPr algn="l"/>
            <a:r>
              <a:rPr b="0" i="0" sz="1300">
                <a:solidFill>
                  <a:srgbClr val="8A8175"/>
                </a:solidFill>
                <a:latin typeface="Arial"/>
              </a:rPr>
              <a:t>obsoleti, approcci rivelarsi insufficienti, e l'AI ridefinire dove sta il valore.</a:t>
            </a:r>
          </a:p>
        </p:txBody>
      </p:sp>
      <p:cxnSp>
        <p:nvCxnSpPr>
          <p:cNvPr id="7" name="Connector 6"/>
          <p:cNvCxnSpPr/>
          <p:nvPr/>
        </p:nvCxnSpPr>
        <p:spPr>
          <a:xfrm>
            <a:off x="8046720" y="8435340"/>
            <a:ext cx="877824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046720" y="8641080"/>
            <a:ext cx="9509760" cy="720090"/>
          </a:xfrm>
          <a:prstGeom prst="rect">
            <a:avLst/>
          </a:prstGeom>
          <a:noFill/>
        </p:spPr>
        <p:txBody>
          <a:bodyPr wrap="square"/>
          <a:lstStyle/>
          <a:p>
            <a:pPr algn="l"/>
            <a:r>
              <a:rPr b="0" i="1" sz="1100">
                <a:solidFill>
                  <a:srgbClr val="8A8175"/>
                </a:solidFill>
                <a:latin typeface="Arial"/>
              </a:rPr>
              <a:t>"Il valore dell'AI non sta nella promessa di sostituire l'uomo,</a:t>
            </a:r>
          </a:p>
        </p:txBody>
      </p:sp>
      <p:sp>
        <p:nvSpPr>
          <p:cNvPr id="9" name="TextBox 8"/>
          <p:cNvSpPr txBox="1"/>
          <p:nvPr/>
        </p:nvSpPr>
        <p:spPr>
          <a:xfrm>
            <a:off x="8046720" y="9052560"/>
            <a:ext cx="9509760" cy="617220"/>
          </a:xfrm>
          <a:prstGeom prst="rect">
            <a:avLst/>
          </a:prstGeom>
          <a:noFill/>
        </p:spPr>
        <p:txBody>
          <a:bodyPr wrap="square"/>
          <a:lstStyle/>
          <a:p>
            <a:pPr algn="l"/>
            <a:r>
              <a:rPr b="0" i="1" sz="1100">
                <a:solidFill>
                  <a:srgbClr val="8A8175"/>
                </a:solidFill>
                <a:latin typeface="Arial"/>
              </a:rPr>
              <a:t>ma nella capacita di amplificarne le competenze."</a:t>
            </a:r>
          </a:p>
        </p:txBody>
      </p:sp>
      <p:sp>
        <p:nvSpPr>
          <p:cNvPr id="10" name="Rectangle 9"/>
          <p:cNvSpPr/>
          <p:nvPr/>
        </p:nvSpPr>
        <p:spPr>
          <a:xfrm>
            <a:off x="1097280" y="1543050"/>
            <a:ext cx="5486400" cy="5657850"/>
          </a:xfrm>
          <a:prstGeom prst="rect">
            <a:avLst/>
          </a:prstGeom>
          <a:solidFill>
            <a:srgbClr val="F3ED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11930"/>
            <a:ext cx="5486400" cy="822960"/>
          </a:xfrm>
          <a:prstGeom prst="rect">
            <a:avLst/>
          </a:prstGeom>
          <a:noFill/>
        </p:spPr>
        <p:txBody>
          <a:bodyPr wrap="square"/>
          <a:lstStyle/>
          <a:p>
            <a:pPr algn="ctr"/>
            <a:r>
              <a:rPr b="0" i="0" sz="1400">
                <a:solidFill>
                  <a:srgbClr val="8A8175"/>
                </a:solidFill>
                <a:latin typeface="Arial"/>
              </a:rPr>
              <a:t>[FOTO]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EDE1"/>
        </a:solidFill>
        <a:effectLst/>
      </p:bgPr>
    </p:bg>
    <p:spTree>
      <p:nvGrpSpPr>
        <p:cNvPr id="1" name=""/>
        <p:cNvGrpSpPr/>
        <p:nvPr/>
      </p:nvGrpSpPr>
      <p:grpSpPr/>
      <p:sp>
        <p:nvSpPr>
          <p:cNvPr id="2" name="TextBox 1"/>
          <p:cNvSpPr txBox="1"/>
          <p:nvPr/>
        </p:nvSpPr>
        <p:spPr>
          <a:xfrm>
            <a:off x="1097280" y="617220"/>
            <a:ext cx="16733520" cy="320040"/>
          </a:xfrm>
          <a:prstGeom prst="rect">
            <a:avLst/>
          </a:prstGeom>
          <a:noFill/>
        </p:spPr>
        <p:txBody>
          <a:bodyPr wrap="square"/>
          <a:lstStyle/>
          <a:p>
            <a:pPr algn="l"/>
            <a:r>
              <a:rPr b="1" i="0" sz="1000">
                <a:solidFill>
                  <a:srgbClr val="B8523A"/>
                </a:solidFill>
                <a:latin typeface="Courier New"/>
              </a:rPr>
              <a:t>●  CAPITOLO 1 — IL PARADOSSO</a:t>
            </a:r>
          </a:p>
        </p:txBody>
      </p:sp>
      <p:sp>
        <p:nvSpPr>
          <p:cNvPr id="3" name="TextBox 2"/>
          <p:cNvSpPr txBox="1"/>
          <p:nvPr/>
        </p:nvSpPr>
        <p:spPr>
          <a:xfrm>
            <a:off x="1097280" y="1337310"/>
            <a:ext cx="16093440" cy="1234440"/>
          </a:xfrm>
          <a:prstGeom prst="rect">
            <a:avLst/>
          </a:prstGeom>
          <a:noFill/>
        </p:spPr>
        <p:txBody>
          <a:bodyPr wrap="square"/>
          <a:lstStyle/>
          <a:p>
            <a:pPr algn="l"/>
            <a:r>
              <a:rPr b="1" i="0" sz="3000">
                <a:solidFill>
                  <a:srgbClr val="3D3833"/>
                </a:solidFill>
                <a:latin typeface="Georgia"/>
              </a:rPr>
              <a:t>Alta domanda. Bassa adozione strutturata.</a:t>
            </a:r>
          </a:p>
        </p:txBody>
      </p:sp>
      <p:cxnSp>
        <p:nvCxnSpPr>
          <p:cNvPr id="4" name="Connector 3"/>
          <p:cNvCxnSpPr/>
          <p:nvPr/>
        </p:nvCxnSpPr>
        <p:spPr>
          <a:xfrm>
            <a:off x="1097280" y="2777490"/>
            <a:ext cx="1609344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97280" y="3086100"/>
            <a:ext cx="7863840" cy="6172200"/>
          </a:xfrm>
          <a:prstGeom prst="rect">
            <a:avLst/>
          </a:prstGeom>
          <a:noFill/>
        </p:spPr>
        <p:txBody>
          <a:bodyPr wrap="square">
            <a:spAutoFit/>
          </a:bodyPr>
          <a:lstStyle/>
          <a:p>
            <a:pPr algn="l"/>
            <a:r>
              <a:rPr b="1" i="0" sz="1400">
                <a:solidFill>
                  <a:srgbClr val="3D3833"/>
                </a:solidFill>
                <a:latin typeface="Arial"/>
              </a:rPr>
              <a:t>Il social listening viene citato ovunque.</a:t>
            </a:r>
          </a:p>
          <a:p>
            <a:pPr algn="l"/>
            <a:r>
              <a:t/>
            </a:r>
          </a:p>
          <a:p>
            <a:pPr algn="l"/>
            <a:r>
              <a:rPr b="0" i="0" sz="1300">
                <a:solidFill>
                  <a:srgbClr val="8A8175"/>
                </a:solidFill>
                <a:latin typeface="Arial"/>
              </a:rPr>
              <a:t>Nei brief di gara, nelle presentazioni strategiche, nei piani media.</a:t>
            </a:r>
          </a:p>
          <a:p>
            <a:pPr algn="l"/>
            <a:r>
              <a:rPr b="0" i="0" sz="1300">
                <a:solidFill>
                  <a:srgbClr val="8A8175"/>
                </a:solidFill>
                <a:latin typeface="Arial"/>
              </a:rPr>
              <a:t>Gli strumenti ci sono. I dati ci sono. I budget vengono allocati.</a:t>
            </a:r>
          </a:p>
          <a:p>
            <a:pPr algn="l"/>
            <a:r>
              <a:t/>
            </a:r>
          </a:p>
          <a:p>
            <a:pPr algn="l"/>
            <a:r>
              <a:rPr b="1" i="0" sz="1500">
                <a:solidFill>
                  <a:srgbClr val="B8523A"/>
                </a:solidFill>
                <a:latin typeface="Arial"/>
              </a:rPr>
              <a:t>42 milioni di utenti social attivi in Italia.</a:t>
            </a:r>
          </a:p>
          <a:p>
            <a:pPr algn="l"/>
            <a:r>
              <a:rPr b="1" i="0" sz="1500">
                <a:solidFill>
                  <a:srgbClr val="B8523A"/>
                </a:solidFill>
                <a:latin typeface="Arial"/>
              </a:rPr>
              <a:t>Conversazioni spontanee ogni secondo.</a:t>
            </a:r>
          </a:p>
          <a:p>
            <a:pPr algn="l"/>
            <a:r>
              <a:t/>
            </a:r>
          </a:p>
          <a:p>
            <a:pPr algn="l"/>
            <a:r>
              <a:rPr b="0" i="0" sz="1300">
                <a:solidFill>
                  <a:srgbClr val="3D3833"/>
                </a:solidFill>
                <a:latin typeface="Arial"/>
              </a:rPr>
              <a:t>Eppure il mestiere vive in una zona ambigua:</a:t>
            </a:r>
          </a:p>
          <a:p>
            <a:pPr algn="l"/>
            <a:r>
              <a:rPr b="0" i="0" sz="1300">
                <a:solidFill>
                  <a:srgbClr val="8A8175"/>
                </a:solidFill>
                <a:latin typeface="Arial"/>
              </a:rPr>
              <a:t>produce un report mensile che arriva in ritardo</a:t>
            </a:r>
          </a:p>
          <a:p>
            <a:pPr algn="l"/>
            <a:r>
              <a:rPr b="0" i="0" sz="1300">
                <a:solidFill>
                  <a:srgbClr val="8A8175"/>
                </a:solidFill>
                <a:latin typeface="Arial"/>
              </a:rPr>
              <a:t>rispetto alle decisioni che avrebbe dovuto supportare.</a:t>
            </a:r>
          </a:p>
        </p:txBody>
      </p:sp>
      <p:sp>
        <p:nvSpPr>
          <p:cNvPr id="6" name="Rectangle 5"/>
          <p:cNvSpPr/>
          <p:nvPr/>
        </p:nvSpPr>
        <p:spPr>
          <a:xfrm>
            <a:off x="10058400" y="3086100"/>
            <a:ext cx="731520" cy="1645920"/>
          </a:xfrm>
          <a:prstGeom prst="rect">
            <a:avLst/>
          </a:prstGeom>
          <a:solidFill>
            <a:srgbClr val="B85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3188970"/>
            <a:ext cx="6400800" cy="720090"/>
          </a:xfrm>
          <a:prstGeom prst="rect">
            <a:avLst/>
          </a:prstGeom>
          <a:noFill/>
        </p:spPr>
        <p:txBody>
          <a:bodyPr wrap="square"/>
          <a:lstStyle/>
          <a:p>
            <a:pPr algn="l"/>
            <a:r>
              <a:rPr b="1" i="0" sz="1300">
                <a:solidFill>
                  <a:srgbClr val="3D3833"/>
                </a:solidFill>
                <a:latin typeface="Arial"/>
              </a:rPr>
              <a:t>TUTTI LO CHIEDONO</a:t>
            </a:r>
          </a:p>
        </p:txBody>
      </p:sp>
      <p:sp>
        <p:nvSpPr>
          <p:cNvPr id="8" name="TextBox 7"/>
          <p:cNvSpPr txBox="1"/>
          <p:nvPr/>
        </p:nvSpPr>
        <p:spPr>
          <a:xfrm>
            <a:off x="11155680" y="3806190"/>
            <a:ext cx="6400800" cy="822960"/>
          </a:xfrm>
          <a:prstGeom prst="rect">
            <a:avLst/>
          </a:prstGeom>
          <a:noFill/>
        </p:spPr>
        <p:txBody>
          <a:bodyPr wrap="square"/>
          <a:lstStyle/>
          <a:p>
            <a:pPr algn="l"/>
            <a:r>
              <a:rPr b="0" i="0" sz="1200">
                <a:solidFill>
                  <a:srgbClr val="8A8175"/>
                </a:solidFill>
                <a:latin typeface="Arial"/>
              </a:rPr>
              <a:t>Presente in ogni brief, ogni piano, ogni RFP</a:t>
            </a:r>
          </a:p>
        </p:txBody>
      </p:sp>
      <p:sp>
        <p:nvSpPr>
          <p:cNvPr id="9" name="Rectangle 8"/>
          <p:cNvSpPr/>
          <p:nvPr/>
        </p:nvSpPr>
        <p:spPr>
          <a:xfrm>
            <a:off x="10058400" y="5349240"/>
            <a:ext cx="731520" cy="1645920"/>
          </a:xfrm>
          <a:prstGeom prst="rect">
            <a:avLst/>
          </a:prstGeom>
          <a:solidFill>
            <a:srgbClr val="B85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55680" y="5452110"/>
            <a:ext cx="6400800" cy="720090"/>
          </a:xfrm>
          <a:prstGeom prst="rect">
            <a:avLst/>
          </a:prstGeom>
          <a:noFill/>
        </p:spPr>
        <p:txBody>
          <a:bodyPr wrap="square"/>
          <a:lstStyle/>
          <a:p>
            <a:pPr algn="l"/>
            <a:r>
              <a:rPr b="1" i="0" sz="1300">
                <a:solidFill>
                  <a:srgbClr val="3D3833"/>
                </a:solidFill>
                <a:latin typeface="Arial"/>
              </a:rPr>
              <a:t>POCHI LO RICONOSCONO</a:t>
            </a:r>
          </a:p>
        </p:txBody>
      </p:sp>
      <p:sp>
        <p:nvSpPr>
          <p:cNvPr id="11" name="TextBox 10"/>
          <p:cNvSpPr txBox="1"/>
          <p:nvPr/>
        </p:nvSpPr>
        <p:spPr>
          <a:xfrm>
            <a:off x="11155680" y="6069330"/>
            <a:ext cx="6400800" cy="822960"/>
          </a:xfrm>
          <a:prstGeom prst="rect">
            <a:avLst/>
          </a:prstGeom>
          <a:noFill/>
        </p:spPr>
        <p:txBody>
          <a:bodyPr wrap="square"/>
          <a:lstStyle/>
          <a:p>
            <a:pPr algn="l"/>
            <a:r>
              <a:rPr b="0" i="0" sz="1200">
                <a:solidFill>
                  <a:srgbClr val="8A8175"/>
                </a:solidFill>
                <a:latin typeface="Arial"/>
              </a:rPr>
              <a:t>Usato come validazione, non come orientamento</a:t>
            </a:r>
          </a:p>
        </p:txBody>
      </p:sp>
      <p:sp>
        <p:nvSpPr>
          <p:cNvPr id="12" name="Rectangle 11"/>
          <p:cNvSpPr/>
          <p:nvPr/>
        </p:nvSpPr>
        <p:spPr>
          <a:xfrm>
            <a:off x="10058400" y="7612380"/>
            <a:ext cx="731520" cy="1645920"/>
          </a:xfrm>
          <a:prstGeom prst="rect">
            <a:avLst/>
          </a:prstGeom>
          <a:solidFill>
            <a:srgbClr val="B85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0" y="7715250"/>
            <a:ext cx="6400800" cy="720090"/>
          </a:xfrm>
          <a:prstGeom prst="rect">
            <a:avLst/>
          </a:prstGeom>
          <a:noFill/>
        </p:spPr>
        <p:txBody>
          <a:bodyPr wrap="square"/>
          <a:lstStyle/>
          <a:p>
            <a:pPr algn="l"/>
            <a:r>
              <a:rPr b="1" i="0" sz="1300">
                <a:solidFill>
                  <a:srgbClr val="3D3833"/>
                </a:solidFill>
                <a:latin typeface="Arial"/>
              </a:rPr>
              <a:t>RARO LO STRUTTURANO</a:t>
            </a:r>
          </a:p>
        </p:txBody>
      </p:sp>
      <p:sp>
        <p:nvSpPr>
          <p:cNvPr id="14" name="TextBox 13"/>
          <p:cNvSpPr txBox="1"/>
          <p:nvPr/>
        </p:nvSpPr>
        <p:spPr>
          <a:xfrm>
            <a:off x="11155680" y="8332470"/>
            <a:ext cx="6400800" cy="822960"/>
          </a:xfrm>
          <a:prstGeom prst="rect">
            <a:avLst/>
          </a:prstGeom>
          <a:noFill/>
        </p:spPr>
        <p:txBody>
          <a:bodyPr wrap="square"/>
          <a:lstStyle/>
          <a:p>
            <a:pPr algn="l"/>
            <a:r>
              <a:rPr b="0" i="0" sz="1200">
                <a:solidFill>
                  <a:srgbClr val="8A8175"/>
                </a:solidFill>
                <a:latin typeface="Arial"/>
              </a:rPr>
              <a:t>Senza metodo condiviso, rimane monitoring</a:t>
            </a:r>
          </a:p>
        </p:txBody>
      </p:sp>
      <p:sp>
        <p:nvSpPr>
          <p:cNvPr id="15" name="TextBox 14"/>
          <p:cNvSpPr txBox="1"/>
          <p:nvPr/>
        </p:nvSpPr>
        <p:spPr>
          <a:xfrm>
            <a:off x="1097280" y="9361170"/>
            <a:ext cx="16093440" cy="720090"/>
          </a:xfrm>
          <a:prstGeom prst="rect">
            <a:avLst/>
          </a:prstGeom>
          <a:noFill/>
        </p:spPr>
        <p:txBody>
          <a:bodyPr wrap="square"/>
          <a:lstStyle/>
          <a:p>
            <a:pPr algn="l"/>
            <a:r>
              <a:rPr b="1" i="1" sz="1300">
                <a:solidFill>
                  <a:srgbClr val="B8523A"/>
                </a:solidFill>
                <a:latin typeface="Arial"/>
              </a:rPr>
              <a:t>Il problema non e lo strumento. E il posizionamento.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EDE1"/>
        </a:solidFill>
        <a:effectLst/>
      </p:bgPr>
    </p:bg>
    <p:spTree>
      <p:nvGrpSpPr>
        <p:cNvPr id="1" name=""/>
        <p:cNvGrpSpPr/>
        <p:nvPr/>
      </p:nvGrpSpPr>
      <p:grpSpPr/>
      <p:sp>
        <p:nvSpPr>
          <p:cNvPr id="2" name="TextBox 1"/>
          <p:cNvSpPr txBox="1"/>
          <p:nvPr/>
        </p:nvSpPr>
        <p:spPr>
          <a:xfrm>
            <a:off x="1097280" y="617220"/>
            <a:ext cx="16733520" cy="320040"/>
          </a:xfrm>
          <a:prstGeom prst="rect">
            <a:avLst/>
          </a:prstGeom>
          <a:noFill/>
        </p:spPr>
        <p:txBody>
          <a:bodyPr wrap="square"/>
          <a:lstStyle/>
          <a:p>
            <a:pPr algn="l"/>
            <a:r>
              <a:rPr b="1" i="0" sz="1000">
                <a:solidFill>
                  <a:srgbClr val="B8523A"/>
                </a:solidFill>
                <a:latin typeface="Courier New"/>
              </a:rPr>
              <a:t>●  CAPITOLO 2 — IL PERIMETRO</a:t>
            </a:r>
          </a:p>
        </p:txBody>
      </p:sp>
      <p:sp>
        <p:nvSpPr>
          <p:cNvPr id="3" name="TextBox 2"/>
          <p:cNvSpPr txBox="1"/>
          <p:nvPr/>
        </p:nvSpPr>
        <p:spPr>
          <a:xfrm>
            <a:off x="1097280" y="1337310"/>
            <a:ext cx="16093440" cy="1028700"/>
          </a:xfrm>
          <a:prstGeom prst="rect">
            <a:avLst/>
          </a:prstGeom>
          <a:noFill/>
        </p:spPr>
        <p:txBody>
          <a:bodyPr wrap="square"/>
          <a:lstStyle/>
          <a:p>
            <a:pPr algn="l"/>
            <a:r>
              <a:rPr b="1" i="0" sz="2600">
                <a:solidFill>
                  <a:srgbClr val="3D3833"/>
                </a:solidFill>
                <a:latin typeface="Georgia"/>
              </a:rPr>
              <a:t>Liberare il terreno prima di costruire</a:t>
            </a:r>
          </a:p>
        </p:txBody>
      </p:sp>
      <p:sp>
        <p:nvSpPr>
          <p:cNvPr id="4" name="Rectangle 3"/>
          <p:cNvSpPr/>
          <p:nvPr/>
        </p:nvSpPr>
        <p:spPr>
          <a:xfrm>
            <a:off x="1097280" y="2674620"/>
            <a:ext cx="7680960" cy="82296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674620"/>
            <a:ext cx="7680960" cy="822960"/>
          </a:xfrm>
          <a:prstGeom prst="rect">
            <a:avLst/>
          </a:prstGeom>
          <a:noFill/>
        </p:spPr>
        <p:txBody>
          <a:bodyPr wrap="square"/>
          <a:lstStyle/>
          <a:p>
            <a:pPr algn="ctr"/>
            <a:r>
              <a:rPr b="1" i="0" sz="1300">
                <a:solidFill>
                  <a:srgbClr val="8A8175"/>
                </a:solidFill>
                <a:latin typeface="Courier New"/>
              </a:rPr>
              <a:t>NON E'</a:t>
            </a:r>
          </a:p>
        </p:txBody>
      </p:sp>
      <p:sp>
        <p:nvSpPr>
          <p:cNvPr id="6" name="TextBox 5"/>
          <p:cNvSpPr txBox="1"/>
          <p:nvPr/>
        </p:nvSpPr>
        <p:spPr>
          <a:xfrm>
            <a:off x="1097280" y="3703320"/>
            <a:ext cx="7680960" cy="5554980"/>
          </a:xfrm>
          <a:prstGeom prst="rect">
            <a:avLst/>
          </a:prstGeom>
          <a:noFill/>
        </p:spPr>
        <p:txBody>
          <a:bodyPr wrap="square">
            <a:spAutoFit/>
          </a:bodyPr>
          <a:lstStyle/>
          <a:p>
            <a:pPr algn="l"/>
            <a:r>
              <a:rPr b="0" i="0" sz="1300">
                <a:solidFill>
                  <a:srgbClr val="3D3833"/>
                </a:solidFill>
                <a:latin typeface="Arial"/>
              </a:rPr>
              <a:t>x  Contare menzioni o follower</a:t>
            </a:r>
          </a:p>
          <a:p>
            <a:pPr algn="l"/>
            <a:r>
              <a:rPr b="0" i="0" sz="1300">
                <a:solidFill>
                  <a:srgbClr val="3D3833"/>
                </a:solidFill>
                <a:latin typeface="Arial"/>
              </a:rPr>
              <a:t>x  Il sentiment automatico come verita assoluta</a:t>
            </a:r>
          </a:p>
          <a:p>
            <a:pPr algn="l"/>
            <a:r>
              <a:t/>
            </a:r>
          </a:p>
          <a:p>
            <a:pPr algn="l"/>
            <a:r>
              <a:rPr b="0" i="0" sz="1100">
                <a:solidFill>
                  <a:srgbClr val="8A8175"/>
                </a:solidFill>
                <a:latin typeface="Arial"/>
              </a:rPr>
              <a:t>   Ho visto report basati su sentiment automatico descrivere</a:t>
            </a:r>
          </a:p>
          <a:p>
            <a:pPr algn="l"/>
            <a:r>
              <a:rPr b="0" i="0" sz="1100">
                <a:solidFill>
                  <a:srgbClr val="8A8175"/>
                </a:solidFill>
                <a:latin typeface="Arial"/>
              </a:rPr>
              <a:t>   come 'positivo' un picco che era il preludio di una crisi.</a:t>
            </a:r>
          </a:p>
          <a:p>
            <a:pPr algn="l"/>
            <a:r>
              <a:rPr b="0" i="0" sz="1100">
                <a:solidFill>
                  <a:srgbClr val="8A8175"/>
                </a:solidFill>
                <a:latin typeface="Arial"/>
              </a:rPr>
              <a:t>   Lo strumento non sbaglia — sbaglia chi usa il dato senza validarlo.</a:t>
            </a:r>
          </a:p>
          <a:p>
            <a:pPr algn="l"/>
            <a:r>
              <a:t/>
            </a:r>
          </a:p>
          <a:p>
            <a:pPr algn="l"/>
            <a:r>
              <a:rPr b="0" i="0" sz="1300">
                <a:solidFill>
                  <a:srgbClr val="3D3833"/>
                </a:solidFill>
                <a:latin typeface="Arial"/>
              </a:rPr>
              <a:t>x  Share of voice come fine ultimo</a:t>
            </a:r>
          </a:p>
          <a:p>
            <a:pPr algn="l"/>
            <a:r>
              <a:rPr b="0" i="0" sz="1300">
                <a:solidFill>
                  <a:srgbClr val="3D3833"/>
                </a:solidFill>
                <a:latin typeface="Arial"/>
              </a:rPr>
              <a:t>x  La dashboard mensile come deliverable principale</a:t>
            </a:r>
          </a:p>
          <a:p>
            <a:pPr algn="l"/>
            <a:r>
              <a:rPr b="0" i="0" sz="1400">
                <a:solidFill>
                  <a:srgbClr val="B8523A"/>
                </a:solidFill>
                <a:latin typeface="Arial"/>
              </a:rPr>
              <a:t>x  IL TOOL</a:t>
            </a:r>
          </a:p>
        </p:txBody>
      </p:sp>
      <p:sp>
        <p:nvSpPr>
          <p:cNvPr id="7" name="Rectangle 6"/>
          <p:cNvSpPr/>
          <p:nvPr/>
        </p:nvSpPr>
        <p:spPr>
          <a:xfrm>
            <a:off x="9509760" y="2674620"/>
            <a:ext cx="7680960" cy="822960"/>
          </a:xfrm>
          <a:prstGeom prst="rect">
            <a:avLst/>
          </a:prstGeom>
          <a:solidFill>
            <a:srgbClr val="3D3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0" y="2674620"/>
            <a:ext cx="7680960" cy="822960"/>
          </a:xfrm>
          <a:prstGeom prst="rect">
            <a:avLst/>
          </a:prstGeom>
          <a:noFill/>
        </p:spPr>
        <p:txBody>
          <a:bodyPr wrap="square"/>
          <a:lstStyle/>
          <a:p>
            <a:pPr algn="ctr"/>
            <a:r>
              <a:rPr b="1" i="0" sz="1300">
                <a:solidFill>
                  <a:srgbClr val="F3EDE1"/>
                </a:solidFill>
                <a:latin typeface="Courier New"/>
              </a:rPr>
              <a:t>E'</a:t>
            </a:r>
          </a:p>
        </p:txBody>
      </p:sp>
      <p:sp>
        <p:nvSpPr>
          <p:cNvPr id="9" name="TextBox 8"/>
          <p:cNvSpPr txBox="1"/>
          <p:nvPr/>
        </p:nvSpPr>
        <p:spPr>
          <a:xfrm>
            <a:off x="9509760" y="3703320"/>
            <a:ext cx="7680960" cy="5554980"/>
          </a:xfrm>
          <a:prstGeom prst="rect">
            <a:avLst/>
          </a:prstGeom>
          <a:noFill/>
        </p:spPr>
        <p:txBody>
          <a:bodyPr wrap="square">
            <a:spAutoFit/>
          </a:bodyPr>
          <a:lstStyle/>
          <a:p>
            <a:pPr algn="l"/>
            <a:r>
              <a:rPr b="0" i="0" sz="1300">
                <a:solidFill>
                  <a:srgbClr val="3D3833"/>
                </a:solidFill>
                <a:latin typeface="Arial"/>
              </a:rPr>
              <a:t>+  Un sistema di intelligence strategica</a:t>
            </a:r>
          </a:p>
          <a:p>
            <a:pPr algn="l"/>
            <a:r>
              <a:rPr b="0" i="0" sz="1300">
                <a:solidFill>
                  <a:srgbClr val="3D3833"/>
                </a:solidFill>
                <a:latin typeface="Arial"/>
              </a:rPr>
              <a:t>+  La voce spontanea del mercato</a:t>
            </a:r>
          </a:p>
          <a:p>
            <a:pPr algn="l"/>
            <a:r>
              <a:t/>
            </a:r>
          </a:p>
          <a:p>
            <a:pPr algn="l"/>
            <a:r>
              <a:rPr b="0" i="0" sz="1100">
                <a:solidFill>
                  <a:srgbClr val="8A8175"/>
                </a:solidFill>
                <a:latin typeface="Arial"/>
              </a:rPr>
              <a:t>   Quello che le persone dicono quando non rispondono a un</a:t>
            </a:r>
          </a:p>
          <a:p>
            <a:pPr algn="l"/>
            <a:r>
              <a:rPr b="0" i="0" sz="1100">
                <a:solidFill>
                  <a:srgbClr val="8A8175"/>
                </a:solidFill>
                <a:latin typeface="Arial"/>
              </a:rPr>
              <a:t>   questionario e non sanno di essere osservate.</a:t>
            </a:r>
          </a:p>
          <a:p>
            <a:pPr algn="l"/>
            <a:r>
              <a:t/>
            </a:r>
          </a:p>
          <a:p>
            <a:pPr algn="l"/>
            <a:r>
              <a:rPr b="0" i="0" sz="1300">
                <a:solidFill>
                  <a:srgbClr val="3D3833"/>
                </a:solidFill>
                <a:latin typeface="Arial"/>
              </a:rPr>
              <a:t>+  Bisogni latenti e barriere non dichiarate</a:t>
            </a:r>
          </a:p>
          <a:p>
            <a:pPr algn="l"/>
            <a:r>
              <a:rPr b="0" i="0" sz="1300">
                <a:solidFill>
                  <a:srgbClr val="3D3833"/>
                </a:solidFill>
                <a:latin typeface="Arial"/>
              </a:rPr>
              <a:t>+  Segnali deboli che precedono i trend</a:t>
            </a:r>
          </a:p>
          <a:p>
            <a:pPr algn="l"/>
            <a:r>
              <a:rPr b="0" i="0" sz="1400">
                <a:solidFill>
                  <a:srgbClr val="B8523A"/>
                </a:solidFill>
                <a:latin typeface="Arial"/>
              </a:rPr>
              <a:t>+  IL METODO CHE PRECEDE IL TOOL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EDE1"/>
        </a:solidFill>
        <a:effectLst/>
      </p:bgPr>
    </p:bg>
    <p:spTree>
      <p:nvGrpSpPr>
        <p:cNvPr id="1" name=""/>
        <p:cNvGrpSpPr/>
        <p:nvPr/>
      </p:nvGrpSpPr>
      <p:grpSpPr/>
      <p:sp>
        <p:nvSpPr>
          <p:cNvPr id="2" name="TextBox 1"/>
          <p:cNvSpPr txBox="1"/>
          <p:nvPr/>
        </p:nvSpPr>
        <p:spPr>
          <a:xfrm>
            <a:off x="1097280" y="617220"/>
            <a:ext cx="16733520" cy="320040"/>
          </a:xfrm>
          <a:prstGeom prst="rect">
            <a:avLst/>
          </a:prstGeom>
          <a:noFill/>
        </p:spPr>
        <p:txBody>
          <a:bodyPr wrap="square"/>
          <a:lstStyle/>
          <a:p>
            <a:pPr algn="l"/>
            <a:r>
              <a:rPr b="1" i="0" sz="1000">
                <a:solidFill>
                  <a:srgbClr val="B8523A"/>
                </a:solidFill>
                <a:latin typeface="Courier New"/>
              </a:rPr>
              <a:t>●  IL PERIMETRO — LE TRE CONFUSIONI PIU COMUNI</a:t>
            </a:r>
          </a:p>
        </p:txBody>
      </p:sp>
      <p:sp>
        <p:nvSpPr>
          <p:cNvPr id="3" name="TextBox 2"/>
          <p:cNvSpPr txBox="1"/>
          <p:nvPr/>
        </p:nvSpPr>
        <p:spPr>
          <a:xfrm>
            <a:off x="1097280" y="1337310"/>
            <a:ext cx="16093440" cy="925830"/>
          </a:xfrm>
          <a:prstGeom prst="rect">
            <a:avLst/>
          </a:prstGeom>
          <a:noFill/>
        </p:spPr>
        <p:txBody>
          <a:bodyPr wrap="square"/>
          <a:lstStyle/>
          <a:p>
            <a:pPr algn="l"/>
            <a:r>
              <a:rPr b="1" i="0" sz="2400">
                <a:solidFill>
                  <a:srgbClr val="3D3833"/>
                </a:solidFill>
                <a:latin typeface="Georgia"/>
              </a:rPr>
              <a:t>Tre equivoci che rallentano o bloccano progetti</a:t>
            </a:r>
          </a:p>
        </p:txBody>
      </p:sp>
      <p:cxnSp>
        <p:nvCxnSpPr>
          <p:cNvPr id="4" name="Connector 3"/>
          <p:cNvCxnSpPr/>
          <p:nvPr/>
        </p:nvCxnSpPr>
        <p:spPr>
          <a:xfrm>
            <a:off x="1097280" y="2571750"/>
            <a:ext cx="1609344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097280" y="3086100"/>
            <a:ext cx="5120640" cy="617220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3291840"/>
            <a:ext cx="1463040" cy="822960"/>
          </a:xfrm>
          <a:prstGeom prst="rect">
            <a:avLst/>
          </a:prstGeom>
          <a:noFill/>
        </p:spPr>
        <p:txBody>
          <a:bodyPr wrap="square"/>
          <a:lstStyle/>
          <a:p>
            <a:pPr algn="l"/>
            <a:r>
              <a:rPr b="1" i="0" sz="2800">
                <a:solidFill>
                  <a:srgbClr val="B8523A"/>
                </a:solidFill>
                <a:latin typeface="Georgia"/>
              </a:rPr>
              <a:t>01</a:t>
            </a:r>
          </a:p>
        </p:txBody>
      </p:sp>
      <p:sp>
        <p:nvSpPr>
          <p:cNvPr id="7" name="TextBox 6"/>
          <p:cNvSpPr txBox="1"/>
          <p:nvPr/>
        </p:nvSpPr>
        <p:spPr>
          <a:xfrm>
            <a:off x="1280160" y="4320540"/>
            <a:ext cx="4754880" cy="1028700"/>
          </a:xfrm>
          <a:prstGeom prst="rect">
            <a:avLst/>
          </a:prstGeom>
          <a:noFill/>
        </p:spPr>
        <p:txBody>
          <a:bodyPr wrap="square"/>
          <a:lstStyle/>
          <a:p>
            <a:pPr algn="l"/>
            <a:r>
              <a:rPr b="1" i="0" sz="1300">
                <a:solidFill>
                  <a:srgbClr val="3D3833"/>
                </a:solidFill>
                <a:latin typeface="Arial"/>
              </a:rPr>
              <a:t>Social Listening = Community Management</a:t>
            </a:r>
          </a:p>
        </p:txBody>
      </p:sp>
      <p:sp>
        <p:nvSpPr>
          <p:cNvPr id="8" name="TextBox 7"/>
          <p:cNvSpPr txBox="1"/>
          <p:nvPr/>
        </p:nvSpPr>
        <p:spPr>
          <a:xfrm>
            <a:off x="1280160" y="5554980"/>
            <a:ext cx="4754880" cy="1440180"/>
          </a:xfrm>
          <a:prstGeom prst="rect">
            <a:avLst/>
          </a:prstGeom>
          <a:noFill/>
        </p:spPr>
        <p:txBody>
          <a:bodyPr wrap="square"/>
          <a:lstStyle/>
          <a:p>
            <a:pPr algn="l"/>
            <a:r>
              <a:rPr b="0" i="1" sz="1100">
                <a:solidFill>
                  <a:srgbClr val="3D3833"/>
                </a:solidFill>
                <a:latin typeface="Arial"/>
              </a:rPr>
              <a:t>Una confusione di orientamento: 'cosa rispondiamo?' vs 'cosa sta succedendo nel mercato?'</a:t>
            </a:r>
          </a:p>
        </p:txBody>
      </p:sp>
      <p:sp>
        <p:nvSpPr>
          <p:cNvPr id="9" name="TextBox 8"/>
          <p:cNvSpPr txBox="1"/>
          <p:nvPr/>
        </p:nvSpPr>
        <p:spPr>
          <a:xfrm>
            <a:off x="1280160" y="6995160"/>
            <a:ext cx="4754880" cy="1851660"/>
          </a:xfrm>
          <a:prstGeom prst="rect">
            <a:avLst/>
          </a:prstGeom>
          <a:noFill/>
        </p:spPr>
        <p:txBody>
          <a:bodyPr wrap="square"/>
          <a:lstStyle/>
          <a:p>
            <a:pPr algn="l"/>
            <a:r>
              <a:rPr b="0" i="0" sz="1100">
                <a:solidFill>
                  <a:srgbClr val="8A8175"/>
                </a:solidFill>
                <a:latin typeface="Arial"/>
              </a:rPr>
              <a:t>Il CM parla con l'utente. Il SL legge il mercato. Sono due mestieri che coesistono — non uno stesso lavoro.</a:t>
            </a:r>
          </a:p>
        </p:txBody>
      </p:sp>
      <p:sp>
        <p:nvSpPr>
          <p:cNvPr id="10" name="Rectangle 9"/>
          <p:cNvSpPr/>
          <p:nvPr/>
        </p:nvSpPr>
        <p:spPr>
          <a:xfrm>
            <a:off x="6766560" y="3086100"/>
            <a:ext cx="5120640" cy="617220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0" y="3291840"/>
            <a:ext cx="1463040" cy="822960"/>
          </a:xfrm>
          <a:prstGeom prst="rect">
            <a:avLst/>
          </a:prstGeom>
          <a:noFill/>
        </p:spPr>
        <p:txBody>
          <a:bodyPr wrap="square"/>
          <a:lstStyle/>
          <a:p>
            <a:pPr algn="l"/>
            <a:r>
              <a:rPr b="1" i="0" sz="2800">
                <a:solidFill>
                  <a:srgbClr val="B8523A"/>
                </a:solidFill>
                <a:latin typeface="Georgia"/>
              </a:rPr>
              <a:t>02</a:t>
            </a:r>
          </a:p>
        </p:txBody>
      </p:sp>
      <p:sp>
        <p:nvSpPr>
          <p:cNvPr id="12" name="TextBox 11"/>
          <p:cNvSpPr txBox="1"/>
          <p:nvPr/>
        </p:nvSpPr>
        <p:spPr>
          <a:xfrm>
            <a:off x="6949440" y="4320540"/>
            <a:ext cx="4754880" cy="1028700"/>
          </a:xfrm>
          <a:prstGeom prst="rect">
            <a:avLst/>
          </a:prstGeom>
          <a:noFill/>
        </p:spPr>
        <p:txBody>
          <a:bodyPr wrap="square"/>
          <a:lstStyle/>
          <a:p>
            <a:pPr algn="l"/>
            <a:r>
              <a:rPr b="1" i="0" sz="1300">
                <a:solidFill>
                  <a:srgbClr val="3D3833"/>
                </a:solidFill>
                <a:latin typeface="Arial"/>
              </a:rPr>
              <a:t>Social Listening = Social Media Management</a:t>
            </a:r>
          </a:p>
        </p:txBody>
      </p:sp>
      <p:sp>
        <p:nvSpPr>
          <p:cNvPr id="13" name="TextBox 12"/>
          <p:cNvSpPr txBox="1"/>
          <p:nvPr/>
        </p:nvSpPr>
        <p:spPr>
          <a:xfrm>
            <a:off x="6949440" y="5554980"/>
            <a:ext cx="4754880" cy="1440180"/>
          </a:xfrm>
          <a:prstGeom prst="rect">
            <a:avLst/>
          </a:prstGeom>
          <a:noFill/>
        </p:spPr>
        <p:txBody>
          <a:bodyPr wrap="square"/>
          <a:lstStyle/>
          <a:p>
            <a:pPr algn="l"/>
            <a:r>
              <a:rPr b="0" i="1" sz="1100">
                <a:solidFill>
                  <a:srgbClr val="3D3833"/>
                </a:solidFill>
                <a:latin typeface="Arial"/>
              </a:rPr>
              <a:t>La performance dei contenuti vs il segnale del mercato dietro ai contenuti.</a:t>
            </a:r>
          </a:p>
        </p:txBody>
      </p:sp>
      <p:sp>
        <p:nvSpPr>
          <p:cNvPr id="14" name="TextBox 13"/>
          <p:cNvSpPr txBox="1"/>
          <p:nvPr/>
        </p:nvSpPr>
        <p:spPr>
          <a:xfrm>
            <a:off x="6949440" y="6995160"/>
            <a:ext cx="4754880" cy="1851660"/>
          </a:xfrm>
          <a:prstGeom prst="rect">
            <a:avLst/>
          </a:prstGeom>
          <a:noFill/>
        </p:spPr>
        <p:txBody>
          <a:bodyPr wrap="square"/>
          <a:lstStyle/>
          <a:p>
            <a:pPr algn="l"/>
            <a:r>
              <a:rPr b="0" i="0" sz="1100">
                <a:solidFill>
                  <a:srgbClr val="8A8175"/>
                </a:solidFill>
                <a:latin typeface="Arial"/>
              </a:rPr>
              <a:t>Misurare i tuoi post non e ascoltare il mercato. Sono due vettori paralleli, non sovrapponibili.</a:t>
            </a:r>
          </a:p>
        </p:txBody>
      </p:sp>
      <p:sp>
        <p:nvSpPr>
          <p:cNvPr id="15" name="Rectangle 14"/>
          <p:cNvSpPr/>
          <p:nvPr/>
        </p:nvSpPr>
        <p:spPr>
          <a:xfrm>
            <a:off x="12435840" y="3086100"/>
            <a:ext cx="5120640" cy="617220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618720" y="3291840"/>
            <a:ext cx="1463040" cy="822960"/>
          </a:xfrm>
          <a:prstGeom prst="rect">
            <a:avLst/>
          </a:prstGeom>
          <a:noFill/>
        </p:spPr>
        <p:txBody>
          <a:bodyPr wrap="square"/>
          <a:lstStyle/>
          <a:p>
            <a:pPr algn="l"/>
            <a:r>
              <a:rPr b="1" i="0" sz="2800">
                <a:solidFill>
                  <a:srgbClr val="B8523A"/>
                </a:solidFill>
                <a:latin typeface="Georgia"/>
              </a:rPr>
              <a:t>03</a:t>
            </a:r>
          </a:p>
        </p:txBody>
      </p:sp>
      <p:sp>
        <p:nvSpPr>
          <p:cNvPr id="17" name="TextBox 16"/>
          <p:cNvSpPr txBox="1"/>
          <p:nvPr/>
        </p:nvSpPr>
        <p:spPr>
          <a:xfrm>
            <a:off x="12618720" y="4320540"/>
            <a:ext cx="4754880" cy="1028700"/>
          </a:xfrm>
          <a:prstGeom prst="rect">
            <a:avLst/>
          </a:prstGeom>
          <a:noFill/>
        </p:spPr>
        <p:txBody>
          <a:bodyPr wrap="square"/>
          <a:lstStyle/>
          <a:p>
            <a:pPr algn="l"/>
            <a:r>
              <a:rPr b="1" i="0" sz="1300">
                <a:solidFill>
                  <a:srgbClr val="3D3833"/>
                </a:solidFill>
                <a:latin typeface="Arial"/>
              </a:rPr>
              <a:t>Social Listening = Tool Operator</a:t>
            </a:r>
          </a:p>
        </p:txBody>
      </p:sp>
      <p:sp>
        <p:nvSpPr>
          <p:cNvPr id="18" name="TextBox 17"/>
          <p:cNvSpPr txBox="1"/>
          <p:nvPr/>
        </p:nvSpPr>
        <p:spPr>
          <a:xfrm>
            <a:off x="12618720" y="5554980"/>
            <a:ext cx="4754880" cy="1440180"/>
          </a:xfrm>
          <a:prstGeom prst="rect">
            <a:avLst/>
          </a:prstGeom>
          <a:noFill/>
        </p:spPr>
        <p:txBody>
          <a:bodyPr wrap="square"/>
          <a:lstStyle/>
          <a:p>
            <a:pPr algn="l"/>
            <a:r>
              <a:rPr b="0" i="1" sz="1100">
                <a:solidFill>
                  <a:srgbClr val="3D3833"/>
                </a:solidFill>
                <a:latin typeface="Arial"/>
              </a:rPr>
              <a:t>Il cliente a volte pensa di acquistare competenza quando acquista una licenza.</a:t>
            </a:r>
          </a:p>
        </p:txBody>
      </p:sp>
      <p:sp>
        <p:nvSpPr>
          <p:cNvPr id="19" name="TextBox 18"/>
          <p:cNvSpPr txBox="1"/>
          <p:nvPr/>
        </p:nvSpPr>
        <p:spPr>
          <a:xfrm>
            <a:off x="12618720" y="6995160"/>
            <a:ext cx="4754880" cy="1851660"/>
          </a:xfrm>
          <a:prstGeom prst="rect">
            <a:avLst/>
          </a:prstGeom>
          <a:noFill/>
        </p:spPr>
        <p:txBody>
          <a:bodyPr wrap="square"/>
          <a:lstStyle/>
          <a:p>
            <a:pPr algn="l"/>
            <a:r>
              <a:rPr b="0" i="0" sz="1100">
                <a:solidFill>
                  <a:srgbClr val="8A8175"/>
                </a:solidFill>
                <a:latin typeface="Arial"/>
              </a:rPr>
              <a:t>Brandwatch e uno strumento straordinario — ma senza la domanda giusta, produce rumore. La competenza non e nel tool. E nel framework che precede il tool.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714"/>
        </a:solidFill>
        <a:effectLst/>
      </p:bgPr>
    </p:bg>
    <p:spTree>
      <p:nvGrpSpPr>
        <p:cNvPr id="1" name=""/>
        <p:cNvGrpSpPr/>
        <p:nvPr/>
      </p:nvGrpSpPr>
      <p:grpSpPr/>
      <p:sp>
        <p:nvSpPr>
          <p:cNvPr id="2" name="TextBox 1"/>
          <p:cNvSpPr txBox="1"/>
          <p:nvPr/>
        </p:nvSpPr>
        <p:spPr>
          <a:xfrm>
            <a:off x="1097280" y="514350"/>
            <a:ext cx="16733520" cy="320040"/>
          </a:xfrm>
          <a:prstGeom prst="rect">
            <a:avLst/>
          </a:prstGeom>
          <a:noFill/>
        </p:spPr>
        <p:txBody>
          <a:bodyPr wrap="square"/>
          <a:lstStyle/>
          <a:p>
            <a:pPr algn="l"/>
            <a:r>
              <a:rPr b="1" i="0" sz="1000">
                <a:solidFill>
                  <a:srgbClr val="B8523A"/>
                </a:solidFill>
                <a:latin typeface="Courier New"/>
              </a:rPr>
              <a:t>●  CAPITOLO 3 — IDENTITA DELLA DISCIPLINA</a:t>
            </a:r>
          </a:p>
        </p:txBody>
      </p:sp>
      <p:sp>
        <p:nvSpPr>
          <p:cNvPr id="3" name="TextBox 2"/>
          <p:cNvSpPr txBox="1"/>
          <p:nvPr/>
        </p:nvSpPr>
        <p:spPr>
          <a:xfrm>
            <a:off x="1097280" y="1234440"/>
            <a:ext cx="16093440" cy="1131570"/>
          </a:xfrm>
          <a:prstGeom prst="rect">
            <a:avLst/>
          </a:prstGeom>
          <a:noFill/>
        </p:spPr>
        <p:txBody>
          <a:bodyPr wrap="square"/>
          <a:lstStyle/>
          <a:p>
            <a:pPr algn="l"/>
            <a:r>
              <a:rPr b="1" i="0" sz="3000">
                <a:solidFill>
                  <a:srgbClr val="F3EDE1"/>
                </a:solidFill>
                <a:latin typeface="Georgia"/>
              </a:rPr>
              <a:t>Un fallimento strutturale della disciplina</a:t>
            </a:r>
          </a:p>
        </p:txBody>
      </p:sp>
      <p:sp>
        <p:nvSpPr>
          <p:cNvPr id="4" name="TextBox 3"/>
          <p:cNvSpPr txBox="1"/>
          <p:nvPr/>
        </p:nvSpPr>
        <p:spPr>
          <a:xfrm>
            <a:off x="1097280" y="2468880"/>
            <a:ext cx="16093440" cy="720090"/>
          </a:xfrm>
          <a:prstGeom prst="rect">
            <a:avLst/>
          </a:prstGeom>
          <a:noFill/>
        </p:spPr>
        <p:txBody>
          <a:bodyPr wrap="square"/>
          <a:lstStyle/>
          <a:p>
            <a:pPr algn="l"/>
            <a:r>
              <a:rPr b="0" i="0" sz="1300">
                <a:solidFill>
                  <a:srgbClr val="8A8175"/>
                </a:solidFill>
                <a:latin typeface="Arial"/>
              </a:rPr>
              <a:t>La stessa competenza viene chiamata in undici modi diversi. Quando un mestiere non ha un nome chiaro,</a:t>
            </a:r>
          </a:p>
        </p:txBody>
      </p:sp>
      <p:sp>
        <p:nvSpPr>
          <p:cNvPr id="5" name="TextBox 4"/>
          <p:cNvSpPr txBox="1"/>
          <p:nvPr/>
        </p:nvSpPr>
        <p:spPr>
          <a:xfrm>
            <a:off x="1097280" y="3086100"/>
            <a:ext cx="16093440" cy="720090"/>
          </a:xfrm>
          <a:prstGeom prst="rect">
            <a:avLst/>
          </a:prstGeom>
          <a:noFill/>
        </p:spPr>
        <p:txBody>
          <a:bodyPr wrap="square"/>
          <a:lstStyle/>
          <a:p>
            <a:pPr algn="l"/>
            <a:r>
              <a:rPr b="0" i="0" sz="1300">
                <a:solidFill>
                  <a:srgbClr val="8A8175"/>
                </a:solidFill>
                <a:latin typeface="Arial"/>
              </a:rPr>
              <a:t>fatica ad avere seniority, budget, carriera, ownership, spazio decisionale. Questo non e un vostro fallimento.</a:t>
            </a:r>
          </a:p>
        </p:txBody>
      </p:sp>
      <p:sp>
        <p:nvSpPr>
          <p:cNvPr id="6" name="Rectangle 5"/>
          <p:cNvSpPr/>
          <p:nvPr/>
        </p:nvSpPr>
        <p:spPr>
          <a:xfrm>
            <a:off x="1097280" y="4114800"/>
            <a:ext cx="5120640" cy="4629150"/>
          </a:xfrm>
          <a:prstGeom prst="rect">
            <a:avLst/>
          </a:prstGeom>
          <a:solidFill>
            <a:srgbClr val="2A2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4320540"/>
            <a:ext cx="1097280" cy="720090"/>
          </a:xfrm>
          <a:prstGeom prst="rect">
            <a:avLst/>
          </a:prstGeom>
          <a:noFill/>
        </p:spPr>
        <p:txBody>
          <a:bodyPr wrap="square"/>
          <a:lstStyle/>
          <a:p>
            <a:pPr algn="l"/>
            <a:r>
              <a:rPr b="1" i="0" sz="1100">
                <a:solidFill>
                  <a:srgbClr val="B8523A"/>
                </a:solidFill>
                <a:latin typeface="Courier New"/>
              </a:rPr>
              <a:t>01</a:t>
            </a:r>
          </a:p>
        </p:txBody>
      </p:sp>
      <p:sp>
        <p:nvSpPr>
          <p:cNvPr id="8" name="TextBox 7"/>
          <p:cNvSpPr txBox="1"/>
          <p:nvPr/>
        </p:nvSpPr>
        <p:spPr>
          <a:xfrm>
            <a:off x="1280160" y="5040630"/>
            <a:ext cx="4572000" cy="822960"/>
          </a:xfrm>
          <a:prstGeom prst="rect">
            <a:avLst/>
          </a:prstGeom>
          <a:noFill/>
        </p:spPr>
        <p:txBody>
          <a:bodyPr wrap="square"/>
          <a:lstStyle/>
          <a:p>
            <a:pPr algn="l"/>
            <a:r>
              <a:rPr b="1" i="0" sz="1300">
                <a:solidFill>
                  <a:srgbClr val="F3EDE1"/>
                </a:solidFill>
                <a:latin typeface="Arial"/>
              </a:rPr>
              <a:t>ISOLAMENTO DEL PRATICANTE</a:t>
            </a:r>
          </a:p>
        </p:txBody>
      </p:sp>
      <p:sp>
        <p:nvSpPr>
          <p:cNvPr id="9" name="TextBox 8"/>
          <p:cNvSpPr txBox="1"/>
          <p:nvPr/>
        </p:nvSpPr>
        <p:spPr>
          <a:xfrm>
            <a:off x="1280160" y="5966460"/>
            <a:ext cx="4572000" cy="2468880"/>
          </a:xfrm>
          <a:prstGeom prst="rect">
            <a:avLst/>
          </a:prstGeom>
          <a:noFill/>
        </p:spPr>
        <p:txBody>
          <a:bodyPr wrap="square"/>
          <a:lstStyle/>
          <a:p>
            <a:pPr algn="l"/>
            <a:r>
              <a:rPr b="0" i="0" sz="1100">
                <a:solidFill>
                  <a:srgbClr val="8A8175"/>
                </a:solidFill>
                <a:latin typeface="Arial"/>
              </a:rPr>
              <a:t>Chi fa social listening spesso lavora senza colleghi che condividano il mestiere. Lo spiega da capo ogni volta che entra in una stanza nuova. Quello che ha costruito — metodologia, sistema — esiste dentro una struttura. Se cambia contesto, ricomincia da zero.</a:t>
            </a:r>
          </a:p>
        </p:txBody>
      </p:sp>
      <p:sp>
        <p:nvSpPr>
          <p:cNvPr id="10" name="Rectangle 9"/>
          <p:cNvSpPr/>
          <p:nvPr/>
        </p:nvSpPr>
        <p:spPr>
          <a:xfrm>
            <a:off x="6766560" y="4114800"/>
            <a:ext cx="5120640" cy="4629150"/>
          </a:xfrm>
          <a:prstGeom prst="rect">
            <a:avLst/>
          </a:prstGeom>
          <a:solidFill>
            <a:srgbClr val="2A2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0" y="4320540"/>
            <a:ext cx="1097280" cy="720090"/>
          </a:xfrm>
          <a:prstGeom prst="rect">
            <a:avLst/>
          </a:prstGeom>
          <a:noFill/>
        </p:spPr>
        <p:txBody>
          <a:bodyPr wrap="square"/>
          <a:lstStyle/>
          <a:p>
            <a:pPr algn="l"/>
            <a:r>
              <a:rPr b="1" i="0" sz="1100">
                <a:solidFill>
                  <a:srgbClr val="B8523A"/>
                </a:solidFill>
                <a:latin typeface="Courier New"/>
              </a:rPr>
              <a:t>02</a:t>
            </a:r>
          </a:p>
        </p:txBody>
      </p:sp>
      <p:sp>
        <p:nvSpPr>
          <p:cNvPr id="12" name="TextBox 11"/>
          <p:cNvSpPr txBox="1"/>
          <p:nvPr/>
        </p:nvSpPr>
        <p:spPr>
          <a:xfrm>
            <a:off x="6949440" y="5040630"/>
            <a:ext cx="4572000" cy="822960"/>
          </a:xfrm>
          <a:prstGeom prst="rect">
            <a:avLst/>
          </a:prstGeom>
          <a:noFill/>
        </p:spPr>
        <p:txBody>
          <a:bodyPr wrap="square"/>
          <a:lstStyle/>
          <a:p>
            <a:pPr algn="l"/>
            <a:r>
              <a:rPr b="1" i="0" sz="1300">
                <a:solidFill>
                  <a:srgbClr val="F3EDE1"/>
                </a:solidFill>
                <a:latin typeface="Arial"/>
              </a:rPr>
              <a:t>ASSENZA DI STANDARD</a:t>
            </a:r>
          </a:p>
        </p:txBody>
      </p:sp>
      <p:sp>
        <p:nvSpPr>
          <p:cNvPr id="13" name="TextBox 12"/>
          <p:cNvSpPr txBox="1"/>
          <p:nvPr/>
        </p:nvSpPr>
        <p:spPr>
          <a:xfrm>
            <a:off x="6949440" y="5966460"/>
            <a:ext cx="4572000" cy="2468880"/>
          </a:xfrm>
          <a:prstGeom prst="rect">
            <a:avLst/>
          </a:prstGeom>
          <a:noFill/>
        </p:spPr>
        <p:txBody>
          <a:bodyPr wrap="square"/>
          <a:lstStyle/>
          <a:p>
            <a:pPr algn="l"/>
            <a:r>
              <a:rPr b="0" i="0" sz="1100">
                <a:solidFill>
                  <a:srgbClr val="8A8175"/>
                </a:solidFill>
                <a:latin typeface="Arial"/>
              </a:rPr>
              <a:t>Nessuna tassonomia condivisa. Nessuna definizione di cosa significa 'fare bene' questo lavoro. Ogni team reinventa il metodo. Il cliente non puo valutare la qualita perche non esistono parametri di riferimento condivisi a livello di disciplina.</a:t>
            </a:r>
          </a:p>
        </p:txBody>
      </p:sp>
      <p:sp>
        <p:nvSpPr>
          <p:cNvPr id="14" name="Rectangle 13"/>
          <p:cNvSpPr/>
          <p:nvPr/>
        </p:nvSpPr>
        <p:spPr>
          <a:xfrm>
            <a:off x="12435840" y="4114800"/>
            <a:ext cx="5120640" cy="4629150"/>
          </a:xfrm>
          <a:prstGeom prst="rect">
            <a:avLst/>
          </a:prstGeom>
          <a:solidFill>
            <a:srgbClr val="2A2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618720" y="4320540"/>
            <a:ext cx="1097280" cy="720090"/>
          </a:xfrm>
          <a:prstGeom prst="rect">
            <a:avLst/>
          </a:prstGeom>
          <a:noFill/>
        </p:spPr>
        <p:txBody>
          <a:bodyPr wrap="square"/>
          <a:lstStyle/>
          <a:p>
            <a:pPr algn="l"/>
            <a:r>
              <a:rPr b="1" i="0" sz="1100">
                <a:solidFill>
                  <a:srgbClr val="B8523A"/>
                </a:solidFill>
                <a:latin typeface="Courier New"/>
              </a:rPr>
              <a:t>03</a:t>
            </a:r>
          </a:p>
        </p:txBody>
      </p:sp>
      <p:sp>
        <p:nvSpPr>
          <p:cNvPr id="16" name="TextBox 15"/>
          <p:cNvSpPr txBox="1"/>
          <p:nvPr/>
        </p:nvSpPr>
        <p:spPr>
          <a:xfrm>
            <a:off x="12618720" y="5040630"/>
            <a:ext cx="4572000" cy="822960"/>
          </a:xfrm>
          <a:prstGeom prst="rect">
            <a:avLst/>
          </a:prstGeom>
          <a:noFill/>
        </p:spPr>
        <p:txBody>
          <a:bodyPr wrap="square"/>
          <a:lstStyle/>
          <a:p>
            <a:pPr algn="l"/>
            <a:r>
              <a:rPr b="1" i="0" sz="1300">
                <a:solidFill>
                  <a:srgbClr val="F3EDE1"/>
                </a:solidFill>
                <a:latin typeface="Arial"/>
              </a:rPr>
              <a:t>EXPERTISE INVISIBILE</a:t>
            </a:r>
          </a:p>
        </p:txBody>
      </p:sp>
      <p:sp>
        <p:nvSpPr>
          <p:cNvPr id="17" name="TextBox 16"/>
          <p:cNvSpPr txBox="1"/>
          <p:nvPr/>
        </p:nvSpPr>
        <p:spPr>
          <a:xfrm>
            <a:off x="12618720" y="5966460"/>
            <a:ext cx="4572000" cy="2468880"/>
          </a:xfrm>
          <a:prstGeom prst="rect">
            <a:avLst/>
          </a:prstGeom>
          <a:noFill/>
        </p:spPr>
        <p:txBody>
          <a:bodyPr wrap="square"/>
          <a:lstStyle/>
          <a:p>
            <a:pPr algn="l"/>
            <a:r>
              <a:rPr b="0" i="0" sz="1100">
                <a:solidFill>
                  <a:srgbClr val="8A8175"/>
                </a:solidFill>
                <a:latin typeface="Arial"/>
              </a:rPr>
              <a:t>Il manager capisce il lavoro ma non abbastanza da difenderlo in un board. Non c'e credenziale che viaggi fuori dall'azienda. Non c'e scala di carriera riconosciuta per questo ruolo. L'expertise e reale ma non e leggibile fuori dal proprio contesto.</a:t>
            </a:r>
          </a:p>
        </p:txBody>
      </p:sp>
      <p:cxnSp>
        <p:nvCxnSpPr>
          <p:cNvPr id="18" name="Connector 17"/>
          <p:cNvCxnSpPr/>
          <p:nvPr/>
        </p:nvCxnSpPr>
        <p:spPr>
          <a:xfrm>
            <a:off x="1097280" y="9052560"/>
            <a:ext cx="1609344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97280" y="9258300"/>
            <a:ext cx="16093440" cy="822960"/>
          </a:xfrm>
          <a:prstGeom prst="rect">
            <a:avLst/>
          </a:prstGeom>
          <a:noFill/>
        </p:spPr>
        <p:txBody>
          <a:bodyPr wrap="square"/>
          <a:lstStyle/>
          <a:p>
            <a:pPr algn="ctr"/>
            <a:r>
              <a:rPr b="0" i="1" sz="1200">
                <a:solidFill>
                  <a:srgbClr val="F3EDE1"/>
                </a:solidFill>
                <a:latin typeface="Arial"/>
              </a:rPr>
              <a:t>"Questo non e un vostro fallimento. E un fallimento strutturale della disciplina."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EDE1"/>
        </a:solidFill>
        <a:effectLst/>
      </p:bgPr>
    </p:bg>
    <p:spTree>
      <p:nvGrpSpPr>
        <p:cNvPr id="1" name=""/>
        <p:cNvGrpSpPr/>
        <p:nvPr/>
      </p:nvGrpSpPr>
      <p:grpSpPr/>
      <p:sp>
        <p:nvSpPr>
          <p:cNvPr id="2" name="TextBox 1"/>
          <p:cNvSpPr txBox="1"/>
          <p:nvPr/>
        </p:nvSpPr>
        <p:spPr>
          <a:xfrm>
            <a:off x="1097280" y="617220"/>
            <a:ext cx="16733520" cy="320040"/>
          </a:xfrm>
          <a:prstGeom prst="rect">
            <a:avLst/>
          </a:prstGeom>
          <a:noFill/>
        </p:spPr>
        <p:txBody>
          <a:bodyPr wrap="square"/>
          <a:lstStyle/>
          <a:p>
            <a:pPr algn="l"/>
            <a:r>
              <a:rPr b="1" i="0" sz="1000">
                <a:solidFill>
                  <a:srgbClr val="B8523A"/>
                </a:solidFill>
                <a:latin typeface="Courier New"/>
              </a:rPr>
              <a:t>●  CAPITOLO 4 — IL MERCATO ITALIANO</a:t>
            </a:r>
          </a:p>
        </p:txBody>
      </p:sp>
      <p:sp>
        <p:nvSpPr>
          <p:cNvPr id="3" name="TextBox 2"/>
          <p:cNvSpPr txBox="1"/>
          <p:nvPr/>
        </p:nvSpPr>
        <p:spPr>
          <a:xfrm>
            <a:off x="1097280" y="1337310"/>
            <a:ext cx="16093440" cy="1131570"/>
          </a:xfrm>
          <a:prstGeom prst="rect">
            <a:avLst/>
          </a:prstGeom>
          <a:noFill/>
        </p:spPr>
        <p:txBody>
          <a:bodyPr wrap="square"/>
          <a:lstStyle/>
          <a:p>
            <a:pPr algn="l"/>
            <a:r>
              <a:rPr b="1" i="0" sz="2600">
                <a:solidFill>
                  <a:srgbClr val="3D3833"/>
                </a:solidFill>
                <a:latin typeface="Georgia"/>
              </a:rPr>
              <a:t>Il divario non e di dati. E di infrastruttura professionale.</a:t>
            </a:r>
          </a:p>
        </p:txBody>
      </p:sp>
      <p:cxnSp>
        <p:nvCxnSpPr>
          <p:cNvPr id="4" name="Connector 3"/>
          <p:cNvCxnSpPr/>
          <p:nvPr/>
        </p:nvCxnSpPr>
        <p:spPr>
          <a:xfrm>
            <a:off x="1097280" y="2674620"/>
            <a:ext cx="1609344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097280" y="3086100"/>
            <a:ext cx="7680960" cy="82296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3086100"/>
            <a:ext cx="7680960" cy="822960"/>
          </a:xfrm>
          <a:prstGeom prst="rect">
            <a:avLst/>
          </a:prstGeom>
          <a:noFill/>
        </p:spPr>
        <p:txBody>
          <a:bodyPr wrap="square"/>
          <a:lstStyle/>
          <a:p>
            <a:pPr algn="ctr"/>
            <a:r>
              <a:rPr b="1" i="0" sz="1200">
                <a:solidFill>
                  <a:srgbClr val="3D3833"/>
                </a:solidFill>
                <a:latin typeface="Courier New"/>
              </a:rPr>
              <a:t>ITALIA — PRATICA IMPLICITA</a:t>
            </a:r>
          </a:p>
        </p:txBody>
      </p:sp>
      <p:sp>
        <p:nvSpPr>
          <p:cNvPr id="7" name="TextBox 6"/>
          <p:cNvSpPr txBox="1"/>
          <p:nvPr/>
        </p:nvSpPr>
        <p:spPr>
          <a:xfrm>
            <a:off x="1280160" y="4114800"/>
            <a:ext cx="7315200" cy="5349240"/>
          </a:xfrm>
          <a:prstGeom prst="rect">
            <a:avLst/>
          </a:prstGeom>
          <a:noFill/>
        </p:spPr>
        <p:txBody>
          <a:bodyPr wrap="square">
            <a:spAutoFit/>
          </a:bodyPr>
          <a:lstStyle/>
          <a:p>
            <a:pPr algn="l"/>
            <a:r>
              <a:rPr b="0" i="0" sz="1300">
                <a:solidFill>
                  <a:srgbClr val="3D3833"/>
                </a:solidFill>
                <a:latin typeface="Arial"/>
              </a:rPr>
              <a:t>~ Strumenti presenti, metodo assente</a:t>
            </a:r>
          </a:p>
          <a:p>
            <a:pPr algn="l"/>
            <a:r>
              <a:rPr b="0" i="0" sz="1300">
                <a:solidFill>
                  <a:srgbClr val="3D3833"/>
                </a:solidFill>
                <a:latin typeface="Arial"/>
              </a:rPr>
              <a:t>~ Sensibilita su reputazione e crisi, ma reattiva</a:t>
            </a:r>
          </a:p>
          <a:p>
            <a:pPr algn="l"/>
            <a:r>
              <a:rPr b="0" i="0" sz="1300">
                <a:solidFill>
                  <a:srgbClr val="3D3833"/>
                </a:solidFill>
                <a:latin typeface="Arial"/>
              </a:rPr>
              <a:t>~ Ruolo raramente nominato come autonomo</a:t>
            </a:r>
          </a:p>
          <a:p>
            <a:pPr algn="l"/>
            <a:r>
              <a:rPr b="0" i="0" sz="1300">
                <a:solidFill>
                  <a:srgbClr val="3D3833"/>
                </a:solidFill>
                <a:latin typeface="Arial"/>
              </a:rPr>
              <a:t>~ Formazione quasi sempre autodidatta</a:t>
            </a:r>
          </a:p>
          <a:p>
            <a:pPr algn="l"/>
            <a:r>
              <a:rPr b="0" i="0" sz="1300">
                <a:solidFill>
                  <a:srgbClr val="3D3833"/>
                </a:solidFill>
                <a:latin typeface="Arial"/>
              </a:rPr>
              <a:t>~ Ownership contesa tra social, PR, insight, agenzie</a:t>
            </a:r>
          </a:p>
          <a:p>
            <a:pPr algn="l"/>
            <a:r>
              <a:rPr b="0" i="0" sz="1300">
                <a:solidFill>
                  <a:srgbClr val="3D3833"/>
                </a:solidFill>
                <a:latin typeface="Arial"/>
              </a:rPr>
              <a:t>~ Competenza reale ma invisibile fuori dall'organizzazione</a:t>
            </a:r>
          </a:p>
          <a:p>
            <a:pPr algn="l"/>
            <a:r>
              <a:t/>
            </a:r>
          </a:p>
          <a:p>
            <a:pPr algn="l"/>
            <a:r>
              <a:rPr b="0" i="0" sz="1100">
                <a:solidFill>
                  <a:srgbClr val="8A8175"/>
                </a:solidFill>
                <a:latin typeface="Arial"/>
              </a:rPr>
              <a:t>Quello che hai costruito esiste dentro quella struttura.</a:t>
            </a:r>
          </a:p>
          <a:p>
            <a:pPr algn="l"/>
            <a:r>
              <a:rPr b="0" i="0" sz="1100">
                <a:solidFill>
                  <a:srgbClr val="8A8175"/>
                </a:solidFill>
                <a:latin typeface="Arial"/>
              </a:rPr>
              <a:t>Se cambi contesto, ricomincia da capo.</a:t>
            </a:r>
          </a:p>
        </p:txBody>
      </p:sp>
      <p:sp>
        <p:nvSpPr>
          <p:cNvPr id="8" name="Rectangle 7"/>
          <p:cNvSpPr/>
          <p:nvPr/>
        </p:nvSpPr>
        <p:spPr>
          <a:xfrm>
            <a:off x="9509760" y="3086100"/>
            <a:ext cx="7680960" cy="822960"/>
          </a:xfrm>
          <a:prstGeom prst="rect">
            <a:avLst/>
          </a:prstGeom>
          <a:solidFill>
            <a:srgbClr val="3D3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0" y="3086100"/>
            <a:ext cx="7680960" cy="822960"/>
          </a:xfrm>
          <a:prstGeom prst="rect">
            <a:avLst/>
          </a:prstGeom>
          <a:noFill/>
        </p:spPr>
        <p:txBody>
          <a:bodyPr wrap="square"/>
          <a:lstStyle/>
          <a:p>
            <a:pPr algn="ctr"/>
            <a:r>
              <a:rPr b="1" i="0" sz="1200">
                <a:solidFill>
                  <a:srgbClr val="F3EDE1"/>
                </a:solidFill>
                <a:latin typeface="Courier New"/>
              </a:rPr>
              <a:t>ESTERO — INFRASTRUTTURA STRUTTURATA</a:t>
            </a:r>
          </a:p>
        </p:txBody>
      </p:sp>
      <p:sp>
        <p:nvSpPr>
          <p:cNvPr id="10" name="TextBox 9"/>
          <p:cNvSpPr txBox="1"/>
          <p:nvPr/>
        </p:nvSpPr>
        <p:spPr>
          <a:xfrm>
            <a:off x="9692640" y="4114800"/>
            <a:ext cx="7315200" cy="5349240"/>
          </a:xfrm>
          <a:prstGeom prst="rect">
            <a:avLst/>
          </a:prstGeom>
          <a:noFill/>
        </p:spPr>
        <p:txBody>
          <a:bodyPr wrap="square">
            <a:spAutoFit/>
          </a:bodyPr>
          <a:lstStyle/>
          <a:p>
            <a:pPr algn="l"/>
            <a:r>
              <a:rPr b="0" i="0" sz="1300">
                <a:solidFill>
                  <a:srgbClr val="3D3833"/>
                </a:solidFill>
                <a:latin typeface="Arial"/>
              </a:rPr>
              <a:t>+ Comunita di pratica verticali e attive</a:t>
            </a:r>
          </a:p>
          <a:p>
            <a:pPr algn="l"/>
            <a:r>
              <a:rPr b="0" i="0" sz="1300">
                <a:solidFill>
                  <a:srgbClr val="3D3833"/>
                </a:solidFill>
                <a:latin typeface="Arial"/>
              </a:rPr>
              <a:t>+ Percorsi di carriera espliciti e riconoscibili</a:t>
            </a:r>
          </a:p>
          <a:p>
            <a:pPr algn="l"/>
            <a:r>
              <a:rPr b="0" i="0" sz="1300">
                <a:solidFill>
                  <a:srgbClr val="3D3833"/>
                </a:solidFill>
                <a:latin typeface="Arial"/>
              </a:rPr>
              <a:t>+ Definizione condivisa del 'fare bene' il lavoro</a:t>
            </a:r>
          </a:p>
          <a:p>
            <a:pPr algn="l"/>
            <a:r>
              <a:rPr b="0" i="0" sz="1300">
                <a:solidFill>
                  <a:srgbClr val="3D3833"/>
                </a:solidFill>
                <a:latin typeface="Arial"/>
              </a:rPr>
              <a:t>+ Credenziali leggibili fuori dal proprio contesto</a:t>
            </a:r>
          </a:p>
          <a:p>
            <a:pPr algn="l"/>
            <a:r>
              <a:rPr b="0" i="0" sz="1300">
                <a:solidFill>
                  <a:srgbClr val="3D3833"/>
                </a:solidFill>
                <a:latin typeface="Arial"/>
              </a:rPr>
              <a:t>+ Standard metodologici difendibili</a:t>
            </a:r>
          </a:p>
          <a:p>
            <a:pPr algn="l"/>
            <a:r>
              <a:rPr b="0" i="0" sz="1300">
                <a:solidFill>
                  <a:srgbClr val="3D3833"/>
                </a:solidFill>
                <a:latin typeface="Arial"/>
              </a:rPr>
              <a:t>+ Ruolo riconosciuto con ownership chiara</a:t>
            </a:r>
          </a:p>
          <a:p>
            <a:pPr algn="l"/>
            <a:r>
              <a:t/>
            </a:r>
          </a:p>
          <a:p>
            <a:pPr algn="l"/>
            <a:r>
              <a:rPr b="0" i="0" sz="1100">
                <a:solidFill>
                  <a:srgbClr val="8A8175"/>
                </a:solidFill>
                <a:latin typeface="Arial"/>
              </a:rPr>
              <a:t>La competenza e visibile, portabile, difendibile.</a:t>
            </a:r>
          </a:p>
          <a:p>
            <a:pPr algn="l"/>
            <a:r>
              <a:rPr b="0" i="0" sz="1100">
                <a:solidFill>
                  <a:srgbClr val="8A8175"/>
                </a:solidFill>
                <a:latin typeface="Arial"/>
              </a:rPr>
              <a:t>Non ricomincia da capo ad ogni cambio di contesto.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EDE1"/>
        </a:solidFill>
        <a:effectLst/>
      </p:bgPr>
    </p:bg>
    <p:spTree>
      <p:nvGrpSpPr>
        <p:cNvPr id="1" name=""/>
        <p:cNvGrpSpPr/>
        <p:nvPr/>
      </p:nvGrpSpPr>
      <p:grpSpPr/>
      <p:sp>
        <p:nvSpPr>
          <p:cNvPr id="2" name="TextBox 1"/>
          <p:cNvSpPr txBox="1"/>
          <p:nvPr/>
        </p:nvSpPr>
        <p:spPr>
          <a:xfrm>
            <a:off x="1097280" y="617220"/>
            <a:ext cx="16733520" cy="320040"/>
          </a:xfrm>
          <a:prstGeom prst="rect">
            <a:avLst/>
          </a:prstGeom>
          <a:noFill/>
        </p:spPr>
        <p:txBody>
          <a:bodyPr wrap="square"/>
          <a:lstStyle/>
          <a:p>
            <a:pPr algn="l"/>
            <a:r>
              <a:rPr b="1" i="0" sz="1000">
                <a:solidFill>
                  <a:srgbClr val="B8523A"/>
                </a:solidFill>
                <a:latin typeface="Courier New"/>
              </a:rPr>
              <a:t>●  IL MERCATO ITALIANO — IL SALTO CHE MANCA</a:t>
            </a:r>
          </a:p>
        </p:txBody>
      </p:sp>
      <p:sp>
        <p:nvSpPr>
          <p:cNvPr id="3" name="TextBox 2"/>
          <p:cNvSpPr txBox="1"/>
          <p:nvPr/>
        </p:nvSpPr>
        <p:spPr>
          <a:xfrm>
            <a:off x="1097280" y="1337310"/>
            <a:ext cx="16093440" cy="925830"/>
          </a:xfrm>
          <a:prstGeom prst="rect">
            <a:avLst/>
          </a:prstGeom>
          <a:noFill/>
        </p:spPr>
        <p:txBody>
          <a:bodyPr wrap="square"/>
          <a:lstStyle/>
          <a:p>
            <a:pPr algn="l"/>
            <a:r>
              <a:rPr b="1" i="0" sz="2800">
                <a:solidFill>
                  <a:srgbClr val="3D3833"/>
                </a:solidFill>
                <a:latin typeface="Georgia"/>
              </a:rPr>
              <a:t>Da reattivo a generativo</a:t>
            </a:r>
          </a:p>
        </p:txBody>
      </p:sp>
      <p:cxnSp>
        <p:nvCxnSpPr>
          <p:cNvPr id="4" name="Connector 3"/>
          <p:cNvCxnSpPr/>
          <p:nvPr/>
        </p:nvCxnSpPr>
        <p:spPr>
          <a:xfrm>
            <a:off x="1097280" y="2468880"/>
            <a:ext cx="1609344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097280" y="2777490"/>
            <a:ext cx="7315200" cy="534924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983230"/>
            <a:ext cx="6949440" cy="720090"/>
          </a:xfrm>
          <a:prstGeom prst="rect">
            <a:avLst/>
          </a:prstGeom>
          <a:noFill/>
        </p:spPr>
        <p:txBody>
          <a:bodyPr wrap="square"/>
          <a:lstStyle/>
          <a:p>
            <a:pPr algn="l"/>
            <a:r>
              <a:rPr b="1" i="0" sz="1300">
                <a:solidFill>
                  <a:srgbClr val="8A8175"/>
                </a:solidFill>
                <a:latin typeface="Courier New"/>
              </a:rPr>
              <a:t>STATO REATTIVO</a:t>
            </a:r>
          </a:p>
        </p:txBody>
      </p:sp>
      <p:sp>
        <p:nvSpPr>
          <p:cNvPr id="7" name="TextBox 6"/>
          <p:cNvSpPr txBox="1"/>
          <p:nvPr/>
        </p:nvSpPr>
        <p:spPr>
          <a:xfrm>
            <a:off x="1280160" y="3806190"/>
            <a:ext cx="6949440" cy="4114800"/>
          </a:xfrm>
          <a:prstGeom prst="rect">
            <a:avLst/>
          </a:prstGeom>
          <a:noFill/>
        </p:spPr>
        <p:txBody>
          <a:bodyPr wrap="square">
            <a:spAutoFit/>
          </a:bodyPr>
          <a:lstStyle/>
          <a:p>
            <a:pPr algn="l"/>
            <a:r>
              <a:rPr b="1" i="0" sz="1400">
                <a:solidFill>
                  <a:srgbClr val="3D3833"/>
                </a:solidFill>
                <a:latin typeface="Arial"/>
              </a:rPr>
              <a:t>Il listening entra dopo.</a:t>
            </a:r>
          </a:p>
          <a:p>
            <a:pPr algn="l"/>
            <a:r>
              <a:t/>
            </a:r>
          </a:p>
          <a:p>
            <a:pPr algn="l"/>
            <a:r>
              <a:rPr b="0" i="0" sz="1300">
                <a:solidFill>
                  <a:srgbClr val="3D3833"/>
                </a:solidFill>
                <a:latin typeface="Arial"/>
              </a:rPr>
              <a:t>Misura quello che e successo.</a:t>
            </a:r>
          </a:p>
          <a:p>
            <a:pPr algn="l"/>
            <a:r>
              <a:rPr b="0" i="0" sz="1300">
                <a:solidFill>
                  <a:srgbClr val="3D3833"/>
                </a:solidFill>
                <a:latin typeface="Arial"/>
              </a:rPr>
              <a:t>Segue la crisi quando e gia esplosa.</a:t>
            </a:r>
          </a:p>
          <a:p>
            <a:pPr algn="l"/>
            <a:r>
              <a:rPr b="0" i="0" sz="1300">
                <a:solidFill>
                  <a:srgbClr val="3D3833"/>
                </a:solidFill>
                <a:latin typeface="Arial"/>
              </a:rPr>
              <a:t>Conferma il brief gia scritto.</a:t>
            </a:r>
          </a:p>
          <a:p>
            <a:pPr algn="l"/>
            <a:r>
              <a:t/>
            </a:r>
          </a:p>
          <a:p>
            <a:pPr algn="l"/>
            <a:r>
              <a:rPr b="0" i="0" sz="1300">
                <a:solidFill>
                  <a:srgbClr val="8A8175"/>
                </a:solidFill>
                <a:latin typeface="Arial"/>
              </a:rPr>
              <a:t>Il dato commenta — non orienta.</a:t>
            </a:r>
          </a:p>
          <a:p>
            <a:pPr algn="l"/>
            <a:r>
              <a:t/>
            </a:r>
          </a:p>
          <a:p>
            <a:pPr algn="l"/>
            <a:r>
              <a:rPr b="0" i="0" sz="1200">
                <a:solidFill>
                  <a:srgbClr val="8A8175"/>
                </a:solidFill>
                <a:latin typeface="Arial"/>
              </a:rPr>
              <a:t>Dove si trova la maggior parte</a:t>
            </a:r>
          </a:p>
          <a:p>
            <a:pPr algn="l"/>
            <a:r>
              <a:rPr b="0" i="0" sz="1200">
                <a:solidFill>
                  <a:srgbClr val="8A8175"/>
                </a:solidFill>
                <a:latin typeface="Arial"/>
              </a:rPr>
              <a:t>delle organizzazioni italiane oggi.</a:t>
            </a:r>
          </a:p>
        </p:txBody>
      </p:sp>
      <p:sp>
        <p:nvSpPr>
          <p:cNvPr id="8" name="TextBox 7"/>
          <p:cNvSpPr txBox="1"/>
          <p:nvPr/>
        </p:nvSpPr>
        <p:spPr>
          <a:xfrm>
            <a:off x="8412480" y="4732020"/>
            <a:ext cx="1463040" cy="1028700"/>
          </a:xfrm>
          <a:prstGeom prst="rect">
            <a:avLst/>
          </a:prstGeom>
          <a:noFill/>
        </p:spPr>
        <p:txBody>
          <a:bodyPr wrap="square"/>
          <a:lstStyle/>
          <a:p>
            <a:pPr algn="ctr"/>
            <a:r>
              <a:rPr b="1" i="0" sz="3200">
                <a:solidFill>
                  <a:srgbClr val="B8523A"/>
                </a:solidFill>
                <a:latin typeface="Arial"/>
              </a:rPr>
              <a:t>→</a:t>
            </a:r>
          </a:p>
        </p:txBody>
      </p:sp>
      <p:sp>
        <p:nvSpPr>
          <p:cNvPr id="9" name="Rectangle 8"/>
          <p:cNvSpPr/>
          <p:nvPr/>
        </p:nvSpPr>
        <p:spPr>
          <a:xfrm>
            <a:off x="9692640" y="2777490"/>
            <a:ext cx="7315200" cy="5349240"/>
          </a:xfrm>
          <a:prstGeom prst="rect">
            <a:avLst/>
          </a:prstGeom>
          <a:solidFill>
            <a:srgbClr val="3D3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0" y="2983230"/>
            <a:ext cx="6949440" cy="720090"/>
          </a:xfrm>
          <a:prstGeom prst="rect">
            <a:avLst/>
          </a:prstGeom>
          <a:noFill/>
        </p:spPr>
        <p:txBody>
          <a:bodyPr wrap="square"/>
          <a:lstStyle/>
          <a:p>
            <a:pPr algn="l"/>
            <a:r>
              <a:rPr b="1" i="0" sz="1300">
                <a:solidFill>
                  <a:srgbClr val="B8523A"/>
                </a:solidFill>
                <a:latin typeface="Courier New"/>
              </a:rPr>
              <a:t>STATO GENERATIVO</a:t>
            </a:r>
          </a:p>
        </p:txBody>
      </p:sp>
      <p:sp>
        <p:nvSpPr>
          <p:cNvPr id="11" name="TextBox 10"/>
          <p:cNvSpPr txBox="1"/>
          <p:nvPr/>
        </p:nvSpPr>
        <p:spPr>
          <a:xfrm>
            <a:off x="9875520" y="3806190"/>
            <a:ext cx="6949440" cy="4114800"/>
          </a:xfrm>
          <a:prstGeom prst="rect">
            <a:avLst/>
          </a:prstGeom>
          <a:noFill/>
        </p:spPr>
        <p:txBody>
          <a:bodyPr wrap="square">
            <a:spAutoFit/>
          </a:bodyPr>
          <a:lstStyle/>
          <a:p>
            <a:pPr algn="l"/>
            <a:r>
              <a:rPr b="1" i="0" sz="1400">
                <a:solidFill>
                  <a:srgbClr val="F3EDE1"/>
                </a:solidFill>
                <a:latin typeface="Arial"/>
              </a:rPr>
              <a:t>Il listening entra prima.</a:t>
            </a:r>
          </a:p>
          <a:p>
            <a:pPr algn="l"/>
            <a:r>
              <a:t/>
            </a:r>
          </a:p>
          <a:p>
            <a:pPr algn="l"/>
            <a:r>
              <a:rPr b="0" i="0" sz="1300">
                <a:solidFill>
                  <a:srgbClr val="F3EDE1"/>
                </a:solidFill>
                <a:latin typeface="Arial"/>
              </a:rPr>
              <a:t>Prima del brief, per formulare ipotesi.</a:t>
            </a:r>
          </a:p>
          <a:p>
            <a:pPr algn="l"/>
            <a:r>
              <a:rPr b="0" i="0" sz="1300">
                <a:solidFill>
                  <a:srgbClr val="F3EDE1"/>
                </a:solidFill>
                <a:latin typeface="Arial"/>
              </a:rPr>
              <a:t>Prima del lancio, per intercettare barriere.</a:t>
            </a:r>
          </a:p>
          <a:p>
            <a:pPr algn="l"/>
            <a:r>
              <a:rPr b="0" i="0" sz="1300">
                <a:solidFill>
                  <a:srgbClr val="F3EDE1"/>
                </a:solidFill>
                <a:latin typeface="Arial"/>
              </a:rPr>
              <a:t>Prima della crisi, per leggere i segnali deboli.</a:t>
            </a:r>
          </a:p>
          <a:p>
            <a:pPr algn="l"/>
            <a:r>
              <a:t/>
            </a:r>
          </a:p>
          <a:p>
            <a:pPr algn="l"/>
            <a:r>
              <a:rPr b="0" i="0" sz="1300">
                <a:solidFill>
                  <a:srgbClr val="8A8175"/>
                </a:solidFill>
                <a:latin typeface="Arial"/>
              </a:rPr>
              <a:t>Il dato orienta — non commenta.</a:t>
            </a:r>
          </a:p>
          <a:p>
            <a:pPr algn="l"/>
            <a:r>
              <a:t/>
            </a:r>
          </a:p>
          <a:p>
            <a:pPr algn="l"/>
            <a:r>
              <a:rPr b="0" i="0" sz="1200">
                <a:solidFill>
                  <a:srgbClr val="B8523A"/>
                </a:solidFill>
                <a:latin typeface="Arial"/>
              </a:rPr>
              <a:t>Dove dobbiamo andare.</a:t>
            </a:r>
          </a:p>
          <a:p>
            <a:pPr algn="l"/>
            <a:r>
              <a:rPr b="0" i="0" sz="1200">
                <a:solidFill>
                  <a:srgbClr val="B8523A"/>
                </a:solidFill>
                <a:latin typeface="Arial"/>
              </a:rPr>
              <a:t>Non e un salto tecnologico.</a:t>
            </a:r>
          </a:p>
        </p:txBody>
      </p:sp>
      <p:sp>
        <p:nvSpPr>
          <p:cNvPr id="12" name="Rectangle 11"/>
          <p:cNvSpPr/>
          <p:nvPr/>
        </p:nvSpPr>
        <p:spPr>
          <a:xfrm>
            <a:off x="1097280" y="8435340"/>
            <a:ext cx="16093440" cy="123444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63040" y="8641080"/>
            <a:ext cx="15361920" cy="514350"/>
          </a:xfrm>
          <a:prstGeom prst="rect">
            <a:avLst/>
          </a:prstGeom>
          <a:noFill/>
        </p:spPr>
        <p:txBody>
          <a:bodyPr wrap="square"/>
          <a:lstStyle/>
          <a:p>
            <a:pPr algn="l"/>
            <a:r>
              <a:rPr b="0" i="1" sz="1100">
                <a:solidFill>
                  <a:srgbClr val="3D3833"/>
                </a:solidFill>
                <a:latin typeface="Arial"/>
              </a:rPr>
              <a:t>"Il social listening viene spesso invitato alla riunione in cui si valida una strategia gia decisa</a:t>
            </a:r>
          </a:p>
        </p:txBody>
      </p:sp>
      <p:sp>
        <p:nvSpPr>
          <p:cNvPr id="14" name="TextBox 13"/>
          <p:cNvSpPr txBox="1"/>
          <p:nvPr/>
        </p:nvSpPr>
        <p:spPr>
          <a:xfrm>
            <a:off x="1463040" y="9155430"/>
            <a:ext cx="15361920" cy="514350"/>
          </a:xfrm>
          <a:prstGeom prst="rect">
            <a:avLst/>
          </a:prstGeom>
          <a:noFill/>
        </p:spPr>
        <p:txBody>
          <a:bodyPr wrap="square"/>
          <a:lstStyle/>
          <a:p>
            <a:pPr algn="l"/>
            <a:r>
              <a:rPr b="0" i="1" sz="1100">
                <a:solidFill>
                  <a:srgbClr val="3D3833"/>
                </a:solidFill>
                <a:latin typeface="Arial"/>
              </a:rPr>
              <a:t>— non a quella in cui la strategia viene costruita."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EDE1"/>
        </a:solidFill>
        <a:effectLst/>
      </p:bgPr>
    </p:bg>
    <p:spTree>
      <p:nvGrpSpPr>
        <p:cNvPr id="1" name=""/>
        <p:cNvGrpSpPr/>
        <p:nvPr/>
      </p:nvGrpSpPr>
      <p:grpSpPr/>
      <p:sp>
        <p:nvSpPr>
          <p:cNvPr id="2" name="TextBox 1"/>
          <p:cNvSpPr txBox="1"/>
          <p:nvPr/>
        </p:nvSpPr>
        <p:spPr>
          <a:xfrm>
            <a:off x="1097280" y="617220"/>
            <a:ext cx="16733520" cy="320040"/>
          </a:xfrm>
          <a:prstGeom prst="rect">
            <a:avLst/>
          </a:prstGeom>
          <a:noFill/>
        </p:spPr>
        <p:txBody>
          <a:bodyPr wrap="square"/>
          <a:lstStyle/>
          <a:p>
            <a:pPr algn="l"/>
            <a:r>
              <a:rPr b="1" i="0" sz="1000">
                <a:solidFill>
                  <a:srgbClr val="B8523A"/>
                </a:solidFill>
                <a:latin typeface="Courier New"/>
              </a:rPr>
              <a:t>●  CAPITOLO 5 — DAL DATO ALL'INSIGHT</a:t>
            </a:r>
          </a:p>
        </p:txBody>
      </p:sp>
      <p:sp>
        <p:nvSpPr>
          <p:cNvPr id="3" name="TextBox 2"/>
          <p:cNvSpPr txBox="1"/>
          <p:nvPr/>
        </p:nvSpPr>
        <p:spPr>
          <a:xfrm>
            <a:off x="1097280" y="1337310"/>
            <a:ext cx="16093440" cy="1028700"/>
          </a:xfrm>
          <a:prstGeom prst="rect">
            <a:avLst/>
          </a:prstGeom>
          <a:noFill/>
        </p:spPr>
        <p:txBody>
          <a:bodyPr wrap="square"/>
          <a:lstStyle/>
          <a:p>
            <a:pPr algn="l"/>
            <a:r>
              <a:rPr b="1" i="0" sz="2800">
                <a:solidFill>
                  <a:srgbClr val="3D3833"/>
                </a:solidFill>
                <a:latin typeface="Georgia"/>
              </a:rPr>
              <a:t>Il report descrive. L'insight interpreta.</a:t>
            </a:r>
          </a:p>
        </p:txBody>
      </p:sp>
      <p:sp>
        <p:nvSpPr>
          <p:cNvPr id="4" name="TextBox 3"/>
          <p:cNvSpPr txBox="1"/>
          <p:nvPr/>
        </p:nvSpPr>
        <p:spPr>
          <a:xfrm>
            <a:off x="1097280" y="2571750"/>
            <a:ext cx="16093440" cy="720090"/>
          </a:xfrm>
          <a:prstGeom prst="rect">
            <a:avLst/>
          </a:prstGeom>
          <a:noFill/>
        </p:spPr>
        <p:txBody>
          <a:bodyPr wrap="square"/>
          <a:lstStyle/>
          <a:p>
            <a:pPr algn="l"/>
            <a:r>
              <a:rPr b="0" i="0" sz="1400">
                <a:solidFill>
                  <a:srgbClr val="8A8175"/>
                </a:solidFill>
                <a:latin typeface="Arial"/>
              </a:rPr>
              <a:t>Stesso dato. Due linguaggi. Due utilita completamente diverse.</a:t>
            </a:r>
          </a:p>
        </p:txBody>
      </p:sp>
      <p:cxnSp>
        <p:nvCxnSpPr>
          <p:cNvPr id="5" name="Connector 4"/>
          <p:cNvCxnSpPr/>
          <p:nvPr/>
        </p:nvCxnSpPr>
        <p:spPr>
          <a:xfrm>
            <a:off x="1097280" y="3394710"/>
            <a:ext cx="1609344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1097280" y="3806190"/>
            <a:ext cx="7315200" cy="82296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806190"/>
            <a:ext cx="7315200" cy="822960"/>
          </a:xfrm>
          <a:prstGeom prst="rect">
            <a:avLst/>
          </a:prstGeom>
          <a:noFill/>
        </p:spPr>
        <p:txBody>
          <a:bodyPr wrap="square"/>
          <a:lstStyle/>
          <a:p>
            <a:pPr algn="ctr"/>
            <a:r>
              <a:rPr b="1" i="0" sz="1300">
                <a:solidFill>
                  <a:srgbClr val="8A8175"/>
                </a:solidFill>
                <a:latin typeface="Courier New"/>
              </a:rPr>
              <a:t>REPORT</a:t>
            </a:r>
          </a:p>
        </p:txBody>
      </p:sp>
      <p:sp>
        <p:nvSpPr>
          <p:cNvPr id="8" name="TextBox 7"/>
          <p:cNvSpPr txBox="1"/>
          <p:nvPr/>
        </p:nvSpPr>
        <p:spPr>
          <a:xfrm>
            <a:off x="1280160" y="4834890"/>
            <a:ext cx="6949440" cy="4423410"/>
          </a:xfrm>
          <a:prstGeom prst="rect">
            <a:avLst/>
          </a:prstGeom>
          <a:noFill/>
        </p:spPr>
        <p:txBody>
          <a:bodyPr wrap="square">
            <a:spAutoFit/>
          </a:bodyPr>
          <a:lstStyle/>
          <a:p>
            <a:pPr algn="l"/>
            <a:r>
              <a:rPr b="1" i="0" sz="1300">
                <a:solidFill>
                  <a:srgbClr val="3D3833"/>
                </a:solidFill>
                <a:latin typeface="Arial"/>
              </a:rPr>
              <a:t>"Le menzioni del brand sono cresciute del +40% nell'ultimo mese."</a:t>
            </a:r>
          </a:p>
          <a:p>
            <a:pPr algn="l"/>
            <a:r>
              <a:t/>
            </a:r>
          </a:p>
          <a:p>
            <a:pPr algn="l"/>
            <a:r>
              <a:rPr b="0" i="0" sz="1300">
                <a:solidFill>
                  <a:srgbClr val="8A8175"/>
                </a:solidFill>
                <a:latin typeface="Arial"/>
              </a:rPr>
              <a:t>Il report allarma.</a:t>
            </a:r>
          </a:p>
          <a:p>
            <a:pPr algn="l"/>
            <a:r>
              <a:rPr b="0" i="0" sz="1300">
                <a:solidFill>
                  <a:srgbClr val="8A8175"/>
                </a:solidFill>
                <a:latin typeface="Arial"/>
              </a:rPr>
              <a:t>Genera reazione, non orientamento.</a:t>
            </a:r>
          </a:p>
          <a:p>
            <a:pPr algn="l"/>
            <a:r>
              <a:t/>
            </a:r>
          </a:p>
          <a:p>
            <a:pPr algn="l"/>
            <a:r>
              <a:rPr b="0" i="0" sz="1200">
                <a:solidFill>
                  <a:srgbClr val="8A8175"/>
                </a:solidFill>
                <a:latin typeface="Arial"/>
              </a:rPr>
              <a:t>Produce monitoraggio.</a:t>
            </a:r>
          </a:p>
          <a:p>
            <a:pPr algn="l"/>
            <a:r>
              <a:rPr b="0" i="0" sz="1200">
                <a:solidFill>
                  <a:srgbClr val="8A8175"/>
                </a:solidFill>
                <a:latin typeface="Arial"/>
              </a:rPr>
              <a:t>Arriva spesso dopo che le decisioni sono gia state prese.</a:t>
            </a:r>
          </a:p>
        </p:txBody>
      </p:sp>
      <p:sp>
        <p:nvSpPr>
          <p:cNvPr id="9" name="Rectangle 8"/>
          <p:cNvSpPr/>
          <p:nvPr/>
        </p:nvSpPr>
        <p:spPr>
          <a:xfrm>
            <a:off x="9509760" y="3806190"/>
            <a:ext cx="7315200" cy="822960"/>
          </a:xfrm>
          <a:prstGeom prst="rect">
            <a:avLst/>
          </a:prstGeom>
          <a:solidFill>
            <a:srgbClr val="3D3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0" y="3806190"/>
            <a:ext cx="7315200" cy="822960"/>
          </a:xfrm>
          <a:prstGeom prst="rect">
            <a:avLst/>
          </a:prstGeom>
          <a:noFill/>
        </p:spPr>
        <p:txBody>
          <a:bodyPr wrap="square"/>
          <a:lstStyle/>
          <a:p>
            <a:pPr algn="ctr"/>
            <a:r>
              <a:rPr b="1" i="0" sz="1300">
                <a:solidFill>
                  <a:srgbClr val="B8523A"/>
                </a:solidFill>
                <a:latin typeface="Courier New"/>
              </a:rPr>
              <a:t>INSIGHT</a:t>
            </a:r>
          </a:p>
        </p:txBody>
      </p:sp>
      <p:sp>
        <p:nvSpPr>
          <p:cNvPr id="11" name="TextBox 10"/>
          <p:cNvSpPr txBox="1"/>
          <p:nvPr/>
        </p:nvSpPr>
        <p:spPr>
          <a:xfrm>
            <a:off x="9692640" y="4834890"/>
            <a:ext cx="6949440" cy="4423410"/>
          </a:xfrm>
          <a:prstGeom prst="rect">
            <a:avLst/>
          </a:prstGeom>
          <a:noFill/>
        </p:spPr>
        <p:txBody>
          <a:bodyPr wrap="square">
            <a:spAutoFit/>
          </a:bodyPr>
          <a:lstStyle/>
          <a:p>
            <a:pPr algn="l"/>
            <a:r>
              <a:rPr b="1" i="0" sz="1300">
                <a:solidFill>
                  <a:srgbClr val="F3EDE1"/>
                </a:solidFill>
                <a:latin typeface="Arial"/>
              </a:rPr>
              <a:t>"Il brand viene associato a una tensione emergente sul servizio clienti che sta scalando verso i canali social</a:t>
            </a:r>
          </a:p>
          <a:p>
            <a:pPr algn="l"/>
            <a:r>
              <a:rPr b="1" i="0" sz="1300">
                <a:solidFill>
                  <a:srgbClr val="F3EDE1"/>
                </a:solidFill>
                <a:latin typeface="Arial"/>
              </a:rPr>
              <a:t>— e se non si interviene entro due settimane, diventa crisi."</a:t>
            </a:r>
          </a:p>
          <a:p>
            <a:pPr algn="l"/>
            <a:r>
              <a:t/>
            </a:r>
          </a:p>
          <a:p>
            <a:pPr algn="l"/>
            <a:r>
              <a:rPr b="0" i="0" sz="1300">
                <a:solidFill>
                  <a:srgbClr val="B8523A"/>
                </a:solidFill>
                <a:latin typeface="Arial"/>
              </a:rPr>
              <a:t>L'insight orienta.</a:t>
            </a:r>
          </a:p>
          <a:p>
            <a:pPr algn="l"/>
            <a:r>
              <a:rPr b="0" i="0" sz="1300">
                <a:solidFill>
                  <a:srgbClr val="8A8175"/>
                </a:solidFill>
                <a:latin typeface="Arial"/>
              </a:rPr>
              <a:t>Abilita una decisione precisa nel momento giusto.</a:t>
            </a:r>
          </a:p>
          <a:p>
            <a:pPr algn="l"/>
            <a:r>
              <a:t/>
            </a:r>
          </a:p>
          <a:p>
            <a:pPr algn="l"/>
            <a:r>
              <a:rPr b="0" i="0" sz="1200">
                <a:solidFill>
                  <a:srgbClr val="8A8175"/>
                </a:solidFill>
                <a:latin typeface="Arial"/>
              </a:rPr>
              <a:t>Produce intelligence.</a:t>
            </a:r>
          </a:p>
          <a:p>
            <a:pPr algn="l"/>
            <a:r>
              <a:rPr b="0" i="0" sz="1200">
                <a:solidFill>
                  <a:srgbClr val="8A8175"/>
                </a:solidFill>
                <a:latin typeface="Arial"/>
              </a:rPr>
              <a:t>Arriva prima che la crisi diventi visibile.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EDE1"/>
        </a:solidFill>
        <a:effectLst/>
      </p:bgPr>
    </p:bg>
    <p:spTree>
      <p:nvGrpSpPr>
        <p:cNvPr id="1" name=""/>
        <p:cNvGrpSpPr/>
        <p:nvPr/>
      </p:nvGrpSpPr>
      <p:grpSpPr/>
      <p:sp>
        <p:nvSpPr>
          <p:cNvPr id="2" name="TextBox 1"/>
          <p:cNvSpPr txBox="1"/>
          <p:nvPr/>
        </p:nvSpPr>
        <p:spPr>
          <a:xfrm>
            <a:off x="1097280" y="617220"/>
            <a:ext cx="16733520" cy="320040"/>
          </a:xfrm>
          <a:prstGeom prst="rect">
            <a:avLst/>
          </a:prstGeom>
          <a:noFill/>
        </p:spPr>
        <p:txBody>
          <a:bodyPr wrap="square"/>
          <a:lstStyle/>
          <a:p>
            <a:pPr algn="l"/>
            <a:r>
              <a:rPr b="1" i="0" sz="1000">
                <a:solidFill>
                  <a:srgbClr val="B8523A"/>
                </a:solidFill>
                <a:latin typeface="Courier New"/>
              </a:rPr>
              <a:t>●  TASSONOMIA — LO STANDARD CHE FINORA NON ESISTEVA</a:t>
            </a:r>
          </a:p>
        </p:txBody>
      </p:sp>
      <p:sp>
        <p:nvSpPr>
          <p:cNvPr id="3" name="TextBox 2"/>
          <p:cNvSpPr txBox="1"/>
          <p:nvPr/>
        </p:nvSpPr>
        <p:spPr>
          <a:xfrm>
            <a:off x="1097280" y="1337310"/>
            <a:ext cx="16093440" cy="925830"/>
          </a:xfrm>
          <a:prstGeom prst="rect">
            <a:avLst/>
          </a:prstGeom>
          <a:noFill/>
        </p:spPr>
        <p:txBody>
          <a:bodyPr wrap="square"/>
          <a:lstStyle/>
          <a:p>
            <a:pPr algn="l"/>
            <a:r>
              <a:rPr b="1" i="0" sz="2600">
                <a:solidFill>
                  <a:srgbClr val="3D3833"/>
                </a:solidFill>
                <a:latin typeface="Georgia"/>
              </a:rPr>
              <a:t>Costruire la domanda giusta prima di aprire il tool</a:t>
            </a:r>
          </a:p>
        </p:txBody>
      </p:sp>
      <p:sp>
        <p:nvSpPr>
          <p:cNvPr id="4" name="TextBox 3"/>
          <p:cNvSpPr txBox="1"/>
          <p:nvPr/>
        </p:nvSpPr>
        <p:spPr>
          <a:xfrm>
            <a:off x="1097280" y="2468880"/>
            <a:ext cx="16093440" cy="617220"/>
          </a:xfrm>
          <a:prstGeom prst="rect">
            <a:avLst/>
          </a:prstGeom>
          <a:noFill/>
        </p:spPr>
        <p:txBody>
          <a:bodyPr wrap="square"/>
          <a:lstStyle/>
          <a:p>
            <a:pPr algn="l"/>
            <a:r>
              <a:rPr b="0" i="0" sz="1200">
                <a:solidFill>
                  <a:srgbClr val="8A8175"/>
                </a:solidFill>
                <a:latin typeface="Arial"/>
              </a:rPr>
              <a:t>Non e solo un metodo di analisi — e uno strumento per difendere le scelte metodologiche e costruire</a:t>
            </a:r>
          </a:p>
        </p:txBody>
      </p:sp>
      <p:sp>
        <p:nvSpPr>
          <p:cNvPr id="5" name="TextBox 4"/>
          <p:cNvSpPr txBox="1"/>
          <p:nvPr/>
        </p:nvSpPr>
        <p:spPr>
          <a:xfrm>
            <a:off x="1097280" y="2983230"/>
            <a:ext cx="16093440" cy="617220"/>
          </a:xfrm>
          <a:prstGeom prst="rect">
            <a:avLst/>
          </a:prstGeom>
          <a:noFill/>
        </p:spPr>
        <p:txBody>
          <a:bodyPr wrap="square"/>
          <a:lstStyle/>
          <a:p>
            <a:pPr algn="l"/>
            <a:r>
              <a:rPr b="0" i="0" sz="1200">
                <a:solidFill>
                  <a:srgbClr val="8A8175"/>
                </a:solidFill>
                <a:latin typeface="Arial"/>
              </a:rPr>
              <a:t>un ragionamento leggibile di fronte a chi non fa questo lavoro. Brandwatch e potente quanto la domanda che gli portate.</a:t>
            </a:r>
          </a:p>
        </p:txBody>
      </p:sp>
      <p:cxnSp>
        <p:nvCxnSpPr>
          <p:cNvPr id="6" name="Connector 5"/>
          <p:cNvCxnSpPr/>
          <p:nvPr/>
        </p:nvCxnSpPr>
        <p:spPr>
          <a:xfrm>
            <a:off x="1097280" y="3806190"/>
            <a:ext cx="1609344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1097280" y="4217670"/>
            <a:ext cx="5120640" cy="514350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4423410"/>
            <a:ext cx="4754880" cy="617220"/>
          </a:xfrm>
          <a:prstGeom prst="rect">
            <a:avLst/>
          </a:prstGeom>
          <a:noFill/>
        </p:spPr>
        <p:txBody>
          <a:bodyPr wrap="square"/>
          <a:lstStyle/>
          <a:p>
            <a:pPr algn="l"/>
            <a:r>
              <a:rPr b="1" i="0" sz="1000">
                <a:solidFill>
                  <a:srgbClr val="B8523A"/>
                </a:solidFill>
                <a:latin typeface="Courier New"/>
              </a:rPr>
              <a:t>CERCHIO 1</a:t>
            </a:r>
          </a:p>
        </p:txBody>
      </p:sp>
      <p:sp>
        <p:nvSpPr>
          <p:cNvPr id="9" name="TextBox 8"/>
          <p:cNvSpPr txBox="1"/>
          <p:nvPr/>
        </p:nvSpPr>
        <p:spPr>
          <a:xfrm>
            <a:off x="1280160" y="5143500"/>
            <a:ext cx="4754880" cy="822960"/>
          </a:xfrm>
          <a:prstGeom prst="rect">
            <a:avLst/>
          </a:prstGeom>
          <a:noFill/>
        </p:spPr>
        <p:txBody>
          <a:bodyPr wrap="square"/>
          <a:lstStyle/>
          <a:p>
            <a:pPr algn="l"/>
            <a:r>
              <a:rPr b="1" i="0" sz="1300">
                <a:solidFill>
                  <a:srgbClr val="3D3833"/>
                </a:solidFill>
                <a:latin typeface="Arial"/>
              </a:rPr>
              <a:t>CONTESTO CULTURALE</a:t>
            </a:r>
          </a:p>
        </p:txBody>
      </p:sp>
      <p:sp>
        <p:nvSpPr>
          <p:cNvPr id="10" name="TextBox 9"/>
          <p:cNvSpPr txBox="1"/>
          <p:nvPr/>
        </p:nvSpPr>
        <p:spPr>
          <a:xfrm>
            <a:off x="1280160" y="6069330"/>
            <a:ext cx="4754880" cy="1851660"/>
          </a:xfrm>
          <a:prstGeom prst="rect">
            <a:avLst/>
          </a:prstGeom>
          <a:noFill/>
        </p:spPr>
        <p:txBody>
          <a:bodyPr wrap="square"/>
          <a:lstStyle/>
          <a:p>
            <a:pPr algn="l"/>
            <a:r>
              <a:rPr b="0" i="0" sz="1100">
                <a:solidFill>
                  <a:srgbClr val="8A8175"/>
                </a:solidFill>
                <a:latin typeface="Arial"/>
              </a:rPr>
              <a:t>Il livello piu ampio: pop culture, economia, politica, generazioni, tensioni sociali, linguaggi emergenti.</a:t>
            </a:r>
          </a:p>
        </p:txBody>
      </p:sp>
      <p:sp>
        <p:nvSpPr>
          <p:cNvPr id="11" name="TextBox 10"/>
          <p:cNvSpPr txBox="1"/>
          <p:nvPr/>
        </p:nvSpPr>
        <p:spPr>
          <a:xfrm>
            <a:off x="1280160" y="8023860"/>
            <a:ext cx="4754880" cy="1028700"/>
          </a:xfrm>
          <a:prstGeom prst="rect">
            <a:avLst/>
          </a:prstGeom>
          <a:noFill/>
        </p:spPr>
        <p:txBody>
          <a:bodyPr wrap="square"/>
          <a:lstStyle/>
          <a:p>
            <a:pPr algn="l"/>
            <a:r>
              <a:rPr b="0" i="1" sz="1100">
                <a:solidFill>
                  <a:srgbClr val="3D3833"/>
                </a:solidFill>
                <a:latin typeface="Arial"/>
              </a:rPr>
              <a:t>Perche il mercato si muove in questo momento storico?</a:t>
            </a:r>
          </a:p>
        </p:txBody>
      </p:sp>
      <p:sp>
        <p:nvSpPr>
          <p:cNvPr id="12" name="Rectangle 11"/>
          <p:cNvSpPr/>
          <p:nvPr/>
        </p:nvSpPr>
        <p:spPr>
          <a:xfrm>
            <a:off x="6766560" y="4217670"/>
            <a:ext cx="5120640" cy="514350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0" y="4423410"/>
            <a:ext cx="4754880" cy="617220"/>
          </a:xfrm>
          <a:prstGeom prst="rect">
            <a:avLst/>
          </a:prstGeom>
          <a:noFill/>
        </p:spPr>
        <p:txBody>
          <a:bodyPr wrap="square"/>
          <a:lstStyle/>
          <a:p>
            <a:pPr algn="l"/>
            <a:r>
              <a:rPr b="1" i="0" sz="1000">
                <a:solidFill>
                  <a:srgbClr val="B8523A"/>
                </a:solidFill>
                <a:latin typeface="Courier New"/>
              </a:rPr>
              <a:t>CERCHIO 2</a:t>
            </a:r>
          </a:p>
        </p:txBody>
      </p:sp>
      <p:sp>
        <p:nvSpPr>
          <p:cNvPr id="14" name="TextBox 13"/>
          <p:cNvSpPr txBox="1"/>
          <p:nvPr/>
        </p:nvSpPr>
        <p:spPr>
          <a:xfrm>
            <a:off x="6949440" y="5143500"/>
            <a:ext cx="4754880" cy="822960"/>
          </a:xfrm>
          <a:prstGeom prst="rect">
            <a:avLst/>
          </a:prstGeom>
          <a:noFill/>
        </p:spPr>
        <p:txBody>
          <a:bodyPr wrap="square"/>
          <a:lstStyle/>
          <a:p>
            <a:pPr algn="l"/>
            <a:r>
              <a:rPr b="1" i="0" sz="1300">
                <a:solidFill>
                  <a:srgbClr val="3D3833"/>
                </a:solidFill>
                <a:latin typeface="Arial"/>
              </a:rPr>
              <a:t>INDUSTRY &amp; CATEGORY</a:t>
            </a:r>
          </a:p>
        </p:txBody>
      </p:sp>
      <p:sp>
        <p:nvSpPr>
          <p:cNvPr id="15" name="TextBox 14"/>
          <p:cNvSpPr txBox="1"/>
          <p:nvPr/>
        </p:nvSpPr>
        <p:spPr>
          <a:xfrm>
            <a:off x="6949440" y="6069330"/>
            <a:ext cx="4754880" cy="1851660"/>
          </a:xfrm>
          <a:prstGeom prst="rect">
            <a:avLst/>
          </a:prstGeom>
          <a:noFill/>
        </p:spPr>
        <p:txBody>
          <a:bodyPr wrap="square"/>
          <a:lstStyle/>
          <a:p>
            <a:pPr algn="l"/>
            <a:r>
              <a:rPr b="0" i="0" sz="1100">
                <a:solidFill>
                  <a:srgbClr val="8A8175"/>
                </a:solidFill>
                <a:latin typeface="Arial"/>
              </a:rPr>
              <a:t>Il livello intermedio: competitor, occasioni d'uso, barriere, driver, posizionamento di category.</a:t>
            </a:r>
          </a:p>
        </p:txBody>
      </p:sp>
      <p:sp>
        <p:nvSpPr>
          <p:cNvPr id="16" name="TextBox 15"/>
          <p:cNvSpPr txBox="1"/>
          <p:nvPr/>
        </p:nvSpPr>
        <p:spPr>
          <a:xfrm>
            <a:off x="6949440" y="8023860"/>
            <a:ext cx="4754880" cy="1028700"/>
          </a:xfrm>
          <a:prstGeom prst="rect">
            <a:avLst/>
          </a:prstGeom>
          <a:noFill/>
        </p:spPr>
        <p:txBody>
          <a:bodyPr wrap="square"/>
          <a:lstStyle/>
          <a:p>
            <a:pPr algn="l"/>
            <a:r>
              <a:rPr b="0" i="1" sz="1100">
                <a:solidFill>
                  <a:srgbClr val="3D3833"/>
                </a:solidFill>
                <a:latin typeface="Arial"/>
              </a:rPr>
              <a:t>Come si comporta il mercato in questa categoria?</a:t>
            </a:r>
          </a:p>
        </p:txBody>
      </p:sp>
      <p:sp>
        <p:nvSpPr>
          <p:cNvPr id="17" name="Rectangle 16"/>
          <p:cNvSpPr/>
          <p:nvPr/>
        </p:nvSpPr>
        <p:spPr>
          <a:xfrm>
            <a:off x="12435840" y="4217670"/>
            <a:ext cx="5120640" cy="514350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618720" y="4423410"/>
            <a:ext cx="4754880" cy="617220"/>
          </a:xfrm>
          <a:prstGeom prst="rect">
            <a:avLst/>
          </a:prstGeom>
          <a:noFill/>
        </p:spPr>
        <p:txBody>
          <a:bodyPr wrap="square"/>
          <a:lstStyle/>
          <a:p>
            <a:pPr algn="l"/>
            <a:r>
              <a:rPr b="1" i="0" sz="1000">
                <a:solidFill>
                  <a:srgbClr val="B8523A"/>
                </a:solidFill>
                <a:latin typeface="Courier New"/>
              </a:rPr>
              <a:t>CERCHIO 3</a:t>
            </a:r>
          </a:p>
        </p:txBody>
      </p:sp>
      <p:sp>
        <p:nvSpPr>
          <p:cNvPr id="19" name="TextBox 18"/>
          <p:cNvSpPr txBox="1"/>
          <p:nvPr/>
        </p:nvSpPr>
        <p:spPr>
          <a:xfrm>
            <a:off x="12618720" y="5143500"/>
            <a:ext cx="4754880" cy="822960"/>
          </a:xfrm>
          <a:prstGeom prst="rect">
            <a:avLst/>
          </a:prstGeom>
          <a:noFill/>
        </p:spPr>
        <p:txBody>
          <a:bodyPr wrap="square"/>
          <a:lstStyle/>
          <a:p>
            <a:pPr algn="l"/>
            <a:r>
              <a:rPr b="1" i="0" sz="1300">
                <a:solidFill>
                  <a:srgbClr val="3D3833"/>
                </a:solidFill>
                <a:latin typeface="Arial"/>
              </a:rPr>
              <a:t>BRAND</a:t>
            </a:r>
          </a:p>
        </p:txBody>
      </p:sp>
      <p:sp>
        <p:nvSpPr>
          <p:cNvPr id="20" name="TextBox 19"/>
          <p:cNvSpPr txBox="1"/>
          <p:nvPr/>
        </p:nvSpPr>
        <p:spPr>
          <a:xfrm>
            <a:off x="12618720" y="6069330"/>
            <a:ext cx="4754880" cy="1851660"/>
          </a:xfrm>
          <a:prstGeom prst="rect">
            <a:avLst/>
          </a:prstGeom>
          <a:noFill/>
        </p:spPr>
        <p:txBody>
          <a:bodyPr wrap="square"/>
          <a:lstStyle/>
          <a:p>
            <a:pPr algn="l"/>
            <a:r>
              <a:rPr b="0" i="0" sz="1100">
                <a:solidFill>
                  <a:srgbClr val="8A8175"/>
                </a:solidFill>
                <a:latin typeface="Arial"/>
              </a:rPr>
              <a:t>Il livello piu interno: menzioni, campagna, customer experience, reputazione, conversazioni spontanee.</a:t>
            </a:r>
          </a:p>
        </p:txBody>
      </p:sp>
      <p:sp>
        <p:nvSpPr>
          <p:cNvPr id="21" name="TextBox 20"/>
          <p:cNvSpPr txBox="1"/>
          <p:nvPr/>
        </p:nvSpPr>
        <p:spPr>
          <a:xfrm>
            <a:off x="12618720" y="8023860"/>
            <a:ext cx="4754880" cy="1028700"/>
          </a:xfrm>
          <a:prstGeom prst="rect">
            <a:avLst/>
          </a:prstGeom>
          <a:noFill/>
        </p:spPr>
        <p:txBody>
          <a:bodyPr wrap="square"/>
          <a:lstStyle/>
          <a:p>
            <a:pPr algn="l"/>
            <a:r>
              <a:rPr b="0" i="1" sz="1100">
                <a:solidFill>
                  <a:srgbClr val="3D3833"/>
                </a:solidFill>
                <a:latin typeface="Arial"/>
              </a:rPr>
              <a:t>Cosa dice il mercato di questo brand specifico?</a:t>
            </a:r>
          </a:p>
        </p:txBody>
      </p:sp>
      <p:sp>
        <p:nvSpPr>
          <p:cNvPr id="22" name="TextBox 21"/>
          <p:cNvSpPr txBox="1"/>
          <p:nvPr/>
        </p:nvSpPr>
        <p:spPr>
          <a:xfrm>
            <a:off x="1097280" y="9464040"/>
            <a:ext cx="11887200" cy="617220"/>
          </a:xfrm>
          <a:prstGeom prst="rect">
            <a:avLst/>
          </a:prstGeom>
          <a:noFill/>
        </p:spPr>
        <p:txBody>
          <a:bodyPr wrap="square"/>
          <a:lstStyle/>
          <a:p>
            <a:pPr algn="l"/>
            <a:r>
              <a:rPr b="0" i="1" sz="1200">
                <a:solidFill>
                  <a:srgbClr val="8A8175"/>
                </a:solidFill>
                <a:latin typeface="Arial"/>
              </a:rPr>
              <a:t>L'errore piu comune: aprire il tool e digitare il nome del brand.</a:t>
            </a:r>
          </a:p>
        </p:txBody>
      </p:sp>
      <p:sp>
        <p:nvSpPr>
          <p:cNvPr id="23" name="TextBox 22"/>
          <p:cNvSpPr txBox="1"/>
          <p:nvPr/>
        </p:nvSpPr>
        <p:spPr>
          <a:xfrm>
            <a:off x="1097280" y="9772650"/>
            <a:ext cx="11887200" cy="411480"/>
          </a:xfrm>
          <a:prstGeom prst="rect">
            <a:avLst/>
          </a:prstGeom>
          <a:noFill/>
        </p:spPr>
        <p:txBody>
          <a:bodyPr wrap="square"/>
          <a:lstStyle/>
          <a:p>
            <a:pPr algn="l"/>
            <a:r>
              <a:rPr b="0" i="1" sz="1200">
                <a:solidFill>
                  <a:srgbClr val="B8523A"/>
                </a:solidFill>
                <a:latin typeface="Arial"/>
              </a:rPr>
              <a:t>E come guardare la propria mano mentre si gioca a scacchi.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EDE1"/>
        </a:solidFill>
        <a:effectLst/>
      </p:bgPr>
    </p:bg>
    <p:spTree>
      <p:nvGrpSpPr>
        <p:cNvPr id="1" name=""/>
        <p:cNvGrpSpPr/>
        <p:nvPr/>
      </p:nvGrpSpPr>
      <p:grpSpPr/>
      <p:sp>
        <p:nvSpPr>
          <p:cNvPr id="2" name="TextBox 1"/>
          <p:cNvSpPr txBox="1"/>
          <p:nvPr/>
        </p:nvSpPr>
        <p:spPr>
          <a:xfrm>
            <a:off x="1097280" y="617220"/>
            <a:ext cx="16733520" cy="320040"/>
          </a:xfrm>
          <a:prstGeom prst="rect">
            <a:avLst/>
          </a:prstGeom>
          <a:noFill/>
        </p:spPr>
        <p:txBody>
          <a:bodyPr wrap="square"/>
          <a:lstStyle/>
          <a:p>
            <a:pPr algn="l"/>
            <a:r>
              <a:rPr b="1" i="0" sz="1000">
                <a:solidFill>
                  <a:srgbClr val="B8523A"/>
                </a:solidFill>
                <a:latin typeface="Courier New"/>
              </a:rPr>
              <a:t>●  DAL DATO ALL'INSIGHT — I TRE ATTRITI</a:t>
            </a:r>
          </a:p>
        </p:txBody>
      </p:sp>
      <p:sp>
        <p:nvSpPr>
          <p:cNvPr id="3" name="TextBox 2"/>
          <p:cNvSpPr txBox="1"/>
          <p:nvPr/>
        </p:nvSpPr>
        <p:spPr>
          <a:xfrm>
            <a:off x="1097280" y="1337310"/>
            <a:ext cx="16093440" cy="925830"/>
          </a:xfrm>
          <a:prstGeom prst="rect">
            <a:avLst/>
          </a:prstGeom>
          <a:noFill/>
        </p:spPr>
        <p:txBody>
          <a:bodyPr wrap="square"/>
          <a:lstStyle/>
          <a:p>
            <a:pPr algn="l"/>
            <a:r>
              <a:rPr b="1" i="0" sz="2400">
                <a:solidFill>
                  <a:srgbClr val="3D3833"/>
                </a:solidFill>
                <a:latin typeface="Georgia"/>
              </a:rPr>
              <a:t>I segnali che cambiano prodotto, UX, comunicazione e pricing</a:t>
            </a:r>
          </a:p>
        </p:txBody>
      </p:sp>
      <p:sp>
        <p:nvSpPr>
          <p:cNvPr id="4" name="TextBox 3"/>
          <p:cNvSpPr txBox="1"/>
          <p:nvPr/>
        </p:nvSpPr>
        <p:spPr>
          <a:xfrm>
            <a:off x="1097280" y="2468880"/>
            <a:ext cx="16093440" cy="617220"/>
          </a:xfrm>
          <a:prstGeom prst="rect">
            <a:avLst/>
          </a:prstGeom>
          <a:noFill/>
        </p:spPr>
        <p:txBody>
          <a:bodyPr wrap="square"/>
          <a:lstStyle/>
          <a:p>
            <a:pPr algn="l"/>
            <a:r>
              <a:rPr b="0" i="1" sz="1200">
                <a:solidFill>
                  <a:srgbClr val="8A8175"/>
                </a:solidFill>
                <a:latin typeface="Arial"/>
              </a:rPr>
              <a:t>Formalizzati dopo centinaia di dataset. Li cerco per primi in ogni progetto — sono la firma di un problema reale.</a:t>
            </a:r>
          </a:p>
        </p:txBody>
      </p:sp>
      <p:cxnSp>
        <p:nvCxnSpPr>
          <p:cNvPr id="5" name="Connector 4"/>
          <p:cNvCxnSpPr/>
          <p:nvPr/>
        </p:nvCxnSpPr>
        <p:spPr>
          <a:xfrm>
            <a:off x="1097280" y="3291840"/>
            <a:ext cx="1609344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1097280" y="3703320"/>
            <a:ext cx="5120640" cy="576072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3909060"/>
            <a:ext cx="1097280" cy="720090"/>
          </a:xfrm>
          <a:prstGeom prst="rect">
            <a:avLst/>
          </a:prstGeom>
          <a:noFill/>
        </p:spPr>
        <p:txBody>
          <a:bodyPr wrap="square"/>
          <a:lstStyle/>
          <a:p>
            <a:pPr algn="l"/>
            <a:r>
              <a:rPr b="1" i="0" sz="1100">
                <a:solidFill>
                  <a:srgbClr val="B8523A"/>
                </a:solidFill>
                <a:latin typeface="Courier New"/>
              </a:rPr>
              <a:t>01</a:t>
            </a:r>
          </a:p>
        </p:txBody>
      </p:sp>
      <p:sp>
        <p:nvSpPr>
          <p:cNvPr id="8" name="TextBox 7"/>
          <p:cNvSpPr txBox="1"/>
          <p:nvPr/>
        </p:nvSpPr>
        <p:spPr>
          <a:xfrm>
            <a:off x="1280160" y="4732020"/>
            <a:ext cx="4572000" cy="822960"/>
          </a:xfrm>
          <a:prstGeom prst="rect">
            <a:avLst/>
          </a:prstGeom>
          <a:noFill/>
        </p:spPr>
        <p:txBody>
          <a:bodyPr wrap="square"/>
          <a:lstStyle/>
          <a:p>
            <a:pPr algn="l"/>
            <a:r>
              <a:rPr b="1" i="0" sz="1200">
                <a:solidFill>
                  <a:srgbClr val="3D3833"/>
                </a:solidFill>
                <a:latin typeface="Arial"/>
              </a:rPr>
              <a:t>INTENTION–INTERFACE GAP</a:t>
            </a:r>
          </a:p>
        </p:txBody>
      </p:sp>
      <p:sp>
        <p:nvSpPr>
          <p:cNvPr id="9" name="TextBox 8"/>
          <p:cNvSpPr txBox="1"/>
          <p:nvPr/>
        </p:nvSpPr>
        <p:spPr>
          <a:xfrm>
            <a:off x="1280160" y="5657850"/>
            <a:ext cx="4572000" cy="822960"/>
          </a:xfrm>
          <a:prstGeom prst="rect">
            <a:avLst/>
          </a:prstGeom>
          <a:noFill/>
        </p:spPr>
        <p:txBody>
          <a:bodyPr wrap="square"/>
          <a:lstStyle/>
          <a:p>
            <a:pPr algn="l"/>
            <a:r>
              <a:rPr b="0" i="1" sz="1000">
                <a:solidFill>
                  <a:srgbClr val="B8523A"/>
                </a:solidFill>
                <a:latin typeface="Arial"/>
              </a:rPr>
              <a:t>Dove trovarlo: Q&amp;A, recensioni, customer care, forum di supporto.</a:t>
            </a:r>
          </a:p>
        </p:txBody>
      </p:sp>
      <p:sp>
        <p:nvSpPr>
          <p:cNvPr id="10" name="TextBox 9"/>
          <p:cNvSpPr txBox="1"/>
          <p:nvPr/>
        </p:nvSpPr>
        <p:spPr>
          <a:xfrm>
            <a:off x="1280160" y="6480810"/>
            <a:ext cx="4572000" cy="1440180"/>
          </a:xfrm>
          <a:prstGeom prst="rect">
            <a:avLst/>
          </a:prstGeom>
          <a:noFill/>
        </p:spPr>
        <p:txBody>
          <a:bodyPr wrap="square"/>
          <a:lstStyle/>
          <a:p>
            <a:pPr algn="l"/>
            <a:r>
              <a:rPr b="0" i="0" sz="1100">
                <a:solidFill>
                  <a:srgbClr val="8A8175"/>
                </a:solidFill>
                <a:latin typeface="Arial"/>
              </a:rPr>
              <a:t>L'utente vuole fare qualcosa ma non riesce — trova un ostacolo nell'interfaccia, nel processo, nella value proposition.</a:t>
            </a:r>
          </a:p>
        </p:txBody>
      </p:sp>
      <p:sp>
        <p:nvSpPr>
          <p:cNvPr id="11" name="TextBox 10"/>
          <p:cNvSpPr txBox="1"/>
          <p:nvPr/>
        </p:nvSpPr>
        <p:spPr>
          <a:xfrm>
            <a:off x="1280160" y="7920990"/>
            <a:ext cx="4572000" cy="1337310"/>
          </a:xfrm>
          <a:prstGeom prst="rect">
            <a:avLst/>
          </a:prstGeom>
          <a:noFill/>
        </p:spPr>
        <p:txBody>
          <a:bodyPr wrap="square"/>
          <a:lstStyle/>
          <a:p>
            <a:pPr algn="l"/>
            <a:r>
              <a:rPr b="0" i="1" sz="1000">
                <a:solidFill>
                  <a:srgbClr val="3D3833"/>
                </a:solidFill>
                <a:latin typeface="Arial"/>
              </a:rPr>
              <a:t>Segnale: frustrazione ricorrente su un punto specifico del journey. Se non lo vedi, stai guardando la dashboard sbagliata.</a:t>
            </a:r>
          </a:p>
        </p:txBody>
      </p:sp>
      <p:sp>
        <p:nvSpPr>
          <p:cNvPr id="12" name="Rectangle 11"/>
          <p:cNvSpPr/>
          <p:nvPr/>
        </p:nvSpPr>
        <p:spPr>
          <a:xfrm>
            <a:off x="6766560" y="3703320"/>
            <a:ext cx="5120640" cy="576072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0" y="3909060"/>
            <a:ext cx="1097280" cy="720090"/>
          </a:xfrm>
          <a:prstGeom prst="rect">
            <a:avLst/>
          </a:prstGeom>
          <a:noFill/>
        </p:spPr>
        <p:txBody>
          <a:bodyPr wrap="square"/>
          <a:lstStyle/>
          <a:p>
            <a:pPr algn="l"/>
            <a:r>
              <a:rPr b="1" i="0" sz="1100">
                <a:solidFill>
                  <a:srgbClr val="B8523A"/>
                </a:solidFill>
                <a:latin typeface="Courier New"/>
              </a:rPr>
              <a:t>02</a:t>
            </a:r>
          </a:p>
        </p:txBody>
      </p:sp>
      <p:sp>
        <p:nvSpPr>
          <p:cNvPr id="14" name="TextBox 13"/>
          <p:cNvSpPr txBox="1"/>
          <p:nvPr/>
        </p:nvSpPr>
        <p:spPr>
          <a:xfrm>
            <a:off x="6949440" y="4732020"/>
            <a:ext cx="4572000" cy="822960"/>
          </a:xfrm>
          <a:prstGeom prst="rect">
            <a:avLst/>
          </a:prstGeom>
          <a:noFill/>
        </p:spPr>
        <p:txBody>
          <a:bodyPr wrap="square"/>
          <a:lstStyle/>
          <a:p>
            <a:pPr algn="l"/>
            <a:r>
              <a:rPr b="1" i="0" sz="1200">
                <a:solidFill>
                  <a:srgbClr val="3D3833"/>
                </a:solidFill>
                <a:latin typeface="Arial"/>
              </a:rPr>
              <a:t>TRUST GAP</a:t>
            </a:r>
          </a:p>
        </p:txBody>
      </p:sp>
      <p:sp>
        <p:nvSpPr>
          <p:cNvPr id="15" name="TextBox 14"/>
          <p:cNvSpPr txBox="1"/>
          <p:nvPr/>
        </p:nvSpPr>
        <p:spPr>
          <a:xfrm>
            <a:off x="6949440" y="5657850"/>
            <a:ext cx="4572000" cy="822960"/>
          </a:xfrm>
          <a:prstGeom prst="rect">
            <a:avLst/>
          </a:prstGeom>
          <a:noFill/>
        </p:spPr>
        <p:txBody>
          <a:bodyPr wrap="square"/>
          <a:lstStyle/>
          <a:p>
            <a:pPr algn="l"/>
            <a:r>
              <a:rPr b="0" i="1" sz="1000">
                <a:solidFill>
                  <a:srgbClr val="B8523A"/>
                </a:solidFill>
                <a:latin typeface="Arial"/>
              </a:rPr>
              <a:t>Dove trovarlo: community di settore, comparatori, review spontanee.</a:t>
            </a:r>
          </a:p>
        </p:txBody>
      </p:sp>
      <p:sp>
        <p:nvSpPr>
          <p:cNvPr id="16" name="TextBox 15"/>
          <p:cNvSpPr txBox="1"/>
          <p:nvPr/>
        </p:nvSpPr>
        <p:spPr>
          <a:xfrm>
            <a:off x="6949440" y="6480810"/>
            <a:ext cx="4572000" cy="1440180"/>
          </a:xfrm>
          <a:prstGeom prst="rect">
            <a:avLst/>
          </a:prstGeom>
          <a:noFill/>
        </p:spPr>
        <p:txBody>
          <a:bodyPr wrap="square"/>
          <a:lstStyle/>
          <a:p>
            <a:pPr algn="l"/>
            <a:r>
              <a:rPr b="0" i="0" sz="1100">
                <a:solidFill>
                  <a:srgbClr val="8A8175"/>
                </a:solidFill>
                <a:latin typeface="Arial"/>
              </a:rPr>
              <a:t>L'utente esita a fidarsi — del brand, della promessa, del prezzo, della trasparenza. Spesso arriva prima che la crisi diventi visibile.</a:t>
            </a:r>
          </a:p>
        </p:txBody>
      </p:sp>
      <p:sp>
        <p:nvSpPr>
          <p:cNvPr id="17" name="TextBox 16"/>
          <p:cNvSpPr txBox="1"/>
          <p:nvPr/>
        </p:nvSpPr>
        <p:spPr>
          <a:xfrm>
            <a:off x="6949440" y="7920990"/>
            <a:ext cx="4572000" cy="1337310"/>
          </a:xfrm>
          <a:prstGeom prst="rect">
            <a:avLst/>
          </a:prstGeom>
          <a:noFill/>
        </p:spPr>
        <p:txBody>
          <a:bodyPr wrap="square"/>
          <a:lstStyle/>
          <a:p>
            <a:pPr algn="l"/>
            <a:r>
              <a:rPr b="0" i="1" sz="1000">
                <a:solidFill>
                  <a:srgbClr val="3D3833"/>
                </a:solidFill>
                <a:latin typeface="Arial"/>
              </a:rPr>
              <a:t>Segnale: esitazione sistematica prima dell'acquisto. E il tipo di segnale che arriva presto — se sai dove cercarlo.</a:t>
            </a:r>
          </a:p>
        </p:txBody>
      </p:sp>
      <p:sp>
        <p:nvSpPr>
          <p:cNvPr id="18" name="Rectangle 17"/>
          <p:cNvSpPr/>
          <p:nvPr/>
        </p:nvSpPr>
        <p:spPr>
          <a:xfrm>
            <a:off x="12435840" y="3703320"/>
            <a:ext cx="5120640" cy="576072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618720" y="3909060"/>
            <a:ext cx="1097280" cy="720090"/>
          </a:xfrm>
          <a:prstGeom prst="rect">
            <a:avLst/>
          </a:prstGeom>
          <a:noFill/>
        </p:spPr>
        <p:txBody>
          <a:bodyPr wrap="square"/>
          <a:lstStyle/>
          <a:p>
            <a:pPr algn="l"/>
            <a:r>
              <a:rPr b="1" i="0" sz="1100">
                <a:solidFill>
                  <a:srgbClr val="B8523A"/>
                </a:solidFill>
                <a:latin typeface="Courier New"/>
              </a:rPr>
              <a:t>03</a:t>
            </a:r>
          </a:p>
        </p:txBody>
      </p:sp>
      <p:sp>
        <p:nvSpPr>
          <p:cNvPr id="20" name="TextBox 19"/>
          <p:cNvSpPr txBox="1"/>
          <p:nvPr/>
        </p:nvSpPr>
        <p:spPr>
          <a:xfrm>
            <a:off x="12618720" y="4732020"/>
            <a:ext cx="4572000" cy="822960"/>
          </a:xfrm>
          <a:prstGeom prst="rect">
            <a:avLst/>
          </a:prstGeom>
          <a:noFill/>
        </p:spPr>
        <p:txBody>
          <a:bodyPr wrap="square"/>
          <a:lstStyle/>
          <a:p>
            <a:pPr algn="l"/>
            <a:r>
              <a:rPr b="1" i="0" sz="1200">
                <a:solidFill>
                  <a:srgbClr val="3D3833"/>
                </a:solidFill>
                <a:latin typeface="Arial"/>
              </a:rPr>
              <a:t>USAGE GAP</a:t>
            </a:r>
          </a:p>
        </p:txBody>
      </p:sp>
      <p:sp>
        <p:nvSpPr>
          <p:cNvPr id="21" name="TextBox 20"/>
          <p:cNvSpPr txBox="1"/>
          <p:nvPr/>
        </p:nvSpPr>
        <p:spPr>
          <a:xfrm>
            <a:off x="12618720" y="5657850"/>
            <a:ext cx="4572000" cy="822960"/>
          </a:xfrm>
          <a:prstGeom prst="rect">
            <a:avLst/>
          </a:prstGeom>
          <a:noFill/>
        </p:spPr>
        <p:txBody>
          <a:bodyPr wrap="square"/>
          <a:lstStyle/>
          <a:p>
            <a:pPr algn="l"/>
            <a:r>
              <a:rPr b="0" i="1" sz="1000">
                <a:solidFill>
                  <a:srgbClr val="B8523A"/>
                </a:solidFill>
                <a:latin typeface="Arial"/>
              </a:rPr>
              <a:t>Dove trovarlo: tutorial spontanei, micro-community, Reddit, gruppi Facebook.</a:t>
            </a:r>
          </a:p>
        </p:txBody>
      </p:sp>
      <p:sp>
        <p:nvSpPr>
          <p:cNvPr id="22" name="TextBox 21"/>
          <p:cNvSpPr txBox="1"/>
          <p:nvPr/>
        </p:nvSpPr>
        <p:spPr>
          <a:xfrm>
            <a:off x="12618720" y="6480810"/>
            <a:ext cx="4572000" cy="1440180"/>
          </a:xfrm>
          <a:prstGeom prst="rect">
            <a:avLst/>
          </a:prstGeom>
          <a:noFill/>
        </p:spPr>
        <p:txBody>
          <a:bodyPr wrap="square"/>
          <a:lstStyle/>
          <a:p>
            <a:pPr algn="l"/>
            <a:r>
              <a:rPr b="0" i="0" sz="1100">
                <a:solidFill>
                  <a:srgbClr val="8A8175"/>
                </a:solidFill>
                <a:latin typeface="Arial"/>
              </a:rPr>
              <a:t>L'utente usa il prodotto in modi imprevisti — workaround, rituali, micro-community che reinventano l'esperienza.</a:t>
            </a:r>
          </a:p>
        </p:txBody>
      </p:sp>
      <p:sp>
        <p:nvSpPr>
          <p:cNvPr id="23" name="TextBox 22"/>
          <p:cNvSpPr txBox="1"/>
          <p:nvPr/>
        </p:nvSpPr>
        <p:spPr>
          <a:xfrm>
            <a:off x="12618720" y="7920990"/>
            <a:ext cx="4572000" cy="1337310"/>
          </a:xfrm>
          <a:prstGeom prst="rect">
            <a:avLst/>
          </a:prstGeom>
          <a:noFill/>
        </p:spPr>
        <p:txBody>
          <a:bodyPr wrap="square"/>
          <a:lstStyle/>
          <a:p>
            <a:pPr algn="l"/>
            <a:r>
              <a:rPr b="0" i="1" sz="1000">
                <a:solidFill>
                  <a:srgbClr val="3D3833"/>
                </a:solidFill>
                <a:latin typeface="Arial"/>
              </a:rPr>
              <a:t>Segnale: usi creativi non previsti. Questo e dove si nascondono le opportunita piu interessanti per roadmap e innovazione.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EDE1"/>
        </a:solidFill>
        <a:effectLst/>
      </p:bgPr>
    </p:bg>
    <p:spTree>
      <p:nvGrpSpPr>
        <p:cNvPr id="1" name=""/>
        <p:cNvGrpSpPr/>
        <p:nvPr/>
      </p:nvGrpSpPr>
      <p:grpSpPr/>
      <p:sp>
        <p:nvSpPr>
          <p:cNvPr id="2" name="TextBox 1"/>
          <p:cNvSpPr txBox="1"/>
          <p:nvPr/>
        </p:nvSpPr>
        <p:spPr>
          <a:xfrm>
            <a:off x="1097280" y="617220"/>
            <a:ext cx="16733520" cy="320040"/>
          </a:xfrm>
          <a:prstGeom prst="rect">
            <a:avLst/>
          </a:prstGeom>
          <a:noFill/>
        </p:spPr>
        <p:txBody>
          <a:bodyPr wrap="square"/>
          <a:lstStyle/>
          <a:p>
            <a:pPr algn="l"/>
            <a:r>
              <a:rPr b="1" i="0" sz="1000">
                <a:solidFill>
                  <a:srgbClr val="B8523A"/>
                </a:solidFill>
                <a:latin typeface="Courier New"/>
              </a:rPr>
              <a:t>●  CAPITOLO 6 — LE TRE ERE DEL SOCIAL LISTENING</a:t>
            </a:r>
          </a:p>
        </p:txBody>
      </p:sp>
      <p:sp>
        <p:nvSpPr>
          <p:cNvPr id="3" name="TextBox 2"/>
          <p:cNvSpPr txBox="1"/>
          <p:nvPr/>
        </p:nvSpPr>
        <p:spPr>
          <a:xfrm>
            <a:off x="1097280" y="1337310"/>
            <a:ext cx="16093440" cy="925830"/>
          </a:xfrm>
          <a:prstGeom prst="rect">
            <a:avLst/>
          </a:prstGeom>
          <a:noFill/>
        </p:spPr>
        <p:txBody>
          <a:bodyPr wrap="square"/>
          <a:lstStyle/>
          <a:p>
            <a:pPr algn="l"/>
            <a:r>
              <a:rPr b="1" i="0" sz="2600">
                <a:solidFill>
                  <a:srgbClr val="3D3833"/>
                </a:solidFill>
                <a:latin typeface="Georgia"/>
              </a:rPr>
              <a:t>Non siamo al punto zero. Siamo al terzo atto.</a:t>
            </a:r>
          </a:p>
        </p:txBody>
      </p:sp>
      <p:cxnSp>
        <p:nvCxnSpPr>
          <p:cNvPr id="4" name="Connector 3"/>
          <p:cNvCxnSpPr/>
          <p:nvPr/>
        </p:nvCxnSpPr>
        <p:spPr>
          <a:xfrm>
            <a:off x="1097280" y="2468880"/>
            <a:ext cx="1609344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097280" y="2880360"/>
            <a:ext cx="5120640" cy="565785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3086100"/>
            <a:ext cx="4754880" cy="617220"/>
          </a:xfrm>
          <a:prstGeom prst="rect">
            <a:avLst/>
          </a:prstGeom>
          <a:noFill/>
        </p:spPr>
        <p:txBody>
          <a:bodyPr wrap="square"/>
          <a:lstStyle/>
          <a:p>
            <a:pPr algn="l"/>
            <a:r>
              <a:rPr b="1" i="0" sz="1000">
                <a:solidFill>
                  <a:srgbClr val="8A8175"/>
                </a:solidFill>
                <a:latin typeface="Courier New"/>
              </a:rPr>
              <a:t>2008–2014</a:t>
            </a:r>
          </a:p>
        </p:txBody>
      </p:sp>
      <p:sp>
        <p:nvSpPr>
          <p:cNvPr id="7" name="TextBox 6"/>
          <p:cNvSpPr txBox="1"/>
          <p:nvPr/>
        </p:nvSpPr>
        <p:spPr>
          <a:xfrm>
            <a:off x="1280160" y="3806190"/>
            <a:ext cx="4754880" cy="720090"/>
          </a:xfrm>
          <a:prstGeom prst="rect">
            <a:avLst/>
          </a:prstGeom>
          <a:noFill/>
        </p:spPr>
        <p:txBody>
          <a:bodyPr wrap="square"/>
          <a:lstStyle/>
          <a:p>
            <a:pPr algn="l"/>
            <a:r>
              <a:rPr b="1" i="0" sz="1300">
                <a:solidFill>
                  <a:srgbClr val="3D3833"/>
                </a:solidFill>
                <a:latin typeface="Arial"/>
              </a:rPr>
              <a:t>ERA DEL VOLUME</a:t>
            </a:r>
          </a:p>
        </p:txBody>
      </p:sp>
      <p:sp>
        <p:nvSpPr>
          <p:cNvPr id="8" name="TextBox 7"/>
          <p:cNvSpPr txBox="1"/>
          <p:nvPr/>
        </p:nvSpPr>
        <p:spPr>
          <a:xfrm>
            <a:off x="1280160" y="4629150"/>
            <a:ext cx="4754880" cy="822960"/>
          </a:xfrm>
          <a:prstGeom prst="rect">
            <a:avLst/>
          </a:prstGeom>
          <a:noFill/>
        </p:spPr>
        <p:txBody>
          <a:bodyPr wrap="square"/>
          <a:lstStyle/>
          <a:p>
            <a:pPr algn="l"/>
            <a:r>
              <a:rPr b="0" i="1" sz="1200">
                <a:solidFill>
                  <a:srgbClr val="3D3833"/>
                </a:solidFill>
                <a:latin typeface="Arial"/>
              </a:rPr>
              <a:t>Quante volte mi nominano?</a:t>
            </a:r>
          </a:p>
        </p:txBody>
      </p:sp>
      <p:sp>
        <p:nvSpPr>
          <p:cNvPr id="9" name="TextBox 8"/>
          <p:cNvSpPr txBox="1"/>
          <p:nvPr/>
        </p:nvSpPr>
        <p:spPr>
          <a:xfrm>
            <a:off x="1280160" y="5554980"/>
            <a:ext cx="4754880" cy="1645920"/>
          </a:xfrm>
          <a:prstGeom prst="rect">
            <a:avLst/>
          </a:prstGeom>
          <a:noFill/>
        </p:spPr>
        <p:txBody>
          <a:bodyPr wrap="square"/>
          <a:lstStyle/>
          <a:p>
            <a:pPr algn="l"/>
            <a:r>
              <a:rPr b="0" i="0" sz="1100">
                <a:solidFill>
                  <a:srgbClr val="8A8175"/>
                </a:solidFill>
                <a:latin typeface="Arial"/>
              </a:rPr>
              <a:t>Mention, share of voice, reach potenziale. Descrizione retrospettiva. Report di volume.</a:t>
            </a:r>
          </a:p>
        </p:txBody>
      </p:sp>
      <p:sp>
        <p:nvSpPr>
          <p:cNvPr id="10" name="TextBox 9"/>
          <p:cNvSpPr txBox="1"/>
          <p:nvPr/>
        </p:nvSpPr>
        <p:spPr>
          <a:xfrm>
            <a:off x="1280160" y="7303770"/>
            <a:ext cx="4754880" cy="1028700"/>
          </a:xfrm>
          <a:prstGeom prst="rect">
            <a:avLst/>
          </a:prstGeom>
          <a:noFill/>
        </p:spPr>
        <p:txBody>
          <a:bodyPr wrap="square"/>
          <a:lstStyle/>
          <a:p>
            <a:pPr algn="l"/>
            <a:r>
              <a:rPr b="0" i="1" sz="1000">
                <a:solidFill>
                  <a:srgbClr val="8A8175"/>
                </a:solidFill>
                <a:latin typeface="Arial"/>
              </a:rPr>
              <a:t>Utili — ma limitati a cio che era gia successo. Ho fatto questi report nel 2012.</a:t>
            </a:r>
          </a:p>
        </p:txBody>
      </p:sp>
      <p:sp>
        <p:nvSpPr>
          <p:cNvPr id="11" name="Rectangle 10"/>
          <p:cNvSpPr/>
          <p:nvPr/>
        </p:nvSpPr>
        <p:spPr>
          <a:xfrm>
            <a:off x="6766560" y="2880360"/>
            <a:ext cx="5120640" cy="565785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0" y="3086100"/>
            <a:ext cx="4754880" cy="617220"/>
          </a:xfrm>
          <a:prstGeom prst="rect">
            <a:avLst/>
          </a:prstGeom>
          <a:noFill/>
        </p:spPr>
        <p:txBody>
          <a:bodyPr wrap="square"/>
          <a:lstStyle/>
          <a:p>
            <a:pPr algn="l"/>
            <a:r>
              <a:rPr b="1" i="0" sz="1000">
                <a:solidFill>
                  <a:srgbClr val="8A8175"/>
                </a:solidFill>
                <a:latin typeface="Courier New"/>
              </a:rPr>
              <a:t>2015–2023</a:t>
            </a:r>
          </a:p>
        </p:txBody>
      </p:sp>
      <p:sp>
        <p:nvSpPr>
          <p:cNvPr id="13" name="TextBox 12"/>
          <p:cNvSpPr txBox="1"/>
          <p:nvPr/>
        </p:nvSpPr>
        <p:spPr>
          <a:xfrm>
            <a:off x="6949440" y="3806190"/>
            <a:ext cx="4754880" cy="720090"/>
          </a:xfrm>
          <a:prstGeom prst="rect">
            <a:avLst/>
          </a:prstGeom>
          <a:noFill/>
        </p:spPr>
        <p:txBody>
          <a:bodyPr wrap="square"/>
          <a:lstStyle/>
          <a:p>
            <a:pPr algn="l"/>
            <a:r>
              <a:rPr b="1" i="0" sz="1300">
                <a:solidFill>
                  <a:srgbClr val="3D3833"/>
                </a:solidFill>
                <a:latin typeface="Arial"/>
              </a:rPr>
              <a:t>ERA DEL CONTESTO</a:t>
            </a:r>
          </a:p>
        </p:txBody>
      </p:sp>
      <p:sp>
        <p:nvSpPr>
          <p:cNvPr id="14" name="TextBox 13"/>
          <p:cNvSpPr txBox="1"/>
          <p:nvPr/>
        </p:nvSpPr>
        <p:spPr>
          <a:xfrm>
            <a:off x="6949440" y="4629150"/>
            <a:ext cx="4754880" cy="822960"/>
          </a:xfrm>
          <a:prstGeom prst="rect">
            <a:avLst/>
          </a:prstGeom>
          <a:noFill/>
        </p:spPr>
        <p:txBody>
          <a:bodyPr wrap="square"/>
          <a:lstStyle/>
          <a:p>
            <a:pPr algn="l"/>
            <a:r>
              <a:rPr b="0" i="1" sz="1200">
                <a:solidFill>
                  <a:srgbClr val="3D3833"/>
                </a:solidFill>
                <a:latin typeface="Arial"/>
              </a:rPr>
              <a:t>Cosa sta succedendo e perche?</a:t>
            </a:r>
          </a:p>
        </p:txBody>
      </p:sp>
      <p:sp>
        <p:nvSpPr>
          <p:cNvPr id="15" name="TextBox 14"/>
          <p:cNvSpPr txBox="1"/>
          <p:nvPr/>
        </p:nvSpPr>
        <p:spPr>
          <a:xfrm>
            <a:off x="6949440" y="5554980"/>
            <a:ext cx="4754880" cy="1645920"/>
          </a:xfrm>
          <a:prstGeom prst="rect">
            <a:avLst/>
          </a:prstGeom>
          <a:noFill/>
        </p:spPr>
        <p:txBody>
          <a:bodyPr wrap="square"/>
          <a:lstStyle/>
          <a:p>
            <a:pPr algn="l"/>
            <a:r>
              <a:rPr b="0" i="0" sz="1100">
                <a:solidFill>
                  <a:srgbClr val="8A8175"/>
                </a:solidFill>
                <a:latin typeface="Arial"/>
              </a:rPr>
              <a:t>Topic, sentiment driver, community, crisi, reputazione. Il listening inizia a spiegare, non solo a misurare.</a:t>
            </a:r>
          </a:p>
        </p:txBody>
      </p:sp>
      <p:sp>
        <p:nvSpPr>
          <p:cNvPr id="16" name="TextBox 15"/>
          <p:cNvSpPr txBox="1"/>
          <p:nvPr/>
        </p:nvSpPr>
        <p:spPr>
          <a:xfrm>
            <a:off x="6949440" y="7303770"/>
            <a:ext cx="4754880" cy="1028700"/>
          </a:xfrm>
          <a:prstGeom prst="rect">
            <a:avLst/>
          </a:prstGeom>
          <a:noFill/>
        </p:spPr>
        <p:txBody>
          <a:bodyPr wrap="square"/>
          <a:lstStyle/>
          <a:p>
            <a:pPr algn="l"/>
            <a:r>
              <a:rPr b="0" i="1" sz="1000">
                <a:solidFill>
                  <a:srgbClr val="8A8175"/>
                </a:solidFill>
                <a:latin typeface="Arial"/>
              </a:rPr>
              <a:t>Ho vissuto questo passaggio. Cambia il tipo di conversazioni con i clienti.</a:t>
            </a:r>
          </a:p>
        </p:txBody>
      </p:sp>
      <p:sp>
        <p:nvSpPr>
          <p:cNvPr id="17" name="Rectangle 16"/>
          <p:cNvSpPr/>
          <p:nvPr/>
        </p:nvSpPr>
        <p:spPr>
          <a:xfrm>
            <a:off x="12435840" y="2880360"/>
            <a:ext cx="5120640" cy="5657850"/>
          </a:xfrm>
          <a:prstGeom prst="rect">
            <a:avLst/>
          </a:prstGeom>
          <a:solidFill>
            <a:srgbClr val="3D3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618720" y="3086100"/>
            <a:ext cx="4754880" cy="617220"/>
          </a:xfrm>
          <a:prstGeom prst="rect">
            <a:avLst/>
          </a:prstGeom>
          <a:noFill/>
        </p:spPr>
        <p:txBody>
          <a:bodyPr wrap="square"/>
          <a:lstStyle/>
          <a:p>
            <a:pPr algn="l"/>
            <a:r>
              <a:rPr b="1" i="0" sz="1000">
                <a:solidFill>
                  <a:srgbClr val="B8523A"/>
                </a:solidFill>
                <a:latin typeface="Courier New"/>
              </a:rPr>
              <a:t>2024 →</a:t>
            </a:r>
          </a:p>
        </p:txBody>
      </p:sp>
      <p:sp>
        <p:nvSpPr>
          <p:cNvPr id="19" name="TextBox 18"/>
          <p:cNvSpPr txBox="1"/>
          <p:nvPr/>
        </p:nvSpPr>
        <p:spPr>
          <a:xfrm>
            <a:off x="12618720" y="3806190"/>
            <a:ext cx="4754880" cy="720090"/>
          </a:xfrm>
          <a:prstGeom prst="rect">
            <a:avLst/>
          </a:prstGeom>
          <a:noFill/>
        </p:spPr>
        <p:txBody>
          <a:bodyPr wrap="square"/>
          <a:lstStyle/>
          <a:p>
            <a:pPr algn="l"/>
            <a:r>
              <a:rPr b="1" i="0" sz="1300">
                <a:solidFill>
                  <a:srgbClr val="F3EDE1"/>
                </a:solidFill>
                <a:latin typeface="Arial"/>
              </a:rPr>
              <a:t>ERA DEL SEGNALE</a:t>
            </a:r>
          </a:p>
        </p:txBody>
      </p:sp>
      <p:sp>
        <p:nvSpPr>
          <p:cNvPr id="20" name="TextBox 19"/>
          <p:cNvSpPr txBox="1"/>
          <p:nvPr/>
        </p:nvSpPr>
        <p:spPr>
          <a:xfrm>
            <a:off x="12618720" y="4629150"/>
            <a:ext cx="4754880" cy="822960"/>
          </a:xfrm>
          <a:prstGeom prst="rect">
            <a:avLst/>
          </a:prstGeom>
          <a:noFill/>
        </p:spPr>
        <p:txBody>
          <a:bodyPr wrap="square"/>
          <a:lstStyle/>
          <a:p>
            <a:pPr algn="l"/>
            <a:r>
              <a:rPr b="0" i="1" sz="1200">
                <a:solidFill>
                  <a:srgbClr val="B8523A"/>
                </a:solidFill>
                <a:latin typeface="Arial"/>
              </a:rPr>
              <a:t>Quale segnale debole puo anticipare una decisione?</a:t>
            </a:r>
          </a:p>
        </p:txBody>
      </p:sp>
      <p:sp>
        <p:nvSpPr>
          <p:cNvPr id="21" name="TextBox 20"/>
          <p:cNvSpPr txBox="1"/>
          <p:nvPr/>
        </p:nvSpPr>
        <p:spPr>
          <a:xfrm>
            <a:off x="12618720" y="5554980"/>
            <a:ext cx="4754880" cy="1645920"/>
          </a:xfrm>
          <a:prstGeom prst="rect">
            <a:avLst/>
          </a:prstGeom>
          <a:noFill/>
        </p:spPr>
        <p:txBody>
          <a:bodyPr wrap="square"/>
          <a:lstStyle/>
          <a:p>
            <a:pPr algn="l"/>
            <a:r>
              <a:rPr b="0" i="0" sz="1100">
                <a:solidFill>
                  <a:srgbClr val="8A8175"/>
                </a:solidFill>
                <a:latin typeface="Arial"/>
              </a:rPr>
              <a:t>Frizioni, pattern emergenti, micro-cluster, comportamenti rari, rischi latenti, opportunita non ancora mainstream.</a:t>
            </a:r>
          </a:p>
        </p:txBody>
      </p:sp>
      <p:sp>
        <p:nvSpPr>
          <p:cNvPr id="22" name="TextBox 21"/>
          <p:cNvSpPr txBox="1"/>
          <p:nvPr/>
        </p:nvSpPr>
        <p:spPr>
          <a:xfrm>
            <a:off x="12618720" y="7303770"/>
            <a:ext cx="4754880" cy="1028700"/>
          </a:xfrm>
          <a:prstGeom prst="rect">
            <a:avLst/>
          </a:prstGeom>
          <a:noFill/>
        </p:spPr>
        <p:txBody>
          <a:bodyPr wrap="square"/>
          <a:lstStyle/>
          <a:p>
            <a:pPr algn="l"/>
            <a:r>
              <a:rPr b="0" i="1" sz="1000">
                <a:solidFill>
                  <a:srgbClr val="F3EDE1"/>
                </a:solidFill>
                <a:latin typeface="Arial"/>
              </a:rPr>
              <a:t>L'AI riduce il costo della sintesi. Quando questo costo scende, il centro di gravita si sposta sull'interpretazione.</a:t>
            </a:r>
          </a:p>
        </p:txBody>
      </p:sp>
      <p:sp>
        <p:nvSpPr>
          <p:cNvPr id="23" name="Rectangle 22"/>
          <p:cNvSpPr/>
          <p:nvPr/>
        </p:nvSpPr>
        <p:spPr>
          <a:xfrm>
            <a:off x="1097280" y="8846820"/>
            <a:ext cx="16093440" cy="102870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63040" y="9155430"/>
            <a:ext cx="15361920" cy="617220"/>
          </a:xfrm>
          <a:prstGeom prst="rect">
            <a:avLst/>
          </a:prstGeom>
          <a:noFill/>
        </p:spPr>
        <p:txBody>
          <a:bodyPr wrap="square"/>
          <a:lstStyle/>
          <a:p>
            <a:pPr algn="ctr"/>
            <a:r>
              <a:rPr b="0" i="1" sz="1200">
                <a:solidFill>
                  <a:srgbClr val="3D3833"/>
                </a:solidFill>
                <a:latin typeface="Arial"/>
              </a:rPr>
              <a:t>"Il volume racconta dove guardano tutti. La forma del rumore racconta dove si nasconde il vantaggio."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714"/>
        </a:solidFill>
        <a:effectLst/>
      </p:bgPr>
    </p:bg>
    <p:spTree>
      <p:nvGrpSpPr>
        <p:cNvPr id="1" name=""/>
        <p:cNvGrpSpPr/>
        <p:nvPr/>
      </p:nvGrpSpPr>
      <p:grpSpPr/>
      <p:sp>
        <p:nvSpPr>
          <p:cNvPr id="2" name="Rectangle 1"/>
          <p:cNvSpPr/>
          <p:nvPr/>
        </p:nvSpPr>
        <p:spPr>
          <a:xfrm>
            <a:off x="0" y="0"/>
            <a:ext cx="7680960" cy="10287000"/>
          </a:xfrm>
          <a:prstGeom prst="rect">
            <a:avLst/>
          </a:prstGeom>
          <a:solidFill>
            <a:srgbClr val="221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3086100"/>
            <a:ext cx="5852160" cy="4114800"/>
          </a:xfrm>
          <a:prstGeom prst="rect">
            <a:avLst/>
          </a:prstGeom>
          <a:noFill/>
        </p:spPr>
        <p:txBody>
          <a:bodyPr wrap="square"/>
          <a:lstStyle/>
          <a:p>
            <a:pPr algn="ctr"/>
            <a:r>
              <a:rPr b="0" i="0" sz="1600">
                <a:solidFill>
                  <a:srgbClr val="8A8175"/>
                </a:solidFill>
                <a:latin typeface="Arial"/>
              </a:rPr>
              <a:t>[FOTO
CRUYFF]</a:t>
            </a:r>
          </a:p>
        </p:txBody>
      </p:sp>
      <p:sp>
        <p:nvSpPr>
          <p:cNvPr id="4" name="Rectangle 3"/>
          <p:cNvSpPr/>
          <p:nvPr/>
        </p:nvSpPr>
        <p:spPr>
          <a:xfrm>
            <a:off x="7680960" y="2057400"/>
            <a:ext cx="548640" cy="6172200"/>
          </a:xfrm>
          <a:prstGeom prst="rect">
            <a:avLst/>
          </a:prstGeom>
          <a:solidFill>
            <a:srgbClr val="B85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2571750"/>
            <a:ext cx="8412480" cy="1440180"/>
          </a:xfrm>
          <a:prstGeom prst="rect">
            <a:avLst/>
          </a:prstGeom>
          <a:noFill/>
        </p:spPr>
        <p:txBody>
          <a:bodyPr wrap="square"/>
          <a:lstStyle/>
          <a:p>
            <a:pPr algn="l"/>
            <a:r>
              <a:rPr b="1" i="1" sz="2600">
                <a:solidFill>
                  <a:srgbClr val="F3EDE1"/>
                </a:solidFill>
                <a:latin typeface="Georgia"/>
              </a:rPr>
              <a:t>"Il calcio e semplice.</a:t>
            </a:r>
          </a:p>
        </p:txBody>
      </p:sp>
      <p:sp>
        <p:nvSpPr>
          <p:cNvPr id="6" name="TextBox 5"/>
          <p:cNvSpPr txBox="1"/>
          <p:nvPr/>
        </p:nvSpPr>
        <p:spPr>
          <a:xfrm>
            <a:off x="8778240" y="3909060"/>
            <a:ext cx="8412480" cy="1131570"/>
          </a:xfrm>
          <a:prstGeom prst="rect">
            <a:avLst/>
          </a:prstGeom>
          <a:noFill/>
        </p:spPr>
        <p:txBody>
          <a:bodyPr wrap="square"/>
          <a:lstStyle/>
          <a:p>
            <a:pPr algn="l"/>
            <a:r>
              <a:rPr b="1" i="1" sz="2600">
                <a:solidFill>
                  <a:srgbClr val="F3EDE1"/>
                </a:solidFill>
                <a:latin typeface="Georgia"/>
              </a:rPr>
              <a:t>Ma giocare a calcio in modo semplice</a:t>
            </a:r>
          </a:p>
        </p:txBody>
      </p:sp>
      <p:sp>
        <p:nvSpPr>
          <p:cNvPr id="7" name="TextBox 6"/>
          <p:cNvSpPr txBox="1"/>
          <p:nvPr/>
        </p:nvSpPr>
        <p:spPr>
          <a:xfrm>
            <a:off x="8778240" y="4937760"/>
            <a:ext cx="8412480" cy="1131570"/>
          </a:xfrm>
          <a:prstGeom prst="rect">
            <a:avLst/>
          </a:prstGeom>
          <a:noFill/>
        </p:spPr>
        <p:txBody>
          <a:bodyPr wrap="square"/>
          <a:lstStyle/>
          <a:p>
            <a:pPr algn="l"/>
            <a:r>
              <a:rPr b="1" i="1" sz="2600">
                <a:solidFill>
                  <a:srgbClr val="F3EDE1"/>
                </a:solidFill>
                <a:latin typeface="Georgia"/>
              </a:rPr>
              <a:t>e la cosa piu difficile che esista."</a:t>
            </a:r>
          </a:p>
        </p:txBody>
      </p:sp>
      <p:sp>
        <p:nvSpPr>
          <p:cNvPr id="8" name="TextBox 7"/>
          <p:cNvSpPr txBox="1"/>
          <p:nvPr/>
        </p:nvSpPr>
        <p:spPr>
          <a:xfrm>
            <a:off x="8778240" y="6377940"/>
            <a:ext cx="8412480" cy="720090"/>
          </a:xfrm>
          <a:prstGeom prst="rect">
            <a:avLst/>
          </a:prstGeom>
          <a:noFill/>
        </p:spPr>
        <p:txBody>
          <a:bodyPr wrap="square"/>
          <a:lstStyle/>
          <a:p>
            <a:pPr algn="l"/>
            <a:r>
              <a:rPr b="0" i="0" sz="1400">
                <a:solidFill>
                  <a:srgbClr val="B8523A"/>
                </a:solidFill>
                <a:latin typeface="Courier New"/>
              </a:rPr>
              <a:t>— Johan Cruyff</a:t>
            </a:r>
          </a:p>
        </p:txBody>
      </p:sp>
      <p:cxnSp>
        <p:nvCxnSpPr>
          <p:cNvPr id="9" name="Connector 8"/>
          <p:cNvCxnSpPr/>
          <p:nvPr/>
        </p:nvCxnSpPr>
        <p:spPr>
          <a:xfrm>
            <a:off x="8778240" y="7406640"/>
            <a:ext cx="804672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778240" y="7715250"/>
            <a:ext cx="8412480" cy="617220"/>
          </a:xfrm>
          <a:prstGeom prst="rect">
            <a:avLst/>
          </a:prstGeom>
          <a:noFill/>
        </p:spPr>
        <p:txBody>
          <a:bodyPr wrap="square"/>
          <a:lstStyle/>
          <a:p>
            <a:pPr algn="l"/>
            <a:r>
              <a:rPr b="0" i="0" sz="1300">
                <a:solidFill>
                  <a:srgbClr val="8A8175"/>
                </a:solidFill>
                <a:latin typeface="Arial"/>
              </a:rPr>
              <a:t>La complessita non e nel fare le cose difficili.</a:t>
            </a:r>
          </a:p>
        </p:txBody>
      </p:sp>
      <p:sp>
        <p:nvSpPr>
          <p:cNvPr id="11" name="TextBox 10"/>
          <p:cNvSpPr txBox="1"/>
          <p:nvPr/>
        </p:nvSpPr>
        <p:spPr>
          <a:xfrm>
            <a:off x="8778240" y="8332470"/>
            <a:ext cx="8412480" cy="617220"/>
          </a:xfrm>
          <a:prstGeom prst="rect">
            <a:avLst/>
          </a:prstGeom>
          <a:noFill/>
        </p:spPr>
        <p:txBody>
          <a:bodyPr wrap="square"/>
          <a:lstStyle/>
          <a:p>
            <a:pPr algn="l"/>
            <a:r>
              <a:rPr b="0" i="0" sz="1300">
                <a:solidFill>
                  <a:srgbClr val="8A8175"/>
                </a:solidFill>
                <a:latin typeface="Arial"/>
              </a:rPr>
              <a:t>E nel rendere le cose complesse semplici, chiare, leggibili.</a:t>
            </a:r>
          </a:p>
        </p:txBody>
      </p:sp>
      <p:sp>
        <p:nvSpPr>
          <p:cNvPr id="12" name="TextBox 11"/>
          <p:cNvSpPr txBox="1"/>
          <p:nvPr/>
        </p:nvSpPr>
        <p:spPr>
          <a:xfrm>
            <a:off x="8778240" y="8949690"/>
            <a:ext cx="8412480" cy="617220"/>
          </a:xfrm>
          <a:prstGeom prst="rect">
            <a:avLst/>
          </a:prstGeom>
          <a:noFill/>
        </p:spPr>
        <p:txBody>
          <a:bodyPr wrap="square"/>
          <a:lstStyle/>
          <a:p>
            <a:pPr algn="l"/>
            <a:r>
              <a:rPr b="0" i="0" sz="1300">
                <a:solidFill>
                  <a:srgbClr val="B8523A"/>
                </a:solidFill>
                <a:latin typeface="Arial"/>
              </a:rPr>
              <a:t>Questo e il nostro mestiere. L'AI non lo cambia — lo amplifica.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EDE1"/>
        </a:solidFill>
        <a:effectLst/>
      </p:bgPr>
    </p:bg>
    <p:spTree>
      <p:nvGrpSpPr>
        <p:cNvPr id="1" name=""/>
        <p:cNvGrpSpPr/>
        <p:nvPr/>
      </p:nvGrpSpPr>
      <p:grpSpPr/>
      <p:sp>
        <p:nvSpPr>
          <p:cNvPr id="2" name="TextBox 1"/>
          <p:cNvSpPr txBox="1"/>
          <p:nvPr/>
        </p:nvSpPr>
        <p:spPr>
          <a:xfrm>
            <a:off x="1097280" y="617220"/>
            <a:ext cx="16733520" cy="320040"/>
          </a:xfrm>
          <a:prstGeom prst="rect">
            <a:avLst/>
          </a:prstGeom>
          <a:noFill/>
        </p:spPr>
        <p:txBody>
          <a:bodyPr wrap="square"/>
          <a:lstStyle/>
          <a:p>
            <a:pPr algn="l"/>
            <a:r>
              <a:rPr b="1" i="0" sz="1000">
                <a:solidFill>
                  <a:srgbClr val="B8523A"/>
                </a:solidFill>
                <a:latin typeface="Courier New"/>
              </a:rPr>
              <a:t>●  CAPITOLO 7 — AI E L'ANALISTA</a:t>
            </a:r>
          </a:p>
        </p:txBody>
      </p:sp>
      <p:sp>
        <p:nvSpPr>
          <p:cNvPr id="3" name="TextBox 2"/>
          <p:cNvSpPr txBox="1"/>
          <p:nvPr/>
        </p:nvSpPr>
        <p:spPr>
          <a:xfrm>
            <a:off x="1097280" y="1337310"/>
            <a:ext cx="16093440" cy="925830"/>
          </a:xfrm>
          <a:prstGeom prst="rect">
            <a:avLst/>
          </a:prstGeom>
          <a:noFill/>
        </p:spPr>
        <p:txBody>
          <a:bodyPr wrap="square"/>
          <a:lstStyle/>
          <a:p>
            <a:pPr algn="l"/>
            <a:r>
              <a:rPr b="1" i="0" sz="2400">
                <a:solidFill>
                  <a:srgbClr val="3D3833"/>
                </a:solidFill>
                <a:latin typeface="Georgia"/>
              </a:rPr>
              <a:t>La domanda sbagliata e: l'AI mi sostituira?</a:t>
            </a:r>
          </a:p>
        </p:txBody>
      </p:sp>
      <p:sp>
        <p:nvSpPr>
          <p:cNvPr id="4" name="TextBox 3"/>
          <p:cNvSpPr txBox="1"/>
          <p:nvPr/>
        </p:nvSpPr>
        <p:spPr>
          <a:xfrm>
            <a:off x="1097280" y="2263140"/>
            <a:ext cx="16093440" cy="822960"/>
          </a:xfrm>
          <a:prstGeom prst="rect">
            <a:avLst/>
          </a:prstGeom>
          <a:noFill/>
        </p:spPr>
        <p:txBody>
          <a:bodyPr wrap="square"/>
          <a:lstStyle/>
          <a:p>
            <a:pPr algn="l"/>
            <a:r>
              <a:rPr b="1" i="0" sz="1800">
                <a:solidFill>
                  <a:srgbClr val="B8523A"/>
                </a:solidFill>
                <a:latin typeface="Georgia"/>
              </a:rPr>
              <a:t>La domanda giusta e: cosa posso fare adesso che prima non potevo?</a:t>
            </a:r>
          </a:p>
        </p:txBody>
      </p:sp>
      <p:cxnSp>
        <p:nvCxnSpPr>
          <p:cNvPr id="5" name="Connector 4"/>
          <p:cNvCxnSpPr/>
          <p:nvPr/>
        </p:nvCxnSpPr>
        <p:spPr>
          <a:xfrm>
            <a:off x="1097280" y="3291840"/>
            <a:ext cx="1609344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1097280" y="3600450"/>
            <a:ext cx="7315200" cy="5863589"/>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3806190"/>
            <a:ext cx="6949440" cy="720090"/>
          </a:xfrm>
          <a:prstGeom prst="rect">
            <a:avLst/>
          </a:prstGeom>
          <a:noFill/>
        </p:spPr>
        <p:txBody>
          <a:bodyPr wrap="square"/>
          <a:lstStyle/>
          <a:p>
            <a:pPr algn="l"/>
            <a:r>
              <a:rPr b="1" i="0" sz="1100">
                <a:solidFill>
                  <a:srgbClr val="B8523A"/>
                </a:solidFill>
                <a:latin typeface="Courier New"/>
              </a:rPr>
              <a:t>TASK LAYER — COSA ACCELERA L'AI</a:t>
            </a:r>
          </a:p>
        </p:txBody>
      </p:sp>
      <p:sp>
        <p:nvSpPr>
          <p:cNvPr id="8" name="TextBox 7"/>
          <p:cNvSpPr txBox="1"/>
          <p:nvPr/>
        </p:nvSpPr>
        <p:spPr>
          <a:xfrm>
            <a:off x="1280160" y="4629150"/>
            <a:ext cx="6949440" cy="4526280"/>
          </a:xfrm>
          <a:prstGeom prst="rect">
            <a:avLst/>
          </a:prstGeom>
          <a:noFill/>
        </p:spPr>
        <p:txBody>
          <a:bodyPr wrap="square">
            <a:spAutoFit/>
          </a:bodyPr>
          <a:lstStyle/>
          <a:p>
            <a:pPr algn="l"/>
            <a:r>
              <a:rPr b="0" i="0" sz="1200">
                <a:solidFill>
                  <a:srgbClr val="3D3833"/>
                </a:solidFill>
                <a:latin typeface="Arial"/>
              </a:rPr>
              <a:t>Un collaboratore che non dorme, non si stanca,</a:t>
            </a:r>
          </a:p>
          <a:p>
            <a:pPr algn="l"/>
            <a:r>
              <a:rPr b="0" i="0" sz="1200">
                <a:solidFill>
                  <a:srgbClr val="3D3833"/>
                </a:solidFill>
                <a:latin typeface="Arial"/>
              </a:rPr>
              <a:t>legge un milione di conversazioni in un'ora.</a:t>
            </a:r>
          </a:p>
          <a:p>
            <a:pPr algn="l"/>
            <a:r>
              <a:t/>
            </a:r>
          </a:p>
          <a:p>
            <a:pPr algn="l"/>
            <a:r>
              <a:rPr b="0" i="0" sz="1200">
                <a:solidFill>
                  <a:srgbClr val="3D3833"/>
                </a:solidFill>
                <a:latin typeface="Arial"/>
              </a:rPr>
              <a:t>+  Sintesi di volumi enormi di conversazioni</a:t>
            </a:r>
          </a:p>
          <a:p>
            <a:pPr algn="l"/>
            <a:r>
              <a:rPr b="0" i="0" sz="1200">
                <a:solidFill>
                  <a:srgbClr val="3D3833"/>
                </a:solidFill>
                <a:latin typeface="Arial"/>
              </a:rPr>
              <a:t>+  Clustering e tagging preliminare</a:t>
            </a:r>
          </a:p>
          <a:p>
            <a:pPr algn="l"/>
            <a:r>
              <a:rPr b="0" i="0" sz="1200">
                <a:solidFill>
                  <a:srgbClr val="3D3833"/>
                </a:solidFill>
                <a:latin typeface="Arial"/>
              </a:rPr>
              <a:t>+  Classificazione topic e sentiment</a:t>
            </a:r>
          </a:p>
          <a:p>
            <a:pPr algn="l"/>
            <a:r>
              <a:rPr b="0" i="0" sz="1200">
                <a:solidFill>
                  <a:srgbClr val="3D3833"/>
                </a:solidFill>
                <a:latin typeface="Arial"/>
              </a:rPr>
              <a:t>+  Riconoscimento pattern di base</a:t>
            </a:r>
          </a:p>
          <a:p>
            <a:pPr algn="l"/>
            <a:r>
              <a:rPr b="0" i="0" sz="1200">
                <a:solidFill>
                  <a:srgbClr val="3D3833"/>
                </a:solidFill>
                <a:latin typeface="Arial"/>
              </a:rPr>
              <a:t>+  Generazione bozze di report</a:t>
            </a:r>
          </a:p>
          <a:p>
            <a:pPr algn="l"/>
            <a:r>
              <a:rPr b="0" i="0" sz="1200">
                <a:solidFill>
                  <a:srgbClr val="3D3833"/>
                </a:solidFill>
                <a:latin typeface="Arial"/>
              </a:rPr>
              <a:t>+  Esplorazione rapida di ipotesi analitiche</a:t>
            </a:r>
          </a:p>
          <a:p>
            <a:pPr algn="l"/>
            <a:r>
              <a:t/>
            </a:r>
          </a:p>
          <a:p>
            <a:pPr algn="l"/>
            <a:r>
              <a:rPr b="1" i="0" sz="1200">
                <a:solidFill>
                  <a:srgbClr val="8A8175"/>
                </a:solidFill>
                <a:latin typeface="Arial"/>
              </a:rPr>
              <a:t>E straordinario. Ed e gia disponibile.</a:t>
            </a:r>
          </a:p>
          <a:p>
            <a:pPr algn="l"/>
            <a:r>
              <a:rPr b="1" i="0" sz="1200">
                <a:solidFill>
                  <a:srgbClr val="8A8175"/>
                </a:solidFill>
                <a:latin typeface="Arial"/>
              </a:rPr>
              <a:t>Ma non sa PERCHE sta facendo quello che fa.</a:t>
            </a:r>
          </a:p>
          <a:p>
            <a:pPr algn="l"/>
            <a:r>
              <a:rPr b="1" i="0" sz="1200">
                <a:solidFill>
                  <a:srgbClr val="8A8175"/>
                </a:solidFill>
                <a:latin typeface="Arial"/>
              </a:rPr>
              <a:t>Non ha contesto. Non ha giudizio.</a:t>
            </a:r>
          </a:p>
        </p:txBody>
      </p:sp>
      <p:sp>
        <p:nvSpPr>
          <p:cNvPr id="9" name="Rectangle 8"/>
          <p:cNvSpPr/>
          <p:nvPr/>
        </p:nvSpPr>
        <p:spPr>
          <a:xfrm>
            <a:off x="9509760" y="3600450"/>
            <a:ext cx="7315200" cy="5863589"/>
          </a:xfrm>
          <a:prstGeom prst="rect">
            <a:avLst/>
          </a:prstGeom>
          <a:solidFill>
            <a:srgbClr val="3D3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0" y="3806190"/>
            <a:ext cx="6949440" cy="720090"/>
          </a:xfrm>
          <a:prstGeom prst="rect">
            <a:avLst/>
          </a:prstGeom>
          <a:noFill/>
        </p:spPr>
        <p:txBody>
          <a:bodyPr wrap="square"/>
          <a:lstStyle/>
          <a:p>
            <a:pPr algn="l"/>
            <a:r>
              <a:rPr b="1" i="0" sz="1100">
                <a:solidFill>
                  <a:srgbClr val="B8523A"/>
                </a:solidFill>
                <a:latin typeface="Courier New"/>
              </a:rPr>
              <a:t>JUDGEMENT LAYER — COSA RESTA UMANO</a:t>
            </a:r>
          </a:p>
        </p:txBody>
      </p:sp>
      <p:sp>
        <p:nvSpPr>
          <p:cNvPr id="11" name="TextBox 10"/>
          <p:cNvSpPr txBox="1"/>
          <p:nvPr/>
        </p:nvSpPr>
        <p:spPr>
          <a:xfrm>
            <a:off x="9692640" y="4629150"/>
            <a:ext cx="6949440" cy="4526280"/>
          </a:xfrm>
          <a:prstGeom prst="rect">
            <a:avLst/>
          </a:prstGeom>
          <a:noFill/>
        </p:spPr>
        <p:txBody>
          <a:bodyPr wrap="square">
            <a:spAutoFit/>
          </a:bodyPr>
          <a:lstStyle/>
          <a:p>
            <a:pPr algn="l"/>
            <a:r>
              <a:rPr b="0" i="0" sz="1200">
                <a:solidFill>
                  <a:srgbClr val="F3EDE1"/>
                </a:solidFill>
                <a:latin typeface="Arial"/>
              </a:rPr>
              <a:t>Queste non sono attivita di contorno.</a:t>
            </a:r>
          </a:p>
          <a:p>
            <a:pPr algn="l"/>
            <a:r>
              <a:rPr b="1" i="0" sz="1200">
                <a:solidFill>
                  <a:srgbClr val="B8523A"/>
                </a:solidFill>
                <a:latin typeface="Arial"/>
              </a:rPr>
              <a:t>Sono il mestiere.</a:t>
            </a:r>
          </a:p>
          <a:p>
            <a:pPr algn="l"/>
            <a:r>
              <a:t/>
            </a:r>
          </a:p>
          <a:p>
            <a:pPr algn="l"/>
            <a:r>
              <a:rPr b="0" i="0" sz="1200">
                <a:solidFill>
                  <a:srgbClr val="F3EDE1"/>
                </a:solidFill>
                <a:latin typeface="Arial"/>
              </a:rPr>
              <a:t>+  Formulare la domanda di business giusta</a:t>
            </a:r>
          </a:p>
          <a:p>
            <a:pPr algn="l"/>
            <a:r>
              <a:rPr b="0" i="0" sz="1200">
                <a:solidFill>
                  <a:srgbClr val="F3EDE1"/>
                </a:solidFill>
                <a:latin typeface="Arial"/>
              </a:rPr>
              <a:t>+  Validare l'affidabilita del dato</a:t>
            </a:r>
          </a:p>
          <a:p>
            <a:pPr algn="l"/>
            <a:r>
              <a:rPr b="0" i="0" sz="1100">
                <a:solidFill>
                  <a:srgbClr val="8A8175"/>
                </a:solidFill>
                <a:latin typeface="Arial"/>
              </a:rPr>
              <a:t>   (spike coordinati vs conversazione organica)</a:t>
            </a:r>
          </a:p>
          <a:p>
            <a:pPr algn="l"/>
            <a:r>
              <a:rPr b="0" i="0" sz="1200">
                <a:solidFill>
                  <a:srgbClr val="F3EDE1"/>
                </a:solidFill>
                <a:latin typeface="Arial"/>
              </a:rPr>
              <a:t>+  Riconoscere bias e contesto culturale</a:t>
            </a:r>
          </a:p>
          <a:p>
            <a:pPr algn="l"/>
            <a:r>
              <a:rPr b="0" i="0" sz="1100">
                <a:solidFill>
                  <a:srgbClr val="8A8175"/>
                </a:solidFill>
                <a:latin typeface="Arial"/>
              </a:rPr>
              <a:t>   (l'ironia italiana, il codice di community)</a:t>
            </a:r>
          </a:p>
          <a:p>
            <a:pPr algn="l"/>
            <a:r>
              <a:rPr b="0" i="0" sz="1200">
                <a:solidFill>
                  <a:srgbClr val="F3EDE1"/>
                </a:solidFill>
                <a:latin typeface="Arial"/>
              </a:rPr>
              <a:t>+  Collegare l'insight alla decisione giusta</a:t>
            </a:r>
          </a:p>
          <a:p>
            <a:pPr algn="l"/>
            <a:r>
              <a:rPr b="0" i="0" sz="1200">
                <a:solidFill>
                  <a:srgbClr val="F3EDE1"/>
                </a:solidFill>
                <a:latin typeface="Arial"/>
              </a:rPr>
              <a:t>+  Sapere a chi portarlo, quando, come</a:t>
            </a:r>
          </a:p>
          <a:p>
            <a:pPr algn="l"/>
            <a:r>
              <a:rPr b="0" i="0" sz="1200">
                <a:solidFill>
                  <a:srgbClr val="F3EDE1"/>
                </a:solidFill>
                <a:latin typeface="Arial"/>
              </a:rPr>
              <a:t>+  Portare una verita scomoda nella stanza giusta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EDE1"/>
        </a:solidFill>
        <a:effectLst/>
      </p:bgPr>
    </p:bg>
    <p:spTree>
      <p:nvGrpSpPr>
        <p:cNvPr id="1" name=""/>
        <p:cNvGrpSpPr/>
        <p:nvPr/>
      </p:nvGrpSpPr>
      <p:grpSpPr/>
      <p:sp>
        <p:nvSpPr>
          <p:cNvPr id="2" name="TextBox 1"/>
          <p:cNvSpPr txBox="1"/>
          <p:nvPr/>
        </p:nvSpPr>
        <p:spPr>
          <a:xfrm>
            <a:off x="1097280" y="617220"/>
            <a:ext cx="16733520" cy="320040"/>
          </a:xfrm>
          <a:prstGeom prst="rect">
            <a:avLst/>
          </a:prstGeom>
          <a:noFill/>
        </p:spPr>
        <p:txBody>
          <a:bodyPr wrap="square"/>
          <a:lstStyle/>
          <a:p>
            <a:pPr algn="l"/>
            <a:r>
              <a:rPr b="1" i="0" sz="1000">
                <a:solidFill>
                  <a:srgbClr val="B8523A"/>
                </a:solidFill>
                <a:latin typeface="Courier New"/>
              </a:rPr>
              <a:t>●  AI E L'ANALISTA — IL NUOVO WORKFLOW</a:t>
            </a:r>
          </a:p>
        </p:txBody>
      </p:sp>
      <p:sp>
        <p:nvSpPr>
          <p:cNvPr id="3" name="TextBox 2"/>
          <p:cNvSpPr txBox="1"/>
          <p:nvPr/>
        </p:nvSpPr>
        <p:spPr>
          <a:xfrm>
            <a:off x="1097280" y="1337310"/>
            <a:ext cx="16093440" cy="925830"/>
          </a:xfrm>
          <a:prstGeom prst="rect">
            <a:avLst/>
          </a:prstGeom>
          <a:noFill/>
        </p:spPr>
        <p:txBody>
          <a:bodyPr wrap="square"/>
          <a:lstStyle/>
          <a:p>
            <a:pPr algn="l"/>
            <a:r>
              <a:rPr b="1" i="0" sz="2000">
                <a:solidFill>
                  <a:srgbClr val="3D3833"/>
                </a:solidFill>
                <a:latin typeface="Georgia"/>
              </a:rPr>
              <a:t>Il cambiamento non e nel tool. E nell'architettura del pensiero che precede il tool.</a:t>
            </a:r>
          </a:p>
        </p:txBody>
      </p:sp>
      <p:sp>
        <p:nvSpPr>
          <p:cNvPr id="4" name="TextBox 3"/>
          <p:cNvSpPr txBox="1"/>
          <p:nvPr/>
        </p:nvSpPr>
        <p:spPr>
          <a:xfrm>
            <a:off x="1097280" y="2468880"/>
            <a:ext cx="16093440" cy="514350"/>
          </a:xfrm>
          <a:prstGeom prst="rect">
            <a:avLst/>
          </a:prstGeom>
          <a:noFill/>
        </p:spPr>
        <p:txBody>
          <a:bodyPr wrap="square"/>
          <a:lstStyle/>
          <a:p>
            <a:pPr algn="l"/>
            <a:r>
              <a:rPr b="0" i="0" sz="1100">
                <a:solidFill>
                  <a:srgbClr val="8A8175"/>
                </a:solidFill>
                <a:latin typeface="Arial"/>
              </a:rPr>
              <a:t>Il vecchio workflow: apri il tool, digita il nome del brand, leggi quello che esce, scrivi il report. Funzionava — ma era lento,</a:t>
            </a:r>
          </a:p>
        </p:txBody>
      </p:sp>
      <p:sp>
        <p:nvSpPr>
          <p:cNvPr id="5" name="TextBox 4"/>
          <p:cNvSpPr txBox="1"/>
          <p:nvPr/>
        </p:nvSpPr>
        <p:spPr>
          <a:xfrm>
            <a:off x="1097280" y="2880360"/>
            <a:ext cx="16093440" cy="514350"/>
          </a:xfrm>
          <a:prstGeom prst="rect">
            <a:avLst/>
          </a:prstGeom>
          <a:noFill/>
        </p:spPr>
        <p:txBody>
          <a:bodyPr wrap="square"/>
          <a:lstStyle/>
          <a:p>
            <a:pPr algn="l"/>
            <a:r>
              <a:rPr b="0" i="0" sz="1100">
                <a:solidFill>
                  <a:srgbClr val="8A8175"/>
                </a:solidFill>
                <a:latin typeface="Arial"/>
              </a:rPr>
              <a:t>spesso incompleto, quasi sempre arrivava dopo che le decisioni erano gia state prese. Il nuovo workflow e strutturale.</a:t>
            </a:r>
          </a:p>
        </p:txBody>
      </p:sp>
      <p:cxnSp>
        <p:nvCxnSpPr>
          <p:cNvPr id="6" name="Connector 5"/>
          <p:cNvCxnSpPr/>
          <p:nvPr/>
        </p:nvCxnSpPr>
        <p:spPr>
          <a:xfrm>
            <a:off x="1097280" y="3600450"/>
            <a:ext cx="1609344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1097280" y="3909060"/>
            <a:ext cx="3017520" cy="565785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4114800"/>
            <a:ext cx="2926080" cy="617220"/>
          </a:xfrm>
          <a:prstGeom prst="rect">
            <a:avLst/>
          </a:prstGeom>
          <a:noFill/>
        </p:spPr>
        <p:txBody>
          <a:bodyPr wrap="square"/>
          <a:lstStyle/>
          <a:p>
            <a:pPr algn="l"/>
            <a:r>
              <a:rPr b="1" i="0" sz="1000">
                <a:solidFill>
                  <a:srgbClr val="B8523A"/>
                </a:solidFill>
                <a:latin typeface="Courier New"/>
              </a:rPr>
              <a:t>01</a:t>
            </a:r>
          </a:p>
        </p:txBody>
      </p:sp>
      <p:sp>
        <p:nvSpPr>
          <p:cNvPr id="9" name="TextBox 8"/>
          <p:cNvSpPr txBox="1"/>
          <p:nvPr/>
        </p:nvSpPr>
        <p:spPr>
          <a:xfrm>
            <a:off x="1188720" y="4834890"/>
            <a:ext cx="2926080" cy="1028700"/>
          </a:xfrm>
          <a:prstGeom prst="rect">
            <a:avLst/>
          </a:prstGeom>
          <a:noFill/>
        </p:spPr>
        <p:txBody>
          <a:bodyPr wrap="square"/>
          <a:lstStyle/>
          <a:p>
            <a:pPr algn="l"/>
            <a:r>
              <a:rPr b="1" i="0" sz="1200">
                <a:solidFill>
                  <a:srgbClr val="3D3833"/>
                </a:solidFill>
                <a:latin typeface="Arial"/>
              </a:rPr>
              <a:t>DOMANDA
DI BUSINESS</a:t>
            </a:r>
          </a:p>
        </p:txBody>
      </p:sp>
      <p:sp>
        <p:nvSpPr>
          <p:cNvPr id="10" name="TextBox 9"/>
          <p:cNvSpPr txBox="1"/>
          <p:nvPr/>
        </p:nvSpPr>
        <p:spPr>
          <a:xfrm>
            <a:off x="1188720" y="6069330"/>
            <a:ext cx="2926080" cy="2263140"/>
          </a:xfrm>
          <a:prstGeom prst="rect">
            <a:avLst/>
          </a:prstGeom>
          <a:noFill/>
        </p:spPr>
        <p:txBody>
          <a:bodyPr wrap="square"/>
          <a:lstStyle/>
          <a:p>
            <a:pPr algn="l"/>
            <a:r>
              <a:rPr b="0" i="0" sz="1000">
                <a:solidFill>
                  <a:srgbClr val="8A8175"/>
                </a:solidFill>
                <a:latin typeface="Arial"/>
              </a:rPr>
              <a:t>Non 'cosa sta succedendo sul brand?' ma 'perche i nuovi clienti non convertono?' La domanda precede tutto.</a:t>
            </a:r>
          </a:p>
        </p:txBody>
      </p:sp>
      <p:sp>
        <p:nvSpPr>
          <p:cNvPr id="11" name="TextBox 10"/>
          <p:cNvSpPr txBox="1"/>
          <p:nvPr/>
        </p:nvSpPr>
        <p:spPr>
          <a:xfrm>
            <a:off x="1188720" y="8435340"/>
            <a:ext cx="2926080" cy="822960"/>
          </a:xfrm>
          <a:prstGeom prst="rect">
            <a:avLst/>
          </a:prstGeom>
          <a:noFill/>
        </p:spPr>
        <p:txBody>
          <a:bodyPr wrap="square"/>
          <a:lstStyle/>
          <a:p>
            <a:pPr algn="l"/>
            <a:r>
              <a:rPr b="0" i="0" sz="900">
                <a:solidFill>
                  <a:srgbClr val="B8523A"/>
                </a:solidFill>
                <a:latin typeface="Courier New"/>
              </a:rPr>
              <a:t>[SL]  [Search]  [Survey]  [CRM]</a:t>
            </a:r>
          </a:p>
        </p:txBody>
      </p:sp>
      <p:sp>
        <p:nvSpPr>
          <p:cNvPr id="12" name="Rectangle 11"/>
          <p:cNvSpPr/>
          <p:nvPr/>
        </p:nvSpPr>
        <p:spPr>
          <a:xfrm>
            <a:off x="4224528" y="3909060"/>
            <a:ext cx="3017520" cy="565785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15968" y="4114800"/>
            <a:ext cx="2926080" cy="617220"/>
          </a:xfrm>
          <a:prstGeom prst="rect">
            <a:avLst/>
          </a:prstGeom>
          <a:noFill/>
        </p:spPr>
        <p:txBody>
          <a:bodyPr wrap="square"/>
          <a:lstStyle/>
          <a:p>
            <a:pPr algn="l"/>
            <a:r>
              <a:rPr b="1" i="0" sz="1000">
                <a:solidFill>
                  <a:srgbClr val="B8523A"/>
                </a:solidFill>
                <a:latin typeface="Courier New"/>
              </a:rPr>
              <a:t>02</a:t>
            </a:r>
          </a:p>
        </p:txBody>
      </p:sp>
      <p:sp>
        <p:nvSpPr>
          <p:cNvPr id="14" name="TextBox 13"/>
          <p:cNvSpPr txBox="1"/>
          <p:nvPr/>
        </p:nvSpPr>
        <p:spPr>
          <a:xfrm>
            <a:off x="4315968" y="4834890"/>
            <a:ext cx="2926080" cy="1028700"/>
          </a:xfrm>
          <a:prstGeom prst="rect">
            <a:avLst/>
          </a:prstGeom>
          <a:noFill/>
        </p:spPr>
        <p:txBody>
          <a:bodyPr wrap="square"/>
          <a:lstStyle/>
          <a:p>
            <a:pPr algn="l"/>
            <a:r>
              <a:rPr b="1" i="0" sz="1200">
                <a:solidFill>
                  <a:srgbClr val="3D3833"/>
                </a:solidFill>
                <a:latin typeface="Arial"/>
              </a:rPr>
              <a:t>SCELTA
DELLE FONTI</a:t>
            </a:r>
          </a:p>
        </p:txBody>
      </p:sp>
      <p:sp>
        <p:nvSpPr>
          <p:cNvPr id="15" name="TextBox 14"/>
          <p:cNvSpPr txBox="1"/>
          <p:nvPr/>
        </p:nvSpPr>
        <p:spPr>
          <a:xfrm>
            <a:off x="4315968" y="6069330"/>
            <a:ext cx="2926080" cy="2263140"/>
          </a:xfrm>
          <a:prstGeom prst="rect">
            <a:avLst/>
          </a:prstGeom>
          <a:noFill/>
        </p:spPr>
        <p:txBody>
          <a:bodyPr wrap="square"/>
          <a:lstStyle/>
          <a:p>
            <a:pPr algn="l"/>
            <a:r>
              <a:rPr b="0" i="0" sz="1000">
                <a:solidFill>
                  <a:srgbClr val="8A8175"/>
                </a:solidFill>
                <a:latin typeface="Arial"/>
              </a:rPr>
              <a:t>Non una fonte — le fonti giuste per quella specifica domanda. Ogni fonte e una finestra con un angolo unico.</a:t>
            </a:r>
          </a:p>
        </p:txBody>
      </p:sp>
      <p:sp>
        <p:nvSpPr>
          <p:cNvPr id="16" name="TextBox 15"/>
          <p:cNvSpPr txBox="1"/>
          <p:nvPr/>
        </p:nvSpPr>
        <p:spPr>
          <a:xfrm>
            <a:off x="4315968" y="8435340"/>
            <a:ext cx="2926080" cy="822960"/>
          </a:xfrm>
          <a:prstGeom prst="rect">
            <a:avLst/>
          </a:prstGeom>
          <a:noFill/>
        </p:spPr>
        <p:txBody>
          <a:bodyPr wrap="square"/>
          <a:lstStyle/>
          <a:p>
            <a:pPr algn="l"/>
            <a:r>
              <a:rPr b="0" i="0" sz="900">
                <a:solidFill>
                  <a:srgbClr val="B8523A"/>
                </a:solidFill>
                <a:latin typeface="Courier New"/>
              </a:rPr>
              <a:t>[Review]  [Forum]  [News]  [CX]</a:t>
            </a:r>
          </a:p>
        </p:txBody>
      </p:sp>
      <p:sp>
        <p:nvSpPr>
          <p:cNvPr id="17" name="Rectangle 16"/>
          <p:cNvSpPr/>
          <p:nvPr/>
        </p:nvSpPr>
        <p:spPr>
          <a:xfrm>
            <a:off x="7351776" y="3909060"/>
            <a:ext cx="3017520" cy="565785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43216" y="4114800"/>
            <a:ext cx="2926080" cy="617220"/>
          </a:xfrm>
          <a:prstGeom prst="rect">
            <a:avLst/>
          </a:prstGeom>
          <a:noFill/>
        </p:spPr>
        <p:txBody>
          <a:bodyPr wrap="square"/>
          <a:lstStyle/>
          <a:p>
            <a:pPr algn="l"/>
            <a:r>
              <a:rPr b="1" i="0" sz="1000">
                <a:solidFill>
                  <a:srgbClr val="B8523A"/>
                </a:solidFill>
                <a:latin typeface="Courier New"/>
              </a:rPr>
              <a:t>03</a:t>
            </a:r>
          </a:p>
        </p:txBody>
      </p:sp>
      <p:sp>
        <p:nvSpPr>
          <p:cNvPr id="19" name="TextBox 18"/>
          <p:cNvSpPr txBox="1"/>
          <p:nvPr/>
        </p:nvSpPr>
        <p:spPr>
          <a:xfrm>
            <a:off x="7443216" y="4834890"/>
            <a:ext cx="2926080" cy="1028700"/>
          </a:xfrm>
          <a:prstGeom prst="rect">
            <a:avLst/>
          </a:prstGeom>
          <a:noFill/>
        </p:spPr>
        <p:txBody>
          <a:bodyPr wrap="square"/>
          <a:lstStyle/>
          <a:p>
            <a:pPr algn="l"/>
            <a:r>
              <a:rPr b="1" i="0" sz="1200">
                <a:solidFill>
                  <a:srgbClr val="3D3833"/>
                </a:solidFill>
                <a:latin typeface="Arial"/>
              </a:rPr>
              <a:t>SINTESI
AI-DRIVEN</a:t>
            </a:r>
          </a:p>
        </p:txBody>
      </p:sp>
      <p:sp>
        <p:nvSpPr>
          <p:cNvPr id="20" name="TextBox 19"/>
          <p:cNvSpPr txBox="1"/>
          <p:nvPr/>
        </p:nvSpPr>
        <p:spPr>
          <a:xfrm>
            <a:off x="7443216" y="6069330"/>
            <a:ext cx="2926080" cy="2263140"/>
          </a:xfrm>
          <a:prstGeom prst="rect">
            <a:avLst/>
          </a:prstGeom>
          <a:noFill/>
        </p:spPr>
        <p:txBody>
          <a:bodyPr wrap="square"/>
          <a:lstStyle/>
          <a:p>
            <a:pPr algn="l"/>
            <a:r>
              <a:rPr b="0" i="0" sz="1000">
                <a:solidFill>
                  <a:srgbClr val="8A8175"/>
                </a:solidFill>
                <a:latin typeface="Arial"/>
              </a:rPr>
              <a:t>L'AI sintetizza, raggruppa, identifica pattern. Veloce, scalabile, instancabile. Questo e il Task Layer.</a:t>
            </a:r>
          </a:p>
        </p:txBody>
      </p:sp>
      <p:sp>
        <p:nvSpPr>
          <p:cNvPr id="21" name="TextBox 20"/>
          <p:cNvSpPr txBox="1"/>
          <p:nvPr/>
        </p:nvSpPr>
        <p:spPr>
          <a:xfrm>
            <a:off x="7443216" y="8435340"/>
            <a:ext cx="2926080" cy="822960"/>
          </a:xfrm>
          <a:prstGeom prst="rect">
            <a:avLst/>
          </a:prstGeom>
          <a:noFill/>
        </p:spPr>
        <p:txBody>
          <a:bodyPr wrap="square"/>
          <a:lstStyle/>
          <a:p>
            <a:pPr algn="l"/>
            <a:r>
              <a:rPr b="0" i="0" sz="900">
                <a:solidFill>
                  <a:srgbClr val="B8523A"/>
                </a:solidFill>
                <a:latin typeface="Courier New"/>
              </a:rPr>
              <a:t>[GPT]  [Claude]  [Gemini]</a:t>
            </a:r>
          </a:p>
        </p:txBody>
      </p:sp>
      <p:sp>
        <p:nvSpPr>
          <p:cNvPr id="22" name="Rectangle 21"/>
          <p:cNvSpPr/>
          <p:nvPr/>
        </p:nvSpPr>
        <p:spPr>
          <a:xfrm>
            <a:off x="10479024" y="3909060"/>
            <a:ext cx="3017520" cy="565785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70464" y="4114800"/>
            <a:ext cx="2926080" cy="617220"/>
          </a:xfrm>
          <a:prstGeom prst="rect">
            <a:avLst/>
          </a:prstGeom>
          <a:noFill/>
        </p:spPr>
        <p:txBody>
          <a:bodyPr wrap="square"/>
          <a:lstStyle/>
          <a:p>
            <a:pPr algn="l"/>
            <a:r>
              <a:rPr b="1" i="0" sz="1000">
                <a:solidFill>
                  <a:srgbClr val="B8523A"/>
                </a:solidFill>
                <a:latin typeface="Courier New"/>
              </a:rPr>
              <a:t>04</a:t>
            </a:r>
          </a:p>
        </p:txBody>
      </p:sp>
      <p:sp>
        <p:nvSpPr>
          <p:cNvPr id="24" name="TextBox 23"/>
          <p:cNvSpPr txBox="1"/>
          <p:nvPr/>
        </p:nvSpPr>
        <p:spPr>
          <a:xfrm>
            <a:off x="10570464" y="4834890"/>
            <a:ext cx="2926080" cy="1028700"/>
          </a:xfrm>
          <a:prstGeom prst="rect">
            <a:avLst/>
          </a:prstGeom>
          <a:noFill/>
        </p:spPr>
        <p:txBody>
          <a:bodyPr wrap="square"/>
          <a:lstStyle/>
          <a:p>
            <a:pPr algn="l"/>
            <a:r>
              <a:rPr b="1" i="0" sz="1200">
                <a:solidFill>
                  <a:srgbClr val="3D3833"/>
                </a:solidFill>
                <a:latin typeface="Arial"/>
              </a:rPr>
              <a:t>VALIDAZIONE
UMANA</a:t>
            </a:r>
          </a:p>
        </p:txBody>
      </p:sp>
      <p:sp>
        <p:nvSpPr>
          <p:cNvPr id="25" name="TextBox 24"/>
          <p:cNvSpPr txBox="1"/>
          <p:nvPr/>
        </p:nvSpPr>
        <p:spPr>
          <a:xfrm>
            <a:off x="10570464" y="6069330"/>
            <a:ext cx="2926080" cy="2263140"/>
          </a:xfrm>
          <a:prstGeom prst="rect">
            <a:avLst/>
          </a:prstGeom>
          <a:noFill/>
        </p:spPr>
        <p:txBody>
          <a:bodyPr wrap="square"/>
          <a:lstStyle/>
          <a:p>
            <a:pPr algn="l"/>
            <a:r>
              <a:rPr b="0" i="0" sz="1000">
                <a:solidFill>
                  <a:srgbClr val="8A8175"/>
                </a:solidFill>
                <a:latin typeface="Arial"/>
              </a:rPr>
              <a:t>L'analista valida, interpreta, contestualizza. Riconosce il bias, il codice culturale, la verita scomoda.</a:t>
            </a:r>
          </a:p>
        </p:txBody>
      </p:sp>
      <p:sp>
        <p:nvSpPr>
          <p:cNvPr id="26" name="TextBox 25"/>
          <p:cNvSpPr txBox="1"/>
          <p:nvPr/>
        </p:nvSpPr>
        <p:spPr>
          <a:xfrm>
            <a:off x="10570464" y="8435340"/>
            <a:ext cx="2926080" cy="822960"/>
          </a:xfrm>
          <a:prstGeom prst="rect">
            <a:avLst/>
          </a:prstGeom>
          <a:noFill/>
        </p:spPr>
        <p:txBody>
          <a:bodyPr wrap="square"/>
          <a:lstStyle/>
          <a:p>
            <a:pPr algn="l"/>
            <a:r>
              <a:rPr b="0" i="0" sz="900">
                <a:solidFill>
                  <a:srgbClr val="B8523A"/>
                </a:solidFill>
                <a:latin typeface="Courier New"/>
              </a:rPr>
              <a:t>[Analyst]  [Context]  [Bias check]</a:t>
            </a:r>
          </a:p>
        </p:txBody>
      </p:sp>
      <p:sp>
        <p:nvSpPr>
          <p:cNvPr id="27" name="Rectangle 26"/>
          <p:cNvSpPr/>
          <p:nvPr/>
        </p:nvSpPr>
        <p:spPr>
          <a:xfrm>
            <a:off x="13606272" y="3909060"/>
            <a:ext cx="3017520" cy="565785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697712" y="4114800"/>
            <a:ext cx="2926080" cy="617220"/>
          </a:xfrm>
          <a:prstGeom prst="rect">
            <a:avLst/>
          </a:prstGeom>
          <a:noFill/>
        </p:spPr>
        <p:txBody>
          <a:bodyPr wrap="square"/>
          <a:lstStyle/>
          <a:p>
            <a:pPr algn="l"/>
            <a:r>
              <a:rPr b="1" i="0" sz="1000">
                <a:solidFill>
                  <a:srgbClr val="B8523A"/>
                </a:solidFill>
                <a:latin typeface="Courier New"/>
              </a:rPr>
              <a:t>05</a:t>
            </a:r>
          </a:p>
        </p:txBody>
      </p:sp>
      <p:sp>
        <p:nvSpPr>
          <p:cNvPr id="29" name="TextBox 28"/>
          <p:cNvSpPr txBox="1"/>
          <p:nvPr/>
        </p:nvSpPr>
        <p:spPr>
          <a:xfrm>
            <a:off x="13697712" y="4834890"/>
            <a:ext cx="2926080" cy="1028700"/>
          </a:xfrm>
          <a:prstGeom prst="rect">
            <a:avLst/>
          </a:prstGeom>
          <a:noFill/>
        </p:spPr>
        <p:txBody>
          <a:bodyPr wrap="square"/>
          <a:lstStyle/>
          <a:p>
            <a:pPr algn="l"/>
            <a:r>
              <a:rPr b="1" i="0" sz="1200">
                <a:solidFill>
                  <a:srgbClr val="3D3833"/>
                </a:solidFill>
                <a:latin typeface="Arial"/>
              </a:rPr>
              <a:t>INSIGHT
E DECISIONE</a:t>
            </a:r>
          </a:p>
        </p:txBody>
      </p:sp>
      <p:sp>
        <p:nvSpPr>
          <p:cNvPr id="30" name="TextBox 29"/>
          <p:cNvSpPr txBox="1"/>
          <p:nvPr/>
        </p:nvSpPr>
        <p:spPr>
          <a:xfrm>
            <a:off x="13697712" y="6069330"/>
            <a:ext cx="2926080" cy="2263140"/>
          </a:xfrm>
          <a:prstGeom prst="rect">
            <a:avLst/>
          </a:prstGeom>
          <a:noFill/>
        </p:spPr>
        <p:txBody>
          <a:bodyPr wrap="square"/>
          <a:lstStyle/>
          <a:p>
            <a:pPr algn="l"/>
            <a:r>
              <a:rPr b="0" i="0" sz="1000">
                <a:solidFill>
                  <a:srgbClr val="8A8175"/>
                </a:solidFill>
                <a:latin typeface="Arial"/>
              </a:rPr>
              <a:t>L'insight che orienta la decisione, portato alla persona giusta, nel momento giusto, nel linguaggio giusto.</a:t>
            </a:r>
          </a:p>
        </p:txBody>
      </p:sp>
      <p:sp>
        <p:nvSpPr>
          <p:cNvPr id="31" name="TextBox 30"/>
          <p:cNvSpPr txBox="1"/>
          <p:nvPr/>
        </p:nvSpPr>
        <p:spPr>
          <a:xfrm>
            <a:off x="13697712" y="8435340"/>
            <a:ext cx="2926080" cy="822960"/>
          </a:xfrm>
          <a:prstGeom prst="rect">
            <a:avLst/>
          </a:prstGeom>
          <a:noFill/>
        </p:spPr>
        <p:txBody>
          <a:bodyPr wrap="square"/>
          <a:lstStyle/>
          <a:p>
            <a:pPr algn="l"/>
            <a:r>
              <a:rPr b="0" i="0" sz="900">
                <a:solidFill>
                  <a:srgbClr val="B8523A"/>
                </a:solidFill>
                <a:latin typeface="Courier New"/>
              </a:rPr>
              <a:t>[Brief]  [Board]  [Action]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EDE1"/>
        </a:solidFill>
        <a:effectLst/>
      </p:bgPr>
    </p:bg>
    <p:spTree>
      <p:nvGrpSpPr>
        <p:cNvPr id="1" name=""/>
        <p:cNvGrpSpPr/>
        <p:nvPr/>
      </p:nvGrpSpPr>
      <p:grpSpPr/>
      <p:sp>
        <p:nvSpPr>
          <p:cNvPr id="2" name="TextBox 1"/>
          <p:cNvSpPr txBox="1"/>
          <p:nvPr/>
        </p:nvSpPr>
        <p:spPr>
          <a:xfrm>
            <a:off x="1097280" y="617220"/>
            <a:ext cx="16733520" cy="320040"/>
          </a:xfrm>
          <a:prstGeom prst="rect">
            <a:avLst/>
          </a:prstGeom>
          <a:noFill/>
        </p:spPr>
        <p:txBody>
          <a:bodyPr wrap="square"/>
          <a:lstStyle/>
          <a:p>
            <a:pPr algn="l"/>
            <a:r>
              <a:rPr b="1" i="0" sz="1000">
                <a:solidFill>
                  <a:srgbClr val="B8523A"/>
                </a:solidFill>
                <a:latin typeface="Courier New"/>
              </a:rPr>
              <a:t>●  AI E L'ANALISTA — L'ORCHESTRATORE</a:t>
            </a:r>
          </a:p>
        </p:txBody>
      </p:sp>
      <p:sp>
        <p:nvSpPr>
          <p:cNvPr id="3" name="TextBox 2"/>
          <p:cNvSpPr txBox="1"/>
          <p:nvPr/>
        </p:nvSpPr>
        <p:spPr>
          <a:xfrm>
            <a:off x="1097280" y="1337310"/>
            <a:ext cx="16093440" cy="822960"/>
          </a:xfrm>
          <a:prstGeom prst="rect">
            <a:avLst/>
          </a:prstGeom>
          <a:noFill/>
        </p:spPr>
        <p:txBody>
          <a:bodyPr wrap="square"/>
          <a:lstStyle/>
          <a:p>
            <a:pPr algn="l"/>
            <a:r>
              <a:rPr b="1" i="0" sz="1800">
                <a:solidFill>
                  <a:srgbClr val="3D3833"/>
                </a:solidFill>
                <a:latin typeface="Georgia"/>
              </a:rPr>
              <a:t>Il professionista maturo non difende la sua fonte. Sa scegliere quella giusta per la domanda giusta.</a:t>
            </a:r>
          </a:p>
        </p:txBody>
      </p:sp>
      <p:sp>
        <p:nvSpPr>
          <p:cNvPr id="4" name="TextBox 3"/>
          <p:cNvSpPr txBox="1"/>
          <p:nvPr/>
        </p:nvSpPr>
        <p:spPr>
          <a:xfrm>
            <a:off x="1097280" y="2263140"/>
            <a:ext cx="16093440" cy="617220"/>
          </a:xfrm>
          <a:prstGeom prst="rect">
            <a:avLst/>
          </a:prstGeom>
          <a:noFill/>
        </p:spPr>
        <p:txBody>
          <a:bodyPr wrap="square"/>
          <a:lstStyle/>
          <a:p>
            <a:pPr algn="l"/>
            <a:r>
              <a:rPr b="0" i="0" sz="1200">
                <a:solidFill>
                  <a:srgbClr val="8A8175"/>
                </a:solidFill>
                <a:latin typeface="Arial"/>
              </a:rPr>
              <a:t>Ogni fonte e una finestra sul mercato con un angolo unico. Nessuna finestra mostra tutto.</a:t>
            </a:r>
          </a:p>
        </p:txBody>
      </p:sp>
      <p:cxnSp>
        <p:nvCxnSpPr>
          <p:cNvPr id="5" name="Connector 4"/>
          <p:cNvCxnSpPr/>
          <p:nvPr/>
        </p:nvCxnSpPr>
        <p:spPr>
          <a:xfrm>
            <a:off x="1097280" y="3086100"/>
            <a:ext cx="1609344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1097280" y="3497580"/>
            <a:ext cx="3108960" cy="1183005"/>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3600450"/>
            <a:ext cx="2999232" cy="462915"/>
          </a:xfrm>
          <a:prstGeom prst="rect">
            <a:avLst/>
          </a:prstGeom>
          <a:noFill/>
        </p:spPr>
        <p:txBody>
          <a:bodyPr wrap="square"/>
          <a:lstStyle/>
          <a:p>
            <a:pPr algn="l"/>
            <a:r>
              <a:rPr b="1" i="0" sz="1000">
                <a:solidFill>
                  <a:srgbClr val="3D3833"/>
                </a:solidFill>
                <a:latin typeface="Arial"/>
              </a:rPr>
              <a:t>Social Listening</a:t>
            </a:r>
          </a:p>
        </p:txBody>
      </p:sp>
      <p:sp>
        <p:nvSpPr>
          <p:cNvPr id="8" name="TextBox 7"/>
          <p:cNvSpPr txBox="1"/>
          <p:nvPr/>
        </p:nvSpPr>
        <p:spPr>
          <a:xfrm>
            <a:off x="1188720" y="4011930"/>
            <a:ext cx="2999232" cy="617220"/>
          </a:xfrm>
          <a:prstGeom prst="rect">
            <a:avLst/>
          </a:prstGeom>
          <a:noFill/>
        </p:spPr>
        <p:txBody>
          <a:bodyPr wrap="square"/>
          <a:lstStyle/>
          <a:p>
            <a:pPr algn="l"/>
            <a:r>
              <a:rPr b="0" i="0" sz="900">
                <a:solidFill>
                  <a:srgbClr val="8A8175"/>
                </a:solidFill>
                <a:latin typeface="Arial"/>
              </a:rPr>
              <a:t>Voce spontanea. Cosa dicono quando non sanno di essere osservati.</a:t>
            </a:r>
          </a:p>
        </p:txBody>
      </p:sp>
      <p:sp>
        <p:nvSpPr>
          <p:cNvPr id="9" name="Rectangle 8"/>
          <p:cNvSpPr/>
          <p:nvPr/>
        </p:nvSpPr>
        <p:spPr>
          <a:xfrm>
            <a:off x="4279392" y="3497580"/>
            <a:ext cx="3108960" cy="1183005"/>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70832" y="3600450"/>
            <a:ext cx="2999232" cy="462915"/>
          </a:xfrm>
          <a:prstGeom prst="rect">
            <a:avLst/>
          </a:prstGeom>
          <a:noFill/>
        </p:spPr>
        <p:txBody>
          <a:bodyPr wrap="square"/>
          <a:lstStyle/>
          <a:p>
            <a:pPr algn="l"/>
            <a:r>
              <a:rPr b="1" i="0" sz="1000">
                <a:solidFill>
                  <a:srgbClr val="3D3833"/>
                </a:solidFill>
                <a:latin typeface="Arial"/>
              </a:rPr>
              <a:t>Search Intent</a:t>
            </a:r>
          </a:p>
        </p:txBody>
      </p:sp>
      <p:sp>
        <p:nvSpPr>
          <p:cNvPr id="11" name="TextBox 10"/>
          <p:cNvSpPr txBox="1"/>
          <p:nvPr/>
        </p:nvSpPr>
        <p:spPr>
          <a:xfrm>
            <a:off x="4370832" y="4011930"/>
            <a:ext cx="2999232" cy="617220"/>
          </a:xfrm>
          <a:prstGeom prst="rect">
            <a:avLst/>
          </a:prstGeom>
          <a:noFill/>
        </p:spPr>
        <p:txBody>
          <a:bodyPr wrap="square"/>
          <a:lstStyle/>
          <a:p>
            <a:pPr algn="l"/>
            <a:r>
              <a:rPr b="0" i="0" sz="900">
                <a:solidFill>
                  <a:srgbClr val="8A8175"/>
                </a:solidFill>
                <a:latin typeface="Arial"/>
              </a:rPr>
              <a:t>Intenzione prima della decisione. Il bisogno non ancora dichiarato.</a:t>
            </a:r>
          </a:p>
        </p:txBody>
      </p:sp>
      <p:sp>
        <p:nvSpPr>
          <p:cNvPr id="12" name="Rectangle 11"/>
          <p:cNvSpPr/>
          <p:nvPr/>
        </p:nvSpPr>
        <p:spPr>
          <a:xfrm>
            <a:off x="7461504" y="3497580"/>
            <a:ext cx="3108960" cy="1183005"/>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52944" y="3600450"/>
            <a:ext cx="2999232" cy="462915"/>
          </a:xfrm>
          <a:prstGeom prst="rect">
            <a:avLst/>
          </a:prstGeom>
          <a:noFill/>
        </p:spPr>
        <p:txBody>
          <a:bodyPr wrap="square"/>
          <a:lstStyle/>
          <a:p>
            <a:pPr algn="l"/>
            <a:r>
              <a:rPr b="1" i="0" sz="1000">
                <a:solidFill>
                  <a:srgbClr val="3D3833"/>
                </a:solidFill>
                <a:latin typeface="Arial"/>
              </a:rPr>
              <a:t>Survey CAWI</a:t>
            </a:r>
          </a:p>
        </p:txBody>
      </p:sp>
      <p:sp>
        <p:nvSpPr>
          <p:cNvPr id="14" name="TextBox 13"/>
          <p:cNvSpPr txBox="1"/>
          <p:nvPr/>
        </p:nvSpPr>
        <p:spPr>
          <a:xfrm>
            <a:off x="7552944" y="4011930"/>
            <a:ext cx="2999232" cy="617220"/>
          </a:xfrm>
          <a:prstGeom prst="rect">
            <a:avLst/>
          </a:prstGeom>
          <a:noFill/>
        </p:spPr>
        <p:txBody>
          <a:bodyPr wrap="square"/>
          <a:lstStyle/>
          <a:p>
            <a:pPr algn="l"/>
            <a:r>
              <a:rPr b="0" i="0" sz="900">
                <a:solidFill>
                  <a:srgbClr val="8A8175"/>
                </a:solidFill>
                <a:latin typeface="Arial"/>
              </a:rPr>
              <a:t>Voce sollecitata. Strutturata, quantificabile, filtrata dal ricercatore.</a:t>
            </a:r>
          </a:p>
        </p:txBody>
      </p:sp>
      <p:sp>
        <p:nvSpPr>
          <p:cNvPr id="15" name="Rectangle 14"/>
          <p:cNvSpPr/>
          <p:nvPr/>
        </p:nvSpPr>
        <p:spPr>
          <a:xfrm>
            <a:off x="10643616" y="3497580"/>
            <a:ext cx="3108960" cy="1183005"/>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35056" y="3600450"/>
            <a:ext cx="2999232" cy="462915"/>
          </a:xfrm>
          <a:prstGeom prst="rect">
            <a:avLst/>
          </a:prstGeom>
          <a:noFill/>
        </p:spPr>
        <p:txBody>
          <a:bodyPr wrap="square"/>
          <a:lstStyle/>
          <a:p>
            <a:pPr algn="l"/>
            <a:r>
              <a:rPr b="1" i="0" sz="1000">
                <a:solidFill>
                  <a:srgbClr val="3D3833"/>
                </a:solidFill>
                <a:latin typeface="Arial"/>
              </a:rPr>
              <a:t>CRM &amp; First-party</a:t>
            </a:r>
          </a:p>
        </p:txBody>
      </p:sp>
      <p:sp>
        <p:nvSpPr>
          <p:cNvPr id="17" name="TextBox 16"/>
          <p:cNvSpPr txBox="1"/>
          <p:nvPr/>
        </p:nvSpPr>
        <p:spPr>
          <a:xfrm>
            <a:off x="10735056" y="4011930"/>
            <a:ext cx="2999232" cy="617220"/>
          </a:xfrm>
          <a:prstGeom prst="rect">
            <a:avLst/>
          </a:prstGeom>
          <a:noFill/>
        </p:spPr>
        <p:txBody>
          <a:bodyPr wrap="square"/>
          <a:lstStyle/>
          <a:p>
            <a:pPr algn="l"/>
            <a:r>
              <a:rPr b="0" i="0" sz="900">
                <a:solidFill>
                  <a:srgbClr val="8A8175"/>
                </a:solidFill>
                <a:latin typeface="Arial"/>
              </a:rPr>
              <a:t>La customer base reale. Comportamenti verificati, non percepiti.</a:t>
            </a:r>
          </a:p>
        </p:txBody>
      </p:sp>
      <p:sp>
        <p:nvSpPr>
          <p:cNvPr id="18" name="Rectangle 17"/>
          <p:cNvSpPr/>
          <p:nvPr/>
        </p:nvSpPr>
        <p:spPr>
          <a:xfrm>
            <a:off x="13825728" y="3497580"/>
            <a:ext cx="3108960" cy="1183005"/>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917168" y="3600450"/>
            <a:ext cx="2999232" cy="462915"/>
          </a:xfrm>
          <a:prstGeom prst="rect">
            <a:avLst/>
          </a:prstGeom>
          <a:noFill/>
        </p:spPr>
        <p:txBody>
          <a:bodyPr wrap="square"/>
          <a:lstStyle/>
          <a:p>
            <a:pPr algn="l"/>
            <a:r>
              <a:rPr b="1" i="0" sz="1000">
                <a:solidFill>
                  <a:srgbClr val="3D3833"/>
                </a:solidFill>
                <a:latin typeface="Arial"/>
              </a:rPr>
              <a:t>Review &amp; Rating</a:t>
            </a:r>
          </a:p>
        </p:txBody>
      </p:sp>
      <p:sp>
        <p:nvSpPr>
          <p:cNvPr id="20" name="TextBox 19"/>
          <p:cNvSpPr txBox="1"/>
          <p:nvPr/>
        </p:nvSpPr>
        <p:spPr>
          <a:xfrm>
            <a:off x="13917168" y="4011930"/>
            <a:ext cx="2999232" cy="617220"/>
          </a:xfrm>
          <a:prstGeom prst="rect">
            <a:avLst/>
          </a:prstGeom>
          <a:noFill/>
        </p:spPr>
        <p:txBody>
          <a:bodyPr wrap="square"/>
          <a:lstStyle/>
          <a:p>
            <a:pPr algn="l"/>
            <a:r>
              <a:rPr b="0" i="0" sz="900">
                <a:solidFill>
                  <a:srgbClr val="8A8175"/>
                </a:solidFill>
                <a:latin typeface="Arial"/>
              </a:rPr>
              <a:t>Esperienza vissuta post-acquisto. Frustrazione e delizia autentiche.</a:t>
            </a:r>
          </a:p>
        </p:txBody>
      </p:sp>
      <p:sp>
        <p:nvSpPr>
          <p:cNvPr id="21" name="Rectangle 20"/>
          <p:cNvSpPr/>
          <p:nvPr/>
        </p:nvSpPr>
        <p:spPr>
          <a:xfrm>
            <a:off x="1097280" y="4783455"/>
            <a:ext cx="3108960" cy="1183005"/>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88720" y="4886325"/>
            <a:ext cx="2999232" cy="462915"/>
          </a:xfrm>
          <a:prstGeom prst="rect">
            <a:avLst/>
          </a:prstGeom>
          <a:noFill/>
        </p:spPr>
        <p:txBody>
          <a:bodyPr wrap="square"/>
          <a:lstStyle/>
          <a:p>
            <a:pPr algn="l"/>
            <a:r>
              <a:rPr b="1" i="0" sz="1000">
                <a:solidFill>
                  <a:srgbClr val="3D3833"/>
                </a:solidFill>
                <a:latin typeface="Arial"/>
              </a:rPr>
              <a:t>Forum &amp; Community</a:t>
            </a:r>
          </a:p>
        </p:txBody>
      </p:sp>
      <p:sp>
        <p:nvSpPr>
          <p:cNvPr id="23" name="TextBox 22"/>
          <p:cNvSpPr txBox="1"/>
          <p:nvPr/>
        </p:nvSpPr>
        <p:spPr>
          <a:xfrm>
            <a:off x="1188720" y="5297805"/>
            <a:ext cx="2999232" cy="617220"/>
          </a:xfrm>
          <a:prstGeom prst="rect">
            <a:avLst/>
          </a:prstGeom>
          <a:noFill/>
        </p:spPr>
        <p:txBody>
          <a:bodyPr wrap="square"/>
          <a:lstStyle/>
          <a:p>
            <a:pPr algn="l"/>
            <a:r>
              <a:rPr b="0" i="0" sz="900">
                <a:solidFill>
                  <a:srgbClr val="8A8175"/>
                </a:solidFill>
                <a:latin typeface="Arial"/>
              </a:rPr>
              <a:t>Conversazioni di nicchia. Il codice della community non filtrato.</a:t>
            </a:r>
          </a:p>
        </p:txBody>
      </p:sp>
      <p:sp>
        <p:nvSpPr>
          <p:cNvPr id="24" name="Rectangle 23"/>
          <p:cNvSpPr/>
          <p:nvPr/>
        </p:nvSpPr>
        <p:spPr>
          <a:xfrm>
            <a:off x="4279392" y="4783455"/>
            <a:ext cx="3108960" cy="1183005"/>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70832" y="4886325"/>
            <a:ext cx="2999232" cy="462915"/>
          </a:xfrm>
          <a:prstGeom prst="rect">
            <a:avLst/>
          </a:prstGeom>
          <a:noFill/>
        </p:spPr>
        <p:txBody>
          <a:bodyPr wrap="square"/>
          <a:lstStyle/>
          <a:p>
            <a:pPr algn="l"/>
            <a:r>
              <a:rPr b="1" i="0" sz="1000">
                <a:solidFill>
                  <a:srgbClr val="3D3833"/>
                </a:solidFill>
                <a:latin typeface="Arial"/>
              </a:rPr>
              <a:t>News &amp; Media</a:t>
            </a:r>
          </a:p>
        </p:txBody>
      </p:sp>
      <p:sp>
        <p:nvSpPr>
          <p:cNvPr id="26" name="TextBox 25"/>
          <p:cNvSpPr txBox="1"/>
          <p:nvPr/>
        </p:nvSpPr>
        <p:spPr>
          <a:xfrm>
            <a:off x="4370832" y="5297805"/>
            <a:ext cx="2999232" cy="617220"/>
          </a:xfrm>
          <a:prstGeom prst="rect">
            <a:avLst/>
          </a:prstGeom>
          <a:noFill/>
        </p:spPr>
        <p:txBody>
          <a:bodyPr wrap="square"/>
          <a:lstStyle/>
          <a:p>
            <a:pPr algn="l"/>
            <a:r>
              <a:rPr b="0" i="0" sz="900">
                <a:solidFill>
                  <a:srgbClr val="8A8175"/>
                </a:solidFill>
                <a:latin typeface="Arial"/>
              </a:rPr>
              <a:t>Narrativa pubblica e agenda setting. Il frame esterno al brand.</a:t>
            </a:r>
          </a:p>
        </p:txBody>
      </p:sp>
      <p:sp>
        <p:nvSpPr>
          <p:cNvPr id="27" name="Rectangle 26"/>
          <p:cNvSpPr/>
          <p:nvPr/>
        </p:nvSpPr>
        <p:spPr>
          <a:xfrm>
            <a:off x="7461504" y="4783455"/>
            <a:ext cx="3108960" cy="1183005"/>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52944" y="4886325"/>
            <a:ext cx="2999232" cy="462915"/>
          </a:xfrm>
          <a:prstGeom prst="rect">
            <a:avLst/>
          </a:prstGeom>
          <a:noFill/>
        </p:spPr>
        <p:txBody>
          <a:bodyPr wrap="square"/>
          <a:lstStyle/>
          <a:p>
            <a:pPr algn="l"/>
            <a:r>
              <a:rPr b="1" i="0" sz="1000">
                <a:solidFill>
                  <a:srgbClr val="3D3833"/>
                </a:solidFill>
                <a:latin typeface="Arial"/>
              </a:rPr>
              <a:t>Trend &amp; Culture</a:t>
            </a:r>
          </a:p>
        </p:txBody>
      </p:sp>
      <p:sp>
        <p:nvSpPr>
          <p:cNvPr id="29" name="TextBox 28"/>
          <p:cNvSpPr txBox="1"/>
          <p:nvPr/>
        </p:nvSpPr>
        <p:spPr>
          <a:xfrm>
            <a:off x="7552944" y="5297805"/>
            <a:ext cx="2999232" cy="617220"/>
          </a:xfrm>
          <a:prstGeom prst="rect">
            <a:avLst/>
          </a:prstGeom>
          <a:noFill/>
        </p:spPr>
        <p:txBody>
          <a:bodyPr wrap="square"/>
          <a:lstStyle/>
          <a:p>
            <a:pPr algn="l"/>
            <a:r>
              <a:rPr b="0" i="0" sz="900">
                <a:solidFill>
                  <a:srgbClr val="8A8175"/>
                </a:solidFill>
                <a:latin typeface="Arial"/>
              </a:rPr>
              <a:t>Segnali deboli pre-mainstream. Dove il mercato sta andando.</a:t>
            </a:r>
          </a:p>
        </p:txBody>
      </p:sp>
      <p:sp>
        <p:nvSpPr>
          <p:cNvPr id="30" name="Rectangle 29"/>
          <p:cNvSpPr/>
          <p:nvPr/>
        </p:nvSpPr>
        <p:spPr>
          <a:xfrm>
            <a:off x="10643616" y="4783455"/>
            <a:ext cx="3108960" cy="1183005"/>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735056" y="4886325"/>
            <a:ext cx="2999232" cy="462915"/>
          </a:xfrm>
          <a:prstGeom prst="rect">
            <a:avLst/>
          </a:prstGeom>
          <a:noFill/>
        </p:spPr>
        <p:txBody>
          <a:bodyPr wrap="square"/>
          <a:lstStyle/>
          <a:p>
            <a:pPr algn="l"/>
            <a:r>
              <a:rPr b="1" i="0" sz="1000">
                <a:solidFill>
                  <a:srgbClr val="3D3833"/>
                </a:solidFill>
                <a:latin typeface="Arial"/>
              </a:rPr>
              <a:t>Influencer &amp; Creator</a:t>
            </a:r>
          </a:p>
        </p:txBody>
      </p:sp>
      <p:sp>
        <p:nvSpPr>
          <p:cNvPr id="32" name="TextBox 31"/>
          <p:cNvSpPr txBox="1"/>
          <p:nvPr/>
        </p:nvSpPr>
        <p:spPr>
          <a:xfrm>
            <a:off x="10735056" y="5297805"/>
            <a:ext cx="2999232" cy="617220"/>
          </a:xfrm>
          <a:prstGeom prst="rect">
            <a:avLst/>
          </a:prstGeom>
          <a:noFill/>
        </p:spPr>
        <p:txBody>
          <a:bodyPr wrap="square"/>
          <a:lstStyle/>
          <a:p>
            <a:pPr algn="l"/>
            <a:r>
              <a:rPr b="0" i="0" sz="900">
                <a:solidFill>
                  <a:srgbClr val="8A8175"/>
                </a:solidFill>
                <a:latin typeface="Arial"/>
              </a:rPr>
              <a:t>Amplificatori culturali. Bridge tra brand e audience.</a:t>
            </a:r>
          </a:p>
        </p:txBody>
      </p:sp>
      <p:sp>
        <p:nvSpPr>
          <p:cNvPr id="33" name="Rectangle 32"/>
          <p:cNvSpPr/>
          <p:nvPr/>
        </p:nvSpPr>
        <p:spPr>
          <a:xfrm>
            <a:off x="13825728" y="4783455"/>
            <a:ext cx="3108960" cy="1183005"/>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3917168" y="4886325"/>
            <a:ext cx="2999232" cy="462915"/>
          </a:xfrm>
          <a:prstGeom prst="rect">
            <a:avLst/>
          </a:prstGeom>
          <a:noFill/>
        </p:spPr>
        <p:txBody>
          <a:bodyPr wrap="square"/>
          <a:lstStyle/>
          <a:p>
            <a:pPr algn="l"/>
            <a:r>
              <a:rPr b="1" i="0" sz="1000">
                <a:solidFill>
                  <a:srgbClr val="3D3833"/>
                </a:solidFill>
                <a:latin typeface="Arial"/>
              </a:rPr>
              <a:t>Competitor Intel</a:t>
            </a:r>
          </a:p>
        </p:txBody>
      </p:sp>
      <p:sp>
        <p:nvSpPr>
          <p:cNvPr id="35" name="TextBox 34"/>
          <p:cNvSpPr txBox="1"/>
          <p:nvPr/>
        </p:nvSpPr>
        <p:spPr>
          <a:xfrm>
            <a:off x="13917168" y="5297805"/>
            <a:ext cx="2999232" cy="617220"/>
          </a:xfrm>
          <a:prstGeom prst="rect">
            <a:avLst/>
          </a:prstGeom>
          <a:noFill/>
        </p:spPr>
        <p:txBody>
          <a:bodyPr wrap="square"/>
          <a:lstStyle/>
          <a:p>
            <a:pPr algn="l"/>
            <a:r>
              <a:rPr b="0" i="0" sz="900">
                <a:solidFill>
                  <a:srgbClr val="8A8175"/>
                </a:solidFill>
                <a:latin typeface="Arial"/>
              </a:rPr>
              <a:t>Benchmark e gap di posizionamento. Il mercato in prospettiva.</a:t>
            </a:r>
          </a:p>
        </p:txBody>
      </p:sp>
      <p:sp>
        <p:nvSpPr>
          <p:cNvPr id="36" name="Rectangle 35"/>
          <p:cNvSpPr/>
          <p:nvPr/>
        </p:nvSpPr>
        <p:spPr>
          <a:xfrm>
            <a:off x="1097280" y="6069330"/>
            <a:ext cx="3108960" cy="1183005"/>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88720" y="6172200"/>
            <a:ext cx="2999232" cy="462915"/>
          </a:xfrm>
          <a:prstGeom prst="rect">
            <a:avLst/>
          </a:prstGeom>
          <a:noFill/>
        </p:spPr>
        <p:txBody>
          <a:bodyPr wrap="square"/>
          <a:lstStyle/>
          <a:p>
            <a:pPr algn="l"/>
            <a:r>
              <a:rPr b="1" i="0" sz="1000">
                <a:solidFill>
                  <a:srgbClr val="3D3833"/>
                </a:solidFill>
                <a:latin typeface="Arial"/>
              </a:rPr>
              <a:t>CX &amp; Support</a:t>
            </a:r>
          </a:p>
        </p:txBody>
      </p:sp>
      <p:sp>
        <p:nvSpPr>
          <p:cNvPr id="38" name="TextBox 37"/>
          <p:cNvSpPr txBox="1"/>
          <p:nvPr/>
        </p:nvSpPr>
        <p:spPr>
          <a:xfrm>
            <a:off x="1188720" y="6583680"/>
            <a:ext cx="2999232" cy="617220"/>
          </a:xfrm>
          <a:prstGeom prst="rect">
            <a:avLst/>
          </a:prstGeom>
          <a:noFill/>
        </p:spPr>
        <p:txBody>
          <a:bodyPr wrap="square"/>
          <a:lstStyle/>
          <a:p>
            <a:pPr algn="l"/>
            <a:r>
              <a:rPr b="0" i="0" sz="900">
                <a:solidFill>
                  <a:srgbClr val="8A8175"/>
                </a:solidFill>
                <a:latin typeface="Arial"/>
              </a:rPr>
              <a:t>Frizioni reali nel journey. L'Intention-Interface Gap in prima persona.</a:t>
            </a:r>
          </a:p>
        </p:txBody>
      </p:sp>
      <p:sp>
        <p:nvSpPr>
          <p:cNvPr id="39" name="Rectangle 38"/>
          <p:cNvSpPr/>
          <p:nvPr/>
        </p:nvSpPr>
        <p:spPr>
          <a:xfrm>
            <a:off x="4279392" y="6069330"/>
            <a:ext cx="3108960" cy="1183005"/>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370832" y="6172200"/>
            <a:ext cx="2999232" cy="462915"/>
          </a:xfrm>
          <a:prstGeom prst="rect">
            <a:avLst/>
          </a:prstGeom>
          <a:noFill/>
        </p:spPr>
        <p:txBody>
          <a:bodyPr wrap="square"/>
          <a:lstStyle/>
          <a:p>
            <a:pPr algn="l"/>
            <a:r>
              <a:rPr b="1" i="0" sz="1000">
                <a:solidFill>
                  <a:srgbClr val="3D3833"/>
                </a:solidFill>
                <a:latin typeface="Arial"/>
              </a:rPr>
              <a:t>Patent &amp; R&amp;D</a:t>
            </a:r>
          </a:p>
        </p:txBody>
      </p:sp>
      <p:sp>
        <p:nvSpPr>
          <p:cNvPr id="41" name="TextBox 40"/>
          <p:cNvSpPr txBox="1"/>
          <p:nvPr/>
        </p:nvSpPr>
        <p:spPr>
          <a:xfrm>
            <a:off x="4370832" y="6583680"/>
            <a:ext cx="2999232" cy="617220"/>
          </a:xfrm>
          <a:prstGeom prst="rect">
            <a:avLst/>
          </a:prstGeom>
          <a:noFill/>
        </p:spPr>
        <p:txBody>
          <a:bodyPr wrap="square"/>
          <a:lstStyle/>
          <a:p>
            <a:pPr algn="l"/>
            <a:r>
              <a:rPr b="0" i="0" sz="900">
                <a:solidFill>
                  <a:srgbClr val="8A8175"/>
                </a:solidFill>
                <a:latin typeface="Arial"/>
              </a:rPr>
              <a:t>Segnali di innovazione pre-lancio. Il futuro che si prepara.</a:t>
            </a:r>
          </a:p>
        </p:txBody>
      </p:sp>
      <p:sp>
        <p:nvSpPr>
          <p:cNvPr id="42" name="Rectangle 41"/>
          <p:cNvSpPr/>
          <p:nvPr/>
        </p:nvSpPr>
        <p:spPr>
          <a:xfrm>
            <a:off x="7461504" y="6069330"/>
            <a:ext cx="3108960" cy="1183005"/>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552944" y="6172200"/>
            <a:ext cx="2999232" cy="462915"/>
          </a:xfrm>
          <a:prstGeom prst="rect">
            <a:avLst/>
          </a:prstGeom>
          <a:noFill/>
        </p:spPr>
        <p:txBody>
          <a:bodyPr wrap="square"/>
          <a:lstStyle/>
          <a:p>
            <a:pPr algn="l"/>
            <a:r>
              <a:rPr b="1" i="0" sz="1000">
                <a:solidFill>
                  <a:srgbClr val="3D3833"/>
                </a:solidFill>
                <a:latin typeface="Arial"/>
              </a:rPr>
              <a:t>Retail &amp; Sales</a:t>
            </a:r>
          </a:p>
        </p:txBody>
      </p:sp>
      <p:sp>
        <p:nvSpPr>
          <p:cNvPr id="44" name="TextBox 43"/>
          <p:cNvSpPr txBox="1"/>
          <p:nvPr/>
        </p:nvSpPr>
        <p:spPr>
          <a:xfrm>
            <a:off x="7552944" y="6583680"/>
            <a:ext cx="2999232" cy="617220"/>
          </a:xfrm>
          <a:prstGeom prst="rect">
            <a:avLst/>
          </a:prstGeom>
          <a:noFill/>
        </p:spPr>
        <p:txBody>
          <a:bodyPr wrap="square"/>
          <a:lstStyle/>
          <a:p>
            <a:pPr algn="l"/>
            <a:r>
              <a:rPr b="0" i="0" sz="900">
                <a:solidFill>
                  <a:srgbClr val="8A8175"/>
                </a:solidFill>
                <a:latin typeface="Arial"/>
              </a:rPr>
              <a:t>Comportamento d'acquisto effettivo. Il gap tra dichiarato e reale.</a:t>
            </a:r>
          </a:p>
        </p:txBody>
      </p:sp>
      <p:sp>
        <p:nvSpPr>
          <p:cNvPr id="45" name="Rectangle 44"/>
          <p:cNvSpPr/>
          <p:nvPr/>
        </p:nvSpPr>
        <p:spPr>
          <a:xfrm>
            <a:off x="10643616" y="6069330"/>
            <a:ext cx="3108960" cy="1183005"/>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735056" y="6172200"/>
            <a:ext cx="2999232" cy="462915"/>
          </a:xfrm>
          <a:prstGeom prst="rect">
            <a:avLst/>
          </a:prstGeom>
          <a:noFill/>
        </p:spPr>
        <p:txBody>
          <a:bodyPr wrap="square"/>
          <a:lstStyle/>
          <a:p>
            <a:pPr algn="l"/>
            <a:r>
              <a:rPr b="1" i="0" sz="1000">
                <a:solidFill>
                  <a:srgbClr val="3D3833"/>
                </a:solidFill>
                <a:latin typeface="Arial"/>
              </a:rPr>
              <a:t>Earned Media</a:t>
            </a:r>
          </a:p>
        </p:txBody>
      </p:sp>
      <p:sp>
        <p:nvSpPr>
          <p:cNvPr id="47" name="TextBox 46"/>
          <p:cNvSpPr txBox="1"/>
          <p:nvPr/>
        </p:nvSpPr>
        <p:spPr>
          <a:xfrm>
            <a:off x="10735056" y="6583680"/>
            <a:ext cx="2999232" cy="617220"/>
          </a:xfrm>
          <a:prstGeom prst="rect">
            <a:avLst/>
          </a:prstGeom>
          <a:noFill/>
        </p:spPr>
        <p:txBody>
          <a:bodyPr wrap="square"/>
          <a:lstStyle/>
          <a:p>
            <a:pPr algn="l"/>
            <a:r>
              <a:rPr b="0" i="0" sz="900">
                <a:solidFill>
                  <a:srgbClr val="8A8175"/>
                </a:solidFill>
                <a:latin typeface="Arial"/>
              </a:rPr>
              <a:t>PR e menzioni editoriali. Reputazione in contesto giornalistico.</a:t>
            </a:r>
          </a:p>
        </p:txBody>
      </p:sp>
      <p:sp>
        <p:nvSpPr>
          <p:cNvPr id="48" name="Rectangle 47"/>
          <p:cNvSpPr/>
          <p:nvPr/>
        </p:nvSpPr>
        <p:spPr>
          <a:xfrm>
            <a:off x="13825728" y="6069330"/>
            <a:ext cx="3108960" cy="1183005"/>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3917168" y="6172200"/>
            <a:ext cx="2999232" cy="462915"/>
          </a:xfrm>
          <a:prstGeom prst="rect">
            <a:avLst/>
          </a:prstGeom>
          <a:noFill/>
        </p:spPr>
        <p:txBody>
          <a:bodyPr wrap="square"/>
          <a:lstStyle/>
          <a:p>
            <a:pPr algn="l"/>
            <a:r>
              <a:rPr b="1" i="0" sz="1000">
                <a:solidFill>
                  <a:srgbClr val="3D3833"/>
                </a:solidFill>
                <a:latin typeface="Arial"/>
              </a:rPr>
              <a:t>Dark Social</a:t>
            </a:r>
          </a:p>
        </p:txBody>
      </p:sp>
      <p:sp>
        <p:nvSpPr>
          <p:cNvPr id="50" name="TextBox 49"/>
          <p:cNvSpPr txBox="1"/>
          <p:nvPr/>
        </p:nvSpPr>
        <p:spPr>
          <a:xfrm>
            <a:off x="13917168" y="6583680"/>
            <a:ext cx="2999232" cy="617220"/>
          </a:xfrm>
          <a:prstGeom prst="rect">
            <a:avLst/>
          </a:prstGeom>
          <a:noFill/>
        </p:spPr>
        <p:txBody>
          <a:bodyPr wrap="square"/>
          <a:lstStyle/>
          <a:p>
            <a:pPr algn="l"/>
            <a:r>
              <a:rPr b="0" i="0" sz="900">
                <a:solidFill>
                  <a:srgbClr val="8A8175"/>
                </a:solidFill>
                <a:latin typeface="Arial"/>
              </a:rPr>
              <a:t>Messaggistica privata, gruppi chiusi. La conversazione invisibile.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EDE1"/>
        </a:solidFill>
        <a:effectLst/>
      </p:bgPr>
    </p:bg>
    <p:spTree>
      <p:nvGrpSpPr>
        <p:cNvPr id="1" name=""/>
        <p:cNvGrpSpPr/>
        <p:nvPr/>
      </p:nvGrpSpPr>
      <p:grpSpPr/>
      <p:sp>
        <p:nvSpPr>
          <p:cNvPr id="2" name="TextBox 1"/>
          <p:cNvSpPr txBox="1"/>
          <p:nvPr/>
        </p:nvSpPr>
        <p:spPr>
          <a:xfrm>
            <a:off x="1097280" y="617220"/>
            <a:ext cx="16733520" cy="320040"/>
          </a:xfrm>
          <a:prstGeom prst="rect">
            <a:avLst/>
          </a:prstGeom>
          <a:noFill/>
        </p:spPr>
        <p:txBody>
          <a:bodyPr wrap="square"/>
          <a:lstStyle/>
          <a:p>
            <a:pPr algn="l"/>
            <a:r>
              <a:rPr b="1" i="0" sz="1000">
                <a:solidFill>
                  <a:srgbClr val="B8523A"/>
                </a:solidFill>
                <a:latin typeface="Courier New"/>
              </a:rPr>
              <a:t>●  AI E L'ANALISTA — L'EVOLUZIONE DEL RUOLO</a:t>
            </a:r>
          </a:p>
        </p:txBody>
      </p:sp>
      <p:sp>
        <p:nvSpPr>
          <p:cNvPr id="3" name="TextBox 2"/>
          <p:cNvSpPr txBox="1"/>
          <p:nvPr/>
        </p:nvSpPr>
        <p:spPr>
          <a:xfrm>
            <a:off x="1097280" y="1337310"/>
            <a:ext cx="16093440" cy="925830"/>
          </a:xfrm>
          <a:prstGeom prst="rect">
            <a:avLst/>
          </a:prstGeom>
          <a:noFill/>
        </p:spPr>
        <p:txBody>
          <a:bodyPr wrap="square"/>
          <a:lstStyle/>
          <a:p>
            <a:pPr algn="l"/>
            <a:r>
              <a:rPr b="1" i="0" sz="2400">
                <a:solidFill>
                  <a:srgbClr val="3D3833"/>
                </a:solidFill>
                <a:latin typeface="Georgia"/>
              </a:rPr>
              <a:t>Ogni generazione ha risposto a una domanda piu utile della precedente.</a:t>
            </a:r>
          </a:p>
        </p:txBody>
      </p:sp>
      <p:sp>
        <p:nvSpPr>
          <p:cNvPr id="4" name="TextBox 3"/>
          <p:cNvSpPr txBox="1"/>
          <p:nvPr/>
        </p:nvSpPr>
        <p:spPr>
          <a:xfrm>
            <a:off x="1097280" y="2366010"/>
            <a:ext cx="16093440" cy="720090"/>
          </a:xfrm>
          <a:prstGeom prst="rect">
            <a:avLst/>
          </a:prstGeom>
          <a:noFill/>
        </p:spPr>
        <p:txBody>
          <a:bodyPr wrap="square"/>
          <a:lstStyle/>
          <a:p>
            <a:pPr algn="l"/>
            <a:r>
              <a:rPr b="0" i="0" sz="1300">
                <a:solidFill>
                  <a:srgbClr val="8A8175"/>
                </a:solidFill>
                <a:latin typeface="Arial"/>
              </a:rPr>
              <a:t>L'AI non interrompe questa traiettoria. La accelera. Il 3.0 non e un titolo — e un modo di lavorare.</a:t>
            </a:r>
          </a:p>
        </p:txBody>
      </p:sp>
      <p:cxnSp>
        <p:nvCxnSpPr>
          <p:cNvPr id="5" name="Connector 4"/>
          <p:cNvCxnSpPr/>
          <p:nvPr/>
        </p:nvCxnSpPr>
        <p:spPr>
          <a:xfrm>
            <a:off x="1097280" y="3291840"/>
            <a:ext cx="1609344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1097280" y="3703320"/>
            <a:ext cx="5120640" cy="5863589"/>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3909060"/>
            <a:ext cx="1097280" cy="617220"/>
          </a:xfrm>
          <a:prstGeom prst="rect">
            <a:avLst/>
          </a:prstGeom>
          <a:noFill/>
        </p:spPr>
        <p:txBody>
          <a:bodyPr wrap="square"/>
          <a:lstStyle/>
          <a:p>
            <a:pPr algn="l"/>
            <a:r>
              <a:rPr b="1" i="0" sz="2000">
                <a:solidFill>
                  <a:srgbClr val="B8523A"/>
                </a:solidFill>
                <a:latin typeface="Georgia"/>
              </a:rPr>
              <a:t>1.0</a:t>
            </a:r>
          </a:p>
        </p:txBody>
      </p:sp>
      <p:sp>
        <p:nvSpPr>
          <p:cNvPr id="8" name="TextBox 7"/>
          <p:cNvSpPr txBox="1"/>
          <p:nvPr/>
        </p:nvSpPr>
        <p:spPr>
          <a:xfrm>
            <a:off x="1280160" y="4732020"/>
            <a:ext cx="4572000" cy="925830"/>
          </a:xfrm>
          <a:prstGeom prst="rect">
            <a:avLst/>
          </a:prstGeom>
          <a:noFill/>
        </p:spPr>
        <p:txBody>
          <a:bodyPr wrap="square"/>
          <a:lstStyle/>
          <a:p>
            <a:pPr algn="l"/>
            <a:r>
              <a:rPr b="1" i="0" sz="1200">
                <a:solidFill>
                  <a:srgbClr val="3D3833"/>
                </a:solidFill>
                <a:latin typeface="Arial"/>
              </a:rPr>
              <a:t>ANALYST 1.0
MONITOR</a:t>
            </a:r>
          </a:p>
        </p:txBody>
      </p:sp>
      <p:sp>
        <p:nvSpPr>
          <p:cNvPr id="9" name="TextBox 8"/>
          <p:cNvSpPr txBox="1"/>
          <p:nvPr/>
        </p:nvSpPr>
        <p:spPr>
          <a:xfrm>
            <a:off x="1280160" y="5760720"/>
            <a:ext cx="4572000" cy="617220"/>
          </a:xfrm>
          <a:prstGeom prst="rect">
            <a:avLst/>
          </a:prstGeom>
          <a:noFill/>
        </p:spPr>
        <p:txBody>
          <a:bodyPr wrap="square"/>
          <a:lstStyle/>
          <a:p>
            <a:pPr algn="l"/>
            <a:r>
              <a:rPr b="0" i="1" sz="1100">
                <a:solidFill>
                  <a:srgbClr val="B8523A"/>
                </a:solidFill>
                <a:latin typeface="Arial"/>
              </a:rPr>
              <a:t>Cosa e successo?</a:t>
            </a:r>
          </a:p>
        </p:txBody>
      </p:sp>
      <p:sp>
        <p:nvSpPr>
          <p:cNvPr id="10" name="TextBox 9"/>
          <p:cNvSpPr txBox="1"/>
          <p:nvPr/>
        </p:nvSpPr>
        <p:spPr>
          <a:xfrm>
            <a:off x="1280160" y="6480810"/>
            <a:ext cx="4572000" cy="720090"/>
          </a:xfrm>
          <a:prstGeom prst="rect">
            <a:avLst/>
          </a:prstGeom>
          <a:noFill/>
        </p:spPr>
        <p:txBody>
          <a:bodyPr wrap="square"/>
          <a:lstStyle/>
          <a:p>
            <a:pPr algn="l"/>
            <a:r>
              <a:rPr b="0" i="0" sz="1000">
                <a:solidFill>
                  <a:srgbClr val="8A8175"/>
                </a:solidFill>
                <a:latin typeface="Arial"/>
              </a:rPr>
              <a:t>Dashboard, report, riepilogo menzioni</a:t>
            </a:r>
          </a:p>
        </p:txBody>
      </p:sp>
      <p:sp>
        <p:nvSpPr>
          <p:cNvPr id="11" name="TextBox 10"/>
          <p:cNvSpPr txBox="1"/>
          <p:nvPr/>
        </p:nvSpPr>
        <p:spPr>
          <a:xfrm>
            <a:off x="1280160" y="7406640"/>
            <a:ext cx="4572000" cy="1337310"/>
          </a:xfrm>
          <a:prstGeom prst="rect">
            <a:avLst/>
          </a:prstGeom>
          <a:noFill/>
        </p:spPr>
        <p:txBody>
          <a:bodyPr wrap="square"/>
          <a:lstStyle/>
          <a:p>
            <a:pPr algn="l"/>
            <a:r>
              <a:rPr b="0" i="1" sz="1000">
                <a:solidFill>
                  <a:srgbClr val="8A8175"/>
                </a:solidFill>
                <a:latin typeface="Arial"/>
              </a:rPr>
              <a:t>Era il punto di partenza necessario. Nel 2012 facevo questi report. Utili per chi non aveva nessuna visibilita, limitati per chi doveva decidere.</a:t>
            </a:r>
          </a:p>
        </p:txBody>
      </p:sp>
      <p:sp>
        <p:nvSpPr>
          <p:cNvPr id="12" name="TextBox 11"/>
          <p:cNvSpPr txBox="1"/>
          <p:nvPr/>
        </p:nvSpPr>
        <p:spPr>
          <a:xfrm>
            <a:off x="1280160" y="8743950"/>
            <a:ext cx="4572000" cy="822960"/>
          </a:xfrm>
          <a:prstGeom prst="rect">
            <a:avLst/>
          </a:prstGeom>
          <a:noFill/>
        </p:spPr>
        <p:txBody>
          <a:bodyPr wrap="square"/>
          <a:lstStyle/>
          <a:p>
            <a:pPr algn="l"/>
            <a:r>
              <a:rPr b="0" i="0" sz="900">
                <a:solidFill>
                  <a:srgbClr val="B8523A"/>
                </a:solidFill>
                <a:latin typeface="Arial"/>
              </a:rPr>
              <a:t>L'AI automatizza l'80% di questo livello. Se il tuo valore e qui, hai un problema reale.</a:t>
            </a:r>
          </a:p>
        </p:txBody>
      </p:sp>
      <p:sp>
        <p:nvSpPr>
          <p:cNvPr id="13" name="Rectangle 12"/>
          <p:cNvSpPr/>
          <p:nvPr/>
        </p:nvSpPr>
        <p:spPr>
          <a:xfrm>
            <a:off x="6766560" y="3703320"/>
            <a:ext cx="5120640" cy="5863589"/>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0" y="3909060"/>
            <a:ext cx="1097280" cy="617220"/>
          </a:xfrm>
          <a:prstGeom prst="rect">
            <a:avLst/>
          </a:prstGeom>
          <a:noFill/>
        </p:spPr>
        <p:txBody>
          <a:bodyPr wrap="square"/>
          <a:lstStyle/>
          <a:p>
            <a:pPr algn="l"/>
            <a:r>
              <a:rPr b="1" i="0" sz="2000">
                <a:solidFill>
                  <a:srgbClr val="B8523A"/>
                </a:solidFill>
                <a:latin typeface="Georgia"/>
              </a:rPr>
              <a:t>2.0</a:t>
            </a:r>
          </a:p>
        </p:txBody>
      </p:sp>
      <p:sp>
        <p:nvSpPr>
          <p:cNvPr id="15" name="TextBox 14"/>
          <p:cNvSpPr txBox="1"/>
          <p:nvPr/>
        </p:nvSpPr>
        <p:spPr>
          <a:xfrm>
            <a:off x="6949440" y="4732020"/>
            <a:ext cx="4572000" cy="925830"/>
          </a:xfrm>
          <a:prstGeom prst="rect">
            <a:avLst/>
          </a:prstGeom>
          <a:noFill/>
        </p:spPr>
        <p:txBody>
          <a:bodyPr wrap="square"/>
          <a:lstStyle/>
          <a:p>
            <a:pPr algn="l"/>
            <a:r>
              <a:rPr b="1" i="0" sz="1200">
                <a:solidFill>
                  <a:srgbClr val="3D3833"/>
                </a:solidFill>
                <a:latin typeface="Arial"/>
              </a:rPr>
              <a:t>ANALYST 2.0
INTERPRETER</a:t>
            </a:r>
          </a:p>
        </p:txBody>
      </p:sp>
      <p:sp>
        <p:nvSpPr>
          <p:cNvPr id="16" name="TextBox 15"/>
          <p:cNvSpPr txBox="1"/>
          <p:nvPr/>
        </p:nvSpPr>
        <p:spPr>
          <a:xfrm>
            <a:off x="6949440" y="5760720"/>
            <a:ext cx="4572000" cy="617220"/>
          </a:xfrm>
          <a:prstGeom prst="rect">
            <a:avLst/>
          </a:prstGeom>
          <a:noFill/>
        </p:spPr>
        <p:txBody>
          <a:bodyPr wrap="square"/>
          <a:lstStyle/>
          <a:p>
            <a:pPr algn="l"/>
            <a:r>
              <a:rPr b="0" i="1" sz="1100">
                <a:solidFill>
                  <a:srgbClr val="B8523A"/>
                </a:solidFill>
                <a:latin typeface="Arial"/>
              </a:rPr>
              <a:t>Perche e successo?</a:t>
            </a:r>
          </a:p>
        </p:txBody>
      </p:sp>
      <p:sp>
        <p:nvSpPr>
          <p:cNvPr id="17" name="TextBox 16"/>
          <p:cNvSpPr txBox="1"/>
          <p:nvPr/>
        </p:nvSpPr>
        <p:spPr>
          <a:xfrm>
            <a:off x="6949440" y="6480810"/>
            <a:ext cx="4572000" cy="720090"/>
          </a:xfrm>
          <a:prstGeom prst="rect">
            <a:avLst/>
          </a:prstGeom>
          <a:noFill/>
        </p:spPr>
        <p:txBody>
          <a:bodyPr wrap="square"/>
          <a:lstStyle/>
          <a:p>
            <a:pPr algn="l"/>
            <a:r>
              <a:rPr b="0" i="0" sz="1000">
                <a:solidFill>
                  <a:srgbClr val="8A8175"/>
                </a:solidFill>
                <a:latin typeface="Arial"/>
              </a:rPr>
              <a:t>Analisi dei driver, ipotesi causali, insight di contesto</a:t>
            </a:r>
          </a:p>
        </p:txBody>
      </p:sp>
      <p:sp>
        <p:nvSpPr>
          <p:cNvPr id="18" name="TextBox 17"/>
          <p:cNvSpPr txBox="1"/>
          <p:nvPr/>
        </p:nvSpPr>
        <p:spPr>
          <a:xfrm>
            <a:off x="6949440" y="7406640"/>
            <a:ext cx="4572000" cy="1337310"/>
          </a:xfrm>
          <a:prstGeom prst="rect">
            <a:avLst/>
          </a:prstGeom>
          <a:noFill/>
        </p:spPr>
        <p:txBody>
          <a:bodyPr wrap="square"/>
          <a:lstStyle/>
          <a:p>
            <a:pPr algn="l"/>
            <a:r>
              <a:rPr b="0" i="1" sz="1000">
                <a:solidFill>
                  <a:srgbClr val="8A8175"/>
                </a:solidFill>
                <a:latin typeface="Arial"/>
              </a:rPr>
              <a:t>Il salto che cambia le conversazioni con i clienti. Ho vissuto questo passaggio: improvvisamente il tuo lavoro entra nelle riunioni strategiche, non solo nei report.</a:t>
            </a:r>
          </a:p>
        </p:txBody>
      </p:sp>
      <p:sp>
        <p:nvSpPr>
          <p:cNvPr id="19" name="TextBox 18"/>
          <p:cNvSpPr txBox="1"/>
          <p:nvPr/>
        </p:nvSpPr>
        <p:spPr>
          <a:xfrm>
            <a:off x="6949440" y="8743950"/>
            <a:ext cx="4572000" cy="822960"/>
          </a:xfrm>
          <a:prstGeom prst="rect">
            <a:avLst/>
          </a:prstGeom>
          <a:noFill/>
        </p:spPr>
        <p:txBody>
          <a:bodyPr wrap="square"/>
          <a:lstStyle/>
          <a:p>
            <a:pPr algn="l"/>
            <a:r>
              <a:rPr b="0" i="0" sz="900">
                <a:solidFill>
                  <a:srgbClr val="B8523A"/>
                </a:solidFill>
                <a:latin typeface="Arial"/>
              </a:rPr>
              <a:t>L'AI accelera l'esplorazione delle ipotesi. 10 in un'ora invece che in una settimana.</a:t>
            </a:r>
          </a:p>
        </p:txBody>
      </p:sp>
      <p:sp>
        <p:nvSpPr>
          <p:cNvPr id="20" name="Rectangle 19"/>
          <p:cNvSpPr/>
          <p:nvPr/>
        </p:nvSpPr>
        <p:spPr>
          <a:xfrm>
            <a:off x="12435840" y="3703320"/>
            <a:ext cx="5120640" cy="5863589"/>
          </a:xfrm>
          <a:prstGeom prst="rect">
            <a:avLst/>
          </a:prstGeom>
          <a:solidFill>
            <a:srgbClr val="3D3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618720" y="3909060"/>
            <a:ext cx="1097280" cy="617220"/>
          </a:xfrm>
          <a:prstGeom prst="rect">
            <a:avLst/>
          </a:prstGeom>
          <a:noFill/>
        </p:spPr>
        <p:txBody>
          <a:bodyPr wrap="square"/>
          <a:lstStyle/>
          <a:p>
            <a:pPr algn="l"/>
            <a:r>
              <a:rPr b="1" i="0" sz="2000">
                <a:solidFill>
                  <a:srgbClr val="B8523A"/>
                </a:solidFill>
                <a:latin typeface="Georgia"/>
              </a:rPr>
              <a:t>3.0</a:t>
            </a:r>
          </a:p>
        </p:txBody>
      </p:sp>
      <p:sp>
        <p:nvSpPr>
          <p:cNvPr id="22" name="TextBox 21"/>
          <p:cNvSpPr txBox="1"/>
          <p:nvPr/>
        </p:nvSpPr>
        <p:spPr>
          <a:xfrm>
            <a:off x="12618720" y="4732020"/>
            <a:ext cx="4572000" cy="925830"/>
          </a:xfrm>
          <a:prstGeom prst="rect">
            <a:avLst/>
          </a:prstGeom>
          <a:noFill/>
        </p:spPr>
        <p:txBody>
          <a:bodyPr wrap="square"/>
          <a:lstStyle/>
          <a:p>
            <a:pPr algn="l"/>
            <a:r>
              <a:rPr b="1" i="0" sz="1200">
                <a:solidFill>
                  <a:srgbClr val="F3EDE1"/>
                </a:solidFill>
                <a:latin typeface="Arial"/>
              </a:rPr>
              <a:t>ANALYST 3.0
ORCHESTRATOR</a:t>
            </a:r>
          </a:p>
        </p:txBody>
      </p:sp>
      <p:sp>
        <p:nvSpPr>
          <p:cNvPr id="23" name="TextBox 22"/>
          <p:cNvSpPr txBox="1"/>
          <p:nvPr/>
        </p:nvSpPr>
        <p:spPr>
          <a:xfrm>
            <a:off x="12618720" y="5760720"/>
            <a:ext cx="4572000" cy="617220"/>
          </a:xfrm>
          <a:prstGeom prst="rect">
            <a:avLst/>
          </a:prstGeom>
          <a:noFill/>
        </p:spPr>
        <p:txBody>
          <a:bodyPr wrap="square"/>
          <a:lstStyle/>
          <a:p>
            <a:pPr algn="l"/>
            <a:r>
              <a:rPr b="0" i="1" sz="1100">
                <a:solidFill>
                  <a:srgbClr val="B8523A"/>
                </a:solidFill>
                <a:latin typeface="Arial"/>
              </a:rPr>
              <a:t>Cosa dovremmo fare?</a:t>
            </a:r>
          </a:p>
        </p:txBody>
      </p:sp>
      <p:sp>
        <p:nvSpPr>
          <p:cNvPr id="24" name="TextBox 23"/>
          <p:cNvSpPr txBox="1"/>
          <p:nvPr/>
        </p:nvSpPr>
        <p:spPr>
          <a:xfrm>
            <a:off x="12618720" y="6480810"/>
            <a:ext cx="4572000" cy="720090"/>
          </a:xfrm>
          <a:prstGeom prst="rect">
            <a:avLst/>
          </a:prstGeom>
          <a:noFill/>
        </p:spPr>
        <p:txBody>
          <a:bodyPr wrap="square"/>
          <a:lstStyle/>
          <a:p>
            <a:pPr algn="l"/>
            <a:r>
              <a:rPr b="0" i="0" sz="1000">
                <a:solidFill>
                  <a:srgbClr val="8A8175"/>
                </a:solidFill>
                <a:latin typeface="Arial"/>
              </a:rPr>
              <a:t>Intelligence strategica, decisioni orientate, ecosistema di fonti</a:t>
            </a:r>
          </a:p>
        </p:txBody>
      </p:sp>
      <p:sp>
        <p:nvSpPr>
          <p:cNvPr id="25" name="TextBox 24"/>
          <p:cNvSpPr txBox="1"/>
          <p:nvPr/>
        </p:nvSpPr>
        <p:spPr>
          <a:xfrm>
            <a:off x="12618720" y="7406640"/>
            <a:ext cx="4572000" cy="1337310"/>
          </a:xfrm>
          <a:prstGeom prst="rect">
            <a:avLst/>
          </a:prstGeom>
          <a:noFill/>
        </p:spPr>
        <p:txBody>
          <a:bodyPr wrap="square"/>
          <a:lstStyle/>
          <a:p>
            <a:pPr algn="l"/>
            <a:r>
              <a:rPr b="0" i="1" sz="1000">
                <a:solidFill>
                  <a:srgbClr val="F3EDE1"/>
                </a:solidFill>
                <a:latin typeface="Arial"/>
              </a:rPr>
              <a:t>Combina fonti, usa l'AI per sintetizzare a scala, valida con giudizio umano, porta l'insight dove serve. Non difende la sua fonte — sceglie quella giusta per la domanda giusta.</a:t>
            </a:r>
          </a:p>
        </p:txBody>
      </p:sp>
      <p:sp>
        <p:nvSpPr>
          <p:cNvPr id="26" name="TextBox 25"/>
          <p:cNvSpPr txBox="1"/>
          <p:nvPr/>
        </p:nvSpPr>
        <p:spPr>
          <a:xfrm>
            <a:off x="12618720" y="8743950"/>
            <a:ext cx="4572000" cy="822960"/>
          </a:xfrm>
          <a:prstGeom prst="rect">
            <a:avLst/>
          </a:prstGeom>
          <a:noFill/>
        </p:spPr>
        <p:txBody>
          <a:bodyPr wrap="square"/>
          <a:lstStyle/>
          <a:p>
            <a:pPr algn="l"/>
            <a:r>
              <a:rPr b="0" i="0" sz="900">
                <a:solidFill>
                  <a:srgbClr val="B8523A"/>
                </a:solidFill>
                <a:latin typeface="Arial"/>
              </a:rPr>
              <a:t>L'AI e il motore che rende il 3.0 concretamente raggiungibile per tutti.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EDE1"/>
        </a:solidFill>
        <a:effectLst/>
      </p:bgPr>
    </p:bg>
    <p:spTree>
      <p:nvGrpSpPr>
        <p:cNvPr id="1" name=""/>
        <p:cNvGrpSpPr/>
        <p:nvPr/>
      </p:nvGrpSpPr>
      <p:grpSpPr/>
      <p:sp>
        <p:nvSpPr>
          <p:cNvPr id="2" name="TextBox 1"/>
          <p:cNvSpPr txBox="1"/>
          <p:nvPr/>
        </p:nvSpPr>
        <p:spPr>
          <a:xfrm>
            <a:off x="1097280" y="617220"/>
            <a:ext cx="16733520" cy="320040"/>
          </a:xfrm>
          <a:prstGeom prst="rect">
            <a:avLst/>
          </a:prstGeom>
          <a:noFill/>
        </p:spPr>
        <p:txBody>
          <a:bodyPr wrap="square"/>
          <a:lstStyle/>
          <a:p>
            <a:pPr algn="l"/>
            <a:r>
              <a:rPr b="1" i="0" sz="1000">
                <a:solidFill>
                  <a:srgbClr val="B8523A"/>
                </a:solidFill>
                <a:latin typeface="Courier New"/>
              </a:rPr>
              <a:t>●  AI E L'ANALISTA — I SEI AMPLIFICATORI</a:t>
            </a:r>
          </a:p>
        </p:txBody>
      </p:sp>
      <p:sp>
        <p:nvSpPr>
          <p:cNvPr id="3" name="TextBox 2"/>
          <p:cNvSpPr txBox="1"/>
          <p:nvPr/>
        </p:nvSpPr>
        <p:spPr>
          <a:xfrm>
            <a:off x="1097280" y="1337310"/>
            <a:ext cx="16093440" cy="822960"/>
          </a:xfrm>
          <a:prstGeom prst="rect">
            <a:avLst/>
          </a:prstGeom>
          <a:noFill/>
        </p:spPr>
        <p:txBody>
          <a:bodyPr wrap="square"/>
          <a:lstStyle/>
          <a:p>
            <a:pPr algn="l"/>
            <a:r>
              <a:rPr b="1" i="0" sz="2000">
                <a:solidFill>
                  <a:srgbClr val="3D3833"/>
                </a:solidFill>
                <a:latin typeface="Georgia"/>
              </a:rPr>
              <a:t>Non sono feature dell'AI. Sono amplificatori delle competenze che gia avete.</a:t>
            </a:r>
          </a:p>
        </p:txBody>
      </p:sp>
      <p:sp>
        <p:nvSpPr>
          <p:cNvPr id="4" name="TextBox 3"/>
          <p:cNvSpPr txBox="1"/>
          <p:nvPr/>
        </p:nvSpPr>
        <p:spPr>
          <a:xfrm>
            <a:off x="1097280" y="2263140"/>
            <a:ext cx="16093440" cy="617220"/>
          </a:xfrm>
          <a:prstGeom prst="rect">
            <a:avLst/>
          </a:prstGeom>
          <a:noFill/>
        </p:spPr>
        <p:txBody>
          <a:bodyPr wrap="square"/>
          <a:lstStyle/>
          <a:p>
            <a:pPr algn="l"/>
            <a:r>
              <a:rPr b="0" i="1" sz="1300">
                <a:solidFill>
                  <a:srgbClr val="B8523A"/>
                </a:solidFill>
                <a:latin typeface="Arial"/>
              </a:rPr>
              <a:t>Con l'AI, il mio lavoro vale di piu. Questo e il frame giusto.</a:t>
            </a:r>
          </a:p>
        </p:txBody>
      </p:sp>
      <p:cxnSp>
        <p:nvCxnSpPr>
          <p:cNvPr id="5" name="Connector 4"/>
          <p:cNvCxnSpPr/>
          <p:nvPr/>
        </p:nvCxnSpPr>
        <p:spPr>
          <a:xfrm>
            <a:off x="1097280" y="3086100"/>
            <a:ext cx="1609344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1097280" y="3497580"/>
            <a:ext cx="5212080" cy="1594485"/>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3651885"/>
            <a:ext cx="2194560" cy="411480"/>
          </a:xfrm>
          <a:prstGeom prst="rect">
            <a:avLst/>
          </a:prstGeom>
          <a:noFill/>
        </p:spPr>
        <p:txBody>
          <a:bodyPr wrap="square"/>
          <a:lstStyle/>
          <a:p>
            <a:pPr algn="l"/>
            <a:r>
              <a:rPr b="1" i="0" sz="1100">
                <a:solidFill>
                  <a:srgbClr val="B8523A"/>
                </a:solidFill>
                <a:latin typeface="Courier New"/>
              </a:rPr>
              <a:t>SCALE</a:t>
            </a:r>
          </a:p>
        </p:txBody>
      </p:sp>
      <p:sp>
        <p:nvSpPr>
          <p:cNvPr id="8" name="TextBox 7"/>
          <p:cNvSpPr txBox="1"/>
          <p:nvPr/>
        </p:nvSpPr>
        <p:spPr>
          <a:xfrm>
            <a:off x="1234440" y="4063365"/>
            <a:ext cx="5029200" cy="411480"/>
          </a:xfrm>
          <a:prstGeom prst="rect">
            <a:avLst/>
          </a:prstGeom>
          <a:noFill/>
        </p:spPr>
        <p:txBody>
          <a:bodyPr wrap="square"/>
          <a:lstStyle/>
          <a:p>
            <a:pPr algn="l"/>
            <a:r>
              <a:rPr b="0" i="1" sz="1000">
                <a:solidFill>
                  <a:srgbClr val="3D3833"/>
                </a:solidFill>
                <a:latin typeface="Arial"/>
              </a:rPr>
              <a:t>Gia sapete leggere le conversazioni del mercato.</a:t>
            </a:r>
          </a:p>
        </p:txBody>
      </p:sp>
      <p:sp>
        <p:nvSpPr>
          <p:cNvPr id="9" name="TextBox 8"/>
          <p:cNvSpPr txBox="1"/>
          <p:nvPr/>
        </p:nvSpPr>
        <p:spPr>
          <a:xfrm>
            <a:off x="1234440" y="4474845"/>
            <a:ext cx="5029200" cy="565785"/>
          </a:xfrm>
          <a:prstGeom prst="rect">
            <a:avLst/>
          </a:prstGeom>
          <a:noFill/>
        </p:spPr>
        <p:txBody>
          <a:bodyPr wrap="square"/>
          <a:lstStyle/>
          <a:p>
            <a:pPr algn="l"/>
            <a:r>
              <a:rPr b="0" i="0" sz="1000">
                <a:solidFill>
                  <a:srgbClr val="8A8175"/>
                </a:solidFill>
                <a:latin typeface="Arial"/>
              </a:rPr>
              <a:t>L'AI vi permette di farlo su milioni di conversazioni in parallelo, su mercati diversi, in tempo reale. Non cambia cosa fate — cambia quanto ne potete fare.</a:t>
            </a:r>
          </a:p>
        </p:txBody>
      </p:sp>
      <p:sp>
        <p:nvSpPr>
          <p:cNvPr id="10" name="Rectangle 9"/>
          <p:cNvSpPr/>
          <p:nvPr/>
        </p:nvSpPr>
        <p:spPr>
          <a:xfrm>
            <a:off x="6382512" y="3497580"/>
            <a:ext cx="5212080" cy="1594485"/>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9672" y="3651885"/>
            <a:ext cx="2194560" cy="411480"/>
          </a:xfrm>
          <a:prstGeom prst="rect">
            <a:avLst/>
          </a:prstGeom>
          <a:noFill/>
        </p:spPr>
        <p:txBody>
          <a:bodyPr wrap="square"/>
          <a:lstStyle/>
          <a:p>
            <a:pPr algn="l"/>
            <a:r>
              <a:rPr b="1" i="0" sz="1100">
                <a:solidFill>
                  <a:srgbClr val="B8523A"/>
                </a:solidFill>
                <a:latin typeface="Courier New"/>
              </a:rPr>
              <a:t>SPEED</a:t>
            </a:r>
          </a:p>
        </p:txBody>
      </p:sp>
      <p:sp>
        <p:nvSpPr>
          <p:cNvPr id="12" name="TextBox 11"/>
          <p:cNvSpPr txBox="1"/>
          <p:nvPr/>
        </p:nvSpPr>
        <p:spPr>
          <a:xfrm>
            <a:off x="6519672" y="4063365"/>
            <a:ext cx="5029200" cy="411480"/>
          </a:xfrm>
          <a:prstGeom prst="rect">
            <a:avLst/>
          </a:prstGeom>
          <a:noFill/>
        </p:spPr>
        <p:txBody>
          <a:bodyPr wrap="square"/>
          <a:lstStyle/>
          <a:p>
            <a:pPr algn="l"/>
            <a:r>
              <a:rPr b="0" i="1" sz="1000">
                <a:solidFill>
                  <a:srgbClr val="3D3833"/>
                </a:solidFill>
                <a:latin typeface="Arial"/>
              </a:rPr>
              <a:t>Gia formulate ipotesi analitiche.</a:t>
            </a:r>
          </a:p>
        </p:txBody>
      </p:sp>
      <p:sp>
        <p:nvSpPr>
          <p:cNvPr id="13" name="TextBox 12"/>
          <p:cNvSpPr txBox="1"/>
          <p:nvPr/>
        </p:nvSpPr>
        <p:spPr>
          <a:xfrm>
            <a:off x="6519672" y="4474845"/>
            <a:ext cx="5029200" cy="565785"/>
          </a:xfrm>
          <a:prstGeom prst="rect">
            <a:avLst/>
          </a:prstGeom>
          <a:noFill/>
        </p:spPr>
        <p:txBody>
          <a:bodyPr wrap="square"/>
          <a:lstStyle/>
          <a:p>
            <a:pPr algn="l"/>
            <a:r>
              <a:rPr b="0" i="0" sz="1000">
                <a:solidFill>
                  <a:srgbClr val="8A8175"/>
                </a:solidFill>
                <a:latin typeface="Arial"/>
              </a:rPr>
              <a:t>L'AI vi permette di generarne e testarne dieci in un'ora invece che in una settimana. Non cambia il metodo — cambia la velocita di esplorazione.</a:t>
            </a:r>
          </a:p>
        </p:txBody>
      </p:sp>
      <p:sp>
        <p:nvSpPr>
          <p:cNvPr id="14" name="Rectangle 13"/>
          <p:cNvSpPr/>
          <p:nvPr/>
        </p:nvSpPr>
        <p:spPr>
          <a:xfrm>
            <a:off x="11667744" y="3497580"/>
            <a:ext cx="5212080" cy="1594485"/>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04904" y="3651885"/>
            <a:ext cx="2194560" cy="411480"/>
          </a:xfrm>
          <a:prstGeom prst="rect">
            <a:avLst/>
          </a:prstGeom>
          <a:noFill/>
        </p:spPr>
        <p:txBody>
          <a:bodyPr wrap="square"/>
          <a:lstStyle/>
          <a:p>
            <a:pPr algn="l"/>
            <a:r>
              <a:rPr b="1" i="0" sz="1100">
                <a:solidFill>
                  <a:srgbClr val="B8523A"/>
                </a:solidFill>
                <a:latin typeface="Courier New"/>
              </a:rPr>
              <a:t>COVERAGE</a:t>
            </a:r>
          </a:p>
        </p:txBody>
      </p:sp>
      <p:sp>
        <p:nvSpPr>
          <p:cNvPr id="16" name="TextBox 15"/>
          <p:cNvSpPr txBox="1"/>
          <p:nvPr/>
        </p:nvSpPr>
        <p:spPr>
          <a:xfrm>
            <a:off x="11804904" y="4063365"/>
            <a:ext cx="5029200" cy="411480"/>
          </a:xfrm>
          <a:prstGeom prst="rect">
            <a:avLst/>
          </a:prstGeom>
          <a:noFill/>
        </p:spPr>
        <p:txBody>
          <a:bodyPr wrap="square"/>
          <a:lstStyle/>
          <a:p>
            <a:pPr algn="l"/>
            <a:r>
              <a:rPr b="0" i="1" sz="1000">
                <a:solidFill>
                  <a:srgbClr val="3D3833"/>
                </a:solidFill>
                <a:latin typeface="Arial"/>
              </a:rPr>
              <a:t>Gia monitorate fonti diverse.</a:t>
            </a:r>
          </a:p>
        </p:txBody>
      </p:sp>
      <p:sp>
        <p:nvSpPr>
          <p:cNvPr id="17" name="TextBox 16"/>
          <p:cNvSpPr txBox="1"/>
          <p:nvPr/>
        </p:nvSpPr>
        <p:spPr>
          <a:xfrm>
            <a:off x="11804904" y="4474845"/>
            <a:ext cx="5029200" cy="565785"/>
          </a:xfrm>
          <a:prstGeom prst="rect">
            <a:avLst/>
          </a:prstGeom>
          <a:noFill/>
        </p:spPr>
        <p:txBody>
          <a:bodyPr wrap="square"/>
          <a:lstStyle/>
          <a:p>
            <a:pPr algn="l"/>
            <a:r>
              <a:rPr b="0" i="0" sz="1000">
                <a:solidFill>
                  <a:srgbClr val="8A8175"/>
                </a:solidFill>
                <a:latin typeface="Arial"/>
              </a:rPr>
              <a:t>L'AI vi permette di farlo su piu lingue, piu mercati, piu canali simultaneamente, senza overhead. La vostra copertura si espande.</a:t>
            </a:r>
          </a:p>
        </p:txBody>
      </p:sp>
      <p:sp>
        <p:nvSpPr>
          <p:cNvPr id="18" name="Rectangle 17"/>
          <p:cNvSpPr/>
          <p:nvPr/>
        </p:nvSpPr>
        <p:spPr>
          <a:xfrm>
            <a:off x="1097280" y="5194935"/>
            <a:ext cx="5212080" cy="1594485"/>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34440" y="5349240"/>
            <a:ext cx="2194560" cy="411480"/>
          </a:xfrm>
          <a:prstGeom prst="rect">
            <a:avLst/>
          </a:prstGeom>
          <a:noFill/>
        </p:spPr>
        <p:txBody>
          <a:bodyPr wrap="square"/>
          <a:lstStyle/>
          <a:p>
            <a:pPr algn="l"/>
            <a:r>
              <a:rPr b="1" i="0" sz="1100">
                <a:solidFill>
                  <a:srgbClr val="B8523A"/>
                </a:solidFill>
                <a:latin typeface="Courier New"/>
              </a:rPr>
              <a:t>MEMORY</a:t>
            </a:r>
          </a:p>
        </p:txBody>
      </p:sp>
      <p:sp>
        <p:nvSpPr>
          <p:cNvPr id="20" name="TextBox 19"/>
          <p:cNvSpPr txBox="1"/>
          <p:nvPr/>
        </p:nvSpPr>
        <p:spPr>
          <a:xfrm>
            <a:off x="1234440" y="5760720"/>
            <a:ext cx="5029200" cy="411480"/>
          </a:xfrm>
          <a:prstGeom prst="rect">
            <a:avLst/>
          </a:prstGeom>
          <a:noFill/>
        </p:spPr>
        <p:txBody>
          <a:bodyPr wrap="square"/>
          <a:lstStyle/>
          <a:p>
            <a:pPr algn="l"/>
            <a:r>
              <a:rPr b="0" i="1" sz="1000">
                <a:solidFill>
                  <a:srgbClr val="3D3833"/>
                </a:solidFill>
                <a:latin typeface="Arial"/>
              </a:rPr>
              <a:t>Gia costruite trend analysis nel tempo.</a:t>
            </a:r>
          </a:p>
        </p:txBody>
      </p:sp>
      <p:sp>
        <p:nvSpPr>
          <p:cNvPr id="21" name="TextBox 20"/>
          <p:cNvSpPr txBox="1"/>
          <p:nvPr/>
        </p:nvSpPr>
        <p:spPr>
          <a:xfrm>
            <a:off x="1234440" y="6172200"/>
            <a:ext cx="5029200" cy="565785"/>
          </a:xfrm>
          <a:prstGeom prst="rect">
            <a:avLst/>
          </a:prstGeom>
          <a:noFill/>
        </p:spPr>
        <p:txBody>
          <a:bodyPr wrap="square"/>
          <a:lstStyle/>
          <a:p>
            <a:pPr algn="l"/>
            <a:r>
              <a:rPr b="0" i="0" sz="1000">
                <a:solidFill>
                  <a:srgbClr val="8A8175"/>
                </a:solidFill>
                <a:latin typeface="Arial"/>
              </a:rPr>
              <a:t>L'AI vi permette di interrogare anni di dati storici come se fossero una conversazione. La vostra memoria si allunga.</a:t>
            </a:r>
          </a:p>
        </p:txBody>
      </p:sp>
      <p:sp>
        <p:nvSpPr>
          <p:cNvPr id="22" name="Rectangle 21"/>
          <p:cNvSpPr/>
          <p:nvPr/>
        </p:nvSpPr>
        <p:spPr>
          <a:xfrm>
            <a:off x="6382512" y="5194935"/>
            <a:ext cx="5212080" cy="1594485"/>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9672" y="5349240"/>
            <a:ext cx="2194560" cy="411480"/>
          </a:xfrm>
          <a:prstGeom prst="rect">
            <a:avLst/>
          </a:prstGeom>
          <a:noFill/>
        </p:spPr>
        <p:txBody>
          <a:bodyPr wrap="square"/>
          <a:lstStyle/>
          <a:p>
            <a:pPr algn="l"/>
            <a:r>
              <a:rPr b="1" i="0" sz="1100">
                <a:solidFill>
                  <a:srgbClr val="B8523A"/>
                </a:solidFill>
                <a:latin typeface="Courier New"/>
              </a:rPr>
              <a:t>DISCOVERY</a:t>
            </a:r>
          </a:p>
        </p:txBody>
      </p:sp>
      <p:sp>
        <p:nvSpPr>
          <p:cNvPr id="24" name="TextBox 23"/>
          <p:cNvSpPr txBox="1"/>
          <p:nvPr/>
        </p:nvSpPr>
        <p:spPr>
          <a:xfrm>
            <a:off x="6519672" y="5760720"/>
            <a:ext cx="5029200" cy="411480"/>
          </a:xfrm>
          <a:prstGeom prst="rect">
            <a:avLst/>
          </a:prstGeom>
          <a:noFill/>
        </p:spPr>
        <p:txBody>
          <a:bodyPr wrap="square"/>
          <a:lstStyle/>
          <a:p>
            <a:pPr algn="l"/>
            <a:r>
              <a:rPr b="0" i="1" sz="1000">
                <a:solidFill>
                  <a:srgbClr val="3D3833"/>
                </a:solidFill>
                <a:latin typeface="Arial"/>
              </a:rPr>
              <a:t>Gia cercate pattern nascosti.</a:t>
            </a:r>
          </a:p>
        </p:txBody>
      </p:sp>
      <p:sp>
        <p:nvSpPr>
          <p:cNvPr id="25" name="TextBox 24"/>
          <p:cNvSpPr txBox="1"/>
          <p:nvPr/>
        </p:nvSpPr>
        <p:spPr>
          <a:xfrm>
            <a:off x="6519672" y="6172200"/>
            <a:ext cx="5029200" cy="565785"/>
          </a:xfrm>
          <a:prstGeom prst="rect">
            <a:avLst/>
          </a:prstGeom>
          <a:noFill/>
        </p:spPr>
        <p:txBody>
          <a:bodyPr wrap="square"/>
          <a:lstStyle/>
          <a:p>
            <a:pPr algn="l"/>
            <a:r>
              <a:rPr b="0" i="0" sz="1000">
                <a:solidFill>
                  <a:srgbClr val="8A8175"/>
                </a:solidFill>
                <a:latin typeface="Arial"/>
              </a:rPr>
              <a:t>L'AI identifica correlazioni che l'occhio umano non vedrebbe mai — e ve le porta. La vostra capacita di scoperta si moltiplica.</a:t>
            </a:r>
          </a:p>
        </p:txBody>
      </p:sp>
      <p:sp>
        <p:nvSpPr>
          <p:cNvPr id="26" name="Rectangle 25"/>
          <p:cNvSpPr/>
          <p:nvPr/>
        </p:nvSpPr>
        <p:spPr>
          <a:xfrm>
            <a:off x="11667744" y="5194935"/>
            <a:ext cx="5212080" cy="1594485"/>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804904" y="5349240"/>
            <a:ext cx="2194560" cy="411480"/>
          </a:xfrm>
          <a:prstGeom prst="rect">
            <a:avLst/>
          </a:prstGeom>
          <a:noFill/>
        </p:spPr>
        <p:txBody>
          <a:bodyPr wrap="square"/>
          <a:lstStyle/>
          <a:p>
            <a:pPr algn="l"/>
            <a:r>
              <a:rPr b="1" i="0" sz="1100">
                <a:solidFill>
                  <a:srgbClr val="B8523A"/>
                </a:solidFill>
                <a:latin typeface="Courier New"/>
              </a:rPr>
              <a:t>SIMULATION</a:t>
            </a:r>
          </a:p>
        </p:txBody>
      </p:sp>
      <p:sp>
        <p:nvSpPr>
          <p:cNvPr id="28" name="TextBox 27"/>
          <p:cNvSpPr txBox="1"/>
          <p:nvPr/>
        </p:nvSpPr>
        <p:spPr>
          <a:xfrm>
            <a:off x="11804904" y="5760720"/>
            <a:ext cx="5029200" cy="411480"/>
          </a:xfrm>
          <a:prstGeom prst="rect">
            <a:avLst/>
          </a:prstGeom>
          <a:noFill/>
        </p:spPr>
        <p:txBody>
          <a:bodyPr wrap="square"/>
          <a:lstStyle/>
          <a:p>
            <a:pPr algn="l"/>
            <a:r>
              <a:rPr b="0" i="1" sz="1000">
                <a:solidFill>
                  <a:srgbClr val="3D3833"/>
                </a:solidFill>
                <a:latin typeface="Arial"/>
              </a:rPr>
              <a:t>Gia ragionate per scenari.</a:t>
            </a:r>
          </a:p>
        </p:txBody>
      </p:sp>
      <p:sp>
        <p:nvSpPr>
          <p:cNvPr id="29" name="TextBox 28"/>
          <p:cNvSpPr txBox="1"/>
          <p:nvPr/>
        </p:nvSpPr>
        <p:spPr>
          <a:xfrm>
            <a:off x="11804904" y="6172200"/>
            <a:ext cx="5029200" cy="565785"/>
          </a:xfrm>
          <a:prstGeom prst="rect">
            <a:avLst/>
          </a:prstGeom>
          <a:noFill/>
        </p:spPr>
        <p:txBody>
          <a:bodyPr wrap="square"/>
          <a:lstStyle/>
          <a:p>
            <a:pPr algn="l"/>
            <a:r>
              <a:rPr b="0" i="0" sz="1000">
                <a:solidFill>
                  <a:srgbClr val="8A8175"/>
                </a:solidFill>
                <a:latin typeface="Arial"/>
              </a:rPr>
              <a:t>L'AI vi permette di simularli. Di testare 'e se?' prima che diventi reale. La vostra capacita di anticipazione si potenzia.</a:t>
            </a:r>
          </a:p>
        </p:txBody>
      </p:sp>
      <p:sp>
        <p:nvSpPr>
          <p:cNvPr id="30" name="Rectangle 29"/>
          <p:cNvSpPr/>
          <p:nvPr/>
        </p:nvSpPr>
        <p:spPr>
          <a:xfrm>
            <a:off x="1097280" y="8846820"/>
            <a:ext cx="16093440" cy="1028700"/>
          </a:xfrm>
          <a:prstGeom prst="rect">
            <a:avLst/>
          </a:prstGeom>
          <a:solidFill>
            <a:srgbClr val="3D3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463040" y="9155430"/>
            <a:ext cx="15361920" cy="617220"/>
          </a:xfrm>
          <a:prstGeom prst="rect">
            <a:avLst/>
          </a:prstGeom>
          <a:noFill/>
        </p:spPr>
        <p:txBody>
          <a:bodyPr wrap="square"/>
          <a:lstStyle/>
          <a:p>
            <a:pPr algn="ctr"/>
            <a:r>
              <a:rPr b="0" i="1" sz="1300">
                <a:solidFill>
                  <a:srgbClr val="F3EDE1"/>
                </a:solidFill>
                <a:latin typeface="Georgia"/>
              </a:rPr>
              <a:t>"L'AI non pensa al posto dell'analista. Amplifica cio che l'analista e in grado di vedere."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3EDE1"/>
        </a:solidFill>
        <a:effectLst/>
      </p:bgPr>
    </p:bg>
    <p:spTree>
      <p:nvGrpSpPr>
        <p:cNvPr id="1" name=""/>
        <p:cNvGrpSpPr/>
        <p:nvPr/>
      </p:nvGrpSpPr>
      <p:grpSpPr/>
      <p:sp>
        <p:nvSpPr>
          <p:cNvPr id="2" name="TextBox 1"/>
          <p:cNvSpPr txBox="1"/>
          <p:nvPr/>
        </p:nvSpPr>
        <p:spPr>
          <a:xfrm>
            <a:off x="1097280" y="617220"/>
            <a:ext cx="16733520" cy="320040"/>
          </a:xfrm>
          <a:prstGeom prst="rect">
            <a:avLst/>
          </a:prstGeom>
          <a:noFill/>
        </p:spPr>
        <p:txBody>
          <a:bodyPr wrap="square"/>
          <a:lstStyle/>
          <a:p>
            <a:pPr algn="l"/>
            <a:r>
              <a:rPr b="1" i="0" sz="1000">
                <a:solidFill>
                  <a:srgbClr val="B8523A"/>
                </a:solidFill>
                <a:latin typeface="Courier New"/>
              </a:rPr>
              <a:t>●  CAPITOLO 8 — APPLICAZIONI CONCRETE</a:t>
            </a:r>
          </a:p>
        </p:txBody>
      </p:sp>
      <p:sp>
        <p:nvSpPr>
          <p:cNvPr id="3" name="TextBox 2"/>
          <p:cNvSpPr txBox="1"/>
          <p:nvPr/>
        </p:nvSpPr>
        <p:spPr>
          <a:xfrm>
            <a:off x="1097280" y="1337310"/>
            <a:ext cx="16093440" cy="925830"/>
          </a:xfrm>
          <a:prstGeom prst="rect">
            <a:avLst/>
          </a:prstGeom>
          <a:noFill/>
        </p:spPr>
        <p:txBody>
          <a:bodyPr wrap="square"/>
          <a:lstStyle/>
          <a:p>
            <a:pPr algn="l"/>
            <a:r>
              <a:rPr b="1" i="0" sz="2600">
                <a:solidFill>
                  <a:srgbClr val="3D3833"/>
                </a:solidFill>
                <a:latin typeface="Georgia"/>
              </a:rPr>
              <a:t>Dove genera valore l'approccio dell'orchestratore</a:t>
            </a:r>
          </a:p>
        </p:txBody>
      </p:sp>
      <p:sp>
        <p:nvSpPr>
          <p:cNvPr id="4" name="TextBox 3"/>
          <p:cNvSpPr txBox="1"/>
          <p:nvPr/>
        </p:nvSpPr>
        <p:spPr>
          <a:xfrm>
            <a:off x="1097280" y="2468880"/>
            <a:ext cx="16093440" cy="617220"/>
          </a:xfrm>
          <a:prstGeom prst="rect">
            <a:avLst/>
          </a:prstGeom>
          <a:noFill/>
        </p:spPr>
        <p:txBody>
          <a:bodyPr wrap="square"/>
          <a:lstStyle/>
          <a:p>
            <a:pPr algn="l"/>
            <a:r>
              <a:rPr b="0" i="0" sz="1200">
                <a:solidFill>
                  <a:srgbClr val="8A8175"/>
                </a:solidFill>
                <a:latin typeface="Arial"/>
              </a:rPr>
              <a:t>Quattro modi in cui il listening entra prima delle decisioni, non dopo. Un denominatore comune.</a:t>
            </a:r>
          </a:p>
        </p:txBody>
      </p:sp>
      <p:cxnSp>
        <p:nvCxnSpPr>
          <p:cNvPr id="5" name="Connector 4"/>
          <p:cNvCxnSpPr/>
          <p:nvPr/>
        </p:nvCxnSpPr>
        <p:spPr>
          <a:xfrm>
            <a:off x="1097280" y="3291840"/>
            <a:ext cx="1609344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1097280" y="3703320"/>
            <a:ext cx="7863840" cy="205740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3806190"/>
            <a:ext cx="7680960" cy="720090"/>
          </a:xfrm>
          <a:prstGeom prst="rect">
            <a:avLst/>
          </a:prstGeom>
          <a:noFill/>
        </p:spPr>
        <p:txBody>
          <a:bodyPr wrap="square"/>
          <a:lstStyle/>
          <a:p>
            <a:pPr algn="l"/>
            <a:r>
              <a:rPr b="1" i="0" sz="1200">
                <a:solidFill>
                  <a:srgbClr val="3D3833"/>
                </a:solidFill>
                <a:latin typeface="Arial"/>
              </a:rPr>
              <a:t>REPUTATION
INTELLIGENCE</a:t>
            </a:r>
          </a:p>
        </p:txBody>
      </p:sp>
      <p:sp>
        <p:nvSpPr>
          <p:cNvPr id="8" name="TextBox 7"/>
          <p:cNvSpPr txBox="1"/>
          <p:nvPr/>
        </p:nvSpPr>
        <p:spPr>
          <a:xfrm>
            <a:off x="1234440" y="4423410"/>
            <a:ext cx="7680960" cy="514350"/>
          </a:xfrm>
          <a:prstGeom prst="rect">
            <a:avLst/>
          </a:prstGeom>
          <a:noFill/>
        </p:spPr>
        <p:txBody>
          <a:bodyPr wrap="square"/>
          <a:lstStyle/>
          <a:p>
            <a:pPr algn="l"/>
            <a:r>
              <a:rPr b="0" i="1" sz="1000">
                <a:solidFill>
                  <a:srgbClr val="B8523A"/>
                </a:solidFill>
                <a:latin typeface="Arial"/>
              </a:rPr>
              <a:t>Non il monitoraggio delle menzioni — l'intelligence reputazionale.</a:t>
            </a:r>
          </a:p>
        </p:txBody>
      </p:sp>
      <p:sp>
        <p:nvSpPr>
          <p:cNvPr id="9" name="TextBox 8"/>
          <p:cNvSpPr txBox="1"/>
          <p:nvPr/>
        </p:nvSpPr>
        <p:spPr>
          <a:xfrm>
            <a:off x="1234440" y="4937760"/>
            <a:ext cx="7680960" cy="226314"/>
          </a:xfrm>
          <a:prstGeom prst="rect">
            <a:avLst/>
          </a:prstGeom>
          <a:noFill/>
        </p:spPr>
        <p:txBody>
          <a:bodyPr wrap="square"/>
          <a:lstStyle/>
          <a:p>
            <a:pPr algn="l"/>
            <a:r>
              <a:rPr b="0" i="0" sz="900">
                <a:solidFill>
                  <a:srgbClr val="8A8175"/>
                </a:solidFill>
                <a:latin typeface="Arial"/>
              </a:rPr>
              <a:t>- Percezione del brand, driver di fiducia, associazioni spontanee</a:t>
            </a:r>
          </a:p>
        </p:txBody>
      </p:sp>
      <p:sp>
        <p:nvSpPr>
          <p:cNvPr id="10" name="TextBox 9"/>
          <p:cNvSpPr txBox="1"/>
          <p:nvPr/>
        </p:nvSpPr>
        <p:spPr>
          <a:xfrm>
            <a:off x="1234440" y="5164074"/>
            <a:ext cx="7680960" cy="226314"/>
          </a:xfrm>
          <a:prstGeom prst="rect">
            <a:avLst/>
          </a:prstGeom>
          <a:noFill/>
        </p:spPr>
        <p:txBody>
          <a:bodyPr wrap="square"/>
          <a:lstStyle/>
          <a:p>
            <a:pPr algn="l"/>
            <a:r>
              <a:rPr b="0" i="0" sz="900">
                <a:solidFill>
                  <a:srgbClr val="8A8175"/>
                </a:solidFill>
                <a:latin typeface="Arial"/>
              </a:rPr>
              <a:t>- Rischi latenti e community attive prima che diventino crisi</a:t>
            </a:r>
          </a:p>
        </p:txBody>
      </p:sp>
      <p:sp>
        <p:nvSpPr>
          <p:cNvPr id="11" name="TextBox 10"/>
          <p:cNvSpPr txBox="1"/>
          <p:nvPr/>
        </p:nvSpPr>
        <p:spPr>
          <a:xfrm>
            <a:off x="1234440" y="5390388"/>
            <a:ext cx="7680960" cy="226314"/>
          </a:xfrm>
          <a:prstGeom prst="rect">
            <a:avLst/>
          </a:prstGeom>
          <a:noFill/>
        </p:spPr>
        <p:txBody>
          <a:bodyPr wrap="square"/>
          <a:lstStyle/>
          <a:p>
            <a:pPr algn="l"/>
            <a:r>
              <a:rPr b="0" i="0" sz="900">
                <a:solidFill>
                  <a:srgbClr val="8A8175"/>
                </a:solidFill>
                <a:latin typeface="Arial"/>
              </a:rPr>
              <a:t>- Alert preventivi — non post-mortem</a:t>
            </a:r>
          </a:p>
        </p:txBody>
      </p:sp>
      <p:sp>
        <p:nvSpPr>
          <p:cNvPr id="12" name="TextBox 11"/>
          <p:cNvSpPr txBox="1"/>
          <p:nvPr/>
        </p:nvSpPr>
        <p:spPr>
          <a:xfrm>
            <a:off x="1234440" y="5616702"/>
            <a:ext cx="7680960" cy="226314"/>
          </a:xfrm>
          <a:prstGeom prst="rect">
            <a:avLst/>
          </a:prstGeom>
          <a:noFill/>
        </p:spPr>
        <p:txBody>
          <a:bodyPr wrap="square"/>
          <a:lstStyle/>
          <a:p>
            <a:pPr algn="l"/>
            <a:r>
              <a:rPr b="0" i="0" sz="900">
                <a:solidFill>
                  <a:srgbClr val="8A8175"/>
                </a:solidFill>
                <a:latin typeface="Arial"/>
              </a:rPr>
              <a:t>- Il sistema dice non solo cosa dicono le persone, ma perche</a:t>
            </a:r>
          </a:p>
        </p:txBody>
      </p:sp>
      <p:sp>
        <p:nvSpPr>
          <p:cNvPr id="13" name="Rectangle 12"/>
          <p:cNvSpPr/>
          <p:nvPr/>
        </p:nvSpPr>
        <p:spPr>
          <a:xfrm>
            <a:off x="9326880" y="3703320"/>
            <a:ext cx="7863840" cy="205740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64040" y="3806190"/>
            <a:ext cx="7680960" cy="720090"/>
          </a:xfrm>
          <a:prstGeom prst="rect">
            <a:avLst/>
          </a:prstGeom>
          <a:noFill/>
        </p:spPr>
        <p:txBody>
          <a:bodyPr wrap="square"/>
          <a:lstStyle/>
          <a:p>
            <a:pPr algn="l"/>
            <a:r>
              <a:rPr b="1" i="0" sz="1200">
                <a:solidFill>
                  <a:srgbClr val="3D3833"/>
                </a:solidFill>
                <a:latin typeface="Arial"/>
              </a:rPr>
              <a:t>CAMPAIGN
INTELLIGENCE</a:t>
            </a:r>
          </a:p>
        </p:txBody>
      </p:sp>
      <p:sp>
        <p:nvSpPr>
          <p:cNvPr id="15" name="TextBox 14"/>
          <p:cNvSpPr txBox="1"/>
          <p:nvPr/>
        </p:nvSpPr>
        <p:spPr>
          <a:xfrm>
            <a:off x="9464040" y="4423410"/>
            <a:ext cx="7680960" cy="514350"/>
          </a:xfrm>
          <a:prstGeom prst="rect">
            <a:avLst/>
          </a:prstGeom>
          <a:noFill/>
        </p:spPr>
        <p:txBody>
          <a:bodyPr wrap="square"/>
          <a:lstStyle/>
          <a:p>
            <a:pPr algn="l"/>
            <a:r>
              <a:rPr b="0" i="1" sz="1000">
                <a:solidFill>
                  <a:srgbClr val="B8523A"/>
                </a:solidFill>
                <a:latin typeface="Arial"/>
              </a:rPr>
              <a:t>Come viene ricevuta una campagna organicamente, al netto del paid?</a:t>
            </a:r>
          </a:p>
        </p:txBody>
      </p:sp>
      <p:sp>
        <p:nvSpPr>
          <p:cNvPr id="16" name="TextBox 15"/>
          <p:cNvSpPr txBox="1"/>
          <p:nvPr/>
        </p:nvSpPr>
        <p:spPr>
          <a:xfrm>
            <a:off x="9464040" y="4937760"/>
            <a:ext cx="7680960" cy="226314"/>
          </a:xfrm>
          <a:prstGeom prst="rect">
            <a:avLst/>
          </a:prstGeom>
          <a:noFill/>
        </p:spPr>
        <p:txBody>
          <a:bodyPr wrap="square"/>
          <a:lstStyle/>
          <a:p>
            <a:pPr algn="l"/>
            <a:r>
              <a:rPr b="0" i="0" sz="900">
                <a:solidFill>
                  <a:srgbClr val="8A8175"/>
                </a:solidFill>
                <a:latin typeface="Arial"/>
              </a:rPr>
              <a:t>- Quali messaggi vengono compresi e quali fraintesi?</a:t>
            </a:r>
          </a:p>
        </p:txBody>
      </p:sp>
      <p:sp>
        <p:nvSpPr>
          <p:cNvPr id="17" name="TextBox 16"/>
          <p:cNvSpPr txBox="1"/>
          <p:nvPr/>
        </p:nvSpPr>
        <p:spPr>
          <a:xfrm>
            <a:off x="9464040" y="5164074"/>
            <a:ext cx="7680960" cy="226314"/>
          </a:xfrm>
          <a:prstGeom prst="rect">
            <a:avLst/>
          </a:prstGeom>
          <a:noFill/>
        </p:spPr>
        <p:txBody>
          <a:bodyPr wrap="square"/>
          <a:lstStyle/>
          <a:p>
            <a:pPr algn="l"/>
            <a:r>
              <a:rPr b="0" i="0" sz="900">
                <a:solidFill>
                  <a:srgbClr val="8A8175"/>
                </a:solidFill>
                <a:latin typeface="Arial"/>
              </a:rPr>
              <a:t>- Quali asset funzionano davvero nei contesti reali?</a:t>
            </a:r>
          </a:p>
        </p:txBody>
      </p:sp>
      <p:sp>
        <p:nvSpPr>
          <p:cNvPr id="18" name="TextBox 17"/>
          <p:cNvSpPr txBox="1"/>
          <p:nvPr/>
        </p:nvSpPr>
        <p:spPr>
          <a:xfrm>
            <a:off x="9464040" y="5390388"/>
            <a:ext cx="7680960" cy="226314"/>
          </a:xfrm>
          <a:prstGeom prst="rect">
            <a:avLst/>
          </a:prstGeom>
          <a:noFill/>
        </p:spPr>
        <p:txBody>
          <a:bodyPr wrap="square"/>
          <a:lstStyle/>
          <a:p>
            <a:pPr algn="l"/>
            <a:r>
              <a:rPr b="0" i="0" sz="900">
                <a:solidFill>
                  <a:srgbClr val="8A8175"/>
                </a:solidFill>
                <a:latin typeface="Arial"/>
              </a:rPr>
              <a:t>- Correzioni in itinere — non valutazioni a fine campagna</a:t>
            </a:r>
          </a:p>
        </p:txBody>
      </p:sp>
      <p:sp>
        <p:nvSpPr>
          <p:cNvPr id="19" name="TextBox 18"/>
          <p:cNvSpPr txBox="1"/>
          <p:nvPr/>
        </p:nvSpPr>
        <p:spPr>
          <a:xfrm>
            <a:off x="9464040" y="5616702"/>
            <a:ext cx="7680960" cy="226314"/>
          </a:xfrm>
          <a:prstGeom prst="rect">
            <a:avLst/>
          </a:prstGeom>
          <a:noFill/>
        </p:spPr>
        <p:txBody>
          <a:bodyPr wrap="square"/>
          <a:lstStyle/>
          <a:p>
            <a:pPr algn="l"/>
            <a:r>
              <a:rPr b="0" i="0" sz="900">
                <a:solidFill>
                  <a:srgbClr val="8A8175"/>
                </a:solidFill>
                <a:latin typeface="Arial"/>
              </a:rPr>
              <a:t>- Quando e gia troppo tardi per cambiare qualcosa</a:t>
            </a:r>
          </a:p>
        </p:txBody>
      </p:sp>
      <p:sp>
        <p:nvSpPr>
          <p:cNvPr id="20" name="Rectangle 19"/>
          <p:cNvSpPr/>
          <p:nvPr/>
        </p:nvSpPr>
        <p:spPr>
          <a:xfrm>
            <a:off x="1097280" y="6172200"/>
            <a:ext cx="7863840" cy="205740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34440" y="6275070"/>
            <a:ext cx="7680960" cy="720090"/>
          </a:xfrm>
          <a:prstGeom prst="rect">
            <a:avLst/>
          </a:prstGeom>
          <a:noFill/>
        </p:spPr>
        <p:txBody>
          <a:bodyPr wrap="square"/>
          <a:lstStyle/>
          <a:p>
            <a:pPr algn="l"/>
            <a:r>
              <a:rPr b="1" i="0" sz="1200">
                <a:solidFill>
                  <a:srgbClr val="3D3833"/>
                </a:solidFill>
                <a:latin typeface="Arial"/>
              </a:rPr>
              <a:t>PRODUCT
INTELLIGENCE</a:t>
            </a:r>
          </a:p>
        </p:txBody>
      </p:sp>
      <p:sp>
        <p:nvSpPr>
          <p:cNvPr id="22" name="TextBox 21"/>
          <p:cNvSpPr txBox="1"/>
          <p:nvPr/>
        </p:nvSpPr>
        <p:spPr>
          <a:xfrm>
            <a:off x="1234440" y="6892290"/>
            <a:ext cx="7680960" cy="514350"/>
          </a:xfrm>
          <a:prstGeom prst="rect">
            <a:avLst/>
          </a:prstGeom>
          <a:noFill/>
        </p:spPr>
        <p:txBody>
          <a:bodyPr wrap="square"/>
          <a:lstStyle/>
          <a:p>
            <a:pPr algn="l"/>
            <a:r>
              <a:rPr b="0" i="1" sz="1000">
                <a:solidFill>
                  <a:srgbClr val="B8523A"/>
                </a:solidFill>
                <a:latin typeface="Arial"/>
              </a:rPr>
              <a:t>I bisogni che i clienti non dichiarano nelle survey.</a:t>
            </a:r>
          </a:p>
        </p:txBody>
      </p:sp>
      <p:sp>
        <p:nvSpPr>
          <p:cNvPr id="23" name="TextBox 22"/>
          <p:cNvSpPr txBox="1"/>
          <p:nvPr/>
        </p:nvSpPr>
        <p:spPr>
          <a:xfrm>
            <a:off x="1234440" y="7406640"/>
            <a:ext cx="7680960" cy="226314"/>
          </a:xfrm>
          <a:prstGeom prst="rect">
            <a:avLst/>
          </a:prstGeom>
          <a:noFill/>
        </p:spPr>
        <p:txBody>
          <a:bodyPr wrap="square"/>
          <a:lstStyle/>
          <a:p>
            <a:pPr algn="l"/>
            <a:r>
              <a:rPr b="0" i="0" sz="900">
                <a:solidFill>
                  <a:srgbClr val="8A8175"/>
                </a:solidFill>
                <a:latin typeface="Arial"/>
              </a:rPr>
              <a:t>- Barriere all'adozione non emerse nei focus group</a:t>
            </a:r>
          </a:p>
        </p:txBody>
      </p:sp>
      <p:sp>
        <p:nvSpPr>
          <p:cNvPr id="24" name="TextBox 23"/>
          <p:cNvSpPr txBox="1"/>
          <p:nvPr/>
        </p:nvSpPr>
        <p:spPr>
          <a:xfrm>
            <a:off x="1234440" y="7632954"/>
            <a:ext cx="7680960" cy="226314"/>
          </a:xfrm>
          <a:prstGeom prst="rect">
            <a:avLst/>
          </a:prstGeom>
          <a:noFill/>
        </p:spPr>
        <p:txBody>
          <a:bodyPr wrap="square"/>
          <a:lstStyle/>
          <a:p>
            <a:pPr algn="l"/>
            <a:r>
              <a:rPr b="0" i="0" sz="900">
                <a:solidFill>
                  <a:srgbClr val="8A8175"/>
                </a:solidFill>
                <a:latin typeface="Arial"/>
              </a:rPr>
              <a:t>- Usi imprevisti: workaround, rituali, micro-community</a:t>
            </a:r>
          </a:p>
        </p:txBody>
      </p:sp>
      <p:sp>
        <p:nvSpPr>
          <p:cNvPr id="25" name="TextBox 24"/>
          <p:cNvSpPr txBox="1"/>
          <p:nvPr/>
        </p:nvSpPr>
        <p:spPr>
          <a:xfrm>
            <a:off x="1234440" y="7859268"/>
            <a:ext cx="7680960" cy="226314"/>
          </a:xfrm>
          <a:prstGeom prst="rect">
            <a:avLst/>
          </a:prstGeom>
          <a:noFill/>
        </p:spPr>
        <p:txBody>
          <a:bodyPr wrap="square"/>
          <a:lstStyle/>
          <a:p>
            <a:pPr algn="l"/>
            <a:r>
              <a:rPr b="0" i="0" sz="900">
                <a:solidFill>
                  <a:srgbClr val="8A8175"/>
                </a:solidFill>
                <a:latin typeface="Arial"/>
              </a:rPr>
              <a:t>- Segnali che orientano le roadmap verso cio che il mercato vuole</a:t>
            </a:r>
          </a:p>
        </p:txBody>
      </p:sp>
      <p:sp>
        <p:nvSpPr>
          <p:cNvPr id="26" name="TextBox 25"/>
          <p:cNvSpPr txBox="1"/>
          <p:nvPr/>
        </p:nvSpPr>
        <p:spPr>
          <a:xfrm>
            <a:off x="1234440" y="8085582"/>
            <a:ext cx="7680960" cy="226314"/>
          </a:xfrm>
          <a:prstGeom prst="rect">
            <a:avLst/>
          </a:prstGeom>
          <a:noFill/>
        </p:spPr>
        <p:txBody>
          <a:bodyPr wrap="square"/>
          <a:lstStyle/>
          <a:p>
            <a:pPr algn="l"/>
            <a:r>
              <a:rPr b="0" i="0" sz="900">
                <a:solidFill>
                  <a:srgbClr val="8A8175"/>
                </a:solidFill>
                <a:latin typeface="Arial"/>
              </a:rPr>
              <a:t>- Non solo quello che dice di volere — quello che fa davvero</a:t>
            </a:r>
          </a:p>
        </p:txBody>
      </p:sp>
      <p:sp>
        <p:nvSpPr>
          <p:cNvPr id="27" name="Rectangle 26"/>
          <p:cNvSpPr/>
          <p:nvPr/>
        </p:nvSpPr>
        <p:spPr>
          <a:xfrm>
            <a:off x="9326880" y="6172200"/>
            <a:ext cx="7863840" cy="205740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64040" y="6275070"/>
            <a:ext cx="7680960" cy="720090"/>
          </a:xfrm>
          <a:prstGeom prst="rect">
            <a:avLst/>
          </a:prstGeom>
          <a:noFill/>
        </p:spPr>
        <p:txBody>
          <a:bodyPr wrap="square"/>
          <a:lstStyle/>
          <a:p>
            <a:pPr algn="l"/>
            <a:r>
              <a:rPr b="1" i="0" sz="1200">
                <a:solidFill>
                  <a:srgbClr val="3D3833"/>
                </a:solidFill>
                <a:latin typeface="Arial"/>
              </a:rPr>
              <a:t>REAL-TIME
INTELLIGENCE</a:t>
            </a:r>
          </a:p>
        </p:txBody>
      </p:sp>
      <p:sp>
        <p:nvSpPr>
          <p:cNvPr id="29" name="TextBox 28"/>
          <p:cNvSpPr txBox="1"/>
          <p:nvPr/>
        </p:nvSpPr>
        <p:spPr>
          <a:xfrm>
            <a:off x="9464040" y="6892290"/>
            <a:ext cx="7680960" cy="514350"/>
          </a:xfrm>
          <a:prstGeom prst="rect">
            <a:avLst/>
          </a:prstGeom>
          <a:noFill/>
        </p:spPr>
        <p:txBody>
          <a:bodyPr wrap="square"/>
          <a:lstStyle/>
          <a:p>
            <a:pPr algn="l"/>
            <a:r>
              <a:rPr b="0" i="1" sz="1000">
                <a:solidFill>
                  <a:srgbClr val="B8523A"/>
                </a:solidFill>
                <a:latin typeface="Arial"/>
              </a:rPr>
              <a:t>Lanci, sponsorship, crisi emergenti in tempo reale.</a:t>
            </a:r>
          </a:p>
        </p:txBody>
      </p:sp>
      <p:sp>
        <p:nvSpPr>
          <p:cNvPr id="30" name="TextBox 29"/>
          <p:cNvSpPr txBox="1"/>
          <p:nvPr/>
        </p:nvSpPr>
        <p:spPr>
          <a:xfrm>
            <a:off x="9464040" y="7406640"/>
            <a:ext cx="7680960" cy="226314"/>
          </a:xfrm>
          <a:prstGeom prst="rect">
            <a:avLst/>
          </a:prstGeom>
          <a:noFill/>
        </p:spPr>
        <p:txBody>
          <a:bodyPr wrap="square"/>
          <a:lstStyle/>
          <a:p>
            <a:pPr algn="l"/>
            <a:r>
              <a:rPr b="0" i="0" sz="900">
                <a:solidFill>
                  <a:srgbClr val="8A8175"/>
                </a:solidFill>
                <a:latin typeface="Arial"/>
              </a:rPr>
              <a:t>- La distinzione fondamentale: polemica vs rischio reale</a:t>
            </a:r>
          </a:p>
        </p:txBody>
      </p:sp>
      <p:sp>
        <p:nvSpPr>
          <p:cNvPr id="31" name="TextBox 30"/>
          <p:cNvSpPr txBox="1"/>
          <p:nvPr/>
        </p:nvSpPr>
        <p:spPr>
          <a:xfrm>
            <a:off x="9464040" y="7632954"/>
            <a:ext cx="7680960" cy="226314"/>
          </a:xfrm>
          <a:prstGeom prst="rect">
            <a:avLst/>
          </a:prstGeom>
          <a:noFill/>
        </p:spPr>
        <p:txBody>
          <a:bodyPr wrap="square"/>
          <a:lstStyle/>
          <a:p>
            <a:pPr algn="l"/>
            <a:r>
              <a:rPr b="0" i="0" sz="900">
                <a:solidFill>
                  <a:srgbClr val="8A8175"/>
                </a:solidFill>
                <a:latin typeface="Arial"/>
              </a:rPr>
              <a:t>- Quando un topic diventa rumore e quando diventa crisi?</a:t>
            </a:r>
          </a:p>
        </p:txBody>
      </p:sp>
      <p:sp>
        <p:nvSpPr>
          <p:cNvPr id="32" name="TextBox 31"/>
          <p:cNvSpPr txBox="1"/>
          <p:nvPr/>
        </p:nvSpPr>
        <p:spPr>
          <a:xfrm>
            <a:off x="9464040" y="7859268"/>
            <a:ext cx="7680960" cy="226314"/>
          </a:xfrm>
          <a:prstGeom prst="rect">
            <a:avLst/>
          </a:prstGeom>
          <a:noFill/>
        </p:spPr>
        <p:txBody>
          <a:bodyPr wrap="square"/>
          <a:lstStyle/>
          <a:p>
            <a:pPr algn="l"/>
            <a:r>
              <a:rPr b="0" i="0" sz="900">
                <a:solidFill>
                  <a:srgbClr val="8A8175"/>
                </a:solidFill>
                <a:latin typeface="Arial"/>
              </a:rPr>
              <a:t>- Decisioni rapide e calibrate: se rispondere, come, quando</a:t>
            </a:r>
          </a:p>
        </p:txBody>
      </p:sp>
      <p:sp>
        <p:nvSpPr>
          <p:cNvPr id="33" name="TextBox 32"/>
          <p:cNvSpPr txBox="1"/>
          <p:nvPr/>
        </p:nvSpPr>
        <p:spPr>
          <a:xfrm>
            <a:off x="9464040" y="8085582"/>
            <a:ext cx="7680960" cy="226314"/>
          </a:xfrm>
          <a:prstGeom prst="rect">
            <a:avLst/>
          </a:prstGeom>
          <a:noFill/>
        </p:spPr>
        <p:txBody>
          <a:bodyPr wrap="square"/>
          <a:lstStyle/>
          <a:p>
            <a:pPr algn="l"/>
            <a:r>
              <a:rPr b="0" i="0" sz="900">
                <a:solidFill>
                  <a:srgbClr val="8A8175"/>
                </a:solidFill>
                <a:latin typeface="Arial"/>
              </a:rPr>
              <a:t>- Il tono giusto nel momento giusto — non la risposta generica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3EDE1"/>
        </a:solidFill>
        <a:effectLst/>
      </p:bgPr>
    </p:bg>
    <p:spTree>
      <p:nvGrpSpPr>
        <p:cNvPr id="1" name=""/>
        <p:cNvGrpSpPr/>
        <p:nvPr/>
      </p:nvGrpSpPr>
      <p:grpSpPr/>
      <p:sp>
        <p:nvSpPr>
          <p:cNvPr id="2" name="TextBox 1"/>
          <p:cNvSpPr txBox="1"/>
          <p:nvPr/>
        </p:nvSpPr>
        <p:spPr>
          <a:xfrm>
            <a:off x="1097280" y="617220"/>
            <a:ext cx="16733520" cy="320040"/>
          </a:xfrm>
          <a:prstGeom prst="rect">
            <a:avLst/>
          </a:prstGeom>
          <a:noFill/>
        </p:spPr>
        <p:txBody>
          <a:bodyPr wrap="square"/>
          <a:lstStyle/>
          <a:p>
            <a:pPr algn="l"/>
            <a:r>
              <a:rPr b="1" i="0" sz="1000">
                <a:solidFill>
                  <a:srgbClr val="B8523A"/>
                </a:solidFill>
                <a:latin typeface="Courier New"/>
              </a:rPr>
              <a:t>●  CAPITOLO 9 — CHIUSURA</a:t>
            </a:r>
          </a:p>
        </p:txBody>
      </p:sp>
      <p:sp>
        <p:nvSpPr>
          <p:cNvPr id="3" name="TextBox 2"/>
          <p:cNvSpPr txBox="1"/>
          <p:nvPr/>
        </p:nvSpPr>
        <p:spPr>
          <a:xfrm>
            <a:off x="1097280" y="1337310"/>
            <a:ext cx="16093440" cy="925830"/>
          </a:xfrm>
          <a:prstGeom prst="rect">
            <a:avLst/>
          </a:prstGeom>
          <a:noFill/>
        </p:spPr>
        <p:txBody>
          <a:bodyPr wrap="square"/>
          <a:lstStyle/>
          <a:p>
            <a:pPr algn="l"/>
            <a:r>
              <a:rPr b="1" i="0" sz="2800">
                <a:solidFill>
                  <a:srgbClr val="3D3833"/>
                </a:solidFill>
                <a:latin typeface="Georgia"/>
              </a:rPr>
              <a:t>Cosa cambia lunedi mattina</a:t>
            </a:r>
          </a:p>
        </p:txBody>
      </p:sp>
      <p:sp>
        <p:nvSpPr>
          <p:cNvPr id="4" name="TextBox 3"/>
          <p:cNvSpPr txBox="1"/>
          <p:nvPr/>
        </p:nvSpPr>
        <p:spPr>
          <a:xfrm>
            <a:off x="1097280" y="2366010"/>
            <a:ext cx="16093440" cy="617220"/>
          </a:xfrm>
          <a:prstGeom prst="rect">
            <a:avLst/>
          </a:prstGeom>
          <a:noFill/>
        </p:spPr>
        <p:txBody>
          <a:bodyPr wrap="square"/>
          <a:lstStyle/>
          <a:p>
            <a:pPr algn="l"/>
            <a:r>
              <a:rPr b="0" i="0" sz="1300">
                <a:solidFill>
                  <a:srgbClr val="8A8175"/>
                </a:solidFill>
                <a:latin typeface="Arial"/>
              </a:rPr>
              <a:t>Quattro principi operativi. Non teoria — pratica immediata.</a:t>
            </a:r>
          </a:p>
        </p:txBody>
      </p:sp>
      <p:cxnSp>
        <p:nvCxnSpPr>
          <p:cNvPr id="5" name="Connector 4"/>
          <p:cNvCxnSpPr/>
          <p:nvPr/>
        </p:nvCxnSpPr>
        <p:spPr>
          <a:xfrm>
            <a:off x="1097280" y="3188970"/>
            <a:ext cx="1609344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1097280" y="3600450"/>
            <a:ext cx="7680960" cy="236601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3703320"/>
            <a:ext cx="548640" cy="720090"/>
          </a:xfrm>
          <a:prstGeom prst="rect">
            <a:avLst/>
          </a:prstGeom>
          <a:noFill/>
        </p:spPr>
        <p:txBody>
          <a:bodyPr wrap="square"/>
          <a:lstStyle/>
          <a:p>
            <a:pPr algn="l"/>
            <a:r>
              <a:rPr b="1" i="0" sz="1600">
                <a:solidFill>
                  <a:srgbClr val="B8523A"/>
                </a:solidFill>
                <a:latin typeface="Georgia"/>
              </a:rPr>
              <a:t>01</a:t>
            </a:r>
          </a:p>
        </p:txBody>
      </p:sp>
      <p:sp>
        <p:nvSpPr>
          <p:cNvPr id="8" name="TextBox 7"/>
          <p:cNvSpPr txBox="1"/>
          <p:nvPr/>
        </p:nvSpPr>
        <p:spPr>
          <a:xfrm>
            <a:off x="1645920" y="3703320"/>
            <a:ext cx="6583680" cy="720090"/>
          </a:xfrm>
          <a:prstGeom prst="rect">
            <a:avLst/>
          </a:prstGeom>
          <a:noFill/>
        </p:spPr>
        <p:txBody>
          <a:bodyPr wrap="square"/>
          <a:lstStyle/>
          <a:p>
            <a:pPr algn="l"/>
            <a:r>
              <a:rPr b="1" i="0" sz="1200">
                <a:solidFill>
                  <a:srgbClr val="3D3833"/>
                </a:solidFill>
                <a:latin typeface="Arial"/>
              </a:rPr>
              <a:t>DAI UN NOME AL MESTIERE</a:t>
            </a:r>
          </a:p>
        </p:txBody>
      </p:sp>
      <p:sp>
        <p:nvSpPr>
          <p:cNvPr id="9" name="TextBox 8"/>
          <p:cNvSpPr txBox="1"/>
          <p:nvPr/>
        </p:nvSpPr>
        <p:spPr>
          <a:xfrm>
            <a:off x="1234440" y="4526280"/>
            <a:ext cx="7315200" cy="617220"/>
          </a:xfrm>
          <a:prstGeom prst="rect">
            <a:avLst/>
          </a:prstGeom>
          <a:noFill/>
        </p:spPr>
        <p:txBody>
          <a:bodyPr wrap="square"/>
          <a:lstStyle/>
          <a:p>
            <a:pPr algn="l"/>
            <a:r>
              <a:rPr b="0" i="1" sz="1000">
                <a:solidFill>
                  <a:srgbClr val="3D3833"/>
                </a:solidFill>
                <a:latin typeface="Arial"/>
              </a:rPr>
              <a:t>Se il listening viene confuso con social media management, community management o reporting, difficilmente entrera nelle decisioni che contano.</a:t>
            </a:r>
          </a:p>
        </p:txBody>
      </p:sp>
      <p:sp>
        <p:nvSpPr>
          <p:cNvPr id="10" name="TextBox 9"/>
          <p:cNvSpPr txBox="1"/>
          <p:nvPr/>
        </p:nvSpPr>
        <p:spPr>
          <a:xfrm>
            <a:off x="1234440" y="5143500"/>
            <a:ext cx="7315200" cy="720090"/>
          </a:xfrm>
          <a:prstGeom prst="rect">
            <a:avLst/>
          </a:prstGeom>
          <a:noFill/>
        </p:spPr>
        <p:txBody>
          <a:bodyPr wrap="square"/>
          <a:lstStyle/>
          <a:p>
            <a:pPr algn="l"/>
            <a:r>
              <a:rPr b="0" i="0" sz="1000">
                <a:solidFill>
                  <a:srgbClr val="8A8175"/>
                </a:solidFill>
                <a:latin typeface="Arial"/>
              </a:rPr>
              <a:t>Non e un problema semantico — e un problema di potere organizzativo. Dare un nome chiaro al ruolo e il primo passo per dargli uno spazio decisionale.</a:t>
            </a:r>
          </a:p>
        </p:txBody>
      </p:sp>
      <p:sp>
        <p:nvSpPr>
          <p:cNvPr id="11" name="Rectangle 10"/>
          <p:cNvSpPr/>
          <p:nvPr/>
        </p:nvSpPr>
        <p:spPr>
          <a:xfrm>
            <a:off x="9509760" y="3600450"/>
            <a:ext cx="7680960" cy="236601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46920" y="3703320"/>
            <a:ext cx="548640" cy="720090"/>
          </a:xfrm>
          <a:prstGeom prst="rect">
            <a:avLst/>
          </a:prstGeom>
          <a:noFill/>
        </p:spPr>
        <p:txBody>
          <a:bodyPr wrap="square"/>
          <a:lstStyle/>
          <a:p>
            <a:pPr algn="l"/>
            <a:r>
              <a:rPr b="1" i="0" sz="1600">
                <a:solidFill>
                  <a:srgbClr val="B8523A"/>
                </a:solidFill>
                <a:latin typeface="Georgia"/>
              </a:rPr>
              <a:t>02</a:t>
            </a:r>
          </a:p>
        </p:txBody>
      </p:sp>
      <p:sp>
        <p:nvSpPr>
          <p:cNvPr id="13" name="TextBox 12"/>
          <p:cNvSpPr txBox="1"/>
          <p:nvPr/>
        </p:nvSpPr>
        <p:spPr>
          <a:xfrm>
            <a:off x="10058400" y="3703320"/>
            <a:ext cx="6583680" cy="720090"/>
          </a:xfrm>
          <a:prstGeom prst="rect">
            <a:avLst/>
          </a:prstGeom>
          <a:noFill/>
        </p:spPr>
        <p:txBody>
          <a:bodyPr wrap="square"/>
          <a:lstStyle/>
          <a:p>
            <a:pPr algn="l"/>
            <a:r>
              <a:rPr b="1" i="0" sz="1200">
                <a:solidFill>
                  <a:srgbClr val="3D3833"/>
                </a:solidFill>
                <a:latin typeface="Arial"/>
              </a:rPr>
              <a:t>PRIMA DELLA QUERY, LA DECISIONE</a:t>
            </a:r>
          </a:p>
        </p:txBody>
      </p:sp>
      <p:sp>
        <p:nvSpPr>
          <p:cNvPr id="14" name="TextBox 13"/>
          <p:cNvSpPr txBox="1"/>
          <p:nvPr/>
        </p:nvSpPr>
        <p:spPr>
          <a:xfrm>
            <a:off x="9646920" y="4526280"/>
            <a:ext cx="7315200" cy="617220"/>
          </a:xfrm>
          <a:prstGeom prst="rect">
            <a:avLst/>
          </a:prstGeom>
          <a:noFill/>
        </p:spPr>
        <p:txBody>
          <a:bodyPr wrap="square"/>
          <a:lstStyle/>
          <a:p>
            <a:pPr algn="l"/>
            <a:r>
              <a:rPr b="0" i="1" sz="1000">
                <a:solidFill>
                  <a:srgbClr val="3D3833"/>
                </a:solidFill>
                <a:latin typeface="Arial"/>
              </a:rPr>
              <a:t>Non si apre il tool e si digita il nome del brand. Si parte dalla domanda: quale decisione devo supportare?</a:t>
            </a:r>
          </a:p>
        </p:txBody>
      </p:sp>
      <p:sp>
        <p:nvSpPr>
          <p:cNvPr id="15" name="TextBox 14"/>
          <p:cNvSpPr txBox="1"/>
          <p:nvPr/>
        </p:nvSpPr>
        <p:spPr>
          <a:xfrm>
            <a:off x="9646920" y="5143500"/>
            <a:ext cx="7315200" cy="720090"/>
          </a:xfrm>
          <a:prstGeom prst="rect">
            <a:avLst/>
          </a:prstGeom>
          <a:noFill/>
        </p:spPr>
        <p:txBody>
          <a:bodyPr wrap="square"/>
          <a:lstStyle/>
          <a:p>
            <a:pPr algn="l"/>
            <a:r>
              <a:rPr b="0" i="0" sz="1000">
                <a:solidFill>
                  <a:srgbClr val="8A8175"/>
                </a:solidFill>
                <a:latin typeface="Arial"/>
              </a:rPr>
              <a:t>Se la decisione non e chiara, il rischio e produrre monitoraggio — non intelligence. La domanda di business viene prima di qualsiasi query.</a:t>
            </a:r>
          </a:p>
        </p:txBody>
      </p:sp>
      <p:sp>
        <p:nvSpPr>
          <p:cNvPr id="16" name="Rectangle 15"/>
          <p:cNvSpPr/>
          <p:nvPr/>
        </p:nvSpPr>
        <p:spPr>
          <a:xfrm>
            <a:off x="1097280" y="6275070"/>
            <a:ext cx="7680960" cy="236601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34440" y="6377940"/>
            <a:ext cx="548640" cy="720090"/>
          </a:xfrm>
          <a:prstGeom prst="rect">
            <a:avLst/>
          </a:prstGeom>
          <a:noFill/>
        </p:spPr>
        <p:txBody>
          <a:bodyPr wrap="square"/>
          <a:lstStyle/>
          <a:p>
            <a:pPr algn="l"/>
            <a:r>
              <a:rPr b="1" i="0" sz="1600">
                <a:solidFill>
                  <a:srgbClr val="B8523A"/>
                </a:solidFill>
                <a:latin typeface="Georgia"/>
              </a:rPr>
              <a:t>03</a:t>
            </a:r>
          </a:p>
        </p:txBody>
      </p:sp>
      <p:sp>
        <p:nvSpPr>
          <p:cNvPr id="18" name="TextBox 17"/>
          <p:cNvSpPr txBox="1"/>
          <p:nvPr/>
        </p:nvSpPr>
        <p:spPr>
          <a:xfrm>
            <a:off x="1645920" y="6377940"/>
            <a:ext cx="6583680" cy="720090"/>
          </a:xfrm>
          <a:prstGeom prst="rect">
            <a:avLst/>
          </a:prstGeom>
          <a:noFill/>
        </p:spPr>
        <p:txBody>
          <a:bodyPr wrap="square"/>
          <a:lstStyle/>
          <a:p>
            <a:pPr algn="l"/>
            <a:r>
              <a:rPr b="1" i="0" sz="1200">
                <a:solidFill>
                  <a:srgbClr val="3D3833"/>
                </a:solidFill>
                <a:latin typeface="Arial"/>
              </a:rPr>
              <a:t>NON CERCARE VOLUME. CERCA FRIZIONE.</a:t>
            </a:r>
          </a:p>
        </p:txBody>
      </p:sp>
      <p:sp>
        <p:nvSpPr>
          <p:cNvPr id="19" name="TextBox 18"/>
          <p:cNvSpPr txBox="1"/>
          <p:nvPr/>
        </p:nvSpPr>
        <p:spPr>
          <a:xfrm>
            <a:off x="1234440" y="7200900"/>
            <a:ext cx="7315200" cy="617220"/>
          </a:xfrm>
          <a:prstGeom prst="rect">
            <a:avLst/>
          </a:prstGeom>
          <a:noFill/>
        </p:spPr>
        <p:txBody>
          <a:bodyPr wrap="square"/>
          <a:lstStyle/>
          <a:p>
            <a:pPr algn="l"/>
            <a:r>
              <a:rPr b="0" i="1" sz="1000">
                <a:solidFill>
                  <a:srgbClr val="3D3833"/>
                </a:solidFill>
                <a:latin typeface="Arial"/>
              </a:rPr>
              <a:t>Il segnale piu utile spesso non e il picco piu grande, ma il pattern piu scomodo.</a:t>
            </a:r>
          </a:p>
        </p:txBody>
      </p:sp>
      <p:sp>
        <p:nvSpPr>
          <p:cNvPr id="20" name="TextBox 19"/>
          <p:cNvSpPr txBox="1"/>
          <p:nvPr/>
        </p:nvSpPr>
        <p:spPr>
          <a:xfrm>
            <a:off x="1234440" y="7818120"/>
            <a:ext cx="7315200" cy="720090"/>
          </a:xfrm>
          <a:prstGeom prst="rect">
            <a:avLst/>
          </a:prstGeom>
          <a:noFill/>
        </p:spPr>
        <p:txBody>
          <a:bodyPr wrap="square"/>
          <a:lstStyle/>
          <a:p>
            <a:pPr algn="l"/>
            <a:r>
              <a:rPr b="0" i="0" sz="1000">
                <a:solidFill>
                  <a:srgbClr val="8A8175"/>
                </a:solidFill>
                <a:latin typeface="Arial"/>
              </a:rPr>
              <a:t>Una sfiducia latente. Un uso imprevisto. Una barriera non dichiarata. Il vantaggio competitivo non si nasconde dove guardano tutti.</a:t>
            </a:r>
          </a:p>
        </p:txBody>
      </p:sp>
      <p:sp>
        <p:nvSpPr>
          <p:cNvPr id="21" name="Rectangle 20"/>
          <p:cNvSpPr/>
          <p:nvPr/>
        </p:nvSpPr>
        <p:spPr>
          <a:xfrm>
            <a:off x="9509760" y="6275070"/>
            <a:ext cx="7680960" cy="2366010"/>
          </a:xfrm>
          <a:prstGeom prst="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46920" y="6377940"/>
            <a:ext cx="548640" cy="720090"/>
          </a:xfrm>
          <a:prstGeom prst="rect">
            <a:avLst/>
          </a:prstGeom>
          <a:noFill/>
        </p:spPr>
        <p:txBody>
          <a:bodyPr wrap="square"/>
          <a:lstStyle/>
          <a:p>
            <a:pPr algn="l"/>
            <a:r>
              <a:rPr b="1" i="0" sz="1600">
                <a:solidFill>
                  <a:srgbClr val="B8523A"/>
                </a:solidFill>
                <a:latin typeface="Georgia"/>
              </a:rPr>
              <a:t>04</a:t>
            </a:r>
          </a:p>
        </p:txBody>
      </p:sp>
      <p:sp>
        <p:nvSpPr>
          <p:cNvPr id="23" name="TextBox 22"/>
          <p:cNvSpPr txBox="1"/>
          <p:nvPr/>
        </p:nvSpPr>
        <p:spPr>
          <a:xfrm>
            <a:off x="10058400" y="6377940"/>
            <a:ext cx="6583680" cy="720090"/>
          </a:xfrm>
          <a:prstGeom prst="rect">
            <a:avLst/>
          </a:prstGeom>
          <a:noFill/>
        </p:spPr>
        <p:txBody>
          <a:bodyPr wrap="square"/>
          <a:lstStyle/>
          <a:p>
            <a:pPr algn="l"/>
            <a:r>
              <a:rPr b="1" i="0" sz="1200">
                <a:solidFill>
                  <a:srgbClr val="3D3833"/>
                </a:solidFill>
                <a:latin typeface="Arial"/>
              </a:rPr>
              <a:t>USA L'AI PER ACCELERARE, NON PER DELEGARE</a:t>
            </a:r>
          </a:p>
        </p:txBody>
      </p:sp>
      <p:sp>
        <p:nvSpPr>
          <p:cNvPr id="24" name="TextBox 23"/>
          <p:cNvSpPr txBox="1"/>
          <p:nvPr/>
        </p:nvSpPr>
        <p:spPr>
          <a:xfrm>
            <a:off x="9646920" y="7200900"/>
            <a:ext cx="7315200" cy="617220"/>
          </a:xfrm>
          <a:prstGeom prst="rect">
            <a:avLst/>
          </a:prstGeom>
          <a:noFill/>
        </p:spPr>
        <p:txBody>
          <a:bodyPr wrap="square"/>
          <a:lstStyle/>
          <a:p>
            <a:pPr algn="l"/>
            <a:r>
              <a:rPr b="0" i="1" sz="1000">
                <a:solidFill>
                  <a:srgbClr val="3D3833"/>
                </a:solidFill>
                <a:latin typeface="Arial"/>
              </a:rPr>
              <a:t>L'AI puo fare il Task Layer meglio e piu velocemente di qualsiasi analista. Il Judgement Layer resta umano.</a:t>
            </a:r>
          </a:p>
        </p:txBody>
      </p:sp>
      <p:sp>
        <p:nvSpPr>
          <p:cNvPr id="25" name="TextBox 24"/>
          <p:cNvSpPr txBox="1"/>
          <p:nvPr/>
        </p:nvSpPr>
        <p:spPr>
          <a:xfrm>
            <a:off x="9646920" y="7818120"/>
            <a:ext cx="7315200" cy="720090"/>
          </a:xfrm>
          <a:prstGeom prst="rect">
            <a:avLst/>
          </a:prstGeom>
          <a:noFill/>
        </p:spPr>
        <p:txBody>
          <a:bodyPr wrap="square"/>
          <a:lstStyle/>
          <a:p>
            <a:pPr algn="l"/>
            <a:r>
              <a:rPr b="0" i="0" sz="1000">
                <a:solidFill>
                  <a:srgbClr val="8A8175"/>
                </a:solidFill>
                <a:latin typeface="Arial"/>
              </a:rPr>
              <a:t>Usala per andare piu lontano — non per smettere di pensare. Con l'AI il tuo lavoro vale di piu. Non e un sostituto — e un amplificatore.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714"/>
        </a:solidFill>
        <a:effectLst/>
      </p:bgPr>
    </p:bg>
    <p:spTree>
      <p:nvGrpSpPr>
        <p:cNvPr id="1" name=""/>
        <p:cNvGrpSpPr/>
        <p:nvPr/>
      </p:nvGrpSpPr>
      <p:grpSpPr/>
      <p:sp>
        <p:nvSpPr>
          <p:cNvPr id="2" name="Rectangle 1"/>
          <p:cNvSpPr/>
          <p:nvPr/>
        </p:nvSpPr>
        <p:spPr>
          <a:xfrm>
            <a:off x="0" y="0"/>
            <a:ext cx="1097280" cy="10287000"/>
          </a:xfrm>
          <a:prstGeom prst="rect">
            <a:avLst/>
          </a:prstGeom>
          <a:solidFill>
            <a:srgbClr val="B85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263140"/>
            <a:ext cx="14630400" cy="1131570"/>
          </a:xfrm>
          <a:prstGeom prst="rect">
            <a:avLst/>
          </a:prstGeom>
          <a:noFill/>
        </p:spPr>
        <p:txBody>
          <a:bodyPr wrap="square"/>
          <a:lstStyle/>
          <a:p>
            <a:pPr algn="l"/>
            <a:r>
              <a:rPr b="1" i="1" sz="2400">
                <a:solidFill>
                  <a:srgbClr val="F3EDE1"/>
                </a:solidFill>
                <a:latin typeface="Georgia"/>
              </a:rPr>
              <a:t>"Il futuro del social listening non sara deciso</a:t>
            </a:r>
          </a:p>
        </p:txBody>
      </p:sp>
      <p:sp>
        <p:nvSpPr>
          <p:cNvPr id="4" name="TextBox 3"/>
          <p:cNvSpPr txBox="1"/>
          <p:nvPr/>
        </p:nvSpPr>
        <p:spPr>
          <a:xfrm>
            <a:off x="1828800" y="3291840"/>
            <a:ext cx="14630400" cy="1028700"/>
          </a:xfrm>
          <a:prstGeom prst="rect">
            <a:avLst/>
          </a:prstGeom>
          <a:noFill/>
        </p:spPr>
        <p:txBody>
          <a:bodyPr wrap="square"/>
          <a:lstStyle/>
          <a:p>
            <a:pPr algn="l"/>
            <a:r>
              <a:rPr b="1" i="1" sz="2400">
                <a:solidFill>
                  <a:srgbClr val="F3EDE1"/>
                </a:solidFill>
                <a:latin typeface="Georgia"/>
              </a:rPr>
              <a:t>da chi possiede il tool migliore.</a:t>
            </a:r>
          </a:p>
        </p:txBody>
      </p:sp>
      <p:sp>
        <p:nvSpPr>
          <p:cNvPr id="5" name="TextBox 4"/>
          <p:cNvSpPr txBox="1"/>
          <p:nvPr/>
        </p:nvSpPr>
        <p:spPr>
          <a:xfrm>
            <a:off x="1828800" y="4320540"/>
            <a:ext cx="14630400" cy="1028700"/>
          </a:xfrm>
          <a:prstGeom prst="rect">
            <a:avLst/>
          </a:prstGeom>
          <a:noFill/>
        </p:spPr>
        <p:txBody>
          <a:bodyPr wrap="square"/>
          <a:lstStyle/>
          <a:p>
            <a:pPr algn="l"/>
            <a:r>
              <a:rPr b="1" i="1" sz="2400">
                <a:solidFill>
                  <a:srgbClr val="F3EDE1"/>
                </a:solidFill>
                <a:latin typeface="Georgia"/>
              </a:rPr>
              <a:t>Sara deciso da chi sapra fare le domande migliori,</a:t>
            </a:r>
          </a:p>
        </p:txBody>
      </p:sp>
      <p:sp>
        <p:nvSpPr>
          <p:cNvPr id="6" name="TextBox 5"/>
          <p:cNvSpPr txBox="1"/>
          <p:nvPr/>
        </p:nvSpPr>
        <p:spPr>
          <a:xfrm>
            <a:off x="1828800" y="5349240"/>
            <a:ext cx="14630400" cy="1028700"/>
          </a:xfrm>
          <a:prstGeom prst="rect">
            <a:avLst/>
          </a:prstGeom>
          <a:noFill/>
        </p:spPr>
        <p:txBody>
          <a:bodyPr wrap="square"/>
          <a:lstStyle/>
          <a:p>
            <a:pPr algn="l"/>
            <a:r>
              <a:rPr b="1" i="1" sz="2400">
                <a:solidFill>
                  <a:srgbClr val="B8523A"/>
                </a:solidFill>
                <a:latin typeface="Georgia"/>
              </a:rPr>
              <a:t>difendere il metodo,</a:t>
            </a:r>
          </a:p>
        </p:txBody>
      </p:sp>
      <p:sp>
        <p:nvSpPr>
          <p:cNvPr id="7" name="TextBox 6"/>
          <p:cNvSpPr txBox="1"/>
          <p:nvPr/>
        </p:nvSpPr>
        <p:spPr>
          <a:xfrm>
            <a:off x="1828800" y="6377940"/>
            <a:ext cx="14630400" cy="1028700"/>
          </a:xfrm>
          <a:prstGeom prst="rect">
            <a:avLst/>
          </a:prstGeom>
          <a:noFill/>
        </p:spPr>
        <p:txBody>
          <a:bodyPr wrap="square"/>
          <a:lstStyle/>
          <a:p>
            <a:pPr algn="l"/>
            <a:r>
              <a:rPr b="1" i="1" sz="2400">
                <a:solidFill>
                  <a:srgbClr val="F3EDE1"/>
                </a:solidFill>
                <a:latin typeface="Georgia"/>
              </a:rPr>
              <a:t>e portare il segnale dove le decisioni vengono prese."</a:t>
            </a:r>
          </a:p>
        </p:txBody>
      </p:sp>
      <p:cxnSp>
        <p:nvCxnSpPr>
          <p:cNvPr id="8" name="Connector 7"/>
          <p:cNvCxnSpPr/>
          <p:nvPr/>
        </p:nvCxnSpPr>
        <p:spPr>
          <a:xfrm>
            <a:off x="1828800" y="7612380"/>
            <a:ext cx="9144000" cy="0"/>
          </a:xfrm>
          <a:prstGeom prst="line">
            <a:avLst/>
          </a:prstGeom>
          <a:ln w="19050">
            <a:solidFill>
              <a:srgbClr val="B8523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828800" y="8023860"/>
            <a:ext cx="7315200" cy="1234440"/>
          </a:xfrm>
          <a:prstGeom prst="rect">
            <a:avLst/>
          </a:prstGeom>
          <a:noFill/>
        </p:spPr>
        <p:txBody>
          <a:bodyPr wrap="square"/>
          <a:lstStyle/>
          <a:p>
            <a:pPr algn="l"/>
            <a:r>
              <a:rPr b="1" i="0" sz="3200">
                <a:solidFill>
                  <a:srgbClr val="B8523A"/>
                </a:solidFill>
                <a:latin typeface="Georgia"/>
              </a:rPr>
              <a:t>GRAZIE</a:t>
            </a:r>
          </a:p>
        </p:txBody>
      </p:sp>
      <p:sp>
        <p:nvSpPr>
          <p:cNvPr id="10" name="TextBox 9"/>
          <p:cNvSpPr txBox="1"/>
          <p:nvPr/>
        </p:nvSpPr>
        <p:spPr>
          <a:xfrm>
            <a:off x="1828800" y="9155430"/>
            <a:ext cx="10972800" cy="720090"/>
          </a:xfrm>
          <a:prstGeom prst="rect">
            <a:avLst/>
          </a:prstGeom>
          <a:noFill/>
        </p:spPr>
        <p:txBody>
          <a:bodyPr wrap="square"/>
          <a:lstStyle/>
          <a:p>
            <a:pPr algn="l"/>
            <a:r>
              <a:rPr b="0" i="0" sz="1200">
                <a:solidFill>
                  <a:srgbClr val="8A8175"/>
                </a:solidFill>
                <a:latin typeface="Courier New"/>
              </a:rPr>
              <a:t>EY Studio+  x  Brandwatch  x  Trajaan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