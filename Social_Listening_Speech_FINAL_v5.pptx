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7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" cy="10287000"/>
          </a:xfrm>
          <a:prstGeom prst="rect">
            <a:avLst/>
          </a:prstGeom>
          <a:solidFill>
            <a:srgbClr val="B85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463040" y="0"/>
            <a:ext cx="18288000" cy="72009"/>
          </a:xfrm>
          <a:prstGeom prst="rect">
            <a:avLst/>
          </a:prstGeom>
          <a:solidFill>
            <a:srgbClr val="B85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94560" y="1851660"/>
            <a:ext cx="142646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5800">
                <a:solidFill>
                  <a:srgbClr val="F3EDE1"/>
                </a:solidFill>
                <a:latin typeface="Georgia"/>
              </a:rPr>
              <a:t>SOCIAL LISTENING
IN ITALIA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194560" y="5657850"/>
            <a:ext cx="9144000" cy="0"/>
          </a:xfrm>
          <a:prstGeom prst="line">
            <a:avLst/>
          </a:prstGeom>
          <a:ln w="50800">
            <a:solidFill>
              <a:srgbClr val="B852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194560" y="6069330"/>
            <a:ext cx="13167360" cy="925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2600">
                <a:solidFill>
                  <a:srgbClr val="B8523A"/>
                </a:solidFill>
                <a:latin typeface="Georgia"/>
              </a:rPr>
              <a:t>Realta, sfide e opportunita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7509510"/>
            <a:ext cx="11887200" cy="720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600">
                <a:solidFill>
                  <a:srgbClr val="8A8175"/>
                </a:solidFill>
                <a:latin typeface="Courier New"/>
              </a:rPr>
              <a:t>EY Studio+   ×   Brandwatch   ×   Trajaan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4560" y="8332470"/>
            <a:ext cx="640080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400">
                <a:solidFill>
                  <a:srgbClr val="8A8175"/>
                </a:solidFill>
                <a:latin typeface="Courier New"/>
              </a:rPr>
              <a:t>Maggio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7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" cy="10287000"/>
          </a:xfrm>
          <a:prstGeom prst="rect">
            <a:avLst/>
          </a:prstGeom>
          <a:solidFill>
            <a:srgbClr val="B85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194560" y="2057400"/>
            <a:ext cx="14996160" cy="1851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1" sz="6200">
                <a:solidFill>
                  <a:srgbClr val="F3EDE1"/>
                </a:solidFill>
                <a:latin typeface="Georgia"/>
              </a:rPr>
              <a:t>“Il tuo lavoro sparira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94560" y="3909060"/>
            <a:ext cx="14996160" cy="1851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1" sz="6200">
                <a:solidFill>
                  <a:srgbClr val="B8523A"/>
                </a:solidFill>
                <a:latin typeface="Georgia"/>
              </a:rPr>
              <a:t>in meno di due anni.”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194560" y="6377940"/>
            <a:ext cx="7315200" cy="0"/>
          </a:xfrm>
          <a:prstGeom prst="line">
            <a:avLst/>
          </a:prstGeom>
          <a:ln w="12700">
            <a:solidFill>
              <a:srgbClr val="8A81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194560" y="6789420"/>
            <a:ext cx="13533120" cy="720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1800">
                <a:solidFill>
                  <a:srgbClr val="8A8175"/>
                </a:solidFill>
                <a:latin typeface="Arial"/>
              </a:rPr>
              <a:t>Qualcuno lo ha detto a una collega a una conferenza.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7612380"/>
            <a:ext cx="13533120" cy="720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1800">
                <a:solidFill>
                  <a:srgbClr val="8A8175"/>
                </a:solidFill>
                <a:latin typeface="Arial"/>
              </a:rPr>
              <a:t>Questa presentazione e la risposta.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D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046720" cy="10287000"/>
          </a:xfrm>
          <a:prstGeom prst="rect">
            <a:avLst/>
          </a:prstGeom>
          <a:solidFill>
            <a:srgbClr val="EBE4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10287000"/>
          </a:xfrm>
          <a:prstGeom prst="rect">
            <a:avLst/>
          </a:prstGeom>
          <a:solidFill>
            <a:srgbClr val="B8523A"/>
          </a:solidFill>
          <a:ln>
            <a:solidFill>
              <a:srgbClr val="B85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5270480" y="226314"/>
            <a:ext cx="2560320" cy="720090"/>
          </a:xfrm>
          <a:prstGeom prst="rect">
            <a:avLst/>
          </a:prstGeom>
          <a:solidFill>
            <a:srgbClr val="EBE4D3"/>
          </a:solidFill>
          <a:ln w="19050">
            <a:solidFill>
              <a:srgbClr val="B85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270480" y="226314"/>
            <a:ext cx="2560320" cy="720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200">
                <a:solidFill>
                  <a:srgbClr val="3D3833"/>
                </a:solidFill>
                <a:latin typeface="Courier New"/>
              </a:rPr>
              <a:t>CHI RISPONDE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514350"/>
            <a:ext cx="89611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3600">
                <a:solidFill>
                  <a:srgbClr val="3D3833"/>
                </a:solidFill>
                <a:latin typeface="Georgia"/>
              </a:rPr>
              <a:t>Vincenzo Alberto Marrari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851660"/>
            <a:ext cx="16459200" cy="0"/>
          </a:xfrm>
          <a:prstGeom prst="line">
            <a:avLst/>
          </a:prstGeom>
          <a:ln w="12700">
            <a:solidFill>
              <a:srgbClr val="E0D8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14400" y="1944243"/>
            <a:ext cx="16459200" cy="0"/>
          </a:xfrm>
          <a:prstGeom prst="line">
            <a:avLst/>
          </a:prstGeom>
          <a:ln w="12700">
            <a:solidFill>
              <a:srgbClr val="E0D8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2005965"/>
            <a:ext cx="16459200" cy="3909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200">
                <a:solidFill>
                  <a:srgbClr val="E0D8C4"/>
                </a:solidFill>
                <a:latin typeface="Courier New"/>
              </a:rPr>
              <a:t>   ANALYST &amp; INSIGHT STRATEGIST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2366010"/>
            <a:ext cx="896112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800">
                <a:solidFill>
                  <a:srgbClr val="B8523A"/>
                </a:solidFill>
                <a:latin typeface="Arial"/>
              </a:rPr>
              <a:t>EY Studio+ &amp; Trajaan — intelligence per le organizzazioni.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0" y="3291840"/>
            <a:ext cx="8961120" cy="4320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800">
                <a:solidFill>
                  <a:srgbClr val="3D3833"/>
                </a:solidFill>
                <a:latin typeface="Arial"/>
              </a:rPr>
              <a:t>12+ anni di social listening, cultural intelligence e ricerca strategica.</a:t>
            </a:r>
          </a:p>
          <a:p>
            <a:pPr algn="l"/>
            <a:r>
              <a:t/>
            </a:r>
          </a:p>
          <a:p>
            <a:pPr algn="l"/>
            <a:r>
              <a:rPr b="0" i="0" sz="1700">
                <a:solidFill>
                  <a:srgbClr val="8A8175"/>
                </a:solidFill>
                <a:latin typeface="Arial"/>
              </a:rPr>
              <a:t>Ha visto questo mestiere cambiare forma tre volte, strumenti diventare obsoleti,</a:t>
            </a:r>
          </a:p>
          <a:p>
            <a:pPr algn="l"/>
            <a:r>
              <a:rPr b="0" i="0" sz="1700">
                <a:solidFill>
                  <a:srgbClr val="8A8175"/>
                </a:solidFill>
                <a:latin typeface="Arial"/>
              </a:rPr>
              <a:t>e l'AI ridefinire dove sta il valore — senza eliminare il mestiere.</a:t>
            </a:r>
          </a:p>
          <a:p>
            <a:pPr algn="l"/>
            <a:r>
              <a:t/>
            </a:r>
          </a:p>
          <a:p>
            <a:pPr algn="l"/>
            <a:r>
              <a:rPr b="0" i="0" sz="1700">
                <a:solidFill>
                  <a:srgbClr val="8A8175"/>
                </a:solidFill>
                <a:latin typeface="Arial"/>
              </a:rPr>
              <a:t>Con Francesca Olivieri di Brandwatch — il mercato italiano dall'interno.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95360" y="8435340"/>
            <a:ext cx="8961120" cy="1234440"/>
          </a:xfrm>
          <a:prstGeom prst="rect">
            <a:avLst/>
          </a:prstGeom>
          <a:solidFill>
            <a:srgbClr val="EBE4D3"/>
          </a:solidFill>
          <a:ln w="19050">
            <a:solidFill>
              <a:srgbClr val="B85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0" y="874395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1400">
                <a:solidFill>
                  <a:srgbClr val="8A8175"/>
                </a:solidFill>
                <a:latin typeface="Arial"/>
              </a:rPr>
              <a:t>“Il valore dell'AI non sta nel sostituire l'uomo, ma nell'amplificarne le competenze.”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45920" y="1234440"/>
            <a:ext cx="5303520" cy="6377940"/>
          </a:xfrm>
          <a:prstGeom prst="rect">
            <a:avLst/>
          </a:prstGeom>
          <a:solidFill>
            <a:srgbClr val="E0D8C4"/>
          </a:solidFill>
          <a:ln w="19050">
            <a:solidFill>
              <a:srgbClr val="B85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45920" y="4114800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600">
                <a:solidFill>
                  <a:srgbClr val="8A8175"/>
                </a:solidFill>
                <a:latin typeface="Arial"/>
              </a:rPr>
              <a:t>[FOTO]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D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5270480" y="226314"/>
            <a:ext cx="2560320" cy="720090"/>
          </a:xfrm>
          <a:prstGeom prst="rect">
            <a:avLst/>
          </a:prstGeom>
          <a:solidFill>
            <a:srgbClr val="EBE4D3"/>
          </a:solidFill>
          <a:ln w="19050">
            <a:solidFill>
              <a:srgbClr val="B85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5270480" y="226314"/>
            <a:ext cx="2560320" cy="720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200">
                <a:solidFill>
                  <a:srgbClr val="3D3833"/>
                </a:solidFill>
                <a:latin typeface="Courier New"/>
              </a:rPr>
              <a:t>CAP 1 — IL PARADOSSO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14350"/>
            <a:ext cx="164592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5200">
                <a:solidFill>
                  <a:srgbClr val="3D3833"/>
                </a:solidFill>
                <a:latin typeface="Georgia"/>
              </a:rPr>
              <a:t>Eppure lo chiedono tutti.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2777490"/>
            <a:ext cx="16459200" cy="0"/>
          </a:xfrm>
          <a:prstGeom prst="line">
            <a:avLst/>
          </a:prstGeom>
          <a:ln w="12700">
            <a:solidFill>
              <a:srgbClr val="E0D8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914400" y="2870073"/>
            <a:ext cx="16459200" cy="0"/>
          </a:xfrm>
          <a:prstGeom prst="line">
            <a:avLst/>
          </a:prstGeom>
          <a:ln w="12700">
            <a:solidFill>
              <a:srgbClr val="E0D8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14400" y="3188970"/>
            <a:ext cx="7863840" cy="6583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2000">
                <a:solidFill>
                  <a:srgbClr val="3D3833"/>
                </a:solidFill>
                <a:latin typeface="Arial"/>
              </a:rPr>
              <a:t>Il social listening viene citato ovunque: brief, piani media, board strategici.</a:t>
            </a:r>
          </a:p>
          <a:p>
            <a:pPr algn="l"/>
            <a:r>
              <a:t/>
            </a:r>
          </a:p>
          <a:p>
            <a:pPr algn="l"/>
            <a:r>
              <a:rPr b="1" i="0" sz="2400">
                <a:solidFill>
                  <a:srgbClr val="B8523A"/>
                </a:solidFill>
                <a:latin typeface="Arial"/>
              </a:rPr>
              <a:t>42 milioni di utenti social attivi in Italia.</a:t>
            </a:r>
          </a:p>
          <a:p>
            <a:pPr algn="l"/>
            <a:r>
              <a:t/>
            </a:r>
          </a:p>
          <a:p>
            <a:pPr algn="l"/>
            <a:r>
              <a:rPr b="0" i="0" sz="1800">
                <a:solidFill>
                  <a:srgbClr val="3D3833"/>
                </a:solidFill>
                <a:latin typeface="Arial"/>
              </a:rPr>
              <a:t>Eppure il risultato e sempre lo stesso: un report mensile che arriva</a:t>
            </a:r>
          </a:p>
          <a:p>
            <a:pPr algn="l"/>
            <a:r>
              <a:rPr b="0" i="0" sz="1800">
                <a:solidFill>
                  <a:srgbClr val="8A8175"/>
                </a:solidFill>
                <a:latin typeface="Arial"/>
              </a:rPr>
              <a:t>in ritardo rispetto alle decisioni che avrebbe dovuto supportare.</a:t>
            </a:r>
          </a:p>
          <a:p>
            <a:pPr algn="l"/>
            <a:r>
              <a:t/>
            </a:r>
          </a:p>
          <a:p>
            <a:pPr algn="l"/>
            <a:r>
              <a:rPr b="1" i="0" sz="1800">
                <a:solidFill>
                  <a:srgbClr val="B8523A"/>
                </a:solidFill>
                <a:latin typeface="Arial"/>
              </a:rPr>
              <a:t>Il problema non e lo strumento. E il posizionamento.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0" y="3188970"/>
            <a:ext cx="8046720" cy="2005965"/>
          </a:xfrm>
          <a:prstGeom prst="rect">
            <a:avLst/>
          </a:prstGeom>
          <a:solidFill>
            <a:srgbClr val="EBE4D3"/>
          </a:solidFill>
          <a:ln w="19050">
            <a:solidFill>
              <a:srgbClr val="B85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62872" y="3271266"/>
            <a:ext cx="1371600" cy="1337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9000">
                <a:solidFill>
                  <a:srgbClr val="E0D8C4"/>
                </a:solidFill>
                <a:latin typeface="Georgia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62872" y="4577715"/>
            <a:ext cx="7863840" cy="5657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800">
                <a:solidFill>
                  <a:srgbClr val="B8523A"/>
                </a:solidFill>
                <a:latin typeface="Courier New"/>
              </a:rPr>
              <a:t>TUTTI LO CHIEDONO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62872" y="5143500"/>
            <a:ext cx="7863840" cy="514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600">
                <a:solidFill>
                  <a:srgbClr val="3D3833"/>
                </a:solidFill>
                <a:latin typeface="Arial"/>
              </a:rPr>
              <a:t>Ogni brief, ogni RFP, ogni piano media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0" y="5400675"/>
            <a:ext cx="8046720" cy="2005965"/>
          </a:xfrm>
          <a:prstGeom prst="rect">
            <a:avLst/>
          </a:prstGeom>
          <a:solidFill>
            <a:srgbClr val="EBE4D3"/>
          </a:solidFill>
          <a:ln w="19050">
            <a:solidFill>
              <a:srgbClr val="B85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62872" y="5482971"/>
            <a:ext cx="1371600" cy="1337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9000">
                <a:solidFill>
                  <a:srgbClr val="E0D8C4"/>
                </a:solidFill>
                <a:latin typeface="Georgia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62872" y="6789420"/>
            <a:ext cx="7863840" cy="5657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800">
                <a:solidFill>
                  <a:srgbClr val="B8523A"/>
                </a:solidFill>
                <a:latin typeface="Courier New"/>
              </a:rPr>
              <a:t>POCHI LO RICONOSCONO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62872" y="7355205"/>
            <a:ext cx="7863840" cy="514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600">
                <a:solidFill>
                  <a:srgbClr val="3D3833"/>
                </a:solidFill>
                <a:latin typeface="Arial"/>
              </a:rPr>
              <a:t>Validazione a posteriori, non orientamento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0" y="7612380"/>
            <a:ext cx="8046720" cy="2005965"/>
          </a:xfrm>
          <a:prstGeom prst="rect">
            <a:avLst/>
          </a:prstGeom>
          <a:solidFill>
            <a:srgbClr val="EBE4D3"/>
          </a:solidFill>
          <a:ln w="19050">
            <a:solidFill>
              <a:srgbClr val="B85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62872" y="7694676"/>
            <a:ext cx="1371600" cy="1337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9000">
                <a:solidFill>
                  <a:srgbClr val="E0D8C4"/>
                </a:solidFill>
                <a:latin typeface="Georgia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62872" y="9001125"/>
            <a:ext cx="7863840" cy="5657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800">
                <a:solidFill>
                  <a:srgbClr val="B8523A"/>
                </a:solidFill>
                <a:latin typeface="Courier New"/>
              </a:rPr>
              <a:t>RARO LO STRUTTURANO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62872" y="9566910"/>
            <a:ext cx="7863840" cy="514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600">
                <a:solidFill>
                  <a:srgbClr val="3D3833"/>
                </a:solidFill>
                <a:latin typeface="Arial"/>
              </a:rPr>
              <a:t>Senza metodo rimane monitoring, non intelligence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D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5270480" y="226314"/>
            <a:ext cx="2560320" cy="720090"/>
          </a:xfrm>
          <a:prstGeom prst="rect">
            <a:avLst/>
          </a:prstGeom>
          <a:solidFill>
            <a:srgbClr val="EBE4D3"/>
          </a:solidFill>
          <a:ln w="19050">
            <a:solidFill>
              <a:srgbClr val="B85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5270480" y="226314"/>
            <a:ext cx="2560320" cy="720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200">
                <a:solidFill>
                  <a:srgbClr val="3D3833"/>
                </a:solidFill>
                <a:latin typeface="Courier New"/>
              </a:rPr>
              <a:t>CAP 2 — IL PERIMETRO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14350"/>
            <a:ext cx="164592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4800">
                <a:solidFill>
                  <a:srgbClr val="3D3833"/>
                </a:solidFill>
                <a:latin typeface="Georgia"/>
              </a:rPr>
              <a:t>Prima pero, sgombriamo il terreno.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51660"/>
            <a:ext cx="16459200" cy="720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2000">
                <a:solidFill>
                  <a:srgbClr val="8A8175"/>
                </a:solidFill>
                <a:latin typeface="Arial"/>
              </a:rPr>
              <a:t>Il social listening e uno di quei mestieri che quasi tutti credono di capire — e quasi nessuno sa definire.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14400" y="2777490"/>
            <a:ext cx="16459200" cy="0"/>
          </a:xfrm>
          <a:prstGeom prst="line">
            <a:avLst/>
          </a:prstGeom>
          <a:ln w="12700">
            <a:solidFill>
              <a:srgbClr val="E0D8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914400" y="2870073"/>
            <a:ext cx="16459200" cy="0"/>
          </a:xfrm>
          <a:prstGeom prst="line">
            <a:avLst/>
          </a:prstGeom>
          <a:ln w="12700">
            <a:solidFill>
              <a:srgbClr val="E0D8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914400" y="2931795"/>
            <a:ext cx="16459200" cy="3909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200">
                <a:solidFill>
                  <a:srgbClr val="E0D8C4"/>
                </a:solidFill>
                <a:latin typeface="Courier New"/>
              </a:rPr>
              <a:t>   IL PERIMETRO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3188970"/>
            <a:ext cx="8046720" cy="2674620"/>
          </a:xfrm>
          <a:prstGeom prst="rect">
            <a:avLst/>
          </a:prstGeom>
          <a:solidFill>
            <a:srgbClr val="241F1B"/>
          </a:solidFill>
          <a:ln w="19050">
            <a:solidFill>
              <a:srgbClr val="B85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188970"/>
            <a:ext cx="804672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500">
                <a:solidFill>
                  <a:srgbClr val="F3EDE1"/>
                </a:solidFill>
                <a:latin typeface="Courier New"/>
              </a:rPr>
              <a:t>   NON E'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3188970"/>
            <a:ext cx="8046720" cy="72009"/>
          </a:xfrm>
          <a:prstGeom prst="rect">
            <a:avLst/>
          </a:prstGeom>
          <a:solidFill>
            <a:srgbClr val="B85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3754755"/>
            <a:ext cx="7818120" cy="637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700">
                <a:solidFill>
                  <a:srgbClr val="F3EDE1"/>
                </a:solidFill>
                <a:latin typeface="Arial"/>
              </a:rPr>
              <a:t>x  Contare menzioni o sentiment automatico come verita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" y="4423410"/>
            <a:ext cx="7818120" cy="637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700">
                <a:solidFill>
                  <a:srgbClr val="F3EDE1"/>
                </a:solidFill>
                <a:latin typeface="Arial"/>
              </a:rPr>
              <a:t>x  Share of voice come fine. Dashboard come deliverable.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" y="5092065"/>
            <a:ext cx="7818120" cy="637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700">
                <a:solidFill>
                  <a:srgbClr val="F3EDE1"/>
                </a:solidFill>
                <a:latin typeface="Arial"/>
              </a:rPr>
              <a:t>x  IL TOOL — abilita l'ascolto, non produce comprensione.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509760" y="3188970"/>
            <a:ext cx="8046720" cy="2674620"/>
          </a:xfrm>
          <a:prstGeom prst="rect">
            <a:avLst/>
          </a:prstGeom>
          <a:solidFill>
            <a:srgbClr val="3D3833"/>
          </a:solidFill>
          <a:ln w="19050">
            <a:solidFill>
              <a:srgbClr val="B85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09760" y="3188970"/>
            <a:ext cx="804672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500">
                <a:solidFill>
                  <a:srgbClr val="F3EDE1"/>
                </a:solidFill>
                <a:latin typeface="Courier New"/>
              </a:rPr>
              <a:t>   E'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509760" y="3188970"/>
            <a:ext cx="8046720" cy="72009"/>
          </a:xfrm>
          <a:prstGeom prst="rect">
            <a:avLst/>
          </a:prstGeom>
          <a:solidFill>
            <a:srgbClr val="B85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28632" y="3754755"/>
            <a:ext cx="7818120" cy="637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700">
                <a:solidFill>
                  <a:srgbClr val="F3EDE1"/>
                </a:solidFill>
                <a:latin typeface="Arial"/>
              </a:rPr>
              <a:t>+  Un sistema di intelligence strategica.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28632" y="4423410"/>
            <a:ext cx="7818120" cy="637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700">
                <a:solidFill>
                  <a:srgbClr val="F3EDE1"/>
                </a:solidFill>
                <a:latin typeface="Arial"/>
              </a:rPr>
              <a:t>+  La voce spontanea del mercato — bisogni latenti, segnali.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28632" y="5092065"/>
            <a:ext cx="7818120" cy="637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700">
                <a:solidFill>
                  <a:srgbClr val="F3EDE1"/>
                </a:solidFill>
                <a:latin typeface="Arial"/>
              </a:rPr>
              <a:t>+  IL METODO che precede il tool e ne determina il valore.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14400" y="6429375"/>
            <a:ext cx="16459200" cy="0"/>
          </a:xfrm>
          <a:prstGeom prst="line">
            <a:avLst/>
          </a:prstGeom>
          <a:ln w="12700">
            <a:solidFill>
              <a:srgbClr val="E0D8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914400" y="6521958"/>
            <a:ext cx="16459200" cy="0"/>
          </a:xfrm>
          <a:prstGeom prst="line">
            <a:avLst/>
          </a:prstGeom>
          <a:ln w="12700">
            <a:solidFill>
              <a:srgbClr val="E0D8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914400" y="6583680"/>
            <a:ext cx="16459200" cy="3909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200">
                <a:solidFill>
                  <a:srgbClr val="E0D8C4"/>
                </a:solidFill>
                <a:latin typeface="Courier New"/>
              </a:rPr>
              <a:t>   LE TRE CONFUSIONI PIU COMUNI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" y="6789420"/>
            <a:ext cx="5394960" cy="3034665"/>
          </a:xfrm>
          <a:prstGeom prst="rect">
            <a:avLst/>
          </a:prstGeom>
          <a:solidFill>
            <a:srgbClr val="EBE4D3"/>
          </a:solidFill>
          <a:ln w="19050">
            <a:solidFill>
              <a:srgbClr val="B85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3272" y="6892290"/>
            <a:ext cx="5212080" cy="7715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600">
                <a:solidFill>
                  <a:srgbClr val="3D3833"/>
                </a:solidFill>
                <a:latin typeface="Arial"/>
              </a:rPr>
              <a:t>Social Listening= Community Mgmt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3272" y="7643241"/>
            <a:ext cx="5212080" cy="2005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600">
                <a:solidFill>
                  <a:srgbClr val="8A8175"/>
                </a:solidFill>
                <a:latin typeface="Arial"/>
              </a:rPr>
              <a:t>Orientamento diverso: 'cosa rispondiamo?' vs 'cosa sta succedendo nel mercato?'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28816" y="6789420"/>
            <a:ext cx="5394960" cy="3034665"/>
          </a:xfrm>
          <a:prstGeom prst="rect">
            <a:avLst/>
          </a:prstGeom>
          <a:solidFill>
            <a:srgbClr val="EBE4D3"/>
          </a:solidFill>
          <a:ln w="19050">
            <a:solidFill>
              <a:srgbClr val="B85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47688" y="6892290"/>
            <a:ext cx="5212080" cy="7715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600">
                <a:solidFill>
                  <a:srgbClr val="3D3833"/>
                </a:solidFill>
                <a:latin typeface="Arial"/>
              </a:rPr>
              <a:t>Social Listening= Social Media Mgmt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47688" y="7643241"/>
            <a:ext cx="5212080" cy="2005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600">
                <a:solidFill>
                  <a:srgbClr val="8A8175"/>
                </a:solidFill>
                <a:latin typeface="Arial"/>
              </a:rPr>
              <a:t>Performance dei contenuti vs segnale del mercato. Paralleli, non sovrapponibili.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2143232" y="6789420"/>
            <a:ext cx="5394960" cy="3034665"/>
          </a:xfrm>
          <a:prstGeom prst="rect">
            <a:avLst/>
          </a:prstGeom>
          <a:solidFill>
            <a:srgbClr val="EBE4D3"/>
          </a:solidFill>
          <a:ln w="19050">
            <a:solidFill>
              <a:srgbClr val="B85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262104" y="6892290"/>
            <a:ext cx="5212080" cy="7715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600">
                <a:solidFill>
                  <a:srgbClr val="3D3833"/>
                </a:solidFill>
                <a:latin typeface="Arial"/>
              </a:rPr>
              <a:t>Social Listening= Tool Operator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262104" y="7643241"/>
            <a:ext cx="5212080" cy="2005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600">
                <a:solidFill>
                  <a:srgbClr val="8A8175"/>
                </a:solidFill>
                <a:latin typeface="Arial"/>
              </a:rPr>
              <a:t>Acquistare una licenza non e acquistare competenza. La competenza e nel framework.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7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5270480" y="226314"/>
            <a:ext cx="2560320" cy="720090"/>
          </a:xfrm>
          <a:prstGeom prst="rect">
            <a:avLst/>
          </a:prstGeom>
          <a:solidFill>
            <a:srgbClr val="241F1B"/>
          </a:solidFill>
          <a:ln w="19050">
            <a:solidFill>
              <a:srgbClr val="B85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5270480" y="226314"/>
            <a:ext cx="2560320" cy="720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200">
                <a:solidFill>
                  <a:srgbClr val="8A8175"/>
                </a:solidFill>
                <a:latin typeface="Courier New"/>
              </a:rPr>
              <a:t>CAP 3 — IDENTITA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14350"/>
            <a:ext cx="164592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5000">
                <a:solidFill>
                  <a:srgbClr val="F3EDE1"/>
                </a:solidFill>
                <a:latin typeface="Georgia"/>
              </a:rPr>
              <a:t>Non e un tuo fallimento.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48790"/>
            <a:ext cx="164592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5000">
                <a:solidFill>
                  <a:srgbClr val="B8523A"/>
                </a:solidFill>
                <a:latin typeface="Georgia"/>
              </a:rPr>
              <a:t>E un fallimento della disciplina.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86100"/>
            <a:ext cx="16459200" cy="720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2000">
                <a:solidFill>
                  <a:srgbClr val="F3EDE1"/>
                </a:solidFill>
                <a:latin typeface="Arial"/>
              </a:rPr>
              <a:t>La stessa competenza si chiama in undici modi diversi. Senza un nome chiaro, mancano seniority, budget, carriera.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3909060"/>
            <a:ext cx="16459200" cy="0"/>
          </a:xfrm>
          <a:prstGeom prst="line">
            <a:avLst/>
          </a:prstGeom>
          <a:ln w="12700">
            <a:solidFill>
              <a:srgbClr val="8A81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14400" y="4001643"/>
            <a:ext cx="16459200" cy="0"/>
          </a:xfrm>
          <a:prstGeom prst="line">
            <a:avLst/>
          </a:prstGeom>
          <a:ln w="12700">
            <a:solidFill>
              <a:srgbClr val="8A81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4063365"/>
            <a:ext cx="16459200" cy="3909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200">
                <a:solidFill>
                  <a:srgbClr val="8A8175"/>
                </a:solidFill>
                <a:latin typeface="Courier New"/>
              </a:rPr>
              <a:t>   I TRE NODI STRUTTURALI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4114800"/>
            <a:ext cx="5394960" cy="4834890"/>
          </a:xfrm>
          <a:prstGeom prst="rect">
            <a:avLst/>
          </a:prstGeom>
          <a:solidFill>
            <a:srgbClr val="241F1B"/>
          </a:solidFill>
          <a:ln w="19050">
            <a:solidFill>
              <a:srgbClr val="B85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2" y="4197096"/>
            <a:ext cx="146304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9000">
                <a:solidFill>
                  <a:srgbClr val="B8523A"/>
                </a:solidFill>
                <a:latin typeface="Georgia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" y="5709285"/>
            <a:ext cx="5212080" cy="5657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800">
                <a:solidFill>
                  <a:srgbClr val="B8523A"/>
                </a:solidFill>
                <a:latin typeface="Courier New"/>
              </a:rPr>
              <a:t>ISOLAMENTO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" y="6326505"/>
            <a:ext cx="5212080" cy="24174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600">
                <a:solidFill>
                  <a:srgbClr val="F3EDE1"/>
                </a:solidFill>
                <a:latin typeface="Arial"/>
              </a:rPr>
              <a:t>Lo spiega da capo in ogni stanza nuova. Quello che ha costruito — metodologia, punto di vista — esiste dentro quella struttura. Se cambia contesto, ricomincia da zero.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28816" y="4114800"/>
            <a:ext cx="5394960" cy="4834890"/>
          </a:xfrm>
          <a:prstGeom prst="rect">
            <a:avLst/>
          </a:prstGeom>
          <a:solidFill>
            <a:srgbClr val="241F1B"/>
          </a:solidFill>
          <a:ln w="19050">
            <a:solidFill>
              <a:srgbClr val="B85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47688" y="4197096"/>
            <a:ext cx="146304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9000">
                <a:solidFill>
                  <a:srgbClr val="B8523A"/>
                </a:solidFill>
                <a:latin typeface="Georgia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47688" y="5709285"/>
            <a:ext cx="5212080" cy="5657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800">
                <a:solidFill>
                  <a:srgbClr val="B8523A"/>
                </a:solidFill>
                <a:latin typeface="Courier New"/>
              </a:rPr>
              <a:t>NESSUNO STANDARD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47688" y="6326505"/>
            <a:ext cx="5212080" cy="24174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600">
                <a:solidFill>
                  <a:srgbClr val="F3EDE1"/>
                </a:solidFill>
                <a:latin typeface="Arial"/>
              </a:rPr>
              <a:t>Nessuna definizione di cosa significa 'fare bene' questo lavoro. Ogni team reinventa il metodo. Il cliente non puo valutare la qualita.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2143232" y="4114800"/>
            <a:ext cx="5394960" cy="4834890"/>
          </a:xfrm>
          <a:prstGeom prst="rect">
            <a:avLst/>
          </a:prstGeom>
          <a:solidFill>
            <a:srgbClr val="241F1B"/>
          </a:solidFill>
          <a:ln w="19050">
            <a:solidFill>
              <a:srgbClr val="B85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262104" y="4197096"/>
            <a:ext cx="146304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9000">
                <a:solidFill>
                  <a:srgbClr val="B8523A"/>
                </a:solidFill>
                <a:latin typeface="Georgia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262104" y="5709285"/>
            <a:ext cx="5212080" cy="5657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800">
                <a:solidFill>
                  <a:srgbClr val="B8523A"/>
                </a:solidFill>
                <a:latin typeface="Courier New"/>
              </a:rPr>
              <a:t>EXPERTISE INVISIBILE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262104" y="6326505"/>
            <a:ext cx="5212080" cy="24174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600">
                <a:solidFill>
                  <a:srgbClr val="F3EDE1"/>
                </a:solidFill>
                <a:latin typeface="Arial"/>
              </a:rPr>
              <a:t>Il manager capisce il lavoro ma non abbastanza da difenderlo in un board. Nessuna credenziale che viaggi fuori dall'azienda.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9073134"/>
            <a:ext cx="16459200" cy="9772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1" sz="1800">
                <a:solidFill>
                  <a:srgbClr val="F3EDE1"/>
                </a:solidFill>
                <a:latin typeface="Georgia"/>
              </a:rPr>
              <a:t>“Questo non e un vostro fallimento. E un fallimento strutturale della disciplina.”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D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5270480" y="226314"/>
            <a:ext cx="2560320" cy="720090"/>
          </a:xfrm>
          <a:prstGeom prst="rect">
            <a:avLst/>
          </a:prstGeom>
          <a:solidFill>
            <a:srgbClr val="EBE4D3"/>
          </a:solidFill>
          <a:ln w="19050">
            <a:solidFill>
              <a:srgbClr val="B85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5270480" y="226314"/>
            <a:ext cx="2560320" cy="720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200">
                <a:solidFill>
                  <a:srgbClr val="3D3833"/>
                </a:solidFill>
                <a:latin typeface="Courier New"/>
              </a:rPr>
              <a:t>CAP 4 — IL MERCATO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14350"/>
            <a:ext cx="164592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5000">
                <a:solidFill>
                  <a:srgbClr val="3D3833"/>
                </a:solidFill>
                <a:latin typeface="Georgia"/>
              </a:rPr>
              <a:t>In Italia il problema e piu profondo.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51660"/>
            <a:ext cx="16459200" cy="720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2000">
                <a:solidFill>
                  <a:srgbClr val="8A8175"/>
                </a:solidFill>
                <a:latin typeface="Arial"/>
              </a:rPr>
              <a:t>Non e tecnologico. Gli strumenti ci sono. Quello che manca e il posizionamento strategico del ruolo.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14400" y="2777490"/>
            <a:ext cx="16459200" cy="0"/>
          </a:xfrm>
          <a:prstGeom prst="line">
            <a:avLst/>
          </a:prstGeom>
          <a:ln w="12700">
            <a:solidFill>
              <a:srgbClr val="E0D8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914400" y="2870073"/>
            <a:ext cx="16459200" cy="0"/>
          </a:xfrm>
          <a:prstGeom prst="line">
            <a:avLst/>
          </a:prstGeom>
          <a:ln w="12700">
            <a:solidFill>
              <a:srgbClr val="E0D8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914400" y="2931795"/>
            <a:ext cx="16459200" cy="3909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200">
                <a:solidFill>
                  <a:srgbClr val="E0D8C4"/>
                </a:solidFill>
                <a:latin typeface="Courier New"/>
              </a:rPr>
              <a:t>   CONFRONTO STRUTTURALE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3188970"/>
            <a:ext cx="8046720" cy="6172200"/>
          </a:xfrm>
          <a:prstGeom prst="rect">
            <a:avLst/>
          </a:prstGeom>
          <a:solidFill>
            <a:srgbClr val="241F1B"/>
          </a:solidFill>
          <a:ln w="19050">
            <a:solidFill>
              <a:srgbClr val="B85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188970"/>
            <a:ext cx="804672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300">
                <a:solidFill>
                  <a:srgbClr val="F3EDE1"/>
                </a:solidFill>
                <a:latin typeface="Courier New"/>
              </a:rPr>
              <a:t>  ITALIA — PRATICA IMPLICITA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3188970"/>
            <a:ext cx="8046720" cy="72009"/>
          </a:xfrm>
          <a:prstGeom prst="rect">
            <a:avLst/>
          </a:prstGeom>
          <a:solidFill>
            <a:srgbClr val="B85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3806190"/>
            <a:ext cx="7818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700">
                <a:solidFill>
                  <a:srgbClr val="F3EDE1"/>
                </a:solidFill>
                <a:latin typeface="Arial"/>
              </a:rPr>
              <a:t>~ Strumenti presenti, metodo assente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" y="4660011"/>
            <a:ext cx="7818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700">
                <a:solidFill>
                  <a:srgbClr val="F3EDE1"/>
                </a:solidFill>
                <a:latin typeface="Arial"/>
              </a:rPr>
              <a:t>~ Ruolo raramente nominato come autonomo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" y="5513832"/>
            <a:ext cx="7818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700">
                <a:solidFill>
                  <a:srgbClr val="F3EDE1"/>
                </a:solidFill>
                <a:latin typeface="Arial"/>
              </a:rPr>
              <a:t>~ Formazione quasi sempre autodidatta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2" y="6367653"/>
            <a:ext cx="7818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700">
                <a:solidFill>
                  <a:srgbClr val="F3EDE1"/>
                </a:solidFill>
                <a:latin typeface="Arial"/>
              </a:rPr>
              <a:t>~ Ownership contesa tra social, PR, insight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2" y="7221474"/>
            <a:ext cx="7818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700">
                <a:solidFill>
                  <a:srgbClr val="F3EDE1"/>
                </a:solidFill>
                <a:latin typeface="Arial"/>
              </a:rPr>
              <a:t>~ Competenza reale ma non portabile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" y="8075295"/>
            <a:ext cx="7818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700">
                <a:solidFill>
                  <a:srgbClr val="F3EDE1"/>
                </a:solidFill>
                <a:latin typeface="Arial"/>
              </a:rPr>
              <a:t>~ Assenza di benchmark di qualita visibili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509760" y="3188970"/>
            <a:ext cx="8046720" cy="6172200"/>
          </a:xfrm>
          <a:prstGeom prst="rect">
            <a:avLst/>
          </a:prstGeom>
          <a:solidFill>
            <a:srgbClr val="3D3833"/>
          </a:solidFill>
          <a:ln w="19050">
            <a:solidFill>
              <a:srgbClr val="B85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09760" y="3188970"/>
            <a:ext cx="804672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300">
                <a:solidFill>
                  <a:srgbClr val="F3EDE1"/>
                </a:solidFill>
                <a:latin typeface="Courier New"/>
              </a:rPr>
              <a:t>  ESTERO — INFRASTRUTTURA STRUTTURATA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509760" y="3188970"/>
            <a:ext cx="8046720" cy="72009"/>
          </a:xfrm>
          <a:prstGeom prst="rect">
            <a:avLst/>
          </a:prstGeom>
          <a:solidFill>
            <a:srgbClr val="B85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28632" y="3806190"/>
            <a:ext cx="7818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700">
                <a:solidFill>
                  <a:srgbClr val="F3EDE1"/>
                </a:solidFill>
                <a:latin typeface="Arial"/>
              </a:rPr>
              <a:t>+ Comunita di pratica verticali e attive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28632" y="4660011"/>
            <a:ext cx="7818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700">
                <a:solidFill>
                  <a:srgbClr val="F3EDE1"/>
                </a:solidFill>
                <a:latin typeface="Arial"/>
              </a:rPr>
              <a:t>+ Percorsi di carriera espliciti e riconoscibili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28632" y="5513832"/>
            <a:ext cx="7818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700">
                <a:solidFill>
                  <a:srgbClr val="F3EDE1"/>
                </a:solidFill>
                <a:latin typeface="Arial"/>
              </a:rPr>
              <a:t>+ Definizione condivisa del 'fare bene il lavoro'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28632" y="6367653"/>
            <a:ext cx="7818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700">
                <a:solidFill>
                  <a:srgbClr val="F3EDE1"/>
                </a:solidFill>
                <a:latin typeface="Arial"/>
              </a:rPr>
              <a:t>+ Credenziali leggibili fuori dal contesto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28632" y="7221474"/>
            <a:ext cx="7818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700">
                <a:solidFill>
                  <a:srgbClr val="F3EDE1"/>
                </a:solidFill>
                <a:latin typeface="Arial"/>
              </a:rPr>
              <a:t>+ Standard metodologici difendibili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28632" y="8075295"/>
            <a:ext cx="7818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700">
                <a:solidFill>
                  <a:srgbClr val="F3EDE1"/>
                </a:solidFill>
                <a:latin typeface="Arial"/>
              </a:rPr>
              <a:t>+ Formazione continua e certificazioni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4400" y="9525762"/>
            <a:ext cx="16459200" cy="411480"/>
          </a:xfrm>
          <a:prstGeom prst="rect">
            <a:avLst/>
          </a:prstGeom>
          <a:solidFill>
            <a:srgbClr val="F3EDE1"/>
          </a:solidFill>
          <a:ln>
            <a:solidFill>
              <a:srgbClr val="F3E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9515475"/>
            <a:ext cx="1645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1" sz="1800">
                <a:solidFill>
                  <a:srgbClr val="B8523A"/>
                </a:solidFill>
                <a:latin typeface="Arial"/>
              </a:rPr>
              <a:t>Il divario non e di dati. E di infrastruttura professionale.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D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5270480" y="226314"/>
            <a:ext cx="2560320" cy="720090"/>
          </a:xfrm>
          <a:prstGeom prst="rect">
            <a:avLst/>
          </a:prstGeom>
          <a:solidFill>
            <a:srgbClr val="EBE4D3"/>
          </a:solidFill>
          <a:ln w="19050">
            <a:solidFill>
              <a:srgbClr val="B85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5270480" y="226314"/>
            <a:ext cx="2560320" cy="720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200">
                <a:solidFill>
                  <a:srgbClr val="3D3833"/>
                </a:solidFill>
                <a:latin typeface="Courier New"/>
              </a:rPr>
              <a:t>IL MERCATO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14350"/>
            <a:ext cx="164592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5200">
                <a:solidFill>
                  <a:srgbClr val="3D3833"/>
                </a:solidFill>
                <a:latin typeface="Georgia"/>
              </a:rPr>
              <a:t>Il salto che cambia tutto.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51660"/>
            <a:ext cx="16459200" cy="720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2000">
                <a:solidFill>
                  <a:srgbClr val="8A8175"/>
                </a:solidFill>
                <a:latin typeface="Arial"/>
              </a:rPr>
              <a:t>Non e tecnologico. E un salto di posizionamento — da strumento reattivo a sistema generativo.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14400" y="2777490"/>
            <a:ext cx="16459200" cy="0"/>
          </a:xfrm>
          <a:prstGeom prst="line">
            <a:avLst/>
          </a:prstGeom>
          <a:ln w="12700">
            <a:solidFill>
              <a:srgbClr val="E0D8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914400" y="2870073"/>
            <a:ext cx="16459200" cy="0"/>
          </a:xfrm>
          <a:prstGeom prst="line">
            <a:avLst/>
          </a:prstGeom>
          <a:ln w="12700">
            <a:solidFill>
              <a:srgbClr val="E0D8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914400" y="2931795"/>
            <a:ext cx="16459200" cy="3909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200">
                <a:solidFill>
                  <a:srgbClr val="E0D8C4"/>
                </a:solidFill>
                <a:latin typeface="Courier New"/>
              </a:rPr>
              <a:t>   REATTIVO vs GENERATIVO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3188970"/>
            <a:ext cx="8046720" cy="6172200"/>
          </a:xfrm>
          <a:prstGeom prst="rect">
            <a:avLst/>
          </a:prstGeom>
          <a:solidFill>
            <a:srgbClr val="241F1B"/>
          </a:solidFill>
          <a:ln w="19050">
            <a:solidFill>
              <a:srgbClr val="B85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188970"/>
            <a:ext cx="804672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300">
                <a:solidFill>
                  <a:srgbClr val="F3EDE1"/>
                </a:solidFill>
                <a:latin typeface="Courier New"/>
              </a:rPr>
              <a:t>  STATO REATTIVO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3188970"/>
            <a:ext cx="8046720" cy="72009"/>
          </a:xfrm>
          <a:prstGeom prst="rect">
            <a:avLst/>
          </a:prstGeom>
          <a:solidFill>
            <a:srgbClr val="B85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3806190"/>
            <a:ext cx="7818120" cy="720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000">
                <a:solidFill>
                  <a:srgbClr val="F3EDE1"/>
                </a:solidFill>
                <a:latin typeface="Arial"/>
              </a:rPr>
              <a:t>Il listening entra dopo.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" y="4577715"/>
            <a:ext cx="7818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700">
                <a:solidFill>
                  <a:srgbClr val="F3EDE1"/>
                </a:solidFill>
                <a:latin typeface="Arial"/>
              </a:rPr>
              <a:t>Misura quello che e successo.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" y="5431536"/>
            <a:ext cx="7818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700">
                <a:solidFill>
                  <a:srgbClr val="F3EDE1"/>
                </a:solidFill>
                <a:latin typeface="Arial"/>
              </a:rPr>
              <a:t>Segue la crisi quando e gia esplosa.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2" y="6285357"/>
            <a:ext cx="7818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700">
                <a:solidFill>
                  <a:srgbClr val="F3EDE1"/>
                </a:solidFill>
                <a:latin typeface="Arial"/>
              </a:rPr>
              <a:t>Conferma il brief gia scritto.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2" y="7139178"/>
            <a:ext cx="7818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700">
                <a:solidFill>
                  <a:srgbClr val="F3EDE1"/>
                </a:solidFill>
                <a:latin typeface="Arial"/>
              </a:rPr>
              <a:t>Il dato commenta — non orienta.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509760" y="3188970"/>
            <a:ext cx="8046720" cy="6172200"/>
          </a:xfrm>
          <a:prstGeom prst="rect">
            <a:avLst/>
          </a:prstGeom>
          <a:solidFill>
            <a:srgbClr val="3D3833"/>
          </a:solidFill>
          <a:ln w="19050">
            <a:solidFill>
              <a:srgbClr val="B85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09760" y="3188970"/>
            <a:ext cx="804672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300">
                <a:solidFill>
                  <a:srgbClr val="F3EDE1"/>
                </a:solidFill>
                <a:latin typeface="Courier New"/>
              </a:rPr>
              <a:t>  STATO GENERATIVO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509760" y="3188970"/>
            <a:ext cx="8046720" cy="72009"/>
          </a:xfrm>
          <a:prstGeom prst="rect">
            <a:avLst/>
          </a:prstGeom>
          <a:solidFill>
            <a:srgbClr val="B85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28632" y="3806190"/>
            <a:ext cx="7818120" cy="720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000">
                <a:solidFill>
                  <a:srgbClr val="F3EDE1"/>
                </a:solidFill>
                <a:latin typeface="Arial"/>
              </a:rPr>
              <a:t>Il listening entra prima.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28632" y="4577715"/>
            <a:ext cx="7818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700">
                <a:solidFill>
                  <a:srgbClr val="F3EDE1"/>
                </a:solidFill>
                <a:latin typeface="Arial"/>
              </a:rPr>
              <a:t>Prima del brief — per formulare ipotesi.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28632" y="5431536"/>
            <a:ext cx="7818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700">
                <a:solidFill>
                  <a:srgbClr val="F3EDE1"/>
                </a:solidFill>
                <a:latin typeface="Arial"/>
              </a:rPr>
              <a:t>Prima del lancio — per intercettare barriere.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28632" y="6285357"/>
            <a:ext cx="7818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700">
                <a:solidFill>
                  <a:srgbClr val="F3EDE1"/>
                </a:solidFill>
                <a:latin typeface="Arial"/>
              </a:rPr>
              <a:t>Prima della crisi — per leggere i segnali deboli.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28632" y="7139178"/>
            <a:ext cx="7818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700">
                <a:solidFill>
                  <a:srgbClr val="F3EDE1"/>
                </a:solidFill>
                <a:latin typeface="Arial"/>
              </a:rPr>
              <a:t>Il dato orienta — non commenta.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5503545"/>
            <a:ext cx="1463040" cy="925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4800">
                <a:solidFill>
                  <a:srgbClr val="B8523A"/>
                </a:solidFill>
                <a:latin typeface="Arial"/>
              </a:rP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9073134"/>
            <a:ext cx="16459200" cy="9772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1" sz="1800">
                <a:solidFill>
                  <a:srgbClr val="3D3833"/>
                </a:solidFill>
                <a:latin typeface="Georgia"/>
              </a:rPr>
              <a:t>“Il social listening viene spesso invitato alla riunione in cui si valida una strategia gia decisa—non a quella in cui la strategia viene costruita.”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D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5270480" y="226314"/>
            <a:ext cx="2560320" cy="720090"/>
          </a:xfrm>
          <a:prstGeom prst="rect">
            <a:avLst/>
          </a:prstGeom>
          <a:solidFill>
            <a:srgbClr val="EBE4D3"/>
          </a:solidFill>
          <a:ln w="19050">
            <a:solidFill>
              <a:srgbClr val="B85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5270480" y="226314"/>
            <a:ext cx="2560320" cy="720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200">
                <a:solidFill>
                  <a:srgbClr val="3D3833"/>
                </a:solidFill>
                <a:latin typeface="Courier New"/>
              </a:rPr>
              <a:t>CAP 5 — INSIGHT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14350"/>
            <a:ext cx="164592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5000">
                <a:solidFill>
                  <a:srgbClr val="3D3833"/>
                </a:solidFill>
                <a:latin typeface="Georgia"/>
              </a:rPr>
              <a:t>La differenza non e nel dato.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64592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5000">
                <a:solidFill>
                  <a:srgbClr val="B8523A"/>
                </a:solidFill>
                <a:latin typeface="Georgia"/>
              </a:rPr>
              <a:t>E nella domanda.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14400" y="2880360"/>
            <a:ext cx="16459200" cy="0"/>
          </a:xfrm>
          <a:prstGeom prst="line">
            <a:avLst/>
          </a:prstGeom>
          <a:ln w="12700">
            <a:solidFill>
              <a:srgbClr val="E0D8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914400" y="2972943"/>
            <a:ext cx="16459200" cy="0"/>
          </a:xfrm>
          <a:prstGeom prst="line">
            <a:avLst/>
          </a:prstGeom>
          <a:ln w="12700">
            <a:solidFill>
              <a:srgbClr val="E0D8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914400" y="3034665"/>
            <a:ext cx="16459200" cy="3909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200">
                <a:solidFill>
                  <a:srgbClr val="E0D8C4"/>
                </a:solidFill>
                <a:latin typeface="Courier New"/>
              </a:rPr>
              <a:t>   REPORT vs INSIGHT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3291840"/>
            <a:ext cx="8046720" cy="2468880"/>
          </a:xfrm>
          <a:prstGeom prst="rect">
            <a:avLst/>
          </a:prstGeom>
          <a:solidFill>
            <a:srgbClr val="241F1B"/>
          </a:solidFill>
          <a:ln w="19050">
            <a:solidFill>
              <a:srgbClr val="B85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291840"/>
            <a:ext cx="804672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400">
                <a:solidFill>
                  <a:srgbClr val="F3EDE1"/>
                </a:solidFill>
                <a:latin typeface="Courier New"/>
              </a:rPr>
              <a:t>  REPORT — descrive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3291840"/>
            <a:ext cx="8046720" cy="72009"/>
          </a:xfrm>
          <a:prstGeom prst="rect">
            <a:avLst/>
          </a:prstGeom>
          <a:solidFill>
            <a:srgbClr val="B85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3857625"/>
            <a:ext cx="7818120" cy="18002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600">
                <a:solidFill>
                  <a:srgbClr val="F3EDE1"/>
                </a:solidFill>
                <a:latin typeface="Arial"/>
              </a:rPr>
              <a:t>“Le menzioni sono cresciute del +40% nell'ultimo mese.”</a:t>
            </a:r>
          </a:p>
          <a:p>
            <a:pPr algn="l"/>
            <a:r>
              <a:t/>
            </a:r>
          </a:p>
          <a:p>
            <a:pPr algn="l"/>
            <a:r>
              <a:rPr b="0" i="0" sz="1600">
                <a:solidFill>
                  <a:srgbClr val="F3EDE1"/>
                </a:solidFill>
                <a:latin typeface="Arial"/>
              </a:rPr>
              <a:t>Il report allarma. Genera reazione, non orientamento.</a:t>
            </a:r>
          </a:p>
          <a:p>
            <a:pPr algn="l"/>
            <a:r>
              <a:rPr b="0" i="0" sz="1600">
                <a:solidFill>
                  <a:srgbClr val="F3EDE1"/>
                </a:solidFill>
                <a:latin typeface="Arial"/>
              </a:rPr>
              <a:t>Arriva dopo che le decisioni sono gia state prese.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509760" y="3291840"/>
            <a:ext cx="8046720" cy="2468880"/>
          </a:xfrm>
          <a:prstGeom prst="rect">
            <a:avLst/>
          </a:prstGeom>
          <a:solidFill>
            <a:srgbClr val="3D3833"/>
          </a:solidFill>
          <a:ln w="19050">
            <a:solidFill>
              <a:srgbClr val="B85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0" y="3291840"/>
            <a:ext cx="804672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400">
                <a:solidFill>
                  <a:srgbClr val="F3EDE1"/>
                </a:solidFill>
                <a:latin typeface="Courier New"/>
              </a:rPr>
              <a:t>  INSIGHT — interpreta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509760" y="3291840"/>
            <a:ext cx="8046720" cy="72009"/>
          </a:xfrm>
          <a:prstGeom prst="rect">
            <a:avLst/>
          </a:prstGeom>
          <a:solidFill>
            <a:srgbClr val="B85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28632" y="3857625"/>
            <a:ext cx="7818120" cy="18002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600">
                <a:solidFill>
                  <a:srgbClr val="F3EDE1"/>
                </a:solidFill>
                <a:latin typeface="Arial"/>
              </a:rPr>
              <a:t>“Il brand e associato a una tensione emergente sul servizio</a:t>
            </a:r>
          </a:p>
          <a:p>
            <a:pPr algn="l"/>
            <a:r>
              <a:rPr b="0" i="0" sz="1600">
                <a:solidFill>
                  <a:srgbClr val="F3EDE1"/>
                </a:solidFill>
                <a:latin typeface="Arial"/>
              </a:rPr>
              <a:t>clienti che sta scalando — se non si interviene in due</a:t>
            </a:r>
          </a:p>
          <a:p>
            <a:pPr algn="l"/>
            <a:r>
              <a:rPr b="0" i="0" sz="1600">
                <a:solidFill>
                  <a:srgbClr val="F3EDE1"/>
                </a:solidFill>
                <a:latin typeface="Arial"/>
              </a:rPr>
              <a:t>settimane, diventa crisi.”</a:t>
            </a:r>
          </a:p>
          <a:p>
            <a:pPr algn="l"/>
            <a:r>
              <a:t/>
            </a:r>
          </a:p>
          <a:p>
            <a:pPr algn="l"/>
            <a:r>
              <a:rPr b="0" i="0" sz="1600">
                <a:solidFill>
                  <a:srgbClr val="F3EDE1"/>
                </a:solidFill>
                <a:latin typeface="Arial"/>
              </a:rPr>
              <a:t>L'insight orienta. Abilita la decisione nel momento giusto.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14400" y="5966460"/>
            <a:ext cx="16459200" cy="0"/>
          </a:xfrm>
          <a:prstGeom prst="line">
            <a:avLst/>
          </a:prstGeom>
          <a:ln w="12700">
            <a:solidFill>
              <a:srgbClr val="E0D8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14400" y="6059043"/>
            <a:ext cx="16459200" cy="0"/>
          </a:xfrm>
          <a:prstGeom prst="line">
            <a:avLst/>
          </a:prstGeom>
          <a:ln w="12700">
            <a:solidFill>
              <a:srgbClr val="E0D8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914400" y="6120765"/>
            <a:ext cx="16459200" cy="3909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200">
                <a:solidFill>
                  <a:srgbClr val="E0D8C4"/>
                </a:solidFill>
                <a:latin typeface="Courier New"/>
              </a:rPr>
              <a:t>   TASSONOMIA A TRE CERCHI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6377940"/>
            <a:ext cx="16459200" cy="514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1700">
                <a:solidFill>
                  <a:srgbClr val="8A8175"/>
                </a:solidFill>
                <a:latin typeface="Arial"/>
              </a:rPr>
              <a:t>Uno strumento per costruire la domanda giusta e difendere le scelte metodologiche.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6892290"/>
            <a:ext cx="5394960" cy="2931794"/>
          </a:xfrm>
          <a:prstGeom prst="rect">
            <a:avLst/>
          </a:prstGeom>
          <a:solidFill>
            <a:srgbClr val="EBE4D3"/>
          </a:solidFill>
          <a:ln w="19050">
            <a:solidFill>
              <a:srgbClr val="B85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33272" y="6974586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200">
                <a:solidFill>
                  <a:srgbClr val="B8523A"/>
                </a:solidFill>
                <a:latin typeface="Courier New"/>
              </a:rPr>
              <a:t>Cerchio 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3272" y="7386066"/>
            <a:ext cx="521208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700">
                <a:solidFill>
                  <a:srgbClr val="3D3833"/>
                </a:solidFill>
                <a:latin typeface="Arial"/>
              </a:rPr>
              <a:t>CONTESTO CULTURALE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3272" y="8003286"/>
            <a:ext cx="5212080" cy="7715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8A8175"/>
                </a:solidFill>
                <a:latin typeface="Arial"/>
              </a:rPr>
              <a:t>Pop culture, economia, generazioni, tensioni sociali.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3272" y="8785098"/>
            <a:ext cx="5212080" cy="5657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1500">
                <a:solidFill>
                  <a:srgbClr val="3D3833"/>
                </a:solidFill>
                <a:latin typeface="Arial"/>
              </a:rPr>
              <a:t>Perche il mercato si muove adesso?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28816" y="6892290"/>
            <a:ext cx="5394960" cy="2931794"/>
          </a:xfrm>
          <a:prstGeom prst="rect">
            <a:avLst/>
          </a:prstGeom>
          <a:solidFill>
            <a:srgbClr val="EBE4D3"/>
          </a:solidFill>
          <a:ln w="19050">
            <a:solidFill>
              <a:srgbClr val="B85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47688" y="6974586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200">
                <a:solidFill>
                  <a:srgbClr val="B8523A"/>
                </a:solidFill>
                <a:latin typeface="Courier New"/>
              </a:rPr>
              <a:t>Cerchio 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47688" y="7386066"/>
            <a:ext cx="521208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700">
                <a:solidFill>
                  <a:srgbClr val="3D3833"/>
                </a:solidFill>
                <a:latin typeface="Arial"/>
              </a:rPr>
              <a:t>INDUSTRY &amp; CATEGORY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47688" y="8003286"/>
            <a:ext cx="5212080" cy="7715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8A8175"/>
                </a:solidFill>
                <a:latin typeface="Arial"/>
              </a:rPr>
              <a:t>Competitor, occasioni d'uso, barriere, driver.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47688" y="8785098"/>
            <a:ext cx="5212080" cy="5657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1500">
                <a:solidFill>
                  <a:srgbClr val="3D3833"/>
                </a:solidFill>
                <a:latin typeface="Arial"/>
              </a:rPr>
              <a:t>Come si comporta questa categoria?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2143232" y="6892290"/>
            <a:ext cx="5394960" cy="2931794"/>
          </a:xfrm>
          <a:prstGeom prst="rect">
            <a:avLst/>
          </a:prstGeom>
          <a:solidFill>
            <a:srgbClr val="EBE4D3"/>
          </a:solidFill>
          <a:ln w="19050">
            <a:solidFill>
              <a:srgbClr val="B85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2262104" y="6974586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200">
                <a:solidFill>
                  <a:srgbClr val="B8523A"/>
                </a:solidFill>
                <a:latin typeface="Courier New"/>
              </a:rPr>
              <a:t>Cerchio 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262104" y="7386066"/>
            <a:ext cx="521208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700">
                <a:solidFill>
                  <a:srgbClr val="3D3833"/>
                </a:solidFill>
                <a:latin typeface="Arial"/>
              </a:rPr>
              <a:t>BRAND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262104" y="8003286"/>
            <a:ext cx="5212080" cy="7715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8A8175"/>
                </a:solidFill>
                <a:latin typeface="Arial"/>
              </a:rPr>
              <a:t>Menzioni, campagna, customer experience, reputazione.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262104" y="8785098"/>
            <a:ext cx="5212080" cy="5657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1500">
                <a:solidFill>
                  <a:srgbClr val="3D3833"/>
                </a:solidFill>
                <a:latin typeface="Arial"/>
              </a:rPr>
              <a:t>Cosa dice il mercato di questo brand?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D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5270480" y="226314"/>
            <a:ext cx="2560320" cy="720090"/>
          </a:xfrm>
          <a:prstGeom prst="rect">
            <a:avLst/>
          </a:prstGeom>
          <a:solidFill>
            <a:srgbClr val="EBE4D3"/>
          </a:solidFill>
          <a:ln w="19050">
            <a:solidFill>
              <a:srgbClr val="B85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5270480" y="226314"/>
            <a:ext cx="2560320" cy="720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200">
                <a:solidFill>
                  <a:srgbClr val="3D3833"/>
                </a:solidFill>
                <a:latin typeface="Courier New"/>
              </a:rPr>
              <a:t>I TRE ATTRITI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14350"/>
            <a:ext cx="164592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4600">
                <a:solidFill>
                  <a:srgbClr val="3D3833"/>
                </a:solidFill>
                <a:latin typeface="Georgia"/>
              </a:rPr>
              <a:t>I segnali che nessuna dashboard mostra.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51660"/>
            <a:ext cx="16459200" cy="720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2000">
                <a:solidFill>
                  <a:srgbClr val="8A8175"/>
                </a:solidFill>
                <a:latin typeface="Arial"/>
              </a:rPr>
              <a:t>Formalizzati dopo centinaia di dataset. Li cerco per primi in ogni progetto — sono la firma di un problema reale.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14400" y="2777490"/>
            <a:ext cx="16459200" cy="0"/>
          </a:xfrm>
          <a:prstGeom prst="line">
            <a:avLst/>
          </a:prstGeom>
          <a:ln w="12700">
            <a:solidFill>
              <a:srgbClr val="E0D8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914400" y="2870073"/>
            <a:ext cx="16459200" cy="0"/>
          </a:xfrm>
          <a:prstGeom prst="line">
            <a:avLst/>
          </a:prstGeom>
          <a:ln w="12700">
            <a:solidFill>
              <a:srgbClr val="E0D8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914400" y="2931795"/>
            <a:ext cx="16459200" cy="3909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200">
                <a:solidFill>
                  <a:srgbClr val="E0D8C4"/>
                </a:solidFill>
                <a:latin typeface="Courier New"/>
              </a:rPr>
              <a:t>   TRE ATTRITI STRUTTURALI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3188970"/>
            <a:ext cx="5394960" cy="6377940"/>
          </a:xfrm>
          <a:prstGeom prst="rect">
            <a:avLst/>
          </a:prstGeom>
          <a:solidFill>
            <a:srgbClr val="EBE4D3"/>
          </a:solidFill>
          <a:ln w="19050">
            <a:solidFill>
              <a:srgbClr val="B85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3271266"/>
            <a:ext cx="146304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9000">
                <a:solidFill>
                  <a:srgbClr val="B8523A"/>
                </a:solidFill>
                <a:latin typeface="Georgia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" y="4711446"/>
            <a:ext cx="5212080" cy="8743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000">
                <a:solidFill>
                  <a:srgbClr val="3D3833"/>
                </a:solidFill>
                <a:latin typeface="Arial"/>
              </a:rPr>
              <a:t>INTENTION
INTERFACE GAP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" y="5657850"/>
            <a:ext cx="521208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1300">
                <a:solidFill>
                  <a:srgbClr val="B8523A"/>
                </a:solidFill>
                <a:latin typeface="Arial"/>
              </a:rPr>
              <a:t>Q&amp;A, recensioni, customer care, forum di supporto.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" y="6326505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600">
                <a:solidFill>
                  <a:srgbClr val="3D3833"/>
                </a:solidFill>
                <a:latin typeface="Arial"/>
              </a:rPr>
              <a:t>L'utente vuole fare qualcosa ma non riesce. Ostacolo nell'interfaccia, nel processo, nella value proposition.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" y="8023860"/>
            <a:ext cx="5212080" cy="14401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1600">
                <a:solidFill>
                  <a:srgbClr val="8A8175"/>
                </a:solidFill>
                <a:latin typeface="Arial"/>
              </a:rPr>
              <a:t>Frustrazione ricorrente su un punto del journey. Indica dove il prodotto perde l'utente.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28816" y="3188970"/>
            <a:ext cx="5394960" cy="6377940"/>
          </a:xfrm>
          <a:prstGeom prst="rect">
            <a:avLst/>
          </a:prstGeom>
          <a:solidFill>
            <a:srgbClr val="EBE4D3"/>
          </a:solidFill>
          <a:ln w="19050">
            <a:solidFill>
              <a:srgbClr val="B85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47688" y="3271266"/>
            <a:ext cx="146304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9000">
                <a:solidFill>
                  <a:srgbClr val="B8523A"/>
                </a:solidFill>
                <a:latin typeface="Georgia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47688" y="4711446"/>
            <a:ext cx="5212080" cy="8743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000">
                <a:solidFill>
                  <a:srgbClr val="3D3833"/>
                </a:solidFill>
                <a:latin typeface="Arial"/>
              </a:rPr>
              <a:t>TRUST
GAP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47688" y="5657850"/>
            <a:ext cx="521208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1300">
                <a:solidFill>
                  <a:srgbClr val="B8523A"/>
                </a:solidFill>
                <a:latin typeface="Arial"/>
              </a:rPr>
              <a:t>Community di settore, comparatori, review spontanee.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47688" y="6326505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600">
                <a:solidFill>
                  <a:srgbClr val="3D3833"/>
                </a:solidFill>
                <a:latin typeface="Arial"/>
              </a:rPr>
              <a:t>L'utente esita a fidarsi — del brand, della promessa, del prezzo. Arriva prima che la crisi diventi visibile.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47688" y="8023860"/>
            <a:ext cx="5212080" cy="14401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1600">
                <a:solidFill>
                  <a:srgbClr val="8A8175"/>
                </a:solidFill>
                <a:latin typeface="Arial"/>
              </a:rPr>
              <a:t>Esitazione sistematica pre-acquisto. Permette di intervenire sulla narrativa prima del danno.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143232" y="3188970"/>
            <a:ext cx="5394960" cy="6377940"/>
          </a:xfrm>
          <a:prstGeom prst="rect">
            <a:avLst/>
          </a:prstGeom>
          <a:solidFill>
            <a:srgbClr val="EBE4D3"/>
          </a:solidFill>
          <a:ln w="19050">
            <a:solidFill>
              <a:srgbClr val="B85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262104" y="3271266"/>
            <a:ext cx="146304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9000">
                <a:solidFill>
                  <a:srgbClr val="B8523A"/>
                </a:solidFill>
                <a:latin typeface="Georgia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262104" y="4711446"/>
            <a:ext cx="5212080" cy="8743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000">
                <a:solidFill>
                  <a:srgbClr val="3D3833"/>
                </a:solidFill>
                <a:latin typeface="Arial"/>
              </a:rPr>
              <a:t>USAGE
GAP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262104" y="5657850"/>
            <a:ext cx="521208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1300">
                <a:solidFill>
                  <a:srgbClr val="B8523A"/>
                </a:solidFill>
                <a:latin typeface="Arial"/>
              </a:rPr>
              <a:t>Tutorial spontanei, micro-community, gruppi chiusi.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262104" y="6326505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600">
                <a:solidFill>
                  <a:srgbClr val="3D3833"/>
                </a:solidFill>
                <a:latin typeface="Arial"/>
              </a:rPr>
              <a:t>L'utente usa il prodotto in modi non previsti — workaround, rituali, micro-community creative.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262104" y="8023860"/>
            <a:ext cx="5212080" cy="14401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1600">
                <a:solidFill>
                  <a:srgbClr val="8A8175"/>
                </a:solidFill>
                <a:latin typeface="Arial"/>
              </a:rPr>
              <a:t>Usi non previsti = opportunita di innovazione. Qui si nasconde il vantaggio competitivo.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D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5270480" y="226314"/>
            <a:ext cx="2560320" cy="720090"/>
          </a:xfrm>
          <a:prstGeom prst="rect">
            <a:avLst/>
          </a:prstGeom>
          <a:solidFill>
            <a:srgbClr val="EBE4D3"/>
          </a:solidFill>
          <a:ln w="19050">
            <a:solidFill>
              <a:srgbClr val="B85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5270480" y="226314"/>
            <a:ext cx="2560320" cy="720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200">
                <a:solidFill>
                  <a:srgbClr val="3D3833"/>
                </a:solidFill>
                <a:latin typeface="Courier New"/>
              </a:rPr>
              <a:t>CAP 6 — TRE ERE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14350"/>
            <a:ext cx="164592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5400">
                <a:solidFill>
                  <a:srgbClr val="3D3833"/>
                </a:solidFill>
                <a:latin typeface="Georgia"/>
              </a:rPr>
              <a:t>Siamo al terzo atto.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51660"/>
            <a:ext cx="16459200" cy="720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2000">
                <a:solidFill>
                  <a:srgbClr val="8A8175"/>
                </a:solidFill>
                <a:latin typeface="Arial"/>
              </a:rPr>
              <a:t>Il social listening ha attraversato tre ere. Capire dove siamo richiede di vedere le due che vengono prima.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14400" y="2777490"/>
            <a:ext cx="16459200" cy="0"/>
          </a:xfrm>
          <a:prstGeom prst="line">
            <a:avLst/>
          </a:prstGeom>
          <a:ln w="12700">
            <a:solidFill>
              <a:srgbClr val="E0D8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914400" y="2870073"/>
            <a:ext cx="16459200" cy="0"/>
          </a:xfrm>
          <a:prstGeom prst="line">
            <a:avLst/>
          </a:prstGeom>
          <a:ln w="12700">
            <a:solidFill>
              <a:srgbClr val="E0D8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914400" y="3188970"/>
            <a:ext cx="5394960" cy="6377940"/>
          </a:xfrm>
          <a:prstGeom prst="rect">
            <a:avLst/>
          </a:prstGeom>
          <a:solidFill>
            <a:srgbClr val="EBE4D3"/>
          </a:solidFill>
          <a:ln w="19050">
            <a:solidFill>
              <a:srgbClr val="B85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3312414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300">
                <a:solidFill>
                  <a:srgbClr val="B8523A"/>
                </a:solidFill>
                <a:latin typeface="Courier New"/>
              </a:rPr>
              <a:t>2008–2014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" y="3723894"/>
            <a:ext cx="5212080" cy="8743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200">
                <a:solidFill>
                  <a:srgbClr val="3D3833"/>
                </a:solidFill>
                <a:latin typeface="Arial"/>
              </a:rPr>
              <a:t>ERA DEL
VOLUME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" y="4660010"/>
            <a:ext cx="5212080" cy="668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1600">
                <a:solidFill>
                  <a:srgbClr val="B8523A"/>
                </a:solidFill>
                <a:latin typeface="Arial"/>
              </a:rPr>
              <a:t>Quante volte mi nominano?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" y="5380101"/>
            <a:ext cx="5212080" cy="1851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600">
                <a:solidFill>
                  <a:srgbClr val="8A8175"/>
                </a:solidFill>
                <a:latin typeface="Arial"/>
              </a:rPr>
              <a:t>Mention, reach, share of voice. Descrizione retrospettiva.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" y="7303770"/>
            <a:ext cx="52120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1500">
                <a:solidFill>
                  <a:srgbClr val="8A8175"/>
                </a:solidFill>
                <a:latin typeface="Arial"/>
              </a:rPr>
              <a:t>Ho fatto questi report nel 2012. Utili per una prima visibilita. Limitati a cio che era gia successo.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28816" y="3188970"/>
            <a:ext cx="5394960" cy="6377940"/>
          </a:xfrm>
          <a:prstGeom prst="rect">
            <a:avLst/>
          </a:prstGeom>
          <a:solidFill>
            <a:srgbClr val="EBE4D3"/>
          </a:solidFill>
          <a:ln w="19050">
            <a:solidFill>
              <a:srgbClr val="B85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47688" y="3312414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300">
                <a:solidFill>
                  <a:srgbClr val="B8523A"/>
                </a:solidFill>
                <a:latin typeface="Courier New"/>
              </a:rPr>
              <a:t>2015–2023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47688" y="3723894"/>
            <a:ext cx="5212080" cy="8743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200">
                <a:solidFill>
                  <a:srgbClr val="3D3833"/>
                </a:solidFill>
                <a:latin typeface="Arial"/>
              </a:rPr>
              <a:t>ERA DEL
CONTESTO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47688" y="4660010"/>
            <a:ext cx="5212080" cy="668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1600">
                <a:solidFill>
                  <a:srgbClr val="B8523A"/>
                </a:solidFill>
                <a:latin typeface="Arial"/>
              </a:rPr>
              <a:t>Cosa sta succedendo e perche?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47688" y="5380101"/>
            <a:ext cx="5212080" cy="1851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600">
                <a:solidFill>
                  <a:srgbClr val="8A8175"/>
                </a:solidFill>
                <a:latin typeface="Arial"/>
              </a:rPr>
              <a:t>Topic modeling, sentiment driver, community, crisi, reputazione.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47688" y="7303770"/>
            <a:ext cx="52120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1500">
                <a:solidFill>
                  <a:srgbClr val="8A8175"/>
                </a:solidFill>
                <a:latin typeface="Arial"/>
              </a:rPr>
              <a:t>Ho vissuto questo passaggio. Cambia il tipo di conversazioni con i clienti.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143232" y="3188970"/>
            <a:ext cx="5394960" cy="6377940"/>
          </a:xfrm>
          <a:prstGeom prst="rect">
            <a:avLst/>
          </a:prstGeom>
          <a:solidFill>
            <a:srgbClr val="241F1B"/>
          </a:solidFill>
          <a:ln w="19050">
            <a:solidFill>
              <a:srgbClr val="B85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262104" y="3312414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300">
                <a:solidFill>
                  <a:srgbClr val="B8523A"/>
                </a:solidFill>
                <a:latin typeface="Courier New"/>
              </a:rPr>
              <a:t>2024 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262104" y="3723894"/>
            <a:ext cx="5212080" cy="8743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200">
                <a:solidFill>
                  <a:srgbClr val="F3EDE1"/>
                </a:solidFill>
                <a:latin typeface="Arial"/>
              </a:rPr>
              <a:t>ERA DEL
SEGNALE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262104" y="4660010"/>
            <a:ext cx="5212080" cy="668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1600">
                <a:solidFill>
                  <a:srgbClr val="B8523A"/>
                </a:solidFill>
                <a:latin typeface="Arial"/>
              </a:rPr>
              <a:t>Quale segnale anticipa la prossima decisione?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262104" y="5380101"/>
            <a:ext cx="5212080" cy="1851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600">
                <a:solidFill>
                  <a:srgbClr val="F3EDE1"/>
                </a:solidFill>
                <a:latin typeface="Arial"/>
              </a:rPr>
              <a:t>Frizioni, pattern emergenti, micro-cluster, rischi latenti, opportunita pre-mainstream.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262104" y="7303770"/>
            <a:ext cx="52120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1500">
                <a:solidFill>
                  <a:srgbClr val="F3EDE1"/>
                </a:solidFill>
                <a:latin typeface="Arial"/>
              </a:rPr>
              <a:t>L'AI riduce il costo della sintesi. L'interpretazione diventa il vero valore.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9073134"/>
            <a:ext cx="16459200" cy="9772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1" sz="1800">
                <a:solidFill>
                  <a:srgbClr val="3D3833"/>
                </a:solidFill>
                <a:latin typeface="Georgia"/>
              </a:rPr>
              <a:t>“Il volume racconta dove guardano tutti. La forma del rumore racconta dove si nasconde il vantaggio.”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7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046720" cy="10287000"/>
          </a:xfrm>
          <a:prstGeom prst="rect">
            <a:avLst/>
          </a:prstGeom>
          <a:solidFill>
            <a:srgbClr val="1E19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046720" y="0"/>
            <a:ext cx="73152" cy="10287000"/>
          </a:xfrm>
          <a:prstGeom prst="rect">
            <a:avLst/>
          </a:prstGeom>
          <a:solidFill>
            <a:srgbClr val="B85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463040" y="1234440"/>
            <a:ext cx="5486400" cy="6686550"/>
          </a:xfrm>
          <a:prstGeom prst="rect">
            <a:avLst/>
          </a:prstGeom>
          <a:solidFill>
            <a:srgbClr val="241F1B"/>
          </a:solidFill>
          <a:ln w="19050">
            <a:solidFill>
              <a:srgbClr val="B85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63040" y="4320540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600">
                <a:solidFill>
                  <a:srgbClr val="8A8175"/>
                </a:solidFill>
                <a:latin typeface="Arial"/>
              </a:rPr>
              <a:t>[FOTO]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1748790"/>
            <a:ext cx="804672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1" sz="3400">
                <a:solidFill>
                  <a:srgbClr val="F3EDE1"/>
                </a:solidFill>
                <a:latin typeface="Georgia"/>
              </a:rPr>
              <a:t>“Il calcio e semplice.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2880360"/>
            <a:ext cx="804672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1" sz="3400">
                <a:solidFill>
                  <a:srgbClr val="F3EDE1"/>
                </a:solidFill>
                <a:latin typeface="Georgia"/>
              </a:rPr>
              <a:t>Ma giocare a calcio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3909060"/>
            <a:ext cx="804672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1" sz="3400">
                <a:solidFill>
                  <a:srgbClr val="F3EDE1"/>
                </a:solidFill>
                <a:latin typeface="Georgia"/>
              </a:rPr>
              <a:t>in modo semplice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4834890"/>
            <a:ext cx="804672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1" sz="3400">
                <a:solidFill>
                  <a:srgbClr val="B8523A"/>
                </a:solidFill>
                <a:latin typeface="Georgia"/>
              </a:rPr>
              <a:t>e la cosa piu difficile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5863589"/>
            <a:ext cx="804672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1" sz="3400">
                <a:solidFill>
                  <a:srgbClr val="B8523A"/>
                </a:solidFill>
                <a:latin typeface="Georgia"/>
              </a:rPr>
              <a:t>che esista.”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7406640"/>
            <a:ext cx="8046720" cy="720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600">
                <a:solidFill>
                  <a:srgbClr val="8A8175"/>
                </a:solidFill>
                <a:latin typeface="Courier New"/>
              </a:rPr>
              <a:t>— Johan Cruyff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144000" y="8435340"/>
            <a:ext cx="7863840" cy="0"/>
          </a:xfrm>
          <a:prstGeom prst="line">
            <a:avLst/>
          </a:prstGeom>
          <a:ln w="25400">
            <a:solidFill>
              <a:srgbClr val="B852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9144000" y="8846820"/>
            <a:ext cx="8046720" cy="720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600">
                <a:solidFill>
                  <a:srgbClr val="8A8175"/>
                </a:solidFill>
                <a:latin typeface="Arial"/>
              </a:rPr>
              <a:t>Il nostro mestiere. L'AI non lo cambia — lo amplifica.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7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5270480" y="226314"/>
            <a:ext cx="2560320" cy="720090"/>
          </a:xfrm>
          <a:prstGeom prst="rect">
            <a:avLst/>
          </a:prstGeom>
          <a:solidFill>
            <a:srgbClr val="241F1B"/>
          </a:solidFill>
          <a:ln w="19050">
            <a:solidFill>
              <a:srgbClr val="B85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5270480" y="226314"/>
            <a:ext cx="2560320" cy="720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200">
                <a:solidFill>
                  <a:srgbClr val="8A8175"/>
                </a:solidFill>
                <a:latin typeface="Courier New"/>
              </a:rPr>
              <a:t>CAP 7 — AI &amp; ANALISTA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14350"/>
            <a:ext cx="164592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5000">
                <a:solidFill>
                  <a:srgbClr val="F3EDE1"/>
                </a:solidFill>
                <a:latin typeface="Georgia"/>
              </a:rPr>
              <a:t>L'AI non fa il tuo lavoro.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48790"/>
            <a:ext cx="164592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5000">
                <a:solidFill>
                  <a:srgbClr val="B8523A"/>
                </a:solidFill>
                <a:latin typeface="Georgia"/>
              </a:rPr>
              <a:t>Fa il lavoro che ti impediva di farlo.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86100"/>
            <a:ext cx="16459200" cy="720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2000">
                <a:solidFill>
                  <a:srgbClr val="F3EDE1"/>
                </a:solidFill>
                <a:latin typeface="Arial"/>
              </a:rPr>
              <a:t>Domanda sbagliata: “L'AI mi sostituira?”   —   Domanda giusta: “Cosa posso fare adesso che prima non potevo?”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3703320"/>
            <a:ext cx="16459200" cy="0"/>
          </a:xfrm>
          <a:prstGeom prst="line">
            <a:avLst/>
          </a:prstGeom>
          <a:ln w="12700">
            <a:solidFill>
              <a:srgbClr val="8A81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14400" y="3795903"/>
            <a:ext cx="16459200" cy="0"/>
          </a:xfrm>
          <a:prstGeom prst="line">
            <a:avLst/>
          </a:prstGeom>
          <a:ln w="12700">
            <a:solidFill>
              <a:srgbClr val="8A81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3857625"/>
            <a:ext cx="16459200" cy="3909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200">
                <a:solidFill>
                  <a:srgbClr val="8A8175"/>
                </a:solidFill>
                <a:latin typeface="Courier New"/>
              </a:rPr>
              <a:t>   TASK LAYER vs JUDGEMENT LAYER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4114800"/>
            <a:ext cx="8046720" cy="4937760"/>
          </a:xfrm>
          <a:prstGeom prst="rect">
            <a:avLst/>
          </a:prstGeom>
          <a:solidFill>
            <a:srgbClr val="241F1B"/>
          </a:solidFill>
          <a:ln w="19050">
            <a:solidFill>
              <a:srgbClr val="B85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114800"/>
            <a:ext cx="804672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200">
                <a:solidFill>
                  <a:srgbClr val="F3EDE1"/>
                </a:solidFill>
                <a:latin typeface="Courier New"/>
              </a:rPr>
              <a:t>  TASK LAYER — COSA ACCELERA L'AI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4114800"/>
            <a:ext cx="8046720" cy="72009"/>
          </a:xfrm>
          <a:prstGeom prst="rect">
            <a:avLst/>
          </a:prstGeom>
          <a:solidFill>
            <a:srgbClr val="B85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33272" y="4680585"/>
            <a:ext cx="7818120" cy="4320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800">
                <a:solidFill>
                  <a:srgbClr val="F3EDE1"/>
                </a:solidFill>
                <a:latin typeface="Arial"/>
              </a:rPr>
              <a:t>Un collaboratore che non dorme. Legge un milione di conversazioni in un'ora.</a:t>
            </a:r>
          </a:p>
          <a:p>
            <a:pPr algn="l"/>
            <a:r>
              <a:t/>
            </a:r>
          </a:p>
          <a:p>
            <a:pPr algn="l"/>
            <a:r>
              <a:rPr b="0" i="0" sz="1700">
                <a:solidFill>
                  <a:srgbClr val="F3EDE1"/>
                </a:solidFill>
                <a:latin typeface="Arial"/>
              </a:rPr>
              <a:t>+  Sintesi di volumi enormi</a:t>
            </a:r>
          </a:p>
          <a:p>
            <a:pPr algn="l"/>
            <a:r>
              <a:rPr b="0" i="0" sz="1700">
                <a:solidFill>
                  <a:srgbClr val="F3EDE1"/>
                </a:solidFill>
                <a:latin typeface="Arial"/>
              </a:rPr>
              <a:t>+  Clustering, tagging, classificazione a scala</a:t>
            </a:r>
          </a:p>
          <a:p>
            <a:pPr algn="l"/>
            <a:r>
              <a:rPr b="0" i="0" sz="1700">
                <a:solidFill>
                  <a:srgbClr val="F3EDE1"/>
                </a:solidFill>
                <a:latin typeface="Arial"/>
              </a:rPr>
              <a:t>+  Riconoscimento pattern e correlazioni</a:t>
            </a:r>
          </a:p>
          <a:p>
            <a:pPr algn="l"/>
            <a:r>
              <a:rPr b="0" i="0" sz="1700">
                <a:solidFill>
                  <a:srgbClr val="F3EDE1"/>
                </a:solidFill>
                <a:latin typeface="Arial"/>
              </a:rPr>
              <a:t>+  Generazione bozze, esplorazione ipotesi rapida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509760" y="4114800"/>
            <a:ext cx="8046720" cy="4937760"/>
          </a:xfrm>
          <a:prstGeom prst="rect">
            <a:avLst/>
          </a:prstGeom>
          <a:solidFill>
            <a:srgbClr val="3D3833"/>
          </a:solidFill>
          <a:ln w="19050">
            <a:solidFill>
              <a:srgbClr val="B85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09760" y="4114800"/>
            <a:ext cx="804672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200">
                <a:solidFill>
                  <a:srgbClr val="F3EDE1"/>
                </a:solidFill>
                <a:latin typeface="Courier New"/>
              </a:rPr>
              <a:t>  JUDGEMENT LAYER — COSA RESTA UMANO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509760" y="4114800"/>
            <a:ext cx="8046720" cy="72009"/>
          </a:xfrm>
          <a:prstGeom prst="rect">
            <a:avLst/>
          </a:prstGeom>
          <a:solidFill>
            <a:srgbClr val="B85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28632" y="4680585"/>
            <a:ext cx="7818120" cy="4320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800">
                <a:solidFill>
                  <a:srgbClr val="F3EDE1"/>
                </a:solidFill>
                <a:latin typeface="Arial"/>
              </a:rPr>
              <a:t>Queste non sono attivita di contorno. Sono il mestiere.</a:t>
            </a:r>
          </a:p>
          <a:p>
            <a:pPr algn="l"/>
            <a:r>
              <a:t/>
            </a:r>
          </a:p>
          <a:p>
            <a:pPr algn="l"/>
            <a:r>
              <a:rPr b="0" i="0" sz="1700">
                <a:solidFill>
                  <a:srgbClr val="F3EDE1"/>
                </a:solidFill>
                <a:latin typeface="Arial"/>
              </a:rPr>
              <a:t>+  Formulare la domanda di business giusta</a:t>
            </a:r>
          </a:p>
          <a:p>
            <a:pPr algn="l"/>
            <a:r>
              <a:rPr b="0" i="0" sz="1700">
                <a:solidFill>
                  <a:srgbClr val="F3EDE1"/>
                </a:solidFill>
                <a:latin typeface="Arial"/>
              </a:rPr>
              <a:t>+  Validare l'affidabilita del dato</a:t>
            </a:r>
          </a:p>
          <a:p>
            <a:pPr algn="l"/>
            <a:r>
              <a:rPr b="0" i="0" sz="1700">
                <a:solidFill>
                  <a:srgbClr val="F3EDE1"/>
                </a:solidFill>
                <a:latin typeface="Arial"/>
              </a:rPr>
              <a:t>+  Riconoscere bias e contesto culturale</a:t>
            </a:r>
          </a:p>
          <a:p>
            <a:pPr algn="l"/>
            <a:r>
              <a:rPr b="0" i="0" sz="1700">
                <a:solidFill>
                  <a:srgbClr val="F3EDE1"/>
                </a:solidFill>
                <a:latin typeface="Arial"/>
              </a:rPr>
              <a:t>+  Portare una verita scomoda nella stanza giusta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D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5270480" y="226314"/>
            <a:ext cx="2560320" cy="720090"/>
          </a:xfrm>
          <a:prstGeom prst="rect">
            <a:avLst/>
          </a:prstGeom>
          <a:solidFill>
            <a:srgbClr val="EBE4D3"/>
          </a:solidFill>
          <a:ln w="19050">
            <a:solidFill>
              <a:srgbClr val="B85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5270480" y="226314"/>
            <a:ext cx="2560320" cy="720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200">
                <a:solidFill>
                  <a:srgbClr val="3D3833"/>
                </a:solidFill>
                <a:latin typeface="Courier New"/>
              </a:rPr>
              <a:t>IL NUOVO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14350"/>
            <a:ext cx="164592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5200">
                <a:solidFill>
                  <a:srgbClr val="3D3833"/>
                </a:solidFill>
                <a:latin typeface="Georgia"/>
              </a:rPr>
              <a:t>Ecco come cambia il metodo.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51660"/>
            <a:ext cx="16459200" cy="720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2000">
                <a:solidFill>
                  <a:srgbClr val="8A8175"/>
                </a:solidFill>
                <a:latin typeface="Arial"/>
              </a:rPr>
              <a:t>Dal 'apri il tool, digita il brand' al 'parti dalla decisione che devi supportare'.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14400" y="2777490"/>
            <a:ext cx="16459200" cy="0"/>
          </a:xfrm>
          <a:prstGeom prst="line">
            <a:avLst/>
          </a:prstGeom>
          <a:ln w="12700">
            <a:solidFill>
              <a:srgbClr val="E0D8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914400" y="2870073"/>
            <a:ext cx="16459200" cy="0"/>
          </a:xfrm>
          <a:prstGeom prst="line">
            <a:avLst/>
          </a:prstGeom>
          <a:ln w="12700">
            <a:solidFill>
              <a:srgbClr val="E0D8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914400" y="2931795"/>
            <a:ext cx="16459200" cy="3909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200">
                <a:solidFill>
                  <a:srgbClr val="E0D8C4"/>
                </a:solidFill>
                <a:latin typeface="Courier New"/>
              </a:rPr>
              <a:t>   5 PASSI DEL NUOVO WORKFLOW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3188970"/>
            <a:ext cx="3072384" cy="6377940"/>
          </a:xfrm>
          <a:prstGeom prst="rect">
            <a:avLst/>
          </a:prstGeom>
          <a:solidFill>
            <a:srgbClr val="EBE4D3"/>
          </a:solidFill>
          <a:ln w="19050">
            <a:solidFill>
              <a:srgbClr val="B85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250692"/>
            <a:ext cx="3072384" cy="11830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7200">
                <a:solidFill>
                  <a:srgbClr val="E0D8C4"/>
                </a:solidFill>
                <a:latin typeface="Georgia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454271"/>
            <a:ext cx="2935224" cy="9772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600">
                <a:solidFill>
                  <a:srgbClr val="3D3833"/>
                </a:solidFill>
                <a:latin typeface="Arial"/>
              </a:rPr>
              <a:t>DOMANDA
DI BUSINESS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5472684"/>
            <a:ext cx="2935224" cy="3137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8A8175"/>
                </a:solidFill>
                <a:latin typeface="Arial"/>
              </a:rPr>
              <a:t>Non 'cosa succede sul brand?' ma 'perche i nuovi clienti non convertono?'. La domanda precede tutto.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8795385"/>
            <a:ext cx="2935224" cy="668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00">
                <a:solidFill>
                  <a:srgbClr val="B8523A"/>
                </a:solidFill>
                <a:latin typeface="Courier New"/>
              </a:rPr>
              <a:t>[Brief]  [Board]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59936" y="3188970"/>
            <a:ext cx="3072384" cy="6377940"/>
          </a:xfrm>
          <a:prstGeom prst="rect">
            <a:avLst/>
          </a:prstGeom>
          <a:solidFill>
            <a:srgbClr val="EBE4D3"/>
          </a:solidFill>
          <a:ln w="19050">
            <a:solidFill>
              <a:srgbClr val="B85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51376" y="3250692"/>
            <a:ext cx="3072384" cy="11830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7200">
                <a:solidFill>
                  <a:srgbClr val="E0D8C4"/>
                </a:solidFill>
                <a:latin typeface="Georgia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1376" y="4454271"/>
            <a:ext cx="2935224" cy="9772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600">
                <a:solidFill>
                  <a:srgbClr val="3D3833"/>
                </a:solidFill>
                <a:latin typeface="Arial"/>
              </a:rPr>
              <a:t>FONTI
GIUSTE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5472684"/>
            <a:ext cx="2935224" cy="3137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8A8175"/>
                </a:solidFill>
                <a:latin typeface="Arial"/>
              </a:rPr>
              <a:t>Non una fonte — le fonti giuste per quella domanda. Ogni fonte vede una parte diversa del mercato.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51376" y="8795385"/>
            <a:ext cx="2935224" cy="668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00">
                <a:solidFill>
                  <a:srgbClr val="B8523A"/>
                </a:solidFill>
                <a:latin typeface="Courier New"/>
              </a:rPr>
              <a:t>[SL]  [CRM]  [Search]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05472" y="3188970"/>
            <a:ext cx="3072384" cy="6377940"/>
          </a:xfrm>
          <a:prstGeom prst="rect">
            <a:avLst/>
          </a:prstGeom>
          <a:solidFill>
            <a:srgbClr val="EBE4D3"/>
          </a:solidFill>
          <a:ln w="19050">
            <a:solidFill>
              <a:srgbClr val="B85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96912" y="3250692"/>
            <a:ext cx="3072384" cy="11830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7200">
                <a:solidFill>
                  <a:srgbClr val="E0D8C4"/>
                </a:solidFill>
                <a:latin typeface="Georgia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96912" y="4454271"/>
            <a:ext cx="2935224" cy="9772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600">
                <a:solidFill>
                  <a:srgbClr val="3D3833"/>
                </a:solidFill>
                <a:latin typeface="Arial"/>
              </a:rPr>
              <a:t>SINTESI
AI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96912" y="5472684"/>
            <a:ext cx="2935224" cy="3137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8A8175"/>
                </a:solidFill>
                <a:latin typeface="Arial"/>
              </a:rPr>
              <a:t>L'AI sintetizza, raggruppa, identifica pattern a scala. Task Layer in azione — veloce, instancabile.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96912" y="8795385"/>
            <a:ext cx="2935224" cy="668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00">
                <a:solidFill>
                  <a:srgbClr val="B8523A"/>
                </a:solidFill>
                <a:latin typeface="Courier New"/>
              </a:rPr>
              <a:t>[Claude]  [GPT]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351008" y="3188970"/>
            <a:ext cx="3072384" cy="6377940"/>
          </a:xfrm>
          <a:prstGeom prst="rect">
            <a:avLst/>
          </a:prstGeom>
          <a:solidFill>
            <a:srgbClr val="EBE4D3"/>
          </a:solidFill>
          <a:ln w="19050">
            <a:solidFill>
              <a:srgbClr val="B85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442448" y="3250692"/>
            <a:ext cx="3072384" cy="11830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7200">
                <a:solidFill>
                  <a:srgbClr val="E0D8C4"/>
                </a:solidFill>
                <a:latin typeface="Georgia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42448" y="4454271"/>
            <a:ext cx="2935224" cy="9772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600">
                <a:solidFill>
                  <a:srgbClr val="3D3833"/>
                </a:solidFill>
                <a:latin typeface="Arial"/>
              </a:rPr>
              <a:t>VALIDAZIONE
UMANA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42448" y="5472684"/>
            <a:ext cx="2935224" cy="3137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8A8175"/>
                </a:solidFill>
                <a:latin typeface="Arial"/>
              </a:rPr>
              <a:t>L'analista valida, contestualizza, riconosce bias e codice culturale. Judgement Layer.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42448" y="8795385"/>
            <a:ext cx="2935224" cy="668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00">
                <a:solidFill>
                  <a:srgbClr val="B8523A"/>
                </a:solidFill>
                <a:latin typeface="Courier New"/>
              </a:rPr>
              <a:t>[Context]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3496544" y="3188970"/>
            <a:ext cx="3072384" cy="6377940"/>
          </a:xfrm>
          <a:prstGeom prst="rect">
            <a:avLst/>
          </a:prstGeom>
          <a:solidFill>
            <a:srgbClr val="EBE4D3"/>
          </a:solidFill>
          <a:ln w="19050">
            <a:solidFill>
              <a:srgbClr val="B85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3587984" y="3250692"/>
            <a:ext cx="3072384" cy="11830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7200">
                <a:solidFill>
                  <a:srgbClr val="E0D8C4"/>
                </a:solidFill>
                <a:latin typeface="Georgia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587984" y="4454271"/>
            <a:ext cx="2935224" cy="9772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600">
                <a:solidFill>
                  <a:srgbClr val="3D3833"/>
                </a:solidFill>
                <a:latin typeface="Arial"/>
              </a:rPr>
              <a:t>INSIGHT
E AZIONE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587984" y="5472684"/>
            <a:ext cx="2935224" cy="3137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8A8175"/>
                </a:solidFill>
                <a:latin typeface="Arial"/>
              </a:rPr>
              <a:t>Portato alla persona giusta, nel momento giusto, nel linguaggio giusto.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587984" y="8795385"/>
            <a:ext cx="2935224" cy="668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00">
                <a:solidFill>
                  <a:srgbClr val="B8523A"/>
                </a:solidFill>
                <a:latin typeface="Courier New"/>
              </a:rPr>
              <a:t>[Decision]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D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5270480" y="226314"/>
            <a:ext cx="2560320" cy="720090"/>
          </a:xfrm>
          <a:prstGeom prst="rect">
            <a:avLst/>
          </a:prstGeom>
          <a:solidFill>
            <a:srgbClr val="EBE4D3"/>
          </a:solidFill>
          <a:ln w="19050">
            <a:solidFill>
              <a:srgbClr val="B85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5270480" y="226314"/>
            <a:ext cx="2560320" cy="720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200">
                <a:solidFill>
                  <a:srgbClr val="3D3833"/>
                </a:solidFill>
                <a:latin typeface="Courier New"/>
              </a:rPr>
              <a:t>L'ECOSISTEMA FONTI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14350"/>
            <a:ext cx="164592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4400">
                <a:solidFill>
                  <a:srgbClr val="3D3833"/>
                </a:solidFill>
                <a:latin typeface="Georgia"/>
              </a:rPr>
              <a:t>L'orchestratore conosce tutte le finestre.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800225"/>
            <a:ext cx="16459200" cy="1028700"/>
          </a:xfrm>
          <a:prstGeom prst="rect">
            <a:avLst/>
          </a:prstGeom>
          <a:solidFill>
            <a:srgbClr val="EBE4D3"/>
          </a:solidFill>
          <a:ln w="12700">
            <a:solidFill>
              <a:srgbClr val="B85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872234"/>
            <a:ext cx="16184880" cy="462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1700">
                <a:solidFill>
                  <a:srgbClr val="3D3833"/>
                </a:solidFill>
                <a:latin typeface="Arial"/>
              </a:rPr>
              <a:t>Dialogare con tutte le fonti non e una novita — e quello che avremmo sempre dovuto fare.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283714"/>
            <a:ext cx="16184880" cy="462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700">
                <a:solidFill>
                  <a:srgbClr val="B8523A"/>
                </a:solidFill>
                <a:latin typeface="Arial"/>
              </a:rPr>
              <a:t>L'AI adesso lo rende possibile a una scala, velocita e profondita prima irraggiungibili.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931794"/>
            <a:ext cx="3931920" cy="1110996"/>
          </a:xfrm>
          <a:prstGeom prst="rect">
            <a:avLst/>
          </a:prstGeom>
          <a:solidFill>
            <a:srgbClr val="EBE4D3"/>
          </a:solidFill>
          <a:ln w="12700">
            <a:solidFill>
              <a:srgbClr val="B85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024377"/>
            <a:ext cx="3794760" cy="308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300">
                <a:solidFill>
                  <a:srgbClr val="3D3833"/>
                </a:solidFill>
                <a:latin typeface="Arial"/>
              </a:rPr>
              <a:t>Social Listening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343274"/>
            <a:ext cx="3794760" cy="432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8A8175"/>
                </a:solidFill>
                <a:latin typeface="Arial"/>
              </a:rPr>
              <a:t>Voce spontanea — cosa dicono senza sapere di essere osservati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785615"/>
            <a:ext cx="379476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B8523A"/>
                </a:solidFill>
                <a:latin typeface="Courier New"/>
              </a:rPr>
              <a:t>[AI: sintesi real-time]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74336" y="2931794"/>
            <a:ext cx="3931920" cy="1110996"/>
          </a:xfrm>
          <a:prstGeom prst="rect">
            <a:avLst/>
          </a:prstGeom>
          <a:solidFill>
            <a:srgbClr val="EBE4D3"/>
          </a:solidFill>
          <a:ln w="12700">
            <a:solidFill>
              <a:srgbClr val="B85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65776" y="3024377"/>
            <a:ext cx="3794760" cy="308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300">
                <a:solidFill>
                  <a:srgbClr val="3D3833"/>
                </a:solidFill>
                <a:latin typeface="Arial"/>
              </a:rPr>
              <a:t>Search Intent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65776" y="3343274"/>
            <a:ext cx="3794760" cy="432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8A8175"/>
                </a:solidFill>
                <a:latin typeface="Arial"/>
              </a:rPr>
              <a:t>Intenzione pre-decisione — il bisogno non ancora dichiarato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65776" y="3785615"/>
            <a:ext cx="379476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B8523A"/>
                </a:solidFill>
                <a:latin typeface="Courier New"/>
              </a:rPr>
              <a:t>[AI: clustering intent]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34272" y="2931794"/>
            <a:ext cx="3931920" cy="1110996"/>
          </a:xfrm>
          <a:prstGeom prst="rect">
            <a:avLst/>
          </a:prstGeom>
          <a:solidFill>
            <a:srgbClr val="EBE4D3"/>
          </a:solidFill>
          <a:ln w="12700">
            <a:solidFill>
              <a:srgbClr val="B85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25712" y="3024377"/>
            <a:ext cx="3794760" cy="308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300">
                <a:solidFill>
                  <a:srgbClr val="3D3833"/>
                </a:solidFill>
                <a:latin typeface="Arial"/>
              </a:rPr>
              <a:t>Survey CAWI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25712" y="3343274"/>
            <a:ext cx="3794760" cy="432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8A8175"/>
                </a:solidFill>
                <a:latin typeface="Arial"/>
              </a:rPr>
              <a:t>Voce sollecitata — strutturata, quantificabile, filtrata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25712" y="3785615"/>
            <a:ext cx="379476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B8523A"/>
                </a:solidFill>
                <a:latin typeface="Courier New"/>
              </a:rPr>
              <a:t>[AI: analisi testuale]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094208" y="2931794"/>
            <a:ext cx="3931920" cy="1110996"/>
          </a:xfrm>
          <a:prstGeom prst="rect">
            <a:avLst/>
          </a:prstGeom>
          <a:solidFill>
            <a:srgbClr val="EBE4D3"/>
          </a:solidFill>
          <a:ln w="12700">
            <a:solidFill>
              <a:srgbClr val="B85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185648" y="3024377"/>
            <a:ext cx="3794760" cy="308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300">
                <a:solidFill>
                  <a:srgbClr val="3D3833"/>
                </a:solidFill>
                <a:latin typeface="Arial"/>
              </a:rPr>
              <a:t>CRM &amp; First-party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185648" y="3343274"/>
            <a:ext cx="3794760" cy="432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8A8175"/>
                </a:solidFill>
                <a:latin typeface="Arial"/>
              </a:rPr>
              <a:t>Customer base reale — comportamenti verificati, non percepiti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185648" y="3785615"/>
            <a:ext cx="379476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B8523A"/>
                </a:solidFill>
                <a:latin typeface="Courier New"/>
              </a:rPr>
              <a:t>[AI: pattern predittivi]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" y="4114799"/>
            <a:ext cx="3931920" cy="1110996"/>
          </a:xfrm>
          <a:prstGeom prst="rect">
            <a:avLst/>
          </a:prstGeom>
          <a:solidFill>
            <a:srgbClr val="EBE4D3"/>
          </a:solidFill>
          <a:ln w="12700">
            <a:solidFill>
              <a:srgbClr val="B85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4207382"/>
            <a:ext cx="3794760" cy="308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300">
                <a:solidFill>
                  <a:srgbClr val="3D3833"/>
                </a:solidFill>
                <a:latin typeface="Arial"/>
              </a:rPr>
              <a:t>Review &amp; Rating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4526279"/>
            <a:ext cx="3794760" cy="432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8A8175"/>
                </a:solidFill>
                <a:latin typeface="Arial"/>
              </a:rPr>
              <a:t>Esperienza vissuta post-acquisto — frustrazione e delizia reali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4968620"/>
            <a:ext cx="379476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B8523A"/>
                </a:solidFill>
                <a:latin typeface="Courier New"/>
              </a:rPr>
              <a:t>[AI: sentiment granulare]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974336" y="4114799"/>
            <a:ext cx="3931920" cy="1110996"/>
          </a:xfrm>
          <a:prstGeom prst="rect">
            <a:avLst/>
          </a:prstGeom>
          <a:solidFill>
            <a:srgbClr val="EBE4D3"/>
          </a:solidFill>
          <a:ln w="12700">
            <a:solidFill>
              <a:srgbClr val="B85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65776" y="4207382"/>
            <a:ext cx="3794760" cy="308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300">
                <a:solidFill>
                  <a:srgbClr val="3D3833"/>
                </a:solidFill>
                <a:latin typeface="Arial"/>
              </a:rPr>
              <a:t>Forum &amp; Community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65776" y="4526279"/>
            <a:ext cx="3794760" cy="432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8A8175"/>
                </a:solidFill>
                <a:latin typeface="Arial"/>
              </a:rPr>
              <a:t>Codice di nicchia — conversazioni non filtrate di community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65776" y="4968620"/>
            <a:ext cx="379476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B8523A"/>
                </a:solidFill>
                <a:latin typeface="Courier New"/>
              </a:rPr>
              <a:t>[AI: pattern di nicchia]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034272" y="4114799"/>
            <a:ext cx="3931920" cy="1110996"/>
          </a:xfrm>
          <a:prstGeom prst="rect">
            <a:avLst/>
          </a:prstGeom>
          <a:solidFill>
            <a:srgbClr val="EBE4D3"/>
          </a:solidFill>
          <a:ln w="12700">
            <a:solidFill>
              <a:srgbClr val="B85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25712" y="4207382"/>
            <a:ext cx="3794760" cy="308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300">
                <a:solidFill>
                  <a:srgbClr val="3D3833"/>
                </a:solidFill>
                <a:latin typeface="Arial"/>
              </a:rPr>
              <a:t>News &amp; Media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25712" y="4526279"/>
            <a:ext cx="3794760" cy="432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8A8175"/>
                </a:solidFill>
                <a:latin typeface="Arial"/>
              </a:rPr>
              <a:t>Narrativa pubblica e agenda setting — frame esterno al brand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25712" y="4968620"/>
            <a:ext cx="379476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B8523A"/>
                </a:solidFill>
                <a:latin typeface="Courier New"/>
              </a:rPr>
              <a:t>[AI: agenda tracking]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094208" y="4114799"/>
            <a:ext cx="3931920" cy="1110996"/>
          </a:xfrm>
          <a:prstGeom prst="rect">
            <a:avLst/>
          </a:prstGeom>
          <a:solidFill>
            <a:srgbClr val="EBE4D3"/>
          </a:solidFill>
          <a:ln w="12700">
            <a:solidFill>
              <a:srgbClr val="B85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3185648" y="4207382"/>
            <a:ext cx="3794760" cy="308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300">
                <a:solidFill>
                  <a:srgbClr val="3D3833"/>
                </a:solidFill>
                <a:latin typeface="Arial"/>
              </a:rPr>
              <a:t>Trend &amp; Culture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185648" y="4526279"/>
            <a:ext cx="3794760" cy="432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8A8175"/>
                </a:solidFill>
                <a:latin typeface="Arial"/>
              </a:rPr>
              <a:t>Segnali pre-mainstream — dove il mercato sta andando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185648" y="4968620"/>
            <a:ext cx="379476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B8523A"/>
                </a:solidFill>
                <a:latin typeface="Courier New"/>
              </a:rPr>
              <a:t>[AI: segnali deboli]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" y="5297804"/>
            <a:ext cx="3931920" cy="1110996"/>
          </a:xfrm>
          <a:prstGeom prst="rect">
            <a:avLst/>
          </a:prstGeom>
          <a:solidFill>
            <a:srgbClr val="EBE4D3"/>
          </a:solidFill>
          <a:ln w="12700">
            <a:solidFill>
              <a:srgbClr val="B85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5840" y="5390387"/>
            <a:ext cx="3794760" cy="308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300">
                <a:solidFill>
                  <a:srgbClr val="3D3833"/>
                </a:solidFill>
                <a:latin typeface="Arial"/>
              </a:rPr>
              <a:t>Influencer &amp; Creator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5840" y="5709284"/>
            <a:ext cx="3794760" cy="432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8A8175"/>
                </a:solidFill>
                <a:latin typeface="Arial"/>
              </a:rPr>
              <a:t>Amplificatori culturali — bridge tra brand e audience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5840" y="6151625"/>
            <a:ext cx="379476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B8523A"/>
                </a:solidFill>
                <a:latin typeface="Courier New"/>
              </a:rPr>
              <a:t>[AI: reach e tono]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974336" y="5297804"/>
            <a:ext cx="3931920" cy="1110996"/>
          </a:xfrm>
          <a:prstGeom prst="rect">
            <a:avLst/>
          </a:prstGeom>
          <a:solidFill>
            <a:srgbClr val="EBE4D3"/>
          </a:solidFill>
          <a:ln w="12700">
            <a:solidFill>
              <a:srgbClr val="B85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65776" y="5390387"/>
            <a:ext cx="3794760" cy="308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300">
                <a:solidFill>
                  <a:srgbClr val="3D3833"/>
                </a:solidFill>
                <a:latin typeface="Arial"/>
              </a:rPr>
              <a:t>Competitor Intel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65776" y="5709284"/>
            <a:ext cx="3794760" cy="432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8A8175"/>
                </a:solidFill>
                <a:latin typeface="Arial"/>
              </a:rPr>
              <a:t>Gap di posizionamento — il mercato in prospettiva comparata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65776" y="6151625"/>
            <a:ext cx="379476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B8523A"/>
                </a:solidFill>
                <a:latin typeface="Courier New"/>
              </a:rPr>
              <a:t>[AI: gap mapping]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034272" y="5297804"/>
            <a:ext cx="3931920" cy="1110996"/>
          </a:xfrm>
          <a:prstGeom prst="rect">
            <a:avLst/>
          </a:prstGeom>
          <a:solidFill>
            <a:srgbClr val="EBE4D3"/>
          </a:solidFill>
          <a:ln w="12700">
            <a:solidFill>
              <a:srgbClr val="B85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125712" y="5390387"/>
            <a:ext cx="3794760" cy="308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300">
                <a:solidFill>
                  <a:srgbClr val="3D3833"/>
                </a:solidFill>
                <a:latin typeface="Arial"/>
              </a:rPr>
              <a:t>CX &amp; Support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25712" y="5709284"/>
            <a:ext cx="3794760" cy="432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8A8175"/>
                </a:solidFill>
                <a:latin typeface="Arial"/>
              </a:rPr>
              <a:t>Frizione nel journey — Intention-Interface Gap in prima persona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25712" y="6151625"/>
            <a:ext cx="379476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B8523A"/>
                </a:solidFill>
                <a:latin typeface="Courier New"/>
              </a:rPr>
              <a:t>[AI: friction detection]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3094208" y="5297804"/>
            <a:ext cx="3931920" cy="1110996"/>
          </a:xfrm>
          <a:prstGeom prst="rect">
            <a:avLst/>
          </a:prstGeom>
          <a:solidFill>
            <a:srgbClr val="EBE4D3"/>
          </a:solidFill>
          <a:ln w="12700">
            <a:solidFill>
              <a:srgbClr val="B85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3185648" y="5390387"/>
            <a:ext cx="3794760" cy="308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300">
                <a:solidFill>
                  <a:srgbClr val="3D3833"/>
                </a:solidFill>
                <a:latin typeface="Arial"/>
              </a:rPr>
              <a:t>Patent &amp; R&amp;D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3185648" y="5709284"/>
            <a:ext cx="3794760" cy="432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8A8175"/>
                </a:solidFill>
                <a:latin typeface="Arial"/>
              </a:rPr>
              <a:t>Innovazione in preparazione — il futuro che si annuncia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3185648" y="6151625"/>
            <a:ext cx="379476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B8523A"/>
                </a:solidFill>
                <a:latin typeface="Courier New"/>
              </a:rPr>
              <a:t>[AI: innovation signals]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14400" y="6480809"/>
            <a:ext cx="3931920" cy="1110996"/>
          </a:xfrm>
          <a:prstGeom prst="rect">
            <a:avLst/>
          </a:prstGeom>
          <a:solidFill>
            <a:srgbClr val="EBE4D3"/>
          </a:solidFill>
          <a:ln w="12700">
            <a:solidFill>
              <a:srgbClr val="B85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05840" y="6573392"/>
            <a:ext cx="3794760" cy="308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300">
                <a:solidFill>
                  <a:srgbClr val="3D3833"/>
                </a:solidFill>
                <a:latin typeface="Arial"/>
              </a:rPr>
              <a:t>Retail &amp; Sales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05840" y="6892289"/>
            <a:ext cx="3794760" cy="432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8A8175"/>
                </a:solidFill>
                <a:latin typeface="Arial"/>
              </a:rPr>
              <a:t>Gap dichiarato/reale — comportamento d'acquisto effettivo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05840" y="7334630"/>
            <a:ext cx="379476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B8523A"/>
                </a:solidFill>
                <a:latin typeface="Courier New"/>
              </a:rPr>
              <a:t>[AI: behavioral gap]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974336" y="6480809"/>
            <a:ext cx="3931920" cy="1110996"/>
          </a:xfrm>
          <a:prstGeom prst="rect">
            <a:avLst/>
          </a:prstGeom>
          <a:solidFill>
            <a:srgbClr val="EBE4D3"/>
          </a:solidFill>
          <a:ln w="12700">
            <a:solidFill>
              <a:srgbClr val="B85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065776" y="6573392"/>
            <a:ext cx="3794760" cy="308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300">
                <a:solidFill>
                  <a:srgbClr val="3D3833"/>
                </a:solidFill>
                <a:latin typeface="Arial"/>
              </a:rPr>
              <a:t>Earned Media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065776" y="6892289"/>
            <a:ext cx="3794760" cy="432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8A8175"/>
                </a:solidFill>
                <a:latin typeface="Arial"/>
              </a:rPr>
              <a:t>Reputazione editoriale — menzioni in contesto giornalistico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065776" y="7334630"/>
            <a:ext cx="379476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B8523A"/>
                </a:solidFill>
                <a:latin typeface="Courier New"/>
              </a:rPr>
              <a:t>[AI: reputaz. contestuale]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034272" y="6480809"/>
            <a:ext cx="3931920" cy="1110996"/>
          </a:xfrm>
          <a:prstGeom prst="rect">
            <a:avLst/>
          </a:prstGeom>
          <a:solidFill>
            <a:srgbClr val="EBE4D3"/>
          </a:solidFill>
          <a:ln w="12700">
            <a:solidFill>
              <a:srgbClr val="B85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125712" y="6573392"/>
            <a:ext cx="3794760" cy="308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300">
                <a:solidFill>
                  <a:srgbClr val="3D3833"/>
                </a:solidFill>
                <a:latin typeface="Arial"/>
              </a:rPr>
              <a:t>Dark Social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125712" y="6892289"/>
            <a:ext cx="3794760" cy="432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8A8175"/>
                </a:solidFill>
                <a:latin typeface="Arial"/>
              </a:rPr>
              <a:t>Conversazione invisibile — messaggistica privata, gruppi chiusi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125712" y="7334630"/>
            <a:ext cx="379476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B8523A"/>
                </a:solidFill>
                <a:latin typeface="Courier New"/>
              </a:rPr>
              <a:t>[AI: pattern inferiti]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3094208" y="6480809"/>
            <a:ext cx="3931920" cy="1110996"/>
          </a:xfrm>
          <a:prstGeom prst="rect">
            <a:avLst/>
          </a:prstGeom>
          <a:solidFill>
            <a:srgbClr val="EBE4D3"/>
          </a:solidFill>
          <a:ln w="12700">
            <a:solidFill>
              <a:srgbClr val="B85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3185648" y="6573392"/>
            <a:ext cx="3794760" cy="308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300">
                <a:solidFill>
                  <a:srgbClr val="3D3833"/>
                </a:solidFill>
                <a:latin typeface="Arial"/>
              </a:rPr>
              <a:t>Geo &amp; Location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3185648" y="6892289"/>
            <a:ext cx="3794760" cy="432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8A8175"/>
                </a:solidFill>
                <a:latin typeface="Arial"/>
              </a:rPr>
              <a:t>Movimenti reali, cluster geografici, presenza fisica vs digitale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3185648" y="7334630"/>
            <a:ext cx="379476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B8523A"/>
                </a:solidFill>
                <a:latin typeface="Courier New"/>
              </a:rPr>
              <a:t>[AI: geo-clustering]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14400" y="9073134"/>
            <a:ext cx="16459200" cy="9772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1" sz="1800">
                <a:solidFill>
                  <a:srgbClr val="3D3833"/>
                </a:solidFill>
                <a:latin typeface="Georgia"/>
              </a:rPr>
              <a:t>“Il professionista maturo non difende la sua fonte. Sa quale aprire per la domanda giusta.”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D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5270480" y="226314"/>
            <a:ext cx="2560320" cy="720090"/>
          </a:xfrm>
          <a:prstGeom prst="rect">
            <a:avLst/>
          </a:prstGeom>
          <a:solidFill>
            <a:srgbClr val="EBE4D3"/>
          </a:solidFill>
          <a:ln w="19050">
            <a:solidFill>
              <a:srgbClr val="B85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5270480" y="226314"/>
            <a:ext cx="2560320" cy="720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200">
                <a:solidFill>
                  <a:srgbClr val="3D3833"/>
                </a:solidFill>
                <a:latin typeface="Courier New"/>
              </a:rPr>
              <a:t>L'EVOLUZIONE DEL RUOLO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14350"/>
            <a:ext cx="164592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5200">
                <a:solidFill>
                  <a:srgbClr val="3D3833"/>
                </a:solidFill>
                <a:latin typeface="Georgia"/>
              </a:rPr>
              <a:t>Il tuo ruolo non sparisce. Sale.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51660"/>
            <a:ext cx="16459200" cy="720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2000">
                <a:solidFill>
                  <a:srgbClr val="8A8175"/>
                </a:solidFill>
                <a:latin typeface="Arial"/>
              </a:rPr>
              <a:t>Ogni generazione ha risposto a una domanda piu utile della precedente. L'AI accelera il passaggio, non lo interrompe.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14400" y="2777490"/>
            <a:ext cx="16459200" cy="0"/>
          </a:xfrm>
          <a:prstGeom prst="line">
            <a:avLst/>
          </a:prstGeom>
          <a:ln w="12700">
            <a:solidFill>
              <a:srgbClr val="E0D8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914400" y="2870073"/>
            <a:ext cx="16459200" cy="0"/>
          </a:xfrm>
          <a:prstGeom prst="line">
            <a:avLst/>
          </a:prstGeom>
          <a:ln w="12700">
            <a:solidFill>
              <a:srgbClr val="E0D8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914400" y="2931795"/>
            <a:ext cx="16459200" cy="3909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200">
                <a:solidFill>
                  <a:srgbClr val="E0D8C4"/>
                </a:solidFill>
                <a:latin typeface="Courier New"/>
              </a:rPr>
              <a:t>   TRE GENERAZIONI DI ANALISTI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3188970"/>
            <a:ext cx="5394960" cy="6377940"/>
          </a:xfrm>
          <a:prstGeom prst="rect">
            <a:avLst/>
          </a:prstGeom>
          <a:solidFill>
            <a:srgbClr val="EBE4D3"/>
          </a:solidFill>
          <a:ln w="19050">
            <a:solidFill>
              <a:srgbClr val="B85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3271266"/>
            <a:ext cx="146304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7200">
                <a:solidFill>
                  <a:srgbClr val="B8523A"/>
                </a:solidFill>
                <a:latin typeface="Georgia"/>
              </a:rPr>
              <a:t>1.0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" y="4629150"/>
            <a:ext cx="5212080" cy="8743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800">
                <a:solidFill>
                  <a:srgbClr val="3D3833"/>
                </a:solidFill>
                <a:latin typeface="Arial"/>
              </a:rPr>
              <a:t>ANALYST
MONITOR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" y="5575554"/>
            <a:ext cx="5212080" cy="596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1600">
                <a:solidFill>
                  <a:srgbClr val="B8523A"/>
                </a:solidFill>
                <a:latin typeface="Arial"/>
              </a:rPr>
              <a:t>Cosa e successo?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" y="6223635"/>
            <a:ext cx="5212080" cy="668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8A8175"/>
                </a:solidFill>
                <a:latin typeface="Arial"/>
              </a:rPr>
              <a:t>Dashboard, report, riepilogo menzioni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" y="6943725"/>
            <a:ext cx="5212080" cy="1522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1500">
                <a:solidFill>
                  <a:srgbClr val="8A8175"/>
                </a:solidFill>
                <a:latin typeface="Arial"/>
              </a:rPr>
              <a:t>Nel 2012 facevo questi report. Utili per la prima visibilita — limitati per chi doveva decidere.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2" y="8538210"/>
            <a:ext cx="5212080" cy="8743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600">
                <a:solidFill>
                  <a:srgbClr val="B8523A"/>
                </a:solidFill>
                <a:latin typeface="Arial"/>
              </a:rPr>
              <a:t>L'AI automatizza l'80% di questo livello.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28816" y="3188970"/>
            <a:ext cx="5394960" cy="6377940"/>
          </a:xfrm>
          <a:prstGeom prst="rect">
            <a:avLst/>
          </a:prstGeom>
          <a:solidFill>
            <a:srgbClr val="EBE4D3"/>
          </a:solidFill>
          <a:ln w="19050">
            <a:solidFill>
              <a:srgbClr val="B85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47688" y="3271266"/>
            <a:ext cx="146304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7200">
                <a:solidFill>
                  <a:srgbClr val="B8523A"/>
                </a:solidFill>
                <a:latin typeface="Georgia"/>
              </a:rPr>
              <a:t>2.0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47688" y="4629150"/>
            <a:ext cx="5212080" cy="8743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800">
                <a:solidFill>
                  <a:srgbClr val="3D3833"/>
                </a:solidFill>
                <a:latin typeface="Arial"/>
              </a:rPr>
              <a:t>ANALYST
INTERPRETER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47688" y="5575554"/>
            <a:ext cx="5212080" cy="596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1600">
                <a:solidFill>
                  <a:srgbClr val="B8523A"/>
                </a:solidFill>
                <a:latin typeface="Arial"/>
              </a:rPr>
              <a:t>Perche e successo?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47688" y="6223635"/>
            <a:ext cx="5212080" cy="668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8A8175"/>
                </a:solidFill>
                <a:latin typeface="Arial"/>
              </a:rPr>
              <a:t>Driver, ipotesi causali, insight contestuali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47688" y="6943725"/>
            <a:ext cx="5212080" cy="1522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1500">
                <a:solidFill>
                  <a:srgbClr val="8A8175"/>
                </a:solidFill>
                <a:latin typeface="Arial"/>
              </a:rPr>
              <a:t>Il salto che cambia le conversazioni con i clienti. Il tuo lavoro entra nelle riunioni strategiche.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47688" y="8538210"/>
            <a:ext cx="5212080" cy="8743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600">
                <a:solidFill>
                  <a:srgbClr val="B8523A"/>
                </a:solidFill>
                <a:latin typeface="Arial"/>
              </a:rPr>
              <a:t>L'AI accelera: 10 ipotesi in un'ora invece che in una settimana.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2143232" y="3188970"/>
            <a:ext cx="5394960" cy="6377940"/>
          </a:xfrm>
          <a:prstGeom prst="rect">
            <a:avLst/>
          </a:prstGeom>
          <a:solidFill>
            <a:srgbClr val="241F1B"/>
          </a:solidFill>
          <a:ln w="19050">
            <a:solidFill>
              <a:srgbClr val="B85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262104" y="3271266"/>
            <a:ext cx="146304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7200">
                <a:solidFill>
                  <a:srgbClr val="B8523A"/>
                </a:solidFill>
                <a:latin typeface="Georgia"/>
              </a:rPr>
              <a:t>3.0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262104" y="4629150"/>
            <a:ext cx="5212080" cy="8743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800">
                <a:solidFill>
                  <a:srgbClr val="F3EDE1"/>
                </a:solidFill>
                <a:latin typeface="Arial"/>
              </a:rPr>
              <a:t>ANALYST
ORCHESTRATOR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262104" y="5575554"/>
            <a:ext cx="5212080" cy="596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1600">
                <a:solidFill>
                  <a:srgbClr val="B8523A"/>
                </a:solidFill>
                <a:latin typeface="Arial"/>
              </a:rPr>
              <a:t>Cosa dovremmo fare?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262104" y="6223635"/>
            <a:ext cx="5212080" cy="668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8A8175"/>
                </a:solidFill>
                <a:latin typeface="Arial"/>
              </a:rPr>
              <a:t>Intelligence strategica, ecosistema di fonti, decisioni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262104" y="6943725"/>
            <a:ext cx="5212080" cy="1522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1500">
                <a:solidFill>
                  <a:srgbClr val="F3EDE1"/>
                </a:solidFill>
                <a:latin typeface="Arial"/>
              </a:rPr>
              <a:t>Combina fonti, usa l'AI per sintetizzare a scala, valida con giudizio umano, porta l'insight dove serve.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262104" y="8538210"/>
            <a:ext cx="5212080" cy="8743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600">
                <a:solidFill>
                  <a:srgbClr val="B8523A"/>
                </a:solidFill>
                <a:latin typeface="Arial"/>
              </a:rPr>
              <a:t>L'AI e il motore che rende il 3.0 concretamente raggiungibile.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D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5270480" y="226314"/>
            <a:ext cx="2560320" cy="720090"/>
          </a:xfrm>
          <a:prstGeom prst="rect">
            <a:avLst/>
          </a:prstGeom>
          <a:solidFill>
            <a:srgbClr val="EBE4D3"/>
          </a:solidFill>
          <a:ln w="19050">
            <a:solidFill>
              <a:srgbClr val="B85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5270480" y="226314"/>
            <a:ext cx="2560320" cy="720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200">
                <a:solidFill>
                  <a:srgbClr val="3D3833"/>
                </a:solidFill>
                <a:latin typeface="Courier New"/>
              </a:rPr>
              <a:t>I SEI AMPLIFICATORI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14350"/>
            <a:ext cx="164592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5200">
                <a:solidFill>
                  <a:srgbClr val="3D3833"/>
                </a:solidFill>
                <a:latin typeface="Georgia"/>
              </a:rPr>
              <a:t>Sei amplificatori. Tutti gia tuoi.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51660"/>
            <a:ext cx="16459200" cy="720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2000">
                <a:solidFill>
                  <a:srgbClr val="8A8175"/>
                </a:solidFill>
                <a:latin typeface="Arial"/>
              </a:rPr>
              <a:t>Non sono feature dell'AI. Sono amplificatori delle competenze che gia avete.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14400" y="2777490"/>
            <a:ext cx="16459200" cy="0"/>
          </a:xfrm>
          <a:prstGeom prst="line">
            <a:avLst/>
          </a:prstGeom>
          <a:ln w="12700">
            <a:solidFill>
              <a:srgbClr val="E0D8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914400" y="2870073"/>
            <a:ext cx="16459200" cy="0"/>
          </a:xfrm>
          <a:prstGeom prst="line">
            <a:avLst/>
          </a:prstGeom>
          <a:ln w="12700">
            <a:solidFill>
              <a:srgbClr val="E0D8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914400" y="3188970"/>
            <a:ext cx="5303520" cy="2036826"/>
          </a:xfrm>
          <a:prstGeom prst="rect">
            <a:avLst/>
          </a:prstGeom>
          <a:solidFill>
            <a:srgbClr val="EBE4D3"/>
          </a:solidFill>
          <a:ln w="19050">
            <a:solidFill>
              <a:srgbClr val="B85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3312414"/>
            <a:ext cx="2560320" cy="432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000">
                <a:solidFill>
                  <a:srgbClr val="B8523A"/>
                </a:solidFill>
                <a:latin typeface="Courier New"/>
              </a:rPr>
              <a:t>SCALE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" y="3785616"/>
            <a:ext cx="5120640" cy="5657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1600">
                <a:solidFill>
                  <a:srgbClr val="3D3833"/>
                </a:solidFill>
                <a:latin typeface="Arial"/>
              </a:rPr>
              <a:t>Gia leggete le conversazioni del mercato.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" y="4351401"/>
            <a:ext cx="5120640" cy="8023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600">
                <a:solidFill>
                  <a:srgbClr val="8A8175"/>
                </a:solidFill>
                <a:latin typeface="Arial"/>
              </a:rPr>
              <a:t>L'AI vi permette di farlo su milioni in parallelo, su mercati diversi, in tempo reale.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3188970"/>
            <a:ext cx="5303520" cy="2036826"/>
          </a:xfrm>
          <a:prstGeom prst="rect">
            <a:avLst/>
          </a:prstGeom>
          <a:solidFill>
            <a:srgbClr val="EBE4D3"/>
          </a:solidFill>
          <a:ln w="19050">
            <a:solidFill>
              <a:srgbClr val="B85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9672" y="3312414"/>
            <a:ext cx="2560320" cy="432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000">
                <a:solidFill>
                  <a:srgbClr val="B8523A"/>
                </a:solidFill>
                <a:latin typeface="Courier New"/>
              </a:rPr>
              <a:t>SPEED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9672" y="3785616"/>
            <a:ext cx="5120640" cy="5657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1600">
                <a:solidFill>
                  <a:srgbClr val="3D3833"/>
                </a:solidFill>
                <a:latin typeface="Arial"/>
              </a:rPr>
              <a:t>Gia formulate ipotesi analitiche.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9672" y="4351401"/>
            <a:ext cx="5120640" cy="8023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600">
                <a:solidFill>
                  <a:srgbClr val="8A8175"/>
                </a:solidFill>
                <a:latin typeface="Arial"/>
              </a:rPr>
              <a:t>L'AI permette di generarne e testarne dieci in un'ora invece che in una settimana.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887200" y="3188970"/>
            <a:ext cx="5303520" cy="2036826"/>
          </a:xfrm>
          <a:prstGeom prst="rect">
            <a:avLst/>
          </a:prstGeom>
          <a:solidFill>
            <a:srgbClr val="EBE4D3"/>
          </a:solidFill>
          <a:ln w="19050">
            <a:solidFill>
              <a:srgbClr val="B85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006072" y="3312414"/>
            <a:ext cx="2560320" cy="432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000">
                <a:solidFill>
                  <a:srgbClr val="B8523A"/>
                </a:solidFill>
                <a:latin typeface="Courier New"/>
              </a:rPr>
              <a:t>COVERAGE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06072" y="3785616"/>
            <a:ext cx="5120640" cy="5657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1600">
                <a:solidFill>
                  <a:srgbClr val="3D3833"/>
                </a:solidFill>
                <a:latin typeface="Arial"/>
              </a:rPr>
              <a:t>Gia monitorate fonti diverse.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06072" y="4351401"/>
            <a:ext cx="5120640" cy="8023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600">
                <a:solidFill>
                  <a:srgbClr val="8A8175"/>
                </a:solidFill>
                <a:latin typeface="Arial"/>
              </a:rPr>
              <a:t>L'AI vi permette di farlo su piu lingue, mercati, canali — simultaneamente.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5369814"/>
            <a:ext cx="5303520" cy="2036826"/>
          </a:xfrm>
          <a:prstGeom prst="rect">
            <a:avLst/>
          </a:prstGeom>
          <a:solidFill>
            <a:srgbClr val="EBE4D3"/>
          </a:solidFill>
          <a:ln w="19050">
            <a:solidFill>
              <a:srgbClr val="B85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33272" y="5493258"/>
            <a:ext cx="2560320" cy="432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000">
                <a:solidFill>
                  <a:srgbClr val="B8523A"/>
                </a:solidFill>
                <a:latin typeface="Courier New"/>
              </a:rPr>
              <a:t>MEMORY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3272" y="5966460"/>
            <a:ext cx="5120640" cy="5657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1600">
                <a:solidFill>
                  <a:srgbClr val="3D3833"/>
                </a:solidFill>
                <a:latin typeface="Arial"/>
              </a:rPr>
              <a:t>Gia costruite trend analysis nel tempo.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3272" y="6532245"/>
            <a:ext cx="5120640" cy="8023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600">
                <a:solidFill>
                  <a:srgbClr val="8A8175"/>
                </a:solidFill>
                <a:latin typeface="Arial"/>
              </a:rPr>
              <a:t>L'AI permette di interrogare anni di dati storici come se fossero una conversazione.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5369814"/>
            <a:ext cx="5303520" cy="2036826"/>
          </a:xfrm>
          <a:prstGeom prst="rect">
            <a:avLst/>
          </a:prstGeom>
          <a:solidFill>
            <a:srgbClr val="EBE4D3"/>
          </a:solidFill>
          <a:ln w="19050">
            <a:solidFill>
              <a:srgbClr val="B85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19672" y="5493258"/>
            <a:ext cx="2560320" cy="432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000">
                <a:solidFill>
                  <a:srgbClr val="B8523A"/>
                </a:solidFill>
                <a:latin typeface="Courier New"/>
              </a:rPr>
              <a:t>DISCOVERY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9672" y="5966460"/>
            <a:ext cx="5120640" cy="5657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1600">
                <a:solidFill>
                  <a:srgbClr val="3D3833"/>
                </a:solidFill>
                <a:latin typeface="Arial"/>
              </a:rPr>
              <a:t>Gia cercate pattern nascosti.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19672" y="6532245"/>
            <a:ext cx="5120640" cy="8023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600">
                <a:solidFill>
                  <a:srgbClr val="8A8175"/>
                </a:solidFill>
                <a:latin typeface="Arial"/>
              </a:rPr>
              <a:t>L'AI identifica correlazioni che l'occhio umano non vedrebbe mai — e ve le porta.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887200" y="5369814"/>
            <a:ext cx="5303520" cy="2036826"/>
          </a:xfrm>
          <a:prstGeom prst="rect">
            <a:avLst/>
          </a:prstGeom>
          <a:solidFill>
            <a:srgbClr val="EBE4D3"/>
          </a:solidFill>
          <a:ln w="19050">
            <a:solidFill>
              <a:srgbClr val="B85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006072" y="5493258"/>
            <a:ext cx="2560320" cy="432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000">
                <a:solidFill>
                  <a:srgbClr val="B8523A"/>
                </a:solidFill>
                <a:latin typeface="Courier New"/>
              </a:rPr>
              <a:t>SIMULATION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006072" y="5966460"/>
            <a:ext cx="5120640" cy="5657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1600">
                <a:solidFill>
                  <a:srgbClr val="3D3833"/>
                </a:solidFill>
                <a:latin typeface="Arial"/>
              </a:rPr>
              <a:t>Gia ragionate per scenari.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006072" y="6532245"/>
            <a:ext cx="5120640" cy="8023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600">
                <a:solidFill>
                  <a:srgbClr val="8A8175"/>
                </a:solidFill>
                <a:latin typeface="Arial"/>
              </a:rPr>
              <a:t>L'AI vi permette di simularli. Testare 'e se?' prima che diventi reale.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9073134"/>
            <a:ext cx="16459200" cy="9772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1" sz="1800">
                <a:solidFill>
                  <a:srgbClr val="3D3833"/>
                </a:solidFill>
                <a:latin typeface="Georgia"/>
              </a:rPr>
              <a:t>“L'AI non pensa al posto dell'analista. Amplifica cio che l'analista e in grado di vedere.”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D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5270480" y="226314"/>
            <a:ext cx="2560320" cy="720090"/>
          </a:xfrm>
          <a:prstGeom prst="rect">
            <a:avLst/>
          </a:prstGeom>
          <a:solidFill>
            <a:srgbClr val="EBE4D3"/>
          </a:solidFill>
          <a:ln w="19050">
            <a:solidFill>
              <a:srgbClr val="B85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5270480" y="226314"/>
            <a:ext cx="2560320" cy="720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200">
                <a:solidFill>
                  <a:srgbClr val="3D3833"/>
                </a:solidFill>
                <a:latin typeface="Courier New"/>
              </a:rPr>
              <a:t>CAP 8 — APPLICAZIONI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14350"/>
            <a:ext cx="164592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5200">
                <a:solidFill>
                  <a:srgbClr val="3D3833"/>
                </a:solidFill>
                <a:latin typeface="Georgia"/>
              </a:rPr>
              <a:t>Dove si vede il valore concreto.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51660"/>
            <a:ext cx="16459200" cy="720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2000">
                <a:solidFill>
                  <a:srgbClr val="8A8175"/>
                </a:solidFill>
                <a:latin typeface="Arial"/>
              </a:rPr>
              <a:t>Quattro applicazioni in cui il listening entra prima delle decisioni. Non dopo.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14400" y="2777490"/>
            <a:ext cx="16459200" cy="0"/>
          </a:xfrm>
          <a:prstGeom prst="line">
            <a:avLst/>
          </a:prstGeom>
          <a:ln w="12700">
            <a:solidFill>
              <a:srgbClr val="E0D8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914400" y="2870073"/>
            <a:ext cx="16459200" cy="0"/>
          </a:xfrm>
          <a:prstGeom prst="line">
            <a:avLst/>
          </a:prstGeom>
          <a:ln w="12700">
            <a:solidFill>
              <a:srgbClr val="E0D8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914400" y="2931795"/>
            <a:ext cx="16459200" cy="3909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200">
                <a:solidFill>
                  <a:srgbClr val="E0D8C4"/>
                </a:solidFill>
                <a:latin typeface="Courier New"/>
              </a:rPr>
              <a:t>   4 DOMINI DI APPLICAZIONE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3188970"/>
            <a:ext cx="8046720" cy="3034665"/>
          </a:xfrm>
          <a:prstGeom prst="rect">
            <a:avLst/>
          </a:prstGeom>
          <a:solidFill>
            <a:srgbClr val="EBE4D3"/>
          </a:solidFill>
          <a:ln w="19050">
            <a:solidFill>
              <a:srgbClr val="B85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3312414"/>
            <a:ext cx="7863840" cy="7715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000">
                <a:solidFill>
                  <a:srgbClr val="3D3833"/>
                </a:solidFill>
                <a:latin typeface="Arial"/>
              </a:rPr>
              <a:t>REPUTATION
INTELLIGENCE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" y="4114800"/>
            <a:ext cx="786384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1600">
                <a:solidFill>
                  <a:srgbClr val="B8523A"/>
                </a:solidFill>
                <a:latin typeface="Arial"/>
              </a:rPr>
              <a:t>Non il monitoring — l'intelligence reputazionale.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" y="4680585"/>
            <a:ext cx="7863840" cy="349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8A8175"/>
                </a:solidFill>
                <a:latin typeface="Arial"/>
              </a:rPr>
              <a:t>—  Percezione, driver di fiducia, associazioni spontanee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" y="5050917"/>
            <a:ext cx="7863840" cy="349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8A8175"/>
                </a:solidFill>
                <a:latin typeface="Arial"/>
              </a:rPr>
              <a:t>—  Rischi latenti prima che diventino crisi visibili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" y="5421249"/>
            <a:ext cx="7863840" cy="349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8A8175"/>
                </a:solidFill>
                <a:latin typeface="Arial"/>
              </a:rPr>
              <a:t>—  Alert preventivi, non post-mortem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2" y="5791581"/>
            <a:ext cx="7863840" cy="349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8A8175"/>
                </a:solidFill>
                <a:latin typeface="Arial"/>
              </a:rPr>
              <a:t>—  Non solo cosa dicono — perche e dove sta andando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875520" y="3188970"/>
            <a:ext cx="8046720" cy="3034665"/>
          </a:xfrm>
          <a:prstGeom prst="rect">
            <a:avLst/>
          </a:prstGeom>
          <a:solidFill>
            <a:srgbClr val="EBE4D3"/>
          </a:solidFill>
          <a:ln w="19050">
            <a:solidFill>
              <a:srgbClr val="B85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994392" y="3312414"/>
            <a:ext cx="7863840" cy="7715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000">
                <a:solidFill>
                  <a:srgbClr val="3D3833"/>
                </a:solidFill>
                <a:latin typeface="Arial"/>
              </a:rPr>
              <a:t>CAMPAIGN
INTELLIGENCE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94392" y="4114800"/>
            <a:ext cx="786384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1600">
                <a:solidFill>
                  <a:srgbClr val="B8523A"/>
                </a:solidFill>
                <a:latin typeface="Arial"/>
              </a:rPr>
              <a:t>Come viene ricevuta organicamente, al netto del paid?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94392" y="4680585"/>
            <a:ext cx="7863840" cy="349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8A8175"/>
                </a:solidFill>
                <a:latin typeface="Arial"/>
              </a:rPr>
              <a:t>—  Quali messaggi compresi e quali fraintesi?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94392" y="5050917"/>
            <a:ext cx="7863840" cy="349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8A8175"/>
                </a:solidFill>
                <a:latin typeface="Arial"/>
              </a:rPr>
              <a:t>—  Quali asset funzionano nei contesti reali?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94392" y="5421249"/>
            <a:ext cx="7863840" cy="349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8A8175"/>
                </a:solidFill>
                <a:latin typeface="Arial"/>
              </a:rPr>
              <a:t>—  Correzioni in itinere — non valutazioni a campagna chiusa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94392" y="5791581"/>
            <a:ext cx="7863840" cy="349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8A8175"/>
                </a:solidFill>
                <a:latin typeface="Arial"/>
              </a:rPr>
              <a:t>—  Agisci quando e ancora possibile cambiare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0" y="6377940"/>
            <a:ext cx="8046720" cy="3034665"/>
          </a:xfrm>
          <a:prstGeom prst="rect">
            <a:avLst/>
          </a:prstGeom>
          <a:solidFill>
            <a:srgbClr val="EBE4D3"/>
          </a:solidFill>
          <a:ln w="19050">
            <a:solidFill>
              <a:srgbClr val="B85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33272" y="6501384"/>
            <a:ext cx="7863840" cy="7715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000">
                <a:solidFill>
                  <a:srgbClr val="3D3833"/>
                </a:solidFill>
                <a:latin typeface="Arial"/>
              </a:rPr>
              <a:t>PRODUCT
INTELLIGENCE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3272" y="7303770"/>
            <a:ext cx="786384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1600">
                <a:solidFill>
                  <a:srgbClr val="B8523A"/>
                </a:solidFill>
                <a:latin typeface="Arial"/>
              </a:rPr>
              <a:t>I bisogni che nessuna survey riesce a catturare.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3272" y="7869555"/>
            <a:ext cx="7863840" cy="349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8A8175"/>
                </a:solidFill>
                <a:latin typeface="Arial"/>
              </a:rPr>
              <a:t>—  Barriere non emerse nei focus group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3272" y="8239887"/>
            <a:ext cx="7863840" cy="349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8A8175"/>
                </a:solidFill>
                <a:latin typeface="Arial"/>
              </a:rPr>
              <a:t>—  Usi imprevisti: workaround, rituali, micro-community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3272" y="8610219"/>
            <a:ext cx="7863840" cy="349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8A8175"/>
                </a:solidFill>
                <a:latin typeface="Arial"/>
              </a:rPr>
              <a:t>—  Segnali per roadmap verso cio che il mercato vuole davvero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3272" y="8980551"/>
            <a:ext cx="7863840" cy="349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8A8175"/>
                </a:solidFill>
                <a:latin typeface="Arial"/>
              </a:rPr>
              <a:t>—  Non quello che dice di volere — quello che fa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875520" y="6377940"/>
            <a:ext cx="8046720" cy="3034665"/>
          </a:xfrm>
          <a:prstGeom prst="rect">
            <a:avLst/>
          </a:prstGeom>
          <a:solidFill>
            <a:srgbClr val="EBE4D3"/>
          </a:solidFill>
          <a:ln w="19050">
            <a:solidFill>
              <a:srgbClr val="B85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94392" y="6501384"/>
            <a:ext cx="7863840" cy="7715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000">
                <a:solidFill>
                  <a:srgbClr val="3D3833"/>
                </a:solidFill>
                <a:latin typeface="Arial"/>
              </a:rPr>
              <a:t>REAL-TIME
INTELLIGENCE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94392" y="7303770"/>
            <a:ext cx="786384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1600">
                <a:solidFill>
                  <a:srgbClr val="B8523A"/>
                </a:solidFill>
                <a:latin typeface="Arial"/>
              </a:rPr>
              <a:t>Lanci, sponsorship, crisi in tempo reale.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94392" y="7869555"/>
            <a:ext cx="7863840" cy="349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8A8175"/>
                </a:solidFill>
                <a:latin typeface="Arial"/>
              </a:rPr>
              <a:t>—  La distinzione fondamentale: polemica vs rischio reale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94392" y="8239887"/>
            <a:ext cx="7863840" cy="349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8A8175"/>
                </a:solidFill>
                <a:latin typeface="Arial"/>
              </a:rPr>
              <a:t>—  Quando un topic diventa rumore vs quando diventa crisi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94392" y="8610219"/>
            <a:ext cx="7863840" cy="349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8A8175"/>
                </a:solidFill>
                <a:latin typeface="Arial"/>
              </a:rPr>
              <a:t>—  Se rispondere, come, quando, con quale tono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94392" y="8980551"/>
            <a:ext cx="7863840" cy="349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8A8175"/>
                </a:solidFill>
                <a:latin typeface="Arial"/>
              </a:rPr>
              <a:t>—  Velocita calibrata — non la risposta generica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D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5270480" y="226314"/>
            <a:ext cx="2560320" cy="720090"/>
          </a:xfrm>
          <a:prstGeom prst="rect">
            <a:avLst/>
          </a:prstGeom>
          <a:solidFill>
            <a:srgbClr val="EBE4D3"/>
          </a:solidFill>
          <a:ln w="19050">
            <a:solidFill>
              <a:srgbClr val="B85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5270480" y="226314"/>
            <a:ext cx="2560320" cy="720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200">
                <a:solidFill>
                  <a:srgbClr val="3D3833"/>
                </a:solidFill>
                <a:latin typeface="Courier New"/>
              </a:rPr>
              <a:t>CAP 9 — CHIUSURA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14350"/>
            <a:ext cx="164592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5200">
                <a:solidFill>
                  <a:srgbClr val="3D3833"/>
                </a:solidFill>
                <a:latin typeface="Georgia"/>
              </a:rPr>
              <a:t>Cosa cambia da lunedi mattina.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51660"/>
            <a:ext cx="16459200" cy="720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2000">
                <a:solidFill>
                  <a:srgbClr val="8A8175"/>
                </a:solidFill>
                <a:latin typeface="Arial"/>
              </a:rPr>
              <a:t>Quattro principi operativi. Non teoria — azioni immediate.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14400" y="2777490"/>
            <a:ext cx="16459200" cy="0"/>
          </a:xfrm>
          <a:prstGeom prst="line">
            <a:avLst/>
          </a:prstGeom>
          <a:ln w="12700">
            <a:solidFill>
              <a:srgbClr val="E0D8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914400" y="2870073"/>
            <a:ext cx="16459200" cy="0"/>
          </a:xfrm>
          <a:prstGeom prst="line">
            <a:avLst/>
          </a:prstGeom>
          <a:ln w="12700">
            <a:solidFill>
              <a:srgbClr val="E0D8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914400" y="2931795"/>
            <a:ext cx="16459200" cy="3909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200">
                <a:solidFill>
                  <a:srgbClr val="E0D8C4"/>
                </a:solidFill>
                <a:latin typeface="Courier New"/>
              </a:rPr>
              <a:t>   4 PRINCIPI OPERATIVI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3188970"/>
            <a:ext cx="8046720" cy="2931794"/>
          </a:xfrm>
          <a:prstGeom prst="rect">
            <a:avLst/>
          </a:prstGeom>
          <a:solidFill>
            <a:srgbClr val="EBE4D3"/>
          </a:solidFill>
          <a:ln w="19050">
            <a:solidFill>
              <a:srgbClr val="B85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3291840"/>
            <a:ext cx="822960" cy="9772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6400">
                <a:solidFill>
                  <a:srgbClr val="E0D8C4"/>
                </a:solidFill>
                <a:latin typeface="Georgia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3312414"/>
            <a:ext cx="7040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800">
                <a:solidFill>
                  <a:srgbClr val="3D3833"/>
                </a:solidFill>
                <a:latin typeface="Arial"/>
              </a:rPr>
              <a:t>DAI UN NOME AL MESTIERE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" y="4371975"/>
            <a:ext cx="7818120" cy="720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1600">
                <a:solidFill>
                  <a:srgbClr val="3D3833"/>
                </a:solidFill>
                <a:latin typeface="Arial"/>
              </a:rPr>
              <a:t>Se viene confuso con social media management o reporting, non entrera nelle decisioni che contano.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" y="5092065"/>
            <a:ext cx="7818120" cy="8743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600">
                <a:solidFill>
                  <a:srgbClr val="8A8175"/>
                </a:solidFill>
                <a:latin typeface="Arial"/>
              </a:rPr>
              <a:t>Non e un problema semantico — e un problema di potere organizzativo.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875520" y="3188970"/>
            <a:ext cx="8046720" cy="2931794"/>
          </a:xfrm>
          <a:prstGeom prst="rect">
            <a:avLst/>
          </a:prstGeom>
          <a:solidFill>
            <a:srgbClr val="EBE4D3"/>
          </a:solidFill>
          <a:ln w="19050">
            <a:solidFill>
              <a:srgbClr val="B85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94392" y="3291840"/>
            <a:ext cx="822960" cy="9772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6400">
                <a:solidFill>
                  <a:srgbClr val="E0D8C4"/>
                </a:solidFill>
                <a:latin typeface="Georgia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25912" y="3312414"/>
            <a:ext cx="7040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800">
                <a:solidFill>
                  <a:srgbClr val="3D3833"/>
                </a:solidFill>
                <a:latin typeface="Arial"/>
              </a:rPr>
              <a:t>PRIMA DELLA QUERY, LA DECISIONE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94392" y="4371975"/>
            <a:ext cx="7818120" cy="720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1600">
                <a:solidFill>
                  <a:srgbClr val="3D3833"/>
                </a:solidFill>
                <a:latin typeface="Arial"/>
              </a:rPr>
              <a:t>Non si apre il tool e si digita il nome del brand. Si parte da: quale decisione devo supportare?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94392" y="5092065"/>
            <a:ext cx="7818120" cy="8743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600">
                <a:solidFill>
                  <a:srgbClr val="8A8175"/>
                </a:solidFill>
                <a:latin typeface="Arial"/>
              </a:rPr>
              <a:t>Se la decisione non e chiara, produci monitoraggio — non intelligence.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6326504"/>
            <a:ext cx="8046720" cy="2931794"/>
          </a:xfrm>
          <a:prstGeom prst="rect">
            <a:avLst/>
          </a:prstGeom>
          <a:solidFill>
            <a:srgbClr val="EBE4D3"/>
          </a:solidFill>
          <a:ln w="19050">
            <a:solidFill>
              <a:srgbClr val="B85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6429374"/>
            <a:ext cx="822960" cy="9772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6400">
                <a:solidFill>
                  <a:srgbClr val="E0D8C4"/>
                </a:solidFill>
                <a:latin typeface="Georgia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6449948"/>
            <a:ext cx="7040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800">
                <a:solidFill>
                  <a:srgbClr val="3D3833"/>
                </a:solidFill>
                <a:latin typeface="Arial"/>
              </a:rPr>
              <a:t>NON CERCARE VOLUME. CERCA FRIZIONE.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3272" y="7509509"/>
            <a:ext cx="7818120" cy="720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1600">
                <a:solidFill>
                  <a:srgbClr val="3D3833"/>
                </a:solidFill>
                <a:latin typeface="Arial"/>
              </a:rPr>
              <a:t>Il segnale piu utile spesso non e il picco piu grande, ma il pattern piu scomodo.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3272" y="8229599"/>
            <a:ext cx="7818120" cy="8743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600">
                <a:solidFill>
                  <a:srgbClr val="8A8175"/>
                </a:solidFill>
                <a:latin typeface="Arial"/>
              </a:rPr>
              <a:t>Il vantaggio competitivo non si nasconde dove guardano tutti.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875520" y="6326504"/>
            <a:ext cx="8046720" cy="2931794"/>
          </a:xfrm>
          <a:prstGeom prst="rect">
            <a:avLst/>
          </a:prstGeom>
          <a:solidFill>
            <a:srgbClr val="EBE4D3"/>
          </a:solidFill>
          <a:ln w="19050">
            <a:solidFill>
              <a:srgbClr val="B85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994392" y="6429374"/>
            <a:ext cx="822960" cy="9772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6400">
                <a:solidFill>
                  <a:srgbClr val="E0D8C4"/>
                </a:solidFill>
                <a:latin typeface="Georgia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25912" y="6449948"/>
            <a:ext cx="7040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800">
                <a:solidFill>
                  <a:srgbClr val="3D3833"/>
                </a:solidFill>
                <a:latin typeface="Arial"/>
              </a:rPr>
              <a:t>USA L'AI PER ACCELERARE, NON PER DELEGARE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94392" y="7509509"/>
            <a:ext cx="7818120" cy="720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1600">
                <a:solidFill>
                  <a:srgbClr val="3D3833"/>
                </a:solidFill>
                <a:latin typeface="Arial"/>
              </a:rPr>
              <a:t>L'AI fa il Task Layer meglio e piu velocemente. Il Judgement Layer resta umano.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94392" y="8229599"/>
            <a:ext cx="7818120" cy="8743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600">
                <a:solidFill>
                  <a:srgbClr val="8A8175"/>
                </a:solidFill>
                <a:latin typeface="Arial"/>
              </a:rPr>
              <a:t>Usala per andare piu lontano — non per smettere di pensare.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7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" cy="10287000"/>
          </a:xfrm>
          <a:prstGeom prst="rect">
            <a:avLst/>
          </a:prstGeom>
          <a:solidFill>
            <a:srgbClr val="B85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463040" y="0"/>
            <a:ext cx="18288000" cy="72009"/>
          </a:xfrm>
          <a:prstGeom prst="rect">
            <a:avLst/>
          </a:prstGeom>
          <a:solidFill>
            <a:srgbClr val="B85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377440" y="1440180"/>
            <a:ext cx="146304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1" sz="3000">
                <a:solidFill>
                  <a:srgbClr val="F3EDE1"/>
                </a:solidFill>
                <a:latin typeface="Georgia"/>
              </a:rPr>
              <a:t>“Il futuro del social listening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77440" y="2468880"/>
            <a:ext cx="146304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1" sz="3000">
                <a:solidFill>
                  <a:srgbClr val="F3EDE1"/>
                </a:solidFill>
                <a:latin typeface="Georgia"/>
              </a:rPr>
              <a:t>non sara deciso da chi possiede il tool migliore.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7440" y="3394710"/>
            <a:ext cx="146304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1" sz="3000">
                <a:solidFill>
                  <a:srgbClr val="F3EDE1"/>
                </a:solidFill>
                <a:latin typeface="Georgia"/>
              </a:rPr>
              <a:t>Sara deciso da chi sapra fare le domande migliori,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0" y="4320540"/>
            <a:ext cx="146304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1" sz="3000">
                <a:solidFill>
                  <a:srgbClr val="B8523A"/>
                </a:solidFill>
                <a:latin typeface="Georgia"/>
              </a:rPr>
              <a:t>difendere il metodo,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5246370"/>
            <a:ext cx="146304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1" sz="3000">
                <a:solidFill>
                  <a:srgbClr val="F3EDE1"/>
                </a:solidFill>
                <a:latin typeface="Georgia"/>
              </a:rPr>
              <a:t>e portare il segnale dove le decisioni vengono prese.”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377440" y="6789420"/>
            <a:ext cx="9509760" cy="0"/>
          </a:xfrm>
          <a:prstGeom prst="line">
            <a:avLst/>
          </a:prstGeom>
          <a:ln w="50800">
            <a:solidFill>
              <a:srgbClr val="B852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377440" y="7200900"/>
            <a:ext cx="7315200" cy="14401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5400">
                <a:solidFill>
                  <a:srgbClr val="B8523A"/>
                </a:solidFill>
                <a:latin typeface="Georgia"/>
              </a:rPr>
              <a:t>GRAZIE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8949690"/>
            <a:ext cx="10972800" cy="720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900">
                <a:solidFill>
                  <a:srgbClr val="8A8175"/>
                </a:solidFill>
                <a:latin typeface="Courier New"/>
              </a:rPr>
              <a:t>EY Studio+   ×   Brandwatch   ×   Trajaan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