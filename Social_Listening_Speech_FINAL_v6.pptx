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12984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SOCIAL LISTENING</a:t>
            </a:r>
            <a:br/>
            <a:r>
              <a:rPr>
                <a:ea typeface="KaiTi"/>
              </a:rPr>
              <a:t>IN ITALIA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9464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Realtà, sfide e opportunità — EY Studio+ × Brandwatch × Trajaan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94176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Vincenzo Alberto Marrari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06824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Maggio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031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"Il tuo lavoro sparirà in meno di due anni."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846320"/>
            <a:ext cx="21031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41832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Frase che molti di voi hanno sentito — e che ci auguriamo di smontare insieme.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Chi sta rispondendo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54298" cy="45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01469" y="1554480"/>
            <a:ext cx="914400" cy="9144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317997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Vincenzo Alberto Marrari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317997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Director, EY Studio+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566160"/>
            <a:ext cx="290565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49039"/>
            <a:ext cx="3179978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Brand intelligence, social listening e strategia dati per brand italiani e internazionali.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371600"/>
            <a:ext cx="3454298" cy="45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38647" y="1554480"/>
            <a:ext cx="914400" cy="9144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5858" y="2651760"/>
            <a:ext cx="317997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Brandwatch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5858" y="3108960"/>
            <a:ext cx="317997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Partner Tecnologico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43018" y="3566160"/>
            <a:ext cx="290565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5858" y="3749039"/>
            <a:ext cx="3179978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Piattaforma leader mondiale per la social analytics e il consumer intelligence.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5876" y="1371600"/>
            <a:ext cx="3454298" cy="45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75825" y="1554480"/>
            <a:ext cx="914400" cy="9144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3036" y="2651760"/>
            <a:ext cx="317997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Trajaan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3036" y="3108960"/>
            <a:ext cx="317997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Partner Tecnologico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80196" y="3566160"/>
            <a:ext cx="290565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3036" y="3749039"/>
            <a:ext cx="3179978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Search intelligence e trend forecasting per il mercato europeo.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Eppure lo chiedono tutti.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00400" cy="1645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78%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83464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dei CMO italiani dichiara il social listening</a:t>
            </a:r>
            <a:br/>
            <a:r>
              <a:rPr>
                <a:ea typeface="KaiTi"/>
              </a:rPr>
              <a:t>"priorità strategica" nel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495647" y="1280160"/>
            <a:ext cx="3200400" cy="1645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8527" y="137160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34%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8527" y="2057400"/>
            <a:ext cx="283464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lo usa sistematicamente</a:t>
            </a:r>
            <a:br/>
            <a:r>
              <a:rPr>
                <a:ea typeface="KaiTi"/>
              </a:rPr>
              <a:t>con processi strutturati e ricorrenti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59775" y="1280160"/>
            <a:ext cx="3200400" cy="1645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42655" y="137160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12%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2655" y="2057400"/>
            <a:ext cx="283464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produce insight azionabili</a:t>
            </a:r>
            <a:br/>
            <a:r>
              <a:rPr>
                <a:ea typeface="KaiTi"/>
              </a:rPr>
              <a:t>che cambiano le decisioni di business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EY Studio+ Survey 2025 — campione 120 brand manager italiani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Prima però, sgombriamo il terreno.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029200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475488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Social Listening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480560" cy="34747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Monitoraggio conversazioni organiche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Analisi sentiment e topic in tempo reale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Benchmark competitivo su share of voice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Segnali emergenti da community e forum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0975" y="1280160"/>
            <a:ext cx="5029200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8135" y="1280160"/>
            <a:ext cx="475488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Non è Social Listening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30975" y="1828800"/>
            <a:ext cx="5029200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5295" y="2011680"/>
            <a:ext cx="4480560" cy="34747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Community management e risposta ai commenti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Reportistica vanity (like, follower, reach)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Analisi solo dei propri canali owned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Ricerche di mercato tradizionali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Non è un tuo fallimento. È un fallimento della disciplina.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Dati senza contesto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08760"/>
            <a:ext cx="6309360" cy="466344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Volume di menzioni senza una domanda business dietro non vale nulla.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2020824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112264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66544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Tool prima della strategia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86584"/>
            <a:ext cx="6309360" cy="466344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Si compra la piattaforma senza sapere cosa si vuole rispondere.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2898648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990088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44368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Output ≠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64408"/>
            <a:ext cx="6309360" cy="466344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Il report viene prodotto, ma nessuna decisione cambia.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3776472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3867912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822192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Silos organizzativi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42232"/>
            <a:ext cx="6309360" cy="466344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I dati restano nel team digital, non raggiungono marketing, PR, product.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4654296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4745736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700016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KPI sbagliati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020056"/>
            <a:ext cx="6309360" cy="466344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Si misura il sentiment medio, non il movimento su segmenti specifici.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1188720"/>
            <a:ext cx="3596335" cy="43891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1463040"/>
            <a:ext cx="30476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rPr>
                <a:ea typeface="KaiTi"/>
              </a:rPr>
              <a:t>Il Vero Problema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645920"/>
            <a:ext cx="3047695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286000"/>
            <a:ext cx="30476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rPr>
                <a:ea typeface="KaiTi"/>
              </a:rPr>
              <a:t>ostacoli sistemici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2834640"/>
            <a:ext cx="3047695" cy="635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3108960"/>
            <a:ext cx="30476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AAAAA"/>
                </a:solidFill>
                <a:latin typeface="Arial"/>
              </a:defRPr>
            </a:pPr>
            <a:r>
              <a:rPr>
                <a:ea typeface="KaiTi"/>
              </a:rPr>
              <a:t>Causa principale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383280"/>
            <a:ext cx="30476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Domande assenti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749040"/>
            <a:ext cx="30476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AAAAA"/>
                </a:solidFill>
                <a:latin typeface="Arial"/>
              </a:defRPr>
            </a:pPr>
            <a:r>
              <a:rPr>
                <a:ea typeface="KaiTi"/>
              </a:rPr>
              <a:t>Soluzione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023360"/>
            <a:ext cx="30476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Framework strategico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In Italia il problema è più profondo.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029200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475488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Il Mercato Globale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480560" cy="34747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Maturità metodologica alta (UK, US, DACH)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Integrazione con CRM e BI consolidata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Team dedicati di Consumer Intelligence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Budget stabili, non soggetti a review annuale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0975" y="1280160"/>
            <a:ext cx="5029200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8135" y="1280160"/>
            <a:ext cx="475488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Il Mercato Italiano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30975" y="1828800"/>
            <a:ext cx="5029200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5295" y="2011680"/>
            <a:ext cx="4480560" cy="34747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Cultura del dato ancora emergente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Confusione tra social media e social listening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Funzione spesso attribuita all'agenzia esterna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Budget tra i primi tagliati in fase di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Confronto EY Studio+ su 8 mercati europei,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Il salto che cambia tutto.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89497" y="1325880"/>
            <a:ext cx="12700" cy="4251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67247" y="322326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0292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Reporting Reattivo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5029200" cy="4114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Cosa è successo la settimana scorsa?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Quante menzioni ha avuto il brand?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Il sentiment è positivo o negativo?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Chi ha parlato di noi?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1325880"/>
            <a:ext cx="50292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Intelligence Proattiva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0975" y="1920240"/>
            <a:ext cx="5029200" cy="4114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Quali segnali anticipano una crisi reputazionale?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Dove sta migrando il pubblico dei competitor?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Quali unmet need emergono nella categoria?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Quali claim stanno resonando nel segmento target?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La differenza non è nel dato. È nella domanda.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Dimensione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Insight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Punto di partenza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I dati disponibili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Una domanda business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4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45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Frequenza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545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Periodica (settimanale/mensile)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545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Event-driven e continua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07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07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Destinatario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07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Team digital/social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307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C-suite, Brand, Product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069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069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Dashboard e grafici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069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Raccomandazione azionabile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831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831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Valore percepito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831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Operativo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831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Strategico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593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593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Vita utile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593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Si esaurisce rapidamente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5593080"/>
            <a:ext cx="219456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Orienta decisioni per mesi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Chevron 31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Principi chiave: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La domanda strategica precede sempre la raccolta dati.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Un insight senza raccomandazione è ancora un report.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Il valore del social listening si misura nelle decisioni che cambia.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I segnali che nessuna dashboard mostra.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00400" cy="1645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83464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Attrito Semantico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4495647" y="1280160"/>
            <a:ext cx="3200400" cy="1645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8527" y="137160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#2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8527" y="2057400"/>
            <a:ext cx="283464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Attrito Culturale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59775" y="1280160"/>
            <a:ext cx="3200400" cy="1645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42655" y="137160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#3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2655" y="2057400"/>
            <a:ext cx="283464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Attrito Istituzionale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10728655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#1 Semantico — Il linguaggio del brand non coincide con quello delle conversazioni reali.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#2 Culturale — I modelli di sentiment fraintendono ironia, dialetto e sarcasmo.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#3 Istituzionale — Chi produce i dati non parla con chi decide.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Siamo al terzo atto.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2743200"/>
            <a:ext cx="97840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8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2008–2015. Contare le menzioni.</a:t>
            </a:r>
            <a:br/>
            <a:r>
              <a:rPr>
                <a:ea typeface="KaiTi"/>
              </a:rPr>
              <a:t>KPI: frequenza citazione.</a:t>
            </a:r>
          </a:p>
        </p:txBody>
      </p:sp>
      <p:sp>
        <p:nvSpPr>
          <p:cNvPr id="8" name="Oval 7"/>
          <p:cNvSpPr/>
          <p:nvPr/>
        </p:nvSpPr>
        <p:spPr>
          <a:xfrm>
            <a:off x="587502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Sentiment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2015–2022. Capire il tono.</a:t>
            </a:r>
            <a:br/>
            <a:r>
              <a:rPr>
                <a:ea typeface="KaiTi"/>
              </a:rPr>
              <a:t>Dashboard e alert crisi.</a:t>
            </a:r>
          </a:p>
        </p:txBody>
      </p:sp>
      <p:sp>
        <p:nvSpPr>
          <p:cNvPr id="11" name="Oval 10"/>
          <p:cNvSpPr/>
          <p:nvPr/>
        </p:nvSpPr>
        <p:spPr>
          <a:xfrm>
            <a:off x="10767060" y="25374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2022–oggi. Anticipare.</a:t>
            </a:r>
            <a:br/>
            <a:r>
              <a:rPr>
                <a:ea typeface="KaiTi"/>
              </a:rPr>
              <a:t>AI + NLP avanzato.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Evoluzione del mercato social analytics — EY Studio+ 2026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031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"Il calcio è semplice, ma giocare a calcio in modo semplice</a:t>
            </a:r>
            <a:br/>
            <a:r>
              <a:rPr>
                <a:ea typeface="KaiTi"/>
              </a:rPr>
              <a:t>è la cosa più difficile che ci sia."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846320"/>
            <a:ext cx="21031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41832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Johan Cruyff — e vale anche per il social listening.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L'AI non fa il tuo lavoro. Lo rende impossibile ignorare.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029200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475488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Cosa fa l'AI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480560" cy="34747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Processa milioni di conversazioni in secondi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Identifica pattern invisibili all'occhio umano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Traduce e normalizza il linguaggio informale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Classifica topic e subtopic automaticamente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Genera sintesi e prime ipotesi interpretative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0975" y="1280160"/>
            <a:ext cx="5029200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8135" y="1280160"/>
            <a:ext cx="475488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Cosa rimane all'analista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30975" y="1828800"/>
            <a:ext cx="5029200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5295" y="2011680"/>
            <a:ext cx="4480560" cy="34747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Formulare la domanda strategica corretta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Valutare la rilevanza del contesto culturale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Connettere i dati alla strategia di brand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Comunicare l'insight alla leadership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Decidere quale segnale vale la pena seguire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Ecco come cambia il metodo.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521409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17320"/>
            <a:ext cx="789889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Domanda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338529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Definire la domanda business prima di aprire qualsiasi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98649" y="1554480"/>
            <a:ext cx="2286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572969" y="1371600"/>
            <a:ext cx="1521409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64409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7329" y="1417320"/>
            <a:ext cx="789889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4409" y="2468880"/>
            <a:ext cx="1338529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Impostare query semantiche, non solo keyword brandizzate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0098" y="1554480"/>
            <a:ext cx="2286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14418" y="1371600"/>
            <a:ext cx="1521409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05858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8778" y="1417320"/>
            <a:ext cx="789889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Raccolta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5858" y="2468880"/>
            <a:ext cx="1338529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L'AI orchestra le fonti: social, forum, search,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1547" y="1554480"/>
            <a:ext cx="2286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5867" y="1371600"/>
            <a:ext cx="1521409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47307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0227" y="1417320"/>
            <a:ext cx="789889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Analisi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307" y="2468880"/>
            <a:ext cx="1338529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L'analista interpreta i pattern, non descrive i volumi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22996" y="1554480"/>
            <a:ext cx="2286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7316" y="1371600"/>
            <a:ext cx="1521409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88756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91676" y="1417320"/>
            <a:ext cx="789889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Narrazione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8756" y="2468880"/>
            <a:ext cx="1338529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L'insight diventa raccomandazione azionabile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4445" y="1554480"/>
            <a:ext cx="2286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38765" y="1371600"/>
            <a:ext cx="1521409" cy="914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30205" y="141732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33125" y="1417320"/>
            <a:ext cx="789889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Decisione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0205" y="2468880"/>
            <a:ext cx="1338529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La C-suite agisce — e il ciclo ricomincia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L'orchestratore conosce tutte le finestre.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545003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98281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Social Media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46888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2270683" cy="2743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Instagram, TikTok, X</a:t>
            </a:r>
            <a:br/>
            <a:r>
              <a:rPr>
                <a:ea typeface="KaiTi"/>
              </a:rPr>
              <a:t>Facebook, LinkedIn</a:t>
            </a:r>
            <a:br/>
            <a:r>
              <a:rPr>
                <a:ea typeface="KaiTi"/>
              </a:rPr>
              <a:t>YouTube comments</a:t>
            </a:r>
            <a:br/>
            <a:r>
              <a:rPr>
                <a:ea typeface="KaiTi"/>
              </a:rPr>
              <a:t>Conversazioni organiche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9403" y="1280160"/>
            <a:ext cx="2545003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165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6563" y="201168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Search &amp; Intent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33723" y="246888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6563" y="2651760"/>
            <a:ext cx="2270683" cy="2743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Google Trends</a:t>
            </a:r>
            <a:br/>
            <a:r>
              <a:rPr>
                <a:ea typeface="KaiTi"/>
              </a:rPr>
              <a:t>Search query analysis</a:t>
            </a:r>
            <a:br/>
            <a:r>
              <a:rPr>
                <a:ea typeface="KaiTi"/>
              </a:rPr>
              <a:t>Autocomplete patterns</a:t>
            </a:r>
            <a:br/>
            <a:r>
              <a:rPr>
                <a:ea typeface="KaiTi"/>
              </a:rPr>
              <a:t>Zero-click signals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1280160"/>
            <a:ext cx="2545003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54049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201168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Community &amp; Forum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61607" y="246888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4447" y="2651760"/>
            <a:ext cx="2270683" cy="2743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Reddit, Quora</a:t>
            </a:r>
            <a:br/>
            <a:r>
              <a:rPr>
                <a:ea typeface="KaiTi"/>
              </a:rPr>
              <a:t>Forum di settore</a:t>
            </a:r>
            <a:br/>
            <a:r>
              <a:rPr>
                <a:ea typeface="KaiTi"/>
              </a:rPr>
              <a:t>Discord e Telegram</a:t>
            </a:r>
            <a:br/>
            <a:r>
              <a:rPr>
                <a:ea typeface="KaiTi"/>
              </a:rPr>
              <a:t>Review platforms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171" y="1280160"/>
            <a:ext cx="2545003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81933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331" y="201168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Media &amp; News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491" y="246888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331" y="2651760"/>
            <a:ext cx="2270683" cy="2743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Testate nazionali</a:t>
            </a:r>
            <a:br/>
            <a:r>
              <a:rPr>
                <a:ea typeface="KaiTi"/>
              </a:rPr>
              <a:t>Blog e newsletter</a:t>
            </a:r>
            <a:br/>
            <a:r>
              <a:rPr>
                <a:ea typeface="KaiTi"/>
              </a:rPr>
              <a:t>Podcast transcripts</a:t>
            </a:r>
            <a:br/>
            <a:r>
              <a:rPr>
                <a:ea typeface="KaiTi"/>
              </a:rPr>
              <a:t>Press release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Ecosystem di fonti gestito da Brandwatch + Trajaan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Il tuo ruolo non sparisce. Sale.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2743200"/>
            <a:ext cx="97840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8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Collezionista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Ieri. Report e tabelle.</a:t>
            </a:r>
            <a:br/>
            <a:r>
              <a:rPr>
                <a:ea typeface="KaiTi"/>
              </a:rPr>
              <a:t>Sostituibile.</a:t>
            </a:r>
          </a:p>
        </p:txBody>
      </p:sp>
      <p:sp>
        <p:nvSpPr>
          <p:cNvPr id="8" name="Oval 7"/>
          <p:cNvSpPr/>
          <p:nvPr/>
        </p:nvSpPr>
        <p:spPr>
          <a:xfrm>
            <a:off x="587502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Curatore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Oggi. Supervisiona l'AI.</a:t>
            </a:r>
            <a:br/>
            <a:r>
              <a:rPr>
                <a:ea typeface="KaiTi"/>
              </a:rPr>
              <a:t>In transizione.</a:t>
            </a:r>
          </a:p>
        </p:txBody>
      </p:sp>
      <p:sp>
        <p:nvSpPr>
          <p:cNvPr id="11" name="Oval 10"/>
          <p:cNvSpPr/>
          <p:nvPr/>
        </p:nvSpPr>
        <p:spPr>
          <a:xfrm>
            <a:off x="10767060" y="25374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Stratega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Domani. Segnali → vantaggio.</a:t>
            </a:r>
            <a:br/>
            <a:r>
              <a:rPr>
                <a:ea typeface="KaiTi"/>
              </a:rPr>
              <a:t>Insostituibile.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Sei amplificatori. Tutti già tuoi.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545003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98281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Curiosità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46888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2270683" cy="2743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La domanda giusta prima del tool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9403" y="1280160"/>
            <a:ext cx="2545003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165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6563" y="201168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Contesto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33723" y="246888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6563" y="2651760"/>
            <a:ext cx="2270683" cy="2743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Il dato nel contesto culturale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1280160"/>
            <a:ext cx="2545003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54049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201168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Narrazione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61607" y="246888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4447" y="2651760"/>
            <a:ext cx="2270683" cy="2743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Numeri in storie per i decision maker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171" y="1280160"/>
            <a:ext cx="2545003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81933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331" y="201168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Sintesi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491" y="246888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331" y="2651760"/>
            <a:ext cx="2270683" cy="2743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Segnale vs rumore ad alto volume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Framework EY Studio+ — Social Intelligence Analyst Competency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Dove si vede il valore concreto.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545003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98281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Brand Health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46888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2270683" cy="2743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Reputazione real-time</a:t>
            </a:r>
            <a:br/>
            <a:r>
              <a:rPr>
                <a:ea typeface="KaiTi"/>
              </a:rPr>
              <a:t>Share of voice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9403" y="1280160"/>
            <a:ext cx="2545003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165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6563" y="201168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Innovation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33723" y="246888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6563" y="2651760"/>
            <a:ext cx="2270683" cy="2743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Unmet need</a:t>
            </a:r>
            <a:br/>
            <a:r>
              <a:rPr>
                <a:ea typeface="KaiTi"/>
              </a:rPr>
              <a:t>Gap di categoria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1280160"/>
            <a:ext cx="2545003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54049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201168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Campaign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61607" y="246888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4447" y="2651760"/>
            <a:ext cx="2270683" cy="2743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Messaging ottimizzato</a:t>
            </a:r>
            <a:br/>
            <a:r>
              <a:rPr>
                <a:ea typeface="KaiTi"/>
              </a:rPr>
              <a:t>Earned media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171" y="1280160"/>
            <a:ext cx="2545003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81933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331" y="201168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Consumer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491" y="246888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331" y="2651760"/>
            <a:ext cx="2270683" cy="2743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Linguaggio del target</a:t>
            </a:r>
            <a:br/>
            <a:r>
              <a:rPr>
                <a:ea typeface="KaiTi"/>
              </a:rPr>
              <a:t>Trigger acquisto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Cosa cambia da lunedì mattina.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Domanda prima dello strumento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08760"/>
            <a:ext cx="6309360" cy="466344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Prima di aprire qualsiasi piattaforma, scrivi la domanda business a cui vuoi rispondere.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2020824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112264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66544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Qualità semantica delle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86584"/>
            <a:ext cx="6309360" cy="466344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Costruisci le query partendo dal linguaggio delle conversazioni, non dal brand book.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2898648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990088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44368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Frequenza intelligente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64408"/>
            <a:ext cx="6309360" cy="466344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Non settimanale per abitudine. Event-driven: lancio, crisi, stagione, campagna.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3776472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3867912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822192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Output in formato decisionale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42232"/>
            <a:ext cx="6309360" cy="466344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Non dashboard. Una slide: cosa abbiamo scoperto, cosa significa, cosa facciamo.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4654296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4745736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700016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Loop con la leadership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020056"/>
            <a:ext cx="6309360" cy="466344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Porta un insight al mese al tuo responsabile. Con una raccomandazione concreta.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1188720"/>
            <a:ext cx="3596335" cy="43891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1463040"/>
            <a:ext cx="30476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rPr>
                <a:ea typeface="KaiTi"/>
              </a:rPr>
              <a:t>Il Principio Guida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645920"/>
            <a:ext cx="3047695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286000"/>
            <a:ext cx="30476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rPr>
                <a:ea typeface="KaiTi"/>
              </a:rPr>
              <a:t>abitudini da lunedì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2834640"/>
            <a:ext cx="3047695" cy="635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3108960"/>
            <a:ext cx="30476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AAAAA"/>
                </a:solidFill>
                <a:latin typeface="Arial"/>
              </a:defRPr>
            </a:pPr>
            <a:r>
              <a:rPr>
                <a:ea typeface="KaiTi"/>
              </a:rPr>
              <a:t>Focus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383280"/>
            <a:ext cx="30476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Domande, non dati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749040"/>
            <a:ext cx="30476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AAAAA"/>
                </a:solidFill>
                <a:latin typeface="Arial"/>
              </a:defRPr>
            </a:pPr>
            <a:r>
              <a:rPr>
                <a:ea typeface="KaiTi"/>
              </a:rP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023360"/>
            <a:ext cx="3047695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Decisioni, non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GRAZIE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"Il futuro del social listening non appartiene a chi ha il tool più sofisticato.</a:t>
            </a:r>
            <a:br/>
            <a:r>
              <a:rPr>
                <a:ea typeface="KaiTi"/>
              </a:rPr>
              <a:t>Appartiene a chi sa fare le domande più intelligenti."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10728655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vincenzo.marrari@it.ey.com | linkedin.com/in/vincenzomarrari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