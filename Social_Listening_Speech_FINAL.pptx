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1714"/>
                </a:solidFill>
                <a:latin typeface="Courier New"/>
              </a:rPr>
              <a:t>WEBINAR · MAGGIO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9144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1714"/>
                </a:solidFill>
                <a:latin typeface="Courier New"/>
              </a:rPr>
              <a:t>EY STUDIO+ × BRANDWATCH × TRAJAAN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5544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0" b="0">
                <a:solidFill>
                  <a:srgbClr val="1A1714"/>
                </a:solidFill>
                <a:latin typeface="Georgia"/>
              </a:rPr>
              <a:t>Social Listening in Italia. </a:t>
            </a:r>
            <a:r>
              <a:rPr sz="10000" b="0">
                <a:solidFill>
                  <a:srgbClr val="B8523A"/>
                </a:solidFill>
                <a:latin typeface="Georgia"/>
              </a:rPr>
              <a:t>Realtà, sfide e opportunità.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229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1A1714"/>
                </a:solidFill>
                <a:latin typeface="Georgia"/>
              </a:rPr>
              <a:t>EY Studio+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8229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8A8175"/>
                </a:solidFill>
                <a:latin typeface="Georgia"/>
              </a:rPr>
              <a:t>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8229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1A1714"/>
                </a:solidFill>
                <a:latin typeface="Georgia"/>
              </a:rPr>
              <a:t>Brandwatch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8229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8A8175"/>
                </a:solidFill>
                <a:latin typeface="Georgia"/>
              </a:rPr>
              <a:t>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8229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1A1714"/>
                </a:solidFill>
                <a:latin typeface="Georgia"/>
              </a:rPr>
              <a:t>Trajaan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82296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Courier New"/>
              </a:rPr>
              <a:t>UNA CONVERSAZIONE SU UN MESTIERE CHE STA CAMBIANDO PELLE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10972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0" b="0">
                <a:solidFill>
                  <a:srgbClr val="B8523A"/>
                </a:solidFill>
                <a:latin typeface="Georgia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1417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200" b="0">
                <a:solidFill>
                  <a:srgbClr val="1A1714"/>
                </a:solidFill>
                <a:latin typeface="Georgia"/>
              </a:rPr>
              <a:t>Il valore dell’AI non sta nella promessa di sostituire l’uomo, ma nella capacità di </a:t>
            </a:r>
            <a:r>
              <a:rPr sz="5200" b="0">
                <a:solidFill>
                  <a:srgbClr val="B8523A"/>
                </a:solidFill>
                <a:latin typeface="Georgia"/>
              </a:rPr>
              <a:t>amplificarne le competenze.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80467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A8175"/>
                </a:solidFill>
                <a:latin typeface="Courier New"/>
              </a:rPr>
              <a:t>— PREMESSA DEL WEBINAR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SPEAKER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0">
                <a:solidFill>
                  <a:srgbClr val="1A1714"/>
                </a:solidFill>
                <a:latin typeface="Georgia"/>
              </a:rPr>
              <a:t>Il relatore </a:t>
            </a:r>
            <a:r>
              <a:rPr sz="6000" b="0">
                <a:solidFill>
                  <a:srgbClr val="B8523A"/>
                </a:solidFill>
                <a:latin typeface="Georgia"/>
              </a:rPr>
              <a:t>della serata.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8523A"/>
                </a:solidFill>
                <a:latin typeface="Courier New"/>
              </a:rPr>
              <a:t>METODO &amp; STRATEGIA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1A1714"/>
                </a:solidFill>
                <a:latin typeface="Georgia"/>
              </a:rPr>
              <a:t>Vincenzo Alberto Marrari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3D3833"/>
                </a:solidFill>
                <a:latin typeface="Arial"/>
              </a:rPr>
              <a:t>Analyst &amp; Insight Strategist Manager — EY Studio+ / Trajaan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3D3833"/>
                </a:solidFill>
                <a:latin typeface="Arial"/>
              </a:rPr>
              <a:t>Costruisce sistemi di intelligence dentro le aziende. Lavora su tassonomie, framework interpretativi e modelli di lettura del segnale culturale.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8686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EY Studio+  ×  Brandwatch  ×  Trajaan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PRIMO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Il paradosso. </a:t>
            </a:r>
            <a:r>
              <a:rPr sz="8000" b="0">
                <a:solidFill>
                  <a:srgbClr val="B8523A"/>
                </a:solidFill>
                <a:latin typeface="Georgia"/>
              </a:rPr>
              <a:t>Tutti lo chiedono, pochi lo riconoscono.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IDENTITÀ E RICONOSCIMENTO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IL PARADOSSO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600" b="0">
                <a:solidFill>
                  <a:srgbClr val="1A1714"/>
                </a:solidFill>
                <a:latin typeface="Georgia"/>
              </a:rPr>
              <a:t>Alta domanda. </a:t>
            </a:r>
            <a:r>
              <a:rPr sz="5600" b="0">
                <a:solidFill>
                  <a:srgbClr val="B8523A"/>
                </a:solidFill>
                <a:latin typeface="Georgia"/>
              </a:rPr>
              <a:t>Bassa adozione strutturata.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A8175"/>
                </a:solidFill>
                <a:latin typeface="Courier New"/>
              </a:rPr>
              <a:t>LA DOMANDA CRESCE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0">
                <a:solidFill>
                  <a:srgbClr val="1A1714"/>
                </a:solidFill>
                <a:latin typeface="Georgia"/>
              </a:rPr>
              <a:t>È citato ovunque.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7772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Brief, gare, dashboard di campagna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Report di reputazione e crisi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Tool enterprise accessibili e diffusi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42 milioni di utenti social attivi in Italia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36576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8523A"/>
                </a:solidFill>
                <a:latin typeface="Courier New"/>
              </a:rPr>
              <a:t>MA RESTA SFOCATO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411480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0">
                <a:solidFill>
                  <a:srgbClr val="B8523A"/>
                </a:solidFill>
                <a:latin typeface="Georgia"/>
              </a:rPr>
              <a:t>Compreso da pochi.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4937760"/>
            <a:ext cx="7772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Adozione frammentata e poco strutturata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Confuso con monitoring e social media management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Manca un metodo condiviso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Raramente entra prima della decisione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SECONDO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Il perimetro. </a:t>
            </a:r>
            <a:r>
              <a:rPr sz="8000" b="0">
                <a:solidFill>
                  <a:srgbClr val="B8523A"/>
                </a:solidFill>
                <a:latin typeface="Georgia"/>
              </a:rPr>
              <a:t>Vicino a tutto, uguale a niente.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DEFINIZIONE E CONFINI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IL PERIMETRO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600" b="0">
                <a:solidFill>
                  <a:srgbClr val="1A1714"/>
                </a:solidFill>
                <a:latin typeface="Georgia"/>
              </a:rPr>
              <a:t>Definire per </a:t>
            </a:r>
            <a:r>
              <a:rPr sz="5600" b="0">
                <a:solidFill>
                  <a:srgbClr val="B8523A"/>
                </a:solidFill>
                <a:latin typeface="Georgia"/>
              </a:rPr>
              <a:t>esclusione.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A8175"/>
                </a:solidFill>
                <a:latin typeface="Courier New"/>
              </a:rPr>
              <a:t>COSA NON 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0">
                <a:solidFill>
                  <a:srgbClr val="1A1714"/>
                </a:solidFill>
                <a:latin typeface="Georgia"/>
              </a:rPr>
              <a:t>Monitoring superficiale.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Contare menzioni — volume ≠ valore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Sentiment automatico — senza contesto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Share of voice superficiale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Dashboard mensile come fine ultimo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Community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3474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8523A"/>
                </a:solidFill>
                <a:latin typeface="Courier New"/>
              </a:rPr>
              <a:t>COSA 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39319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0">
                <a:solidFill>
                  <a:srgbClr val="B8523A"/>
                </a:solidFill>
                <a:latin typeface="Georgia"/>
              </a:rPr>
              <a:t>Un sistema di intelligence.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47548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Voce spontanea — non sollecitata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Bisogni latenti — non dichiarati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Barriere e frizioni — ostacoli reali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Segnali deboli — anticipazione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Cultural insight — tensioni che spiegano i trend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TRE CONFUSIONI TIPICHE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Mestieri vicini, </a:t>
            </a:r>
            <a:r>
              <a:rPr sz="5000" b="0">
                <a:solidFill>
                  <a:srgbClr val="B8523A"/>
                </a:solidFill>
                <a:latin typeface="Georgia"/>
              </a:rPr>
              <a:t>non equivalenti.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VS COMMUNITY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Relazione vs Interpretazione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Il community manager risponde e modera.
L’analista osserva pattern più ampi
e li trasforma in insight strategici.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VS SOCIAL MEDIA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Output vs Segnale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Il social media manager lavora su contenuti e performance.
Il listening analyst legge
il mercato dietro i contenuti.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VS TOOL OPERATOR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Piattaforma vs Pensiero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Saper usare Brandwatch è necessario,
non sufficiente.
Il valore nasce dalla qualità
della domanda.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TERZO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Identità. </a:t>
            </a:r>
            <a:r>
              <a:rPr sz="8000" b="0">
                <a:solidFill>
                  <a:srgbClr val="B8523A"/>
                </a:solidFill>
                <a:latin typeface="Georgia"/>
              </a:rPr>
              <a:t>Un mestiere senza nome chiaro.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NOME, RUOLO, POTERE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10972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0" b="0">
                <a:solidFill>
                  <a:srgbClr val="B8523A"/>
                </a:solidFill>
                <a:latin typeface="Georgia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926080"/>
            <a:ext cx="1417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1A1714"/>
                </a:solidFill>
                <a:latin typeface="Georgia"/>
              </a:rPr>
              <a:t>Il problema non è che il listening venga sottovalutato. È che viene riconosciuto solo quando produce una dashboard, non quando cambia una decisione.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8046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— LA VERA SFIDA DEL SOCIAL LISTENING IN ITALIA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QUARTO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Il mercato italiano. </a:t>
            </a:r>
            <a:r>
              <a:rPr sz="8000" b="0">
                <a:solidFill>
                  <a:srgbClr val="B8523A"/>
                </a:solidFill>
                <a:latin typeface="Georgia"/>
              </a:rPr>
              <a:t>Da reattivo a generativo.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POSIZIONAMENTO E MATURITÀ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DIAGNOSI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1A1714"/>
                </a:solidFill>
                <a:latin typeface="Georgia"/>
              </a:rPr>
              <a:t>In Italia il problema </a:t>
            </a:r>
            <a:r>
              <a:rPr sz="5400" b="0">
                <a:solidFill>
                  <a:srgbClr val="B8523A"/>
                </a:solidFill>
                <a:latin typeface="Georgia"/>
              </a:rPr>
              <a:t>non è tecnologico.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A8175"/>
                </a:solidFill>
                <a:latin typeface="Courier New"/>
              </a:rPr>
              <a:t>CIÒ CHE NON MANCA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714"/>
                </a:solidFill>
                <a:latin typeface="Georgia"/>
              </a:rPr>
              <a:t>Strumenti, dati, attenzione.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Tool enterprise accessibili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Conversazioni digitali abbondanti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Sensibilità verso reputazione e crisi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Budget allocati al monitoraggio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3474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8523A"/>
                </a:solidFill>
                <a:latin typeface="Courier New"/>
              </a:rPr>
              <a:t>CIÒ CHE MANCA DAVVERO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39319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B8523A"/>
                </a:solidFill>
                <a:latin typeface="Georgia"/>
              </a:rPr>
              <a:t>Metodo e posizionamento.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47548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Una tassonomia condivisa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Un ruolo riconosciuto come autonomo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Un perimetro dentro le decisioni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Un linguaggio comune con la strategia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IL SALTO DI MATURITÀ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0">
                <a:solidFill>
                  <a:srgbClr val="1A1714"/>
                </a:solidFill>
                <a:latin typeface="Georgia"/>
              </a:rPr>
              <a:t>Da funzione di validazione </a:t>
            </a:r>
            <a:r>
              <a:rPr sz="4800" b="0">
                <a:solidFill>
                  <a:srgbClr val="B8523A"/>
                </a:solidFill>
                <a:latin typeface="Georgia"/>
              </a:rPr>
              <a:t>a funzione di generazione.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REATTIVO — IL LISTENING ENTRA DOPO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0">
                <a:solidFill>
                  <a:srgbClr val="1A1714"/>
                </a:solidFill>
                <a:latin typeface="Georgia"/>
              </a:rPr>
              <a:t>Il dato commenta.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Misurare cosa è successo dopo la campagna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Seguire una crisi quando è già esplosa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Confermare un brief già scritto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Sentiment mensile e report descrittivo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3474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B8523A"/>
                </a:solidFill>
                <a:latin typeface="Courier New"/>
              </a:rPr>
              <a:t>GENERATIVO — IL LISTENING ENTRA PRIMA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39319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0">
                <a:solidFill>
                  <a:srgbClr val="B8523A"/>
                </a:solidFill>
                <a:latin typeface="Georgia"/>
              </a:rPr>
              <a:t>Il dato orienta.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47548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Prima del brief, per formulare ipotesi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Prima del lancio, per intercettare barriere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Prima della crisi, per leggere i segnali deboli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Prima della scelta di posizionamento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10972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0" b="0">
                <a:solidFill>
                  <a:srgbClr val="B8523A"/>
                </a:solidFill>
                <a:latin typeface="Georgia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926080"/>
            <a:ext cx="1417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1A1714"/>
                </a:solidFill>
                <a:latin typeface="Georgia"/>
              </a:rPr>
              <a:t>Il social listening viene spesso invitato alla riunione in cui si valida una strategia già decisa — non a quella in cui la strategia viene costruita.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8046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— DIAGNOSI DEL MERCATO ITALIANO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QUINTO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Dal dato </a:t>
            </a:r>
            <a:r>
              <a:rPr sz="8000" b="0">
                <a:solidFill>
                  <a:srgbClr val="B8523A"/>
                </a:solidFill>
                <a:latin typeface="Georgia"/>
              </a:rPr>
              <a:t>all’insight.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METODO, TASSONOMIA, DOMANDA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STESSA FONTE, DUE LINGUAGGI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Il report descrive. </a:t>
            </a:r>
            <a:r>
              <a:rPr sz="5000" b="0">
                <a:solidFill>
                  <a:srgbClr val="B8523A"/>
                </a:solidFill>
                <a:latin typeface="Georgia"/>
              </a:rPr>
              <a:t>L’insight interpreta.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METRICA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3200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REPORT (DESCRIVE)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200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INSIGHT (INTERPRETA)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B8523A"/>
                </a:solidFill>
                <a:latin typeface="Georgia"/>
              </a:rPr>
              <a:t>Volume +40%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38404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Le menzioni sono cresciute del 40% nell’ultimo mese.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384048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714"/>
                </a:solidFill>
                <a:latin typeface="Arial"/>
              </a:rPr>
              <a:t>Tensione emergente sul servizio clienti che scala verso i social.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9496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B8523A"/>
                </a:solidFill>
                <a:latin typeface="Georgia"/>
              </a:rPr>
              <a:t>Sentiment negativo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53949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Una quota dei commenti ha sentiment negativo.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539496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714"/>
                </a:solidFill>
                <a:latin typeface="Arial"/>
              </a:rPr>
              <a:t>Distanza tra promessa di brand e customer experience reale.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94944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B8523A"/>
                </a:solidFill>
                <a:latin typeface="Georgia"/>
              </a:rPr>
              <a:t>Customer care 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694944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Una parte delle conversazioni riguarda il customer care.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94944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714"/>
                </a:solidFill>
                <a:latin typeface="Arial"/>
              </a:rPr>
              <a:t>Il customer care sta ridefinendo la percezione di affidabilità del brand.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TASSONOMIA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La query buona nasce </a:t>
            </a:r>
            <a:r>
              <a:rPr sz="5000" b="0">
                <a:solidFill>
                  <a:srgbClr val="B8523A"/>
                </a:solidFill>
                <a:latin typeface="Georgia"/>
              </a:rPr>
              <a:t>prima della query.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554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3D3833"/>
                </a:solidFill>
                <a:latin typeface="Arial"/>
              </a:rPr>
              <a:t>Tre cerchi concentrici, dall’esterno verso il brand.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CERCHIO 1 — PIÙ ESTERNO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714"/>
                </a:solidFill>
                <a:latin typeface="Georgia"/>
              </a:rPr>
              <a:t>Contesto culturale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Pop culture, economia, politica, generazioni, linguaggi emergenti, tensioni sociali.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CERCHIO 2 — INTERMEDIO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429768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714"/>
                </a:solidFill>
                <a:latin typeface="Georgia"/>
              </a:rPr>
              <a:t>Industry &amp; Category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51206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Competitor, occasioni d’uso, barriere, driver, codici del settore.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CERCHIO 3 — PIÙ INTERNO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35840" y="429768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B8523A"/>
                </a:solidFill>
                <a:latin typeface="Georgia"/>
              </a:rPr>
              <a:t>Brand / Prodotto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0" y="51206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Menzioni, campagna, customer experience, prezzo, servizio, distribuzione.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7863840"/>
            <a:ext cx="1554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B8523A"/>
                </a:solidFill>
                <a:latin typeface="Arial"/>
              </a:rPr>
              <a:t>Brandwatch è potente quanto la domanda che gli portate. Il framework decide quali cerchi accendere, e in quale ordine.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UN FRAMEWORK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I tre attriti che raccontano </a:t>
            </a:r>
            <a:r>
              <a:rPr sz="5000" b="0">
                <a:solidFill>
                  <a:srgbClr val="B8523A"/>
                </a:solidFill>
                <a:latin typeface="Georgia"/>
              </a:rPr>
              <a:t>la verità di un brand.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INTENTION–INTERFACE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Voglio, ma non riesco.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L’utente vuole fare qualcosa, ma trova un ostacolo nell’interfaccia, nel processo o nella value proposition.
Fonti: Q&amp;A · Review · Customer Care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TRUST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Esito a fidarmi.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L’utente non si fida del brand, della promessa, del prezzo o della trasparenza.
Fonti: Review · Privacy · Reputazione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USAGE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Lo uso a modo mio.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L’utente usa il prodotto in modi non previsti: workaround, rituali, micro-community.
Fonti: TikTok · Reddit · Forum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SESTO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Le tre ere </a:t>
            </a:r>
            <a:r>
              <a:rPr sz="8000" b="0">
                <a:solidFill>
                  <a:srgbClr val="B8523A"/>
                </a:solidFill>
                <a:latin typeface="Georgia"/>
              </a:rPr>
              <a:t>del social listening.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VOLUME · CONTESTO · SEGNALE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EVOLUZIONE DELLA DISCIPLINA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Dal contatore di menzioni </a:t>
            </a:r>
            <a:r>
              <a:rPr sz="5000" b="0">
                <a:solidFill>
                  <a:srgbClr val="B8523A"/>
                </a:solidFill>
                <a:latin typeface="Georgia"/>
              </a:rPr>
              <a:t>al segnale debole.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ERA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2008 → 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Quante volte mi nominano?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Mention, reach, share of voice.
Descrizione retrospettiva.
Metriche aggregate.
Utile, ma limitato a ciò che è già accaduto.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ERA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2015 →  CONTESTO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Cosa sta succedendo e perché?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Topic, sentiment driver, community,
competitor, crisi.
Il listening inizia a spiegare,
non solo a misurare.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ERA 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2024 →  SEGNALE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Quale segnale debole anticipa una decisione?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Frizioni, pattern emergenti, micro-cluster.
L’AI riduce il costo della sintesi.
L’interpretazione diventa il vero valore.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10972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0" b="0">
                <a:solidFill>
                  <a:srgbClr val="B8523A"/>
                </a:solidFill>
                <a:latin typeface="Georgia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926080"/>
            <a:ext cx="1417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1A1714"/>
                </a:solidFill>
                <a:latin typeface="Georgia"/>
              </a:rPr>
              <a:t>Il volume racconta dove guardano tutti. La forma del rumore racconta dove si nasconde il vantaggio.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8046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— UNA VERITÀ CONTROINTUITIVA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SETTIMO — IL CUORE DEL WEBINAR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AI &amp; </a:t>
            </a:r>
            <a:r>
              <a:rPr sz="8000" b="0">
                <a:solidFill>
                  <a:srgbClr val="B8523A"/>
                </a:solidFill>
                <a:latin typeface="Georgia"/>
              </a:rPr>
              <a:t>ruolo dell’analista.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ACCELERARE, NON DELEGARE IL GIUDIZIO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DUE LIVELLI, DUE RUOLI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0">
                <a:solidFill>
                  <a:srgbClr val="1A1714"/>
                </a:solidFill>
                <a:latin typeface="Georgia"/>
              </a:rPr>
              <a:t>Task layer </a:t>
            </a:r>
            <a:r>
              <a:rPr sz="6000" b="0">
                <a:solidFill>
                  <a:srgbClr val="B8523A"/>
                </a:solidFill>
                <a:latin typeface="Georgia"/>
              </a:rPr>
              <a:t>vs Judgement layer.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8523A"/>
                </a:solidFill>
                <a:latin typeface="Courier New"/>
              </a:rPr>
              <a:t>TASK LAYER ·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1714"/>
                </a:solidFill>
                <a:latin typeface="Georgia"/>
              </a:rPr>
              <a:t>Ciò che l’AI sa accelerare.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Sintesi di volumi enormi di conversazioni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Clustering e tagging preliminare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Classificazione di topic e sentiment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Pattern recognition di base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Bozze di report e supporto alla query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Esplorazione rapida di ipotesi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0" y="2926080"/>
            <a:ext cx="8778240" cy="6583680"/>
          </a:xfrm>
          <a:prstGeom prst="rect">
            <a:avLst/>
          </a:prstGeom>
          <a:solidFill>
            <a:srgbClr val="1A17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2918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8523A"/>
                </a:solidFill>
                <a:latin typeface="Courier New"/>
              </a:rPr>
              <a:t>JUDGEMENT LAYER · UMANO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384048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3EDE1"/>
                </a:solidFill>
                <a:latin typeface="Georgia"/>
              </a:rPr>
              <a:t>Ciò che resta umano.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46634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Formulare la domanda giusta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Validare l’affidabilità del dato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Riconoscere bias e contesto culturale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Leggere le implicazioni organizzative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Collegare insight a decisione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Portare un finding scomodo dove serve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10972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0" b="0">
                <a:solidFill>
                  <a:srgbClr val="B8523A"/>
                </a:solidFill>
                <a:latin typeface="Georgia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926080"/>
            <a:ext cx="1417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1A1714"/>
                </a:solidFill>
                <a:latin typeface="Georgia"/>
              </a:rPr>
              <a:t>L’AI può accelerare il lavoro. Non può sostituire il giudizio che decide cosa è rilevante.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8046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— IL PRINCIPIO FONDAMENTALE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DA INSIGHT ANALYST A INTELLIGENCE ORCHESTRATOR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200" b="0">
                <a:solidFill>
                  <a:srgbClr val="1A1714"/>
                </a:solidFill>
                <a:latin typeface="Georgia"/>
              </a:rPr>
              <a:t>Il nuovo workflow </a:t>
            </a:r>
            <a:r>
              <a:rPr sz="5200" b="0">
                <a:solidFill>
                  <a:srgbClr val="B8523A"/>
                </a:solidFill>
                <a:latin typeface="Georgia"/>
              </a:rPr>
              <a:t>dell’analista.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A8175"/>
                </a:solidFill>
                <a:latin typeface="Courier New"/>
              </a:rPr>
              <a:t>PRIMA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1A1714"/>
                </a:solidFill>
                <a:latin typeface="Georgia"/>
              </a:rPr>
              <a:t>Query → Analisi →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1. Query — definizione parametri di ricerca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2. Analisi — elaborazione dati manuale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3. Report — sintesi e presentazione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32004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8523A"/>
                </a:solidFill>
                <a:latin typeface="Courier New"/>
              </a:rPr>
              <a:t>OGGI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3657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B8523A"/>
                </a:solidFill>
                <a:latin typeface="Georgia"/>
              </a:rPr>
              <a:t>Business Question → Fonti → AI → Validazione → 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438912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1. Business Question — domanda strategica di partenza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2. Fonti multiple + AI Synthesis — clustering, pattern, sintesi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3. Human Validation — validazione e interpretazione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4. Insight — decisione orientata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8412480"/>
            <a:ext cx="1554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B8523A"/>
                </a:solidFill>
                <a:latin typeface="Arial"/>
              </a:rPr>
              <a:t>Il nuovo professionista non analizza una fonte — orchestra un ecosistema di conoscenza verso decisioni migliori.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EVOLUZIONE DEL RUOLO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Tre generazioni </a:t>
            </a:r>
            <a:r>
              <a:rPr sz="5000" b="0">
                <a:solidFill>
                  <a:srgbClr val="B8523A"/>
                </a:solidFill>
                <a:latin typeface="Georgia"/>
              </a:rPr>
              <a:t>di analista.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ANALYST 1.0 · MONITORA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Cosa è successo?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Output: dashboard, report
Focus: misurazione passata
Il dato arriva dopo la decisione.
Descrizione retrospettiva.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ANALYST 2.0 · INTERPRETA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Perché è successo?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Output: insight, analisi
Focus: interpretazione causale
Il dato supporta la decisione.
Comprensione dei driver.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3.0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ANALYST 3.0 · ORCHESTRA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Cosa dovremmo fare?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Output: decision intelligence
Focus: orchestrazione fonti
Il dato orienta la decisione.
L’AI amplifica il giudizio.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I SUPERPOWERS DELL’AI PER L’INSIGHT ANALYST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>
                <a:solidFill>
                  <a:srgbClr val="1A1714"/>
                </a:solidFill>
                <a:latin typeface="Georgia"/>
              </a:rPr>
              <a:t>Sei capacità che </a:t>
            </a:r>
            <a:r>
              <a:rPr sz="4400" b="0">
                <a:solidFill>
                  <a:srgbClr val="B8523A"/>
                </a:solidFill>
                <a:latin typeface="Georgia"/>
              </a:rPr>
              <a:t>amplificano il lavoro dell’analista.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1714"/>
                </a:solidFill>
                <a:latin typeface="Georgia"/>
              </a:rPr>
              <a:t>Milioni di conversazioni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Analisi in tempo reale oltre i limiti fisici dell’elaborazione umana.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SPEED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566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1714"/>
                </a:solidFill>
                <a:latin typeface="Georgia"/>
              </a:rPr>
              <a:t>10 ipotesi in un’ora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062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Generazione rapida di ipotesi analitiche, accelerando l’esplorazione.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0" y="3566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1714"/>
                </a:solidFill>
                <a:latin typeface="Georgia"/>
              </a:rPr>
              <a:t>Più mercati e lingue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0" y="42062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Monitoraggio simultaneo di mercati, lingue e canali senza overhead.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43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309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1714"/>
                </a:solidFill>
                <a:latin typeface="Georgia"/>
              </a:rPr>
              <a:t>Anni di report storici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9494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Accesso ad archivi interrogabili per trend analysis e benchmarking.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943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DISCOVERY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309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1714"/>
                </a:solidFill>
                <a:latin typeface="Georgia"/>
              </a:rPr>
              <a:t>Pattern invisibili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9494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Identificazione di correlazioni nascoste nei dati.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0" y="5943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SIMULATION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0" y="6309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1714"/>
                </a:solidFill>
                <a:latin typeface="Georgia"/>
              </a:rPr>
              <a:t>Scenari alternativi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0" y="69494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Simulazione di scenari per valutare impatti e opportunità.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10972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0" b="0">
                <a:solidFill>
                  <a:srgbClr val="B8523A"/>
                </a:solidFill>
                <a:latin typeface="Georgia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926080"/>
            <a:ext cx="1417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L’AI non pensa al posto dell’analista, ma </a:t>
            </a:r>
            <a:r>
              <a:rPr sz="5000" b="0">
                <a:solidFill>
                  <a:srgbClr val="B8523A"/>
                </a:solidFill>
                <a:latin typeface="Georgia"/>
              </a:rPr>
              <a:t>amplifica ciò che l’analista è in grado di vedere.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8046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— IL VALORE DELL’ANALISTA NELL’ERA DELL’AI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OTTAVO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Applicazioni concrete. </a:t>
            </a:r>
            <a:r>
              <a:rPr sz="8000" b="0">
                <a:solidFill>
                  <a:srgbClr val="B8523A"/>
                </a:solidFill>
                <a:latin typeface="Georgia"/>
              </a:rPr>
              <a:t>Dove genera valore.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QUATTRO CASI D’USO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DOVE GENERA VALORE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1A1714"/>
                </a:solidFill>
                <a:latin typeface="Georgia"/>
              </a:rPr>
              <a:t>Quattro applicazioni, </a:t>
            </a:r>
            <a:r>
              <a:rPr sz="4600" b="0">
                <a:solidFill>
                  <a:srgbClr val="B8523A"/>
                </a:solidFill>
                <a:latin typeface="Georgia"/>
              </a:rPr>
              <a:t>quattro modi di decidere meglio.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01 · BRAND &amp; REPUTATION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Reputation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Percezione, fiducia, driver reputazionali, rischi latenti.
Abilita: monitoraggio continuo, alert reputazionali.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179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02 · CAMPAIGN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58368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Campaign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722376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Ricezione organica, messaggi compresi o fraintesi, asset che funzionano.
Abilita: correzioni in itinere e validazione creativa.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32918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03 · PRODUCT &amp; INNOVATION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36576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Product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429768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Bisogni latenti, barriere, frizioni d’uso, workaround, early adopter.
Abilita: roadmap orientate, scoperta di use case non previsti.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2179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04 · CRISIS &amp; REAL-TIME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8368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Real-time Intelligence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722376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Segnali deboli, anomalie, crisi reputazionali, issue emergenti.
Abilita: decisione su se, come, quando e con quale tono rispondere.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NONO · CHIUSURA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Cosa cambia </a:t>
            </a:r>
            <a:r>
              <a:rPr sz="8000" b="0">
                <a:solidFill>
                  <a:srgbClr val="B8523A"/>
                </a:solidFill>
                <a:latin typeface="Georgia"/>
              </a:rPr>
              <a:t>lunedì mattina.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QUATTRO TAKEAWAY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QUATTRO PRINCIPI PRATICI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Da portare via — </a:t>
            </a:r>
            <a:r>
              <a:rPr sz="5000" b="0">
                <a:solidFill>
                  <a:srgbClr val="B8523A"/>
                </a:solidFill>
                <a:latin typeface="Georgia"/>
              </a:rPr>
              <a:t>e da applicare subito.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B8523A"/>
                </a:solidFill>
                <a:latin typeface="Georg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32004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8A8175"/>
                </a:solidFill>
                <a:latin typeface="Courier New"/>
              </a:rPr>
              <a:t>DAI UN NOME AL MESTIERE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Se il listening viene confuso con social media management o reporting, difficilmente entrerà nelle decisioni che contano.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310896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B8523A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8A8175"/>
                </a:solidFill>
                <a:latin typeface="Courier New"/>
              </a:rPr>
              <a:t>PRIMA DELLA QUERY, LA DECISIONE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3749039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Se non è chiaro quale decisione deve supportare l’analisi, il rischio è produrre monitoraggio — non intelligence.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B8523A"/>
                </a:solidFill>
                <a:latin typeface="Georgia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612647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8A8175"/>
                </a:solidFill>
                <a:latin typeface="Courier New"/>
              </a:rPr>
              <a:t>NON CERCARE VOLUME: CERCA FRIZIONE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675120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Il segnale più utile spesso non è il picco più grande, ma il pattern più scomodo: una sfiducia latente, un uso imprevisto.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0350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B8523A"/>
                </a:solidFill>
                <a:latin typeface="Georgia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12647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8A8175"/>
                </a:solidFill>
                <a:latin typeface="Courier New"/>
              </a:rPr>
              <a:t>USA L’AI PER ACCELERARE, NON DELEGARE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675120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L’AI può fare il Task Layer. Il Judgement Layer resta umano. Usala per andare più veloce — non per smettere di pensare.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554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EY STUDIO+ × BRANDWATCH × TRAJAAN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5544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F3EDE1"/>
                </a:solidFill>
                <a:latin typeface="Georgia"/>
              </a:rPr>
              <a:t>Il futuro del social listening non sarà deciso da chi possiede il tool migliore.
Sarà deciso da chi saprà fare le domande migliori, </a:t>
            </a:r>
            <a:r>
              <a:rPr sz="4600" b="0">
                <a:solidFill>
                  <a:srgbClr val="B8523A"/>
                </a:solidFill>
                <a:latin typeface="Georgia"/>
              </a:rPr>
              <a:t>difendere il metodo, e portare il segnale dove le decisioni vengono prese.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0467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600" b="0">
                <a:solidFill>
                  <a:srgbClr val="F3EDE1"/>
                </a:solidFill>
                <a:latin typeface="Georgia"/>
              </a:rPr>
              <a:t>GRAZIE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61120"/>
            <a:ext cx="1554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EBE4D3"/>
                </a:solidFill>
                <a:latin typeface="Courier New"/>
              </a:rPr>
              <a:t>Q&amp;A A SEGUIRE · VINCENZO ALBERTO MARRARI · EY STUDIO+ / TRAJAAN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