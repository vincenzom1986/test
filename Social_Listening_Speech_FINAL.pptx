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92" r:id="rId43"/>
    <p:sldId id="265" r:id="rId16"/>
    <p:sldId id="266" r:id="rId17"/>
    <p:sldId id="267" r:id="rId18"/>
    <p:sldId id="293" r:id="rId44"/>
    <p:sldId id="268" r:id="rId19"/>
    <p:sldId id="269" r:id="rId20"/>
    <p:sldId id="270" r:id="rId21"/>
    <p:sldId id="271" r:id="rId22"/>
    <p:sldId id="294" r:id="rId45"/>
    <p:sldId id="273" r:id="rId24"/>
    <p:sldId id="274" r:id="rId25"/>
    <p:sldId id="275" r:id="rId26"/>
    <p:sldId id="276" r:id="rId27"/>
    <p:sldId id="291" r:id="rId42"/>
    <p:sldId id="277" r:id="rId28"/>
    <p:sldId id="278" r:id="rId29"/>
    <p:sldId id="279" r:id="rId30"/>
    <p:sldId id="289" r:id="rId40"/>
    <p:sldId id="290" r:id="rId4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2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WEBINAR · MAGGIO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914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0">
                <a:solidFill>
                  <a:srgbClr val="1A1714"/>
                </a:solidFill>
                <a:latin typeface="Georgia"/>
              </a:rPr>
              <a:t>Social Listening in Italia. </a:t>
            </a:r>
            <a:r>
              <a:rPr sz="10000" b="0">
                <a:solidFill>
                  <a:srgbClr val="B8523A"/>
                </a:solidFill>
                <a:latin typeface="Georgia"/>
              </a:rPr>
              <a:t>Realtà, sfide e opportunità.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EY Studio+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229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Brandwatch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Trajaan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82296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Courier New"/>
              </a:rPr>
              <a:t>UNA CONVERSAZIONE SU UN MESTIERE CHE STA CAMBIANDO PELLE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0">
                <a:solidFill>
                  <a:srgbClr val="1A1714"/>
                </a:solidFill>
                <a:latin typeface="Georgia"/>
              </a:rPr>
              <a:t>Il valore dell’AI non sta nella promessa di sostituire l’uomo, ma nella capacità di </a:t>
            </a:r>
            <a:r>
              <a:rPr sz="5200" b="0">
                <a:solidFill>
                  <a:srgbClr val="B8523A"/>
                </a:solidFill>
                <a:latin typeface="Georgia"/>
              </a:rPr>
              <a:t>amplificarne le competenze.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8046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— PREMESSA DEL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SPEAKER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Il relatore </a:t>
            </a:r>
            <a:r>
              <a:rPr sz="6000" b="0">
                <a:solidFill>
                  <a:srgbClr val="B8523A"/>
                </a:solidFill>
                <a:latin typeface="Georgia"/>
              </a:rPr>
              <a:t>della serata.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METODO &amp; STRATEGIA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A1714"/>
                </a:solidFill>
                <a:latin typeface="Georgia"/>
              </a:rPr>
              <a:t>Vincenzo Alberto Marrari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D3833"/>
                </a:solidFill>
                <a:latin typeface="Arial"/>
              </a:rPr>
              <a:t>Analyst &amp; Insight Strategist Manager — EY Studio+ / Trajaan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D3833"/>
                </a:solidFill>
                <a:latin typeface="Arial"/>
              </a:rPr>
              <a:t>Costruisce sistemi di intelligence dentro le aziende. Lavora su tassonomie, framework interpretativi e modelli di lettura del segnale culturale.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8686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EY Studio+  ×  Brandwatch  ×  Trajaan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PRIMO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paradosso. </a:t>
            </a:r>
            <a:r>
              <a:rPr sz="8000" b="0">
                <a:solidFill>
                  <a:srgbClr val="B8523A"/>
                </a:solidFill>
                <a:latin typeface="Georgia"/>
              </a:rPr>
              <a:t>Tutti lo chiedono, pochi lo riconoscono.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IDENTITÀ E RICONOSCIMENTO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PARADOSSO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Alta domanda. </a:t>
            </a:r>
            <a:r>
              <a:rPr sz="5600" b="0">
                <a:solidFill>
                  <a:srgbClr val="B8523A"/>
                </a:solidFill>
                <a:latin typeface="Georgia"/>
              </a:rPr>
              <a:t>Bassa adozione strutturata.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LA DOMANDA CRESCE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1A1714"/>
                </a:solidFill>
                <a:latin typeface="Georgia"/>
              </a:rPr>
              <a:t>È citato ovunque.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Brief, gare, dashboard di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Report di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 e diffusi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42 milioni di utenti social attivi in Italia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MA RESTA SFOCATO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B8523A"/>
                </a:solidFill>
                <a:latin typeface="Georgia"/>
              </a:rPr>
              <a:t>Compreso da pochi.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Adozione frammentata e poco strutturata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Confuso con monitoring e social media management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Manca un metodo condiviso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Raramente entra prima della decisione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SECONDO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perimetro. </a:t>
            </a:r>
            <a:r>
              <a:rPr sz="8000" b="0">
                <a:solidFill>
                  <a:srgbClr val="B8523A"/>
                </a:solidFill>
                <a:latin typeface="Georgia"/>
              </a:rPr>
              <a:t>Vicino a tutto, uguale a niente.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DEFINIZIONE E CONFINI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PERIMETRO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Definire per </a:t>
            </a:r>
            <a:r>
              <a:rPr sz="5600" b="0">
                <a:solidFill>
                  <a:srgbClr val="B8523A"/>
                </a:solidFill>
                <a:latin typeface="Georgia"/>
              </a:rPr>
              <a:t>esclusione.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COSA NON 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Monitoring superficiale.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Contare menzioni — volume ≠ valore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Sentiment automatico — senza contesto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Share of voice superficiale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Dashboard mensile come fine ultimo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Community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COSA 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Un sistema di intelligence.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Voce spontanea — non sollecitata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Bisogni latenti — non dichiarati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Barriere e frizioni — ostacoli reali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Segnali deboli — anticipazione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Cultural insight — tensioni che spiegano i trend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TRE CONFUSIONI TIPICHE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Mestieri vicini, </a:t>
            </a:r>
            <a:r>
              <a:rPr sz="5000" b="0">
                <a:solidFill>
                  <a:srgbClr val="B8523A"/>
                </a:solidFill>
                <a:latin typeface="Georgia"/>
              </a:rPr>
              <a:t>non equivalenti.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COMMUNITY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Relazione vs Interpretazione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community manager risponde e modera.
L’analista osserva pattern più ampi
e li trasforma in insight strategici.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SOCIAL MEDIA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Output vs Segnale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social media manager lavora su contenuti e performance.
Il listening analyst legge
il mercato dietro i contenuti.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TOOL OPERATOR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Piattaforma vs Pensiero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Saper usare Brandwatch è necessario,
non sufficiente.
Il valore nasce dalla qualità
della domanda.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TERZO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Identità. </a:t>
            </a:r>
            <a:r>
              <a:rPr sz="8000" b="0">
                <a:solidFill>
                  <a:srgbClr val="B8523A"/>
                </a:solidFill>
                <a:latin typeface="Georgia"/>
              </a:rPr>
              <a:t>Un mestiere senza nome chiaro.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NOME, RUOLO, POTERE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problema non è che il listening venga sottovalutato. È che viene riconosciuto solo quando produce una dashboard, non quando cambia una decisione.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LA VERA SFIDA DEL SOCIAL LISTENING IN ITALIA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QUARTO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mercato italiano. </a:t>
            </a:r>
            <a:r>
              <a:rPr sz="8000" b="0">
                <a:solidFill>
                  <a:srgbClr val="B8523A"/>
                </a:solidFill>
                <a:latin typeface="Georgia"/>
              </a:rPr>
              <a:t>Da reattivo a generativo.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POSIZIONAMENTO E MATURITÀ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DIAGNOSI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1A1714"/>
                </a:solidFill>
                <a:latin typeface="Georgia"/>
              </a:rPr>
              <a:t>In Italia il problema </a:t>
            </a:r>
            <a:r>
              <a:rPr sz="5400" b="0">
                <a:solidFill>
                  <a:srgbClr val="B8523A"/>
                </a:solidFill>
                <a:latin typeface="Georgia"/>
              </a:rPr>
              <a:t>non è tecnologico.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CIÒ CHE NON MANCA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714"/>
                </a:solidFill>
                <a:latin typeface="Georgia"/>
              </a:rPr>
              <a:t>Strumenti, dati, attenzione.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Conversazioni digitali abbondanti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Sensibilità verso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Budget allocati al monitoraggio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CIÒ CHE MANCA DAVVERO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B8523A"/>
                </a:solidFill>
                <a:latin typeface="Georgia"/>
              </a:rPr>
              <a:t>Metodo e posizionamento.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Una tassonomia condivisa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ruolo riconosciuto come autonomo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perimetro dentro le decisioni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linguaggio comune con la strategia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SALTO DI MATURITÀ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0">
                <a:solidFill>
                  <a:srgbClr val="1A1714"/>
                </a:solidFill>
                <a:latin typeface="Georgia"/>
              </a:rPr>
              <a:t>Da funzione di validazione </a:t>
            </a:r>
            <a:r>
              <a:rPr sz="4800" b="0">
                <a:solidFill>
                  <a:srgbClr val="B8523A"/>
                </a:solidFill>
                <a:latin typeface="Georgia"/>
              </a:rPr>
              <a:t>a funzione di generazione.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REATTIVO — IL LISTENING ENTRA DOPO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Il dato commenta.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Misurare cosa è successo dopo la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Seguire una crisi quando è già esplosa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Confermare un brief già scritto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Sentiment mensile e report descrittivo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B8523A"/>
                </a:solidFill>
                <a:latin typeface="Courier New"/>
              </a:rPr>
              <a:t>GENERATIVO — IL LISTENING ENTRA PRIMA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Il dato orienta.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brief, per formulare ipotesi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lancio, per intercettare barriere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crisi, per leggere i segnali deboli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scelta di posizionamento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social listening viene spesso invitato alla riunione in cui si valida una strategia già decisa — non a quella in cui la strategia viene costruita.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DIAGNOSI DEL MERCATO ITALIANO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Dal dato </a:t>
            </a:r>
            <a:r>
              <a:rPr sz="8000" b="0">
                <a:solidFill>
                  <a:srgbClr val="B8523A"/>
                </a:solidFill>
                <a:latin typeface="Georgia"/>
              </a:rPr>
              <a:t>all’insight.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METODO, TASSONOMIA, DOMANDA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STESSA FONTE, DUE LINGUAGGI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Il report descrive. </a:t>
            </a:r>
            <a:r>
              <a:rPr sz="5000" b="0">
                <a:solidFill>
                  <a:srgbClr val="B8523A"/>
                </a:solidFill>
                <a:latin typeface="Georgia"/>
              </a:rPr>
              <a:t>L’insight interpreta.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METRICA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REPORT (DESCRIVE)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200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INSIGHT (INTERPRETA)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Volume +40%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Le menzioni sono cresciute del 40% nell’ultimo mese.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384048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Tensione emergente sul servizio clienti che scala verso i social.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Sentiment negativo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quota dei commenti ha sentiment negativo.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539496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Distanza tra promessa di brand e customer experience reale.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94944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Customer care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9494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parte delle conversazioni riguarda il customer care.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949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Il customer care sta ridefinendo la percezione di affidabilità del brand.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TASSONOMIA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La query buona nasce </a:t>
            </a:r>
            <a:r>
              <a:rPr sz="5000" b="0">
                <a:solidFill>
                  <a:srgbClr val="B8523A"/>
                </a:solidFill>
                <a:latin typeface="Georgia"/>
              </a:rPr>
              <a:t>prima della query.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D3833"/>
                </a:solidFill>
                <a:latin typeface="Arial"/>
              </a:rPr>
              <a:t>Tre cerchi concentrici, dall’esterno verso il brand.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1 — PIÙ ESTERNO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Contesto culturale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Pop culture, economia, politica, generazioni, linguaggi emergenti, tensioni sociali.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2 — INTERMEDIO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Industry &amp;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Competitor, occasioni d’uso, barriere, driver, codici del settore.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3 — PIÙ INTERNO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523A"/>
                </a:solidFill>
                <a:latin typeface="Georgia"/>
              </a:rPr>
              <a:t>Brand / Prodotto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Menzioni, campagna, customer experience, prezzo, servizio, distribuzione.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86384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Brandwatch è potente quanto la domanda che gli portate. Il framework decide quali cerchi accendere, e in quale ordine.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 FRAMEWORK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 tre attriti che raccontano </a:t>
            </a:r>
            <a:r>
              <a:rPr sz="5000" b="0">
                <a:solidFill>
                  <a:srgbClr val="B8523A"/>
                </a:solidFill>
                <a:latin typeface="Georgia"/>
              </a:rPr>
              <a:t>la verità di un brand.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INTENTION–INTERFACE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Voglio, ma non riesco.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vuole fare qualcosa, ma trova un ostacolo nell’interfaccia, nel processo o nella value proposition.
Fonti: Q&amp;A · Review · Customer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TRUST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Esito a fidarmi.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non si fida del brand, della promessa, del prezzo o della trasparenza.
Fonti: Review · Privacy · Reputazione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USAGE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Lo uso a modo mio.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usa il prodotto in modi non previsti: workaround, rituali, micro-community.
Fonti: TikTok · Reddit · Forum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Le tre ere </a:t>
            </a:r>
            <a:r>
              <a:rPr sz="8000" b="0">
                <a:solidFill>
                  <a:srgbClr val="B8523A"/>
                </a:solidFill>
                <a:latin typeface="Georgia"/>
              </a:rPr>
              <a:t>del social listening.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VOLUME · CONTESTO · SEGNALE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DELLA DISCIPLINA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Dal contatore di menzioni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al segnale debole.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2008 → 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Quante volte mi nominano?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Mention, reach, share of voice.
Descrizione retrospettiva.
Metriche aggregate.
Utile, ma limitato a ciò che è già accaduto.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2015 →  CONTESTO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sta succedendo e perché?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Topic, sentiment driver, community,
competitor, crisi.
Il listening inizia a spiegare,
non solo a misurare.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2024 →  SEGNALE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Quale segnale debole anticipa una decisione?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Frizioni, pattern emergenti, micro-cluster.
L’AI riduce il costo della sintesi.
L’interpretazione diventa il vero valore.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volume racconta dove guardano tutti. La forma del rumore racconta dove si nasconde il vantaggio.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UNA VERITÀ CONTROINTUITIVA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10287000"/>
          </a:xfrm>
          <a:prstGeom prst="rect">
            <a:avLst/>
          </a:prstGeom>
          <a:solidFill>
            <a:srgbClr val="10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[IMMAGINE JOHAN CRUYFF]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36576" cy="73152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13716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PRIMA DI PARLARE DI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92024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0" b="0">
                <a:solidFill>
                  <a:srgbClr val="B8523A"/>
                </a:solidFill>
                <a:latin typeface="Georgia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743200"/>
            <a:ext cx="8686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solidFill>
                  <a:srgbClr val="F3EDE1"/>
                </a:solidFill>
                <a:latin typeface="Georgia"/>
              </a:rPr>
              <a:t>Il calcio e semplice. Ma giocare a calcio in modo semplice </a:t>
            </a:r>
            <a:r>
              <a:rPr sz="4000">
                <a:solidFill>
                  <a:srgbClr val="B8523A"/>
                </a:solidFill>
                <a:latin typeface="Georgia"/>
              </a:rPr>
              <a:t>e la cosa piu difficile che esista.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7132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— Johan Cruyff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80467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550"/>
                </a:solidFill>
                <a:latin typeface="Courier New"/>
              </a:rPr>
              <a:t>NOTA RELATORE: "Cruyff non stava parlando solo di calcio. Stava descrivendo cosa significa rendere la complessita semplice, leggibile, azionabile. E questo e esattamente il nostro mestiere."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SETTIMO — IL CUORE DEL WEBINAR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AI &amp; </a:t>
            </a:r>
            <a:r>
              <a:rPr sz="8000" b="0">
                <a:solidFill>
                  <a:srgbClr val="B8523A"/>
                </a:solidFill>
                <a:latin typeface="Georgia"/>
              </a:rPr>
              <a:t>ruolo dell’analista.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ACCELERARE, NON DELEGARE IL GIUDIZIO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DUE LIVELLI, DUE RUOLI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Task layer </a:t>
            </a:r>
            <a:r>
              <a:rPr sz="6000" b="0">
                <a:solidFill>
                  <a:srgbClr val="B8523A"/>
                </a:solidFill>
                <a:latin typeface="Georgia"/>
              </a:rPr>
              <a:t>vs Judgement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TASK LAYER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714"/>
                </a:solidFill>
                <a:latin typeface="Georgia"/>
              </a:rPr>
              <a:t>Ciò che l’AI sa accelerare.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Sintesi di volumi enormi di conversazioni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Clustering e tagging preliminare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Classificazione di topic e sentiment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Pattern recognition di base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Bozze di report e supporto alla query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Esplorazione rapida di ipotesi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926080"/>
            <a:ext cx="8778240" cy="658368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JUDGEMENT LAYER · UMANO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3EDE1"/>
                </a:solidFill>
                <a:latin typeface="Georgia"/>
              </a:rPr>
              <a:t>Ciò che resta umano.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46634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Formulare la domanda giusta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Validare l’affidabilità del dato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Riconoscere bias e contesto culturale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Leggere le implicazioni organizzative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Collegare insight a decisione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Portare un finding scomodo dove serve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L’AI può accelerare il lavoro. Non può sostituire il giudizio che decide cosa è rilevante.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PRINCIPIO FONDAMENTALE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NUOVO WORKFLOW DELL'INSIGHT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>
                <a:solidFill>
                  <a:srgbClr val="1A1714"/>
                </a:solidFill>
                <a:latin typeface="Georgia"/>
              </a:rPr>
              <a:t>Dall'analisi di una fonte </a:t>
            </a:r>
            <a:r>
              <a:rPr sz="4200">
                <a:solidFill>
                  <a:srgbClr val="B8523A"/>
                </a:solidFill>
                <a:latin typeface="Georgia"/>
              </a:rPr>
              <a:t>all'orchestrazione di un ecosistema.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108960"/>
            <a:ext cx="2743200" cy="256032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BUSINESS
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Quale decisione
devo supportare?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129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3108960"/>
            <a:ext cx="2743200" cy="25603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FONTI
MULTIPLE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Social, search,
survey, CRM...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108960"/>
            <a:ext cx="2743200" cy="256032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EBE4D3"/>
                </a:solidFill>
                <a:latin typeface="Georgia"/>
              </a:rPr>
              <a:t>AI
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BE4D3"/>
                </a:solidFill>
                <a:latin typeface="Arial"/>
              </a:rPr>
              <a:t>Clustering,
pattern, sintesi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777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3108960"/>
            <a:ext cx="2743200" cy="2560320"/>
          </a:xfrm>
          <a:prstGeom prst="rect">
            <a:avLst/>
          </a:prstGeom>
          <a:solidFill>
            <a:srgbClr val="8A8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3833"/>
                </a:solidFill>
                <a:latin typeface="Courier New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HUMAN
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Contesto,
bias, rilevanza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101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84480" y="3108960"/>
            <a:ext cx="2743200" cy="25603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12164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2164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INSIGHT
DECISIONE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2164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Il dato orienta,
non commenta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3504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FONTI CHE ALIMENTANO IL WORKFLOW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6583680"/>
            <a:ext cx="2249424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6647688"/>
            <a:ext cx="20665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Social Listening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6583680"/>
            <a:ext cx="187909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79" y="6647688"/>
            <a:ext cx="16962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Search Intent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6583680"/>
            <a:ext cx="1632204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6647688"/>
            <a:ext cx="14493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Survey CAWI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6583680"/>
            <a:ext cx="64465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6647688"/>
            <a:ext cx="4617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CRM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6583680"/>
            <a:ext cx="187909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6647688"/>
            <a:ext cx="16962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Web Analytics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6583680"/>
            <a:ext cx="1138428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93040" y="6647688"/>
            <a:ext cx="9555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Reviews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447520" y="6583680"/>
            <a:ext cx="126187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538960" y="664768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GEO &amp; 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740664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Il professionista maturo non difende una fonte: sceglie quella giusta per la domanda giusta.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832104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8175"/>
                </a:solidFill>
                <a:latin typeface="Courier New"/>
              </a:rPr>
              <a:t>NOTA RELATORE: "Questo e il modo in cui lavoro ogni giorno. La differenza tra chi produce report e chi produce decisioni passa da questo schema."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UNA MAPPA, NON UNA SCELTA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>
                <a:solidFill>
                  <a:srgbClr val="1A1714"/>
                </a:solidFill>
                <a:latin typeface="Georgia"/>
              </a:rPr>
              <a:t>Non difendere una fonte. </a:t>
            </a:r>
            <a:r>
              <a:rPr sz="3800">
                <a:solidFill>
                  <a:srgbClr val="B8523A"/>
                </a:solidFill>
                <a:latin typeface="Georgia"/>
              </a:rPr>
              <a:t>Scegliere quella giusta per la domanda giusta.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926080"/>
            <a:ext cx="3246120" cy="1481328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VOCE SPONTANEA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Social Listening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2926080"/>
            <a:ext cx="3246120" cy="1481328"/>
          </a:xfrm>
          <a:prstGeom prst="rect">
            <a:avLst/>
          </a:prstGeom>
          <a:solidFill>
            <a:srgbClr val="4A7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VOCE SOLLECITATA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Survey CAWI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59" y="2926080"/>
            <a:ext cx="3246120" cy="1481328"/>
          </a:xfrm>
          <a:prstGeom prst="rect">
            <a:avLst/>
          </a:prstGeom>
          <a:solidFill>
            <a:srgbClr val="3A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ESPERIENZA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NPS / CSAT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19" y="2926080"/>
            <a:ext cx="3246120" cy="1481328"/>
          </a:xfrm>
          <a:prstGeom prst="rect">
            <a:avLst/>
          </a:prstGeom>
          <a:solidFill>
            <a:srgbClr val="5A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42447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PERCEZIONE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7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Brand Tracking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70280" y="2926080"/>
            <a:ext cx="3246120" cy="1481328"/>
          </a:xfrm>
          <a:prstGeom prst="rect">
            <a:avLst/>
          </a:prstGeom>
          <a:solidFill>
            <a:srgbClr val="6A5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0007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INTENTO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80007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Search 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3246120" cy="1481328"/>
          </a:xfrm>
          <a:prstGeom prst="rect">
            <a:avLst/>
          </a:prstGeom>
          <a:solidFill>
            <a:srgbClr val="4A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COMPORTAMENTO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Web 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480560"/>
            <a:ext cx="3246120" cy="1481328"/>
          </a:xfrm>
          <a:prstGeom prst="rect">
            <a:avLst/>
          </a:prstGeom>
          <a:solidFill>
            <a:srgbClr val="5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CUSTOMER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CRM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59" y="4480560"/>
            <a:ext cx="3246120" cy="1481328"/>
          </a:xfrm>
          <a:prstGeom prst="rect">
            <a:avLst/>
          </a:prstGeom>
          <a:solidFill>
            <a:srgbClr val="3A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488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SERVIZIO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Customer 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19" y="4480560"/>
            <a:ext cx="3246120" cy="1481328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42447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VALUTAZIONE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42447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Review &amp; Forum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670280" y="4480560"/>
            <a:ext cx="3246120" cy="1481328"/>
          </a:xfrm>
          <a:prstGeom prst="rect">
            <a:avLst/>
          </a:prstGeom>
          <a:solidFill>
            <a:srgbClr val="4A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80007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CONOSCENZA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80007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Desk Research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6035040"/>
            <a:ext cx="3246120" cy="1481328"/>
          </a:xfrm>
          <a:prstGeom prst="rect">
            <a:avLst/>
          </a:prstGeom>
          <a:solidFill>
            <a:srgbClr val="5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CULTURA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Trend Report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6035040"/>
            <a:ext cx="3246120" cy="1481328"/>
          </a:xfrm>
          <a:prstGeom prst="rect">
            <a:avLst/>
          </a:prstGeom>
          <a:solidFill>
            <a:srgbClr val="6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732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ETNOGRAFIA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Digital Ethnography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95159" y="6035040"/>
            <a:ext cx="3246120" cy="1481328"/>
          </a:xfrm>
          <a:prstGeom prst="rect">
            <a:avLst/>
          </a:prstGeom>
          <a:solidFill>
            <a:srgbClr val="4A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0488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RELAZIONI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488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Network Analysis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19" y="6035040"/>
            <a:ext cx="3246120" cy="1481328"/>
          </a:xfrm>
          <a:prstGeom prst="rect">
            <a:avLst/>
          </a:prstGeom>
          <a:solidFill>
            <a:srgbClr val="5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2447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OWNED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7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Dati proprietari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670280" y="6035040"/>
            <a:ext cx="3246120" cy="1481328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80007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NUOVA FRONTIERA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80007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GEO &amp; AI Visibility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8321040"/>
            <a:ext cx="1737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8175"/>
                </a:solidFill>
                <a:latin typeface="Courier New"/>
              </a:rPr>
              <a:t>NOTA RELATORE: "Ogni box e una finestra diversa sul mercato. Il vantaggio non sta nell'averne una — sta nel saper scegliere quale aprire."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 RUOLO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Tre generazioni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di 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1.0 · MONITORA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è successo?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dashboard, report
Focus: misurazione passata
Il dato arriva dopo la decisione.
Descrizione retrospettiva.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2.0 · INTERPRETA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Perché è successo?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insight, analisi
Focus: interpretazione causale
Il dato supporta la decisione.
Comprensione dei driver.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3.0 · ORCHESTRA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dovremmo fare?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decision intelligence
Focus: orchestrazione fonti
Il dato orienta la decisione.
L’AI amplifica il giudizio.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 SUPERPOWERS DELL’AI PER L’INSIGHT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>
                <a:solidFill>
                  <a:srgbClr val="1A1714"/>
                </a:solidFill>
                <a:latin typeface="Georgia"/>
              </a:rPr>
              <a:t>Sei capacità che </a:t>
            </a:r>
            <a:r>
              <a:rPr sz="4400" b="0">
                <a:solidFill>
                  <a:srgbClr val="B8523A"/>
                </a:solidFill>
                <a:latin typeface="Georgia"/>
              </a:rPr>
              <a:t>amplificano il lavoro dell’analista.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Milioni di conversazioni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Analisi in tempo reale oltre i limiti fisici dell’elaborazione umana.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10 ipotesi in un’ora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Generazione rapida di ipotesi analitiche, accelerando l’esplorazione.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Più mercati e lingue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Monitoraggio simultaneo di mercati, lingue e canali senza overhead.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Anni di report storici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Accesso ad archivi interrogabili per trend analysis e benchmarking.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Pattern invisibili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Identificazione di correlazioni nascoste nei dati.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Scenari alternativi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Simulazione di scenari per valutare impatti e opportunità.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L’AI non pensa al posto dell’analista, ma </a:t>
            </a:r>
            <a:r>
              <a:rPr sz="5000" b="0">
                <a:solidFill>
                  <a:srgbClr val="B8523A"/>
                </a:solidFill>
                <a:latin typeface="Georgia"/>
              </a:rPr>
              <a:t>amplifica ciò che l’analista è in grado di vedere.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VALORE DELL’ANALISTA NELL’ERA DELL’AI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OTTAVO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Applicazioni concrete. </a:t>
            </a:r>
            <a:r>
              <a:rPr sz="8000" b="0">
                <a:solidFill>
                  <a:srgbClr val="B8523A"/>
                </a:solidFill>
                <a:latin typeface="Georgia"/>
              </a:rPr>
              <a:t>Dove genera valore.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CASI D’USO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DOVE GENERA VALORE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Quattro applicazioni, </a:t>
            </a:r>
            <a:r>
              <a:rPr sz="4600" b="0">
                <a:solidFill>
                  <a:srgbClr val="B8523A"/>
                </a:solidFill>
                <a:latin typeface="Georgia"/>
              </a:rPr>
              <a:t>quattro modi di decidere meglio.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01 · BRAND &amp; REPUTATION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Reputation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Percezione, fiducia, driver reputazionali, rischi latenti.
Abilita: monitoraggio continuo, alert reputazionali.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02 · CAMPAIGN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Campaign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Ricezione organica, messaggi compresi o fraintesi, asset che funzionano.
Abilita: correzioni in itinere e validazione creativa.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03 · PRODUCT &amp;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Product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Bisogni latenti, barriere, frizioni d’uso, workaround, early adopter.
Abilita: roadmap orientate, scoperta di use case non previsti.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04 · CRISIS &amp; REAL-TIME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Real-time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Segnali deboli, anomalie, crisi reputazionali, issue emergenti.
Abilita: decisione su se, come, quando e con quale tono rispondere.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NONO · CHIUSURA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Cosa cambia </a:t>
            </a:r>
            <a:r>
              <a:rPr sz="8000" b="0">
                <a:solidFill>
                  <a:srgbClr val="B8523A"/>
                </a:solidFill>
                <a:latin typeface="Georgia"/>
              </a:rPr>
              <a:t>lunedì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QUATTRO PRINCIPI PRATICI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 portare via — </a:t>
            </a:r>
            <a:r>
              <a:rPr sz="5000" b="0">
                <a:solidFill>
                  <a:srgbClr val="B8523A"/>
                </a:solidFill>
                <a:latin typeface="Georgia"/>
              </a:rPr>
              <a:t>e da applicare subito.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DAI UN NOME AL MESTIERE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il listening viene confuso con social media management o reporting, difficilmente entrerà nelle decisioni che contano.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PRIMA DELLA QUERY, LA DECISIONE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non è chiaro quale decisione deve supportare l’analisi, il rischio è produrre monitoraggio — non intelligence.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NON CERCARE VOLUME: CERCA FRIZIONE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Il segnale più utile spesso non è il picco più grande, ma il pattern più scomodo: una sfiducia latente, un uso imprevisto.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USA L’AI PER ACCELERARE, NON DELEGARE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L’AI può fare il Task Layer. Il Judgement Layer resta umano. Usala per andare più veloce — non per smettere di pensare.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F3EDE1"/>
                </a:solidFill>
                <a:latin typeface="Georgia"/>
              </a:rPr>
              <a:t>Il futuro del social listening non sarà deciso da chi possiede il tool migliore.
Sarà deciso da chi saprà fare le domande migliori, </a:t>
            </a:r>
            <a:r>
              <a:rPr sz="4600" b="0">
                <a:solidFill>
                  <a:srgbClr val="B8523A"/>
                </a:solidFill>
                <a:latin typeface="Georgia"/>
              </a:rPr>
              <a:t>difendere il metodo, e portare il segnale dove le decisioni vengono prese.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0467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0">
                <a:solidFill>
                  <a:srgbClr val="F3EDE1"/>
                </a:solidFill>
                <a:latin typeface="Georgia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EBE4D3"/>
                </a:solidFill>
                <a:latin typeface="Courier New"/>
              </a:rPr>
              <a:t>Q&amp;A A SEGUIRE · VINCENZO ALBERTO MARRARI · EY STUDIO+ / TRAJAAN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 FALLIMENTO STRUTTURALE DELLA DISCIPLINA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F3EDE1"/>
                </a:solidFill>
                <a:latin typeface="Georgia"/>
              </a:rPr>
              <a:t>Non e un vostro fallimento. </a:t>
            </a:r>
            <a:r>
              <a:rPr sz="4800">
                <a:solidFill>
                  <a:srgbClr val="B8523A"/>
                </a:solidFill>
                <a:latin typeface="Georgia"/>
              </a:rPr>
              <a:t>E un problema della disciplina.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00400"/>
            <a:ext cx="5212080" cy="5303520"/>
          </a:xfrm>
          <a:prstGeom prst="rect">
            <a:avLst/>
          </a:prstGeom>
          <a:solidFill>
            <a:srgbClr val="262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148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BE4D3"/>
                </a:solidFill>
                <a:latin typeface="Courier New"/>
              </a:rPr>
              <a:t>ISOLAMENTO
STRUTTURALE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120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EDE1"/>
                </a:solidFill>
                <a:latin typeface="Arial"/>
              </a:rPr>
              <a:t>Sei spesso l'unica persona nella tua organizzazione che fa questo lavoro. Lo spieghi da capo ogni volta. Il tuo manager non lo capisce del tutto.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200400"/>
            <a:ext cx="5212080" cy="5303520"/>
          </a:xfrm>
          <a:prstGeom prst="rect">
            <a:avLst/>
          </a:prstGeom>
          <a:solidFill>
            <a:srgbClr val="262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BE4D3"/>
                </a:solidFill>
                <a:latin typeface="Courier New"/>
              </a:rPr>
              <a:t>NESSUNO STANDARD
SU CUI APPOGGIARSI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EDE1"/>
                </a:solidFill>
                <a:latin typeface="Arial"/>
              </a:rPr>
              <a:t>Non esiste una definizione condivisa di cosa significhi fare bene questo lavoro. Non puoi difendere le tue scelte metodologiche con una citazione.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50040" y="3200400"/>
            <a:ext cx="5212080" cy="5303520"/>
          </a:xfrm>
          <a:prstGeom prst="rect">
            <a:avLst/>
          </a:prstGeom>
          <a:solidFill>
            <a:srgbClr val="262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32919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32919" y="41148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BE4D3"/>
                </a:solidFill>
                <a:latin typeface="Courier New"/>
              </a:rPr>
              <a:t>EXPERTISE INVISIBILE
FUORI DALLA TUA ORG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2919" y="52120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EDE1"/>
                </a:solidFill>
                <a:latin typeface="Arial"/>
              </a:rPr>
              <a:t>Nessuna scala di carriera riconosciuta. Nessuna credenziale portabile. Quello che hai costruito non esiste fuori dall'azienda in cui lavori.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732520"/>
            <a:ext cx="1691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Arial"/>
              </a:rPr>
              <a:t>Ogni professione seria ha un'infrastruttura: standard condivisi, percorsi di carriera, un modo per segnalare competenza leggibile fuori dal proprio contesto. Il social intelligence ha operato per anni senza nessuna di queste cose.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ITALIA VS ESTERO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1A1714"/>
                </a:solidFill>
                <a:latin typeface="Georgia"/>
              </a:rPr>
              <a:t>Il divario non e di dati. </a:t>
            </a:r>
            <a:r>
              <a:rPr sz="4800">
                <a:solidFill>
                  <a:srgbClr val="B8523A"/>
                </a:solidFill>
                <a:latin typeface="Georgia"/>
              </a:rPr>
              <a:t>E di infrastruttura professionale.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7772400" cy="53035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337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ITALIA — UNA PRATICA ANCORA IMPLICITA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1A1714"/>
                </a:solidFill>
                <a:latin typeface="Georgia"/>
              </a:rPr>
              <a:t>La competenza c'e.
Manca la struttura.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Competenza diffusa ma raramente nominata come ruolo autonomo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Formazione spesso autodidatta, poca specializzazione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Ownership contesa tra social, PR, insight e agenzie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Nessun linguaggio comune con la strategia di business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Expertise costruita dentro le org — invisibile fuori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0" y="3200400"/>
            <a:ext cx="7772400" cy="530352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3337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B8523A"/>
                </a:solidFill>
                <a:latin typeface="Courier New"/>
              </a:rPr>
              <a:t>ESTERO — UNA PROFESSIONE CHE SI STRUTTURA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3840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3EDE1"/>
                </a:solidFill>
                <a:latin typeface="Georgia"/>
              </a:rPr>
              <a:t>La competenza ha
un'infrastruttura.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48463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Community verticali di social intelligence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Certificazioni e percorsi di carriera espliciti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Job board verticali e fasce salariali definite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Definizione condivisa del ruolo e della seniority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Credenziali che viaggiano fuori dal singolo contesto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8732520"/>
            <a:ext cx="1691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B8523A"/>
                </a:solidFill>
                <a:latin typeface="Arial"/>
              </a:rPr>
              <a:t>Il gap non si colma con piu dati o tool migliori. Si colma costruendo standard, metodo, linguaggio condiviso.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TASSONOMIA — LO STANDARD CHE FINORA NON ESISTEVA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>
                <a:solidFill>
                  <a:srgbClr val="1A1714"/>
                </a:solidFill>
                <a:latin typeface="Georgia"/>
              </a:rPr>
              <a:t>La query buona nasce </a:t>
            </a:r>
            <a:r>
              <a:rPr sz="5000">
                <a:solidFill>
                  <a:srgbClr val="B8523A"/>
                </a:solidFill>
                <a:latin typeface="Georgia"/>
              </a:rPr>
              <a:t>prima della query.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D3833"/>
                </a:solidFill>
                <a:latin typeface="Arial"/>
              </a:rPr>
              <a:t>Tre cerchi concentrici per costruire l'analisi — e per difendere le scelte metodologiche di fronte a chi non fa questo lavoro.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CERCHIO 1 — PIU ESTERNO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Contesto culturale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Pop culture, economia, politica, generazioni, linguaggi emergenti, tensioni sociali.
Perche partire da qui: il brand vive dentro un contesto. Ignorarlo significa leggere il segnale senza capire il rumore.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CERCHIO 2 — INTERMEDIO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Industry &amp;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Competitor, occasioni d'uso, barriere, driver, codici del settore.
Perche questo cerchio: il brand non compete nel vuoto. Le aspettative del mercato si formano nella category, non nel singolo brand.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CERCHIO 3 — PIU INTERNO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0" y="41148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523A"/>
                </a:solidFill>
                <a:latin typeface="Georgia"/>
              </a:rPr>
              <a:t>Brand / Prodotto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0" y="49377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Menzioni, campagna, customer experience, prezzo, servizio.
Solo qui si arriva al brand — ma adesso il dato e contestualizzato. Leggibile. Difendibile.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8778240"/>
            <a:ext cx="1554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B8523A"/>
                </a:solidFill>
                <a:latin typeface="Arial"/>
              </a:rPr>
              <a:t>Questo framework non e solo un metodo di analisi. E uno strumento per rendere il ragionamento leggibile — e difendibile — di fronte a chi deve prendere la decisione.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